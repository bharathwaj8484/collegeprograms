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Garamond" panose="02020404030301010803" pitchFamily="18" charset="0"/>
      <p:regular r:id="rId13"/>
      <p:bold r:id="rId14"/>
      <p:italic r:id="rId15"/>
      <p:boldItalic r:id="rId16"/>
    </p:embeddedFont>
    <p:embeddedFont>
      <p:font typeface="Oswald" panose="00000500000000000000" pitchFamily="2" charset="0"/>
      <p:regular r:id="rId17"/>
      <p:bold r:id="rId18"/>
    </p:embeddedFont>
    <p:embeddedFont>
      <p:font typeface="Sitka Small Semibold" pitchFamily="2" charset="0"/>
      <p:bold r:id="rId19"/>
      <p:boldItalic r:id="rId20"/>
    </p:embeddedFont>
    <p:embeddedFont>
      <p:font typeface="Sitka Subheading Semibold" pitchFamily="2" charset="0"/>
      <p:bold r:id="rId21"/>
      <p:boldItalic r:id="rId22"/>
    </p:embeddedFont>
    <p:embeddedFont>
      <p:font typeface="Sitka Text Semibold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iT35yKh/ibIZwHlNjeZcdH2MO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g"/><Relationship Id="rId4" Type="http://schemas.openxmlformats.org/officeDocument/2006/relationships/image" Target="../media/image8.jpg"/><Relationship Id="rId9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2.pn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Relationship Id="rId9" Type="http://schemas.openxmlformats.org/officeDocument/2006/relationships/image" Target="../media/image19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www.researchgate.net/publication/356749884_%27Queuing-Model%27_to_optimize_Patient_waiting_time_in_Out_Patient_Department_OPD_of_a_Super-speciality_public_hospital_of_India" TargetMode="External"/><Relationship Id="rId7" Type="http://schemas.openxmlformats.org/officeDocument/2006/relationships/hyperlink" Target="https://www.ncbi.nlm.nih.gov/pmc/articles/PMC6085201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ournals.sagepub.com/doi/full/10.1177/21582440221149717" TargetMode="External"/><Relationship Id="rId5" Type="http://schemas.openxmlformats.org/officeDocument/2006/relationships/hyperlink" Target="https://www.ncbi.nlm.nih.gov/pmc/articles/PMC3407754/" TargetMode="External"/><Relationship Id="rId4" Type="http://schemas.openxmlformats.org/officeDocument/2006/relationships/hyperlink" Target="https://www.researchgate.net/publication/12528852_An_exploratory_study_of_bed_manageme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7207266" y="1054419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405377" y="1918779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3949974" y="609687"/>
            <a:ext cx="3841880" cy="71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1537947" y="-122258"/>
            <a:ext cx="8336059" cy="97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Times New Roman" panose="02020603050405020304" pitchFamily="18" charset="0"/>
                <a:sym typeface="Garamond"/>
              </a:rPr>
              <a:t>SMART INDIA HACKATHON 2024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Times New Roman" panose="02020603050405020304" pitchFamily="18" charset="0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46129" y="1754432"/>
            <a:ext cx="7131926" cy="446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Statement ID –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1620</a:t>
            </a:r>
          </a:p>
          <a:p>
            <a:pPr marR="0" lvl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Statement Title- </a:t>
            </a:r>
            <a:r>
              <a:rPr lang="en-US" sz="20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Queuing models in OPDs/ availability of beds/ admission of patients. A hospital based solution is ideal which can be integrated with city wide module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Theme- 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MedTech /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BioTech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/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HealthTech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PS Category-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Software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ID-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ISIH - 011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Name- 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Sudo_Scope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74006" y="0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4926238" y="-80914"/>
            <a:ext cx="2246575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IDEA TITLE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2453104" y="312040"/>
            <a:ext cx="749232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lang="en-US" sz="2400" b="1" u="sng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400" b="1" u="sng" dirty="0" err="1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SmartQueue</a:t>
            </a:r>
            <a:r>
              <a:rPr lang="en-US" sz="2400" b="1" u="sng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- Reimagining Hospital Management</a:t>
            </a:r>
            <a:endParaRPr lang="en-US" sz="2400" u="sng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2" descr="Your startup LOGO"/>
          <p:cNvSpPr/>
          <p:nvPr/>
        </p:nvSpPr>
        <p:spPr>
          <a:xfrm>
            <a:off x="79968" y="57647"/>
            <a:ext cx="1846109" cy="588872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Sudo_Scope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2468" y="-31686"/>
            <a:ext cx="2099564" cy="9811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AEE983-64C2-EBA7-EAE6-CD4443E61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465811"/>
              </p:ext>
            </p:extLst>
          </p:nvPr>
        </p:nvGraphicFramePr>
        <p:xfrm>
          <a:off x="0" y="815441"/>
          <a:ext cx="12192000" cy="60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990688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2752387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13935535"/>
                    </a:ext>
                  </a:extLst>
                </a:gridCol>
              </a:tblGrid>
              <a:tr h="6042560"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Detailed explanation of the proposed solution:</a:t>
                      </a:r>
                    </a:p>
                    <a:p>
                      <a:pPr algn="just"/>
                      <a:endParaRPr 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it addresses the problem: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Innovation and uniqueness of the solution:</a:t>
                      </a:r>
                    </a:p>
                    <a:p>
                      <a:pPr algn="just"/>
                      <a:endParaRPr lang="en-US" sz="1200" b="1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algn="just"/>
                      <a:endParaRPr lang="en-US" sz="1200" b="1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algn="just"/>
                      <a:endParaRPr lang="en-US" sz="1200" b="1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6084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E9B2BA-C57C-3770-AD26-B1B2C947C290}"/>
              </a:ext>
            </a:extLst>
          </p:cNvPr>
          <p:cNvSpPr/>
          <p:nvPr/>
        </p:nvSpPr>
        <p:spPr>
          <a:xfrm>
            <a:off x="58158" y="1172483"/>
            <a:ext cx="1786006" cy="1779498"/>
          </a:xfrm>
          <a:prstGeom prst="roundRect">
            <a:avLst/>
          </a:prstGeom>
          <a:gradFill>
            <a:gsLst>
              <a:gs pos="10000">
                <a:schemeClr val="accent4">
                  <a:tint val="100000"/>
                  <a:shade val="100000"/>
                  <a:satMod val="130000"/>
                </a:schemeClr>
              </a:gs>
              <a:gs pos="100000">
                <a:schemeClr val="accent4">
                  <a:tint val="50000"/>
                  <a:shade val="100000"/>
                  <a:satMod val="350000"/>
                </a:schemeClr>
              </a:gs>
            </a:gsLst>
          </a:gra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Intelligent Queuing System: </a:t>
            </a:r>
            <a:br>
              <a:rPr lang="en-US" sz="14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Advanced Automated Queuing System, with virtual wait room and smart token allocation for OPD’s through algorithm.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506E75-EB49-D51A-2A4D-503DA54B661E}"/>
              </a:ext>
            </a:extLst>
          </p:cNvPr>
          <p:cNvSpPr/>
          <p:nvPr/>
        </p:nvSpPr>
        <p:spPr>
          <a:xfrm>
            <a:off x="2195959" y="1166618"/>
            <a:ext cx="1776277" cy="1806224"/>
          </a:xfrm>
          <a:prstGeom prst="roundRect">
            <a:avLst/>
          </a:prstGeom>
          <a:gradFill>
            <a:gsLst>
              <a:gs pos="10000">
                <a:schemeClr val="accent4">
                  <a:tint val="100000"/>
                  <a:shade val="100000"/>
                  <a:satMod val="130000"/>
                </a:schemeClr>
              </a:gs>
              <a:gs pos="100000">
                <a:schemeClr val="accent4">
                  <a:tint val="50000"/>
                  <a:shade val="100000"/>
                  <a:satMod val="350000"/>
                </a:schemeClr>
              </a:gs>
            </a:gsLst>
          </a:gra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Dynamic Bed Management:</a:t>
            </a:r>
          </a:p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4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Dynamic Bed allocation based on real time availability.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C15F145-E804-1F66-7CC0-45FC6A6E3ED6}"/>
              </a:ext>
            </a:extLst>
          </p:cNvPr>
          <p:cNvSpPr/>
          <p:nvPr/>
        </p:nvSpPr>
        <p:spPr>
          <a:xfrm>
            <a:off x="54807" y="3038855"/>
            <a:ext cx="1789357" cy="1755310"/>
          </a:xfrm>
          <a:prstGeom prst="roundRect">
            <a:avLst/>
          </a:prstGeom>
          <a:gradFill>
            <a:gsLst>
              <a:gs pos="10000">
                <a:schemeClr val="accent4">
                  <a:tint val="100000"/>
                  <a:shade val="100000"/>
                  <a:satMod val="130000"/>
                </a:schemeClr>
              </a:gs>
              <a:gs pos="100000">
                <a:schemeClr val="accent4">
                  <a:tint val="50000"/>
                  <a:shade val="100000"/>
                  <a:satMod val="350000"/>
                </a:schemeClr>
              </a:gs>
            </a:gsLst>
          </a:gra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Streamlined Admission Process:</a:t>
            </a:r>
          </a:p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4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Paper less Admission form, Doctor’s prescription, Medical reports and Curated Billing System.  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45717CA-C883-CD2A-E85B-BB27F7DB2681}"/>
              </a:ext>
            </a:extLst>
          </p:cNvPr>
          <p:cNvSpPr/>
          <p:nvPr/>
        </p:nvSpPr>
        <p:spPr>
          <a:xfrm>
            <a:off x="54807" y="4881039"/>
            <a:ext cx="1787472" cy="1867376"/>
          </a:xfrm>
          <a:prstGeom prst="roundRect">
            <a:avLst/>
          </a:prstGeom>
          <a:gradFill>
            <a:gsLst>
              <a:gs pos="10000">
                <a:schemeClr val="accent4">
                  <a:tint val="100000"/>
                  <a:shade val="100000"/>
                  <a:satMod val="130000"/>
                </a:schemeClr>
              </a:gs>
              <a:gs pos="100000">
                <a:schemeClr val="accent4">
                  <a:tint val="50000"/>
                  <a:shade val="100000"/>
                  <a:satMod val="350000"/>
                </a:schemeClr>
              </a:gs>
            </a:gsLst>
          </a:gra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Cross Platform application:</a:t>
            </a:r>
          </a:p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4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application for seamless for any application platform.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47CE29-ED37-61A2-D45C-6CE3F149AA81}"/>
              </a:ext>
            </a:extLst>
          </p:cNvPr>
          <p:cNvSpPr/>
          <p:nvPr/>
        </p:nvSpPr>
        <p:spPr>
          <a:xfrm>
            <a:off x="2195959" y="3059716"/>
            <a:ext cx="1776277" cy="1734449"/>
          </a:xfrm>
          <a:prstGeom prst="roundRect">
            <a:avLst/>
          </a:prstGeom>
          <a:gradFill>
            <a:gsLst>
              <a:gs pos="10000">
                <a:schemeClr val="accent4">
                  <a:tint val="100000"/>
                  <a:shade val="100000"/>
                  <a:satMod val="130000"/>
                </a:schemeClr>
              </a:gs>
              <a:gs pos="100000">
                <a:schemeClr val="accent4">
                  <a:tint val="50000"/>
                  <a:shade val="100000"/>
                  <a:satMod val="350000"/>
                </a:schemeClr>
              </a:gs>
            </a:gsLst>
          </a:gra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 Inventory Management: </a:t>
            </a:r>
          </a:p>
          <a:p>
            <a:pPr algn="ctr"/>
            <a:br>
              <a:rPr lang="en-US" sz="14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 time connection with Inventory Database to track medicine and supply levels 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758A045-31AA-DFF1-4F4E-DCFBE82BA492}"/>
              </a:ext>
            </a:extLst>
          </p:cNvPr>
          <p:cNvSpPr/>
          <p:nvPr/>
        </p:nvSpPr>
        <p:spPr>
          <a:xfrm>
            <a:off x="2184764" y="4881039"/>
            <a:ext cx="1787472" cy="1867376"/>
          </a:xfrm>
          <a:prstGeom prst="roundRect">
            <a:avLst/>
          </a:prstGeom>
          <a:gradFill>
            <a:gsLst>
              <a:gs pos="10000">
                <a:schemeClr val="accent4">
                  <a:tint val="100000"/>
                  <a:shade val="100000"/>
                  <a:satMod val="130000"/>
                </a:schemeClr>
              </a:gs>
              <a:gs pos="100000">
                <a:schemeClr val="accent4">
                  <a:tint val="50000"/>
                  <a:shade val="100000"/>
                  <a:satMod val="350000"/>
                </a:schemeClr>
              </a:gs>
            </a:gsLst>
          </a:gra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User Friendly UI/UX : </a:t>
            </a:r>
          </a:p>
          <a:p>
            <a:pPr algn="ctr"/>
            <a:endParaRPr lang="en-US" sz="1400" b="1" dirty="0">
              <a:solidFill>
                <a:schemeClr val="tx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UI/UX design primary motto is provide a user friendly experience.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F34DA52-5B20-0620-F1D5-1BFCAFA2A53E}"/>
              </a:ext>
            </a:extLst>
          </p:cNvPr>
          <p:cNvGrpSpPr/>
          <p:nvPr/>
        </p:nvGrpSpPr>
        <p:grpSpPr>
          <a:xfrm>
            <a:off x="1831084" y="1166618"/>
            <a:ext cx="364875" cy="5554860"/>
            <a:chOff x="1831084" y="1166618"/>
            <a:chExt cx="364875" cy="5554860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1A9F9A9-12F2-5DAC-EA2B-F44EC2C6CA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7924" y="1166618"/>
              <a:ext cx="9055" cy="5554860"/>
            </a:xfrm>
            <a:prstGeom prst="straightConnector1">
              <a:avLst/>
            </a:prstGeom>
            <a:ln>
              <a:solidFill>
                <a:srgbClr val="7030A0"/>
              </a:solidFill>
              <a:headEnd type="arrow" w="med" len="med"/>
              <a:tailEnd type="arrow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D14DD7B-8403-5304-0E43-0F2CD4463A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2279" y="1968319"/>
              <a:ext cx="353680" cy="0"/>
            </a:xfrm>
            <a:prstGeom prst="straightConnector1">
              <a:avLst/>
            </a:prstGeom>
            <a:ln>
              <a:solidFill>
                <a:srgbClr val="7030A0"/>
              </a:solidFill>
              <a:headEnd type="arrow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8B971EC-FBFE-0644-35AF-305D45B143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1084" y="3862583"/>
              <a:ext cx="353680" cy="0"/>
            </a:xfrm>
            <a:prstGeom prst="straightConnector1">
              <a:avLst/>
            </a:prstGeom>
            <a:ln>
              <a:solidFill>
                <a:srgbClr val="7030A0"/>
              </a:solidFill>
              <a:headEnd type="arrow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CF79653-73D4-8315-0D1F-58DEB48090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1084" y="5700498"/>
              <a:ext cx="353680" cy="0"/>
            </a:xfrm>
            <a:prstGeom prst="straightConnector1">
              <a:avLst/>
            </a:prstGeom>
            <a:ln>
              <a:solidFill>
                <a:srgbClr val="7030A0"/>
              </a:solidFill>
              <a:headEnd type="arrow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AB315BD-D7BA-FFFE-B7B1-1766E819B70D}"/>
              </a:ext>
            </a:extLst>
          </p:cNvPr>
          <p:cNvSpPr/>
          <p:nvPr/>
        </p:nvSpPr>
        <p:spPr>
          <a:xfrm>
            <a:off x="4087617" y="1172483"/>
            <a:ext cx="1786006" cy="1779498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Reduced OPD Wait Times: </a:t>
            </a:r>
            <a:br>
              <a:rPr lang="en-US" sz="14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 queuing reduces patient wait times, allowing doctors to see more patients. 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DEF250-C07C-4D4E-5F2C-B148798A095B}"/>
              </a:ext>
            </a:extLst>
          </p:cNvPr>
          <p:cNvSpPr/>
          <p:nvPr/>
        </p:nvSpPr>
        <p:spPr>
          <a:xfrm>
            <a:off x="6225418" y="1166618"/>
            <a:ext cx="1776277" cy="1806224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Optimized Bed Utilization:</a:t>
            </a:r>
          </a:p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4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bed allocation ensures efficient use of available beds.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26A51A-F951-63EC-7065-6ABDED5FB802}"/>
              </a:ext>
            </a:extLst>
          </p:cNvPr>
          <p:cNvSpPr/>
          <p:nvPr/>
        </p:nvSpPr>
        <p:spPr>
          <a:xfrm>
            <a:off x="4084266" y="3038855"/>
            <a:ext cx="1789357" cy="1755310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Simplified Admission Process:</a:t>
            </a:r>
          </a:p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4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Digital admission forms reduce paperwork and speed up patient processing..  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0D7D0B-A26D-8362-438C-D4D283372AE7}"/>
              </a:ext>
            </a:extLst>
          </p:cNvPr>
          <p:cNvSpPr/>
          <p:nvPr/>
        </p:nvSpPr>
        <p:spPr>
          <a:xfrm>
            <a:off x="4084266" y="4881039"/>
            <a:ext cx="1787472" cy="1867376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Patient Empowerment: </a:t>
            </a:r>
          </a:p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4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Patients can manage appointments and see their wait time through an app.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B5A22FF-2D44-A598-5C77-04E94F8F7288}"/>
              </a:ext>
            </a:extLst>
          </p:cNvPr>
          <p:cNvSpPr/>
          <p:nvPr/>
        </p:nvSpPr>
        <p:spPr>
          <a:xfrm>
            <a:off x="6225418" y="3059716"/>
            <a:ext cx="1776277" cy="1734449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Improved Inventory Management:</a:t>
            </a:r>
            <a:br>
              <a:rPr lang="en-US" sz="14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Real-time tracking prevents shortages of medicines and supplies.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4026C10-DE79-B3C5-9B36-17BF03FB94D7}"/>
              </a:ext>
            </a:extLst>
          </p:cNvPr>
          <p:cNvSpPr/>
          <p:nvPr/>
        </p:nvSpPr>
        <p:spPr>
          <a:xfrm>
            <a:off x="6214223" y="4881039"/>
            <a:ext cx="1787472" cy="1867376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Staff Efficiency: </a:t>
            </a:r>
          </a:p>
          <a:p>
            <a:pPr algn="ctr"/>
            <a:endParaRPr lang="en-US" sz="1400" b="1" dirty="0">
              <a:solidFill>
                <a:schemeClr val="tx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Automated processes reduce administrative burdens, allowing staff to focus on care.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0B8CF3-85BB-A8DD-D1C8-D1BBD02EFAAC}"/>
              </a:ext>
            </a:extLst>
          </p:cNvPr>
          <p:cNvGrpSpPr/>
          <p:nvPr/>
        </p:nvGrpSpPr>
        <p:grpSpPr>
          <a:xfrm>
            <a:off x="5860543" y="1166618"/>
            <a:ext cx="364875" cy="5554860"/>
            <a:chOff x="1831084" y="1166618"/>
            <a:chExt cx="364875" cy="5554860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B324B0A-8A84-97C7-5C8D-C573999DCB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7924" y="1166618"/>
              <a:ext cx="9055" cy="5554860"/>
            </a:xfrm>
            <a:prstGeom prst="straightConnector1">
              <a:avLst/>
            </a:prstGeom>
            <a:ln>
              <a:solidFill>
                <a:srgbClr val="FFC000"/>
              </a:solidFill>
              <a:headEnd type="arrow" w="med" len="med"/>
              <a:tailEnd type="arrow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47F7DA5-133B-1425-5747-6ADF452FD7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2279" y="1968319"/>
              <a:ext cx="353680" cy="0"/>
            </a:xfrm>
            <a:prstGeom prst="straightConnector1">
              <a:avLst/>
            </a:prstGeom>
            <a:ln>
              <a:solidFill>
                <a:srgbClr val="FFC000"/>
              </a:solidFill>
              <a:headEnd type="arrow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938E131-6D5C-28CD-3500-AFD8533ACF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1084" y="3862583"/>
              <a:ext cx="353680" cy="0"/>
            </a:xfrm>
            <a:prstGeom prst="straightConnector1">
              <a:avLst/>
            </a:prstGeom>
            <a:ln>
              <a:solidFill>
                <a:srgbClr val="FFC000"/>
              </a:solidFill>
              <a:headEnd type="arrow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3B5E49F-9059-AC10-FB31-A5C09204CF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1084" y="5700498"/>
              <a:ext cx="353680" cy="0"/>
            </a:xfrm>
            <a:prstGeom prst="straightConnector1">
              <a:avLst/>
            </a:prstGeom>
            <a:ln>
              <a:solidFill>
                <a:srgbClr val="FFC000"/>
              </a:solidFill>
              <a:headEnd type="arrow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C418A4C-DE0D-56CF-4B83-EB9AEDD12D6A}"/>
              </a:ext>
            </a:extLst>
          </p:cNvPr>
          <p:cNvSpPr/>
          <p:nvPr/>
        </p:nvSpPr>
        <p:spPr>
          <a:xfrm>
            <a:off x="8221230" y="1172483"/>
            <a:ext cx="1786006" cy="1779498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Reduced OPD Wait Times: </a:t>
            </a:r>
            <a:br>
              <a:rPr lang="en-US" sz="14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 queuing reduces patient wait times, allowing doctors to see more patients. 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6024B9F-7D72-46B1-2DE7-BAD5A658BEEB}"/>
              </a:ext>
            </a:extLst>
          </p:cNvPr>
          <p:cNvSpPr/>
          <p:nvPr/>
        </p:nvSpPr>
        <p:spPr>
          <a:xfrm>
            <a:off x="10359031" y="1166618"/>
            <a:ext cx="1776277" cy="1806224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Optimized Bed Utilization:</a:t>
            </a:r>
          </a:p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4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bed allocation ensures efficient use of available beds.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98813C5-E595-24CE-E7D7-8D5B5D71AD80}"/>
              </a:ext>
            </a:extLst>
          </p:cNvPr>
          <p:cNvSpPr/>
          <p:nvPr/>
        </p:nvSpPr>
        <p:spPr>
          <a:xfrm>
            <a:off x="8217879" y="3038855"/>
            <a:ext cx="1789357" cy="175531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Simplified Admission Process:</a:t>
            </a:r>
          </a:p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4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Digital admission forms reduce paperwork and speed up patient processing..  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55CB1A6-6F36-183F-9D7C-17C09FB5ED4F}"/>
              </a:ext>
            </a:extLst>
          </p:cNvPr>
          <p:cNvSpPr/>
          <p:nvPr/>
        </p:nvSpPr>
        <p:spPr>
          <a:xfrm>
            <a:off x="8217879" y="4881039"/>
            <a:ext cx="1787472" cy="1867376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Patient Empowerment: </a:t>
            </a:r>
          </a:p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4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Patients can manage appointments and see their wait time through an app.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D7D2E07-0B82-A84D-7472-8D5F5EA36276}"/>
              </a:ext>
            </a:extLst>
          </p:cNvPr>
          <p:cNvSpPr/>
          <p:nvPr/>
        </p:nvSpPr>
        <p:spPr>
          <a:xfrm>
            <a:off x="10359031" y="3059716"/>
            <a:ext cx="1776277" cy="1734449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Improved Inventory Management:</a:t>
            </a:r>
            <a:br>
              <a:rPr lang="en-US" sz="14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Real-time tracking prevents shortages of medicines and supplies.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50EE461-D702-7A3C-FA97-9F01271BF89D}"/>
              </a:ext>
            </a:extLst>
          </p:cNvPr>
          <p:cNvSpPr/>
          <p:nvPr/>
        </p:nvSpPr>
        <p:spPr>
          <a:xfrm>
            <a:off x="10347836" y="4881039"/>
            <a:ext cx="1787472" cy="1867376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Staff Efficiency: </a:t>
            </a:r>
          </a:p>
          <a:p>
            <a:pPr algn="ctr"/>
            <a:endParaRPr lang="en-US" sz="1400" b="1" dirty="0">
              <a:solidFill>
                <a:schemeClr val="tx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  <a:effectLst>
                  <a:outerShdw blurRad="444500" dist="38100" algn="l" rotWithShape="0">
                    <a:prstClr val="black">
                      <a:alpha val="7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Automated processes reduce administrative burdens, allowing staff to focus on care.</a:t>
            </a:r>
            <a:endParaRPr lang="en-IN" sz="1200" dirty="0">
              <a:solidFill>
                <a:schemeClr val="bg1"/>
              </a:solidFill>
              <a:effectLst>
                <a:outerShdw blurRad="444500" dist="381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3130B8D-32BB-5DE2-D207-15A7901F2343}"/>
              </a:ext>
            </a:extLst>
          </p:cNvPr>
          <p:cNvGrpSpPr/>
          <p:nvPr/>
        </p:nvGrpSpPr>
        <p:grpSpPr>
          <a:xfrm>
            <a:off x="9994156" y="1166618"/>
            <a:ext cx="364875" cy="5554860"/>
            <a:chOff x="1831084" y="1166618"/>
            <a:chExt cx="364875" cy="5554860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DC49805-E2FA-EC83-0E0B-24ACB9A606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7924" y="1166618"/>
              <a:ext cx="9055" cy="5554860"/>
            </a:xfrm>
            <a:prstGeom prst="straightConnector1">
              <a:avLst/>
            </a:prstGeom>
            <a:ln>
              <a:solidFill>
                <a:srgbClr val="FFC000"/>
              </a:solidFill>
              <a:headEnd type="arrow" w="med" len="med"/>
              <a:tailEnd type="arrow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48C3F69-A08C-81FF-8B9A-E9D433F711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2279" y="1968319"/>
              <a:ext cx="353680" cy="0"/>
            </a:xfrm>
            <a:prstGeom prst="straightConnector1">
              <a:avLst/>
            </a:prstGeom>
            <a:ln>
              <a:solidFill>
                <a:srgbClr val="FFC000"/>
              </a:solidFill>
              <a:headEnd type="arrow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7EB009BB-17CA-5064-D085-B44FFEF05B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1084" y="3862583"/>
              <a:ext cx="353680" cy="0"/>
            </a:xfrm>
            <a:prstGeom prst="straightConnector1">
              <a:avLst/>
            </a:prstGeom>
            <a:ln>
              <a:solidFill>
                <a:srgbClr val="FFC000"/>
              </a:solidFill>
              <a:headEnd type="arrow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8F525BF-A779-387A-B577-7BC1187ECA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1084" y="5700498"/>
              <a:ext cx="353680" cy="0"/>
            </a:xfrm>
            <a:prstGeom prst="straightConnector1">
              <a:avLst/>
            </a:prstGeom>
            <a:ln>
              <a:solidFill>
                <a:srgbClr val="FFC000"/>
              </a:solidFill>
              <a:headEnd type="arrow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3243363" y="136522"/>
            <a:ext cx="5705273" cy="49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dirty="0"/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4374" y="-14117"/>
            <a:ext cx="1742423" cy="9205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5;p2" descr="Your startup LOGO">
            <a:extLst>
              <a:ext uri="{FF2B5EF4-FFF2-40B4-BE49-F238E27FC236}">
                <a16:creationId xmlns:a16="http://schemas.microsoft.com/office/drawing/2014/main" id="{84CC435F-4397-9F73-335A-35AE88C588EF}"/>
              </a:ext>
            </a:extLst>
          </p:cNvPr>
          <p:cNvSpPr/>
          <p:nvPr/>
        </p:nvSpPr>
        <p:spPr>
          <a:xfrm>
            <a:off x="79968" y="57647"/>
            <a:ext cx="1846109" cy="588872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Sudo_Scope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Flowchart: Preparation 2">
            <a:extLst>
              <a:ext uri="{FF2B5EF4-FFF2-40B4-BE49-F238E27FC236}">
                <a16:creationId xmlns:a16="http://schemas.microsoft.com/office/drawing/2014/main" id="{D5819668-3CB7-8A2B-378C-BB24CE689207}"/>
              </a:ext>
            </a:extLst>
          </p:cNvPr>
          <p:cNvSpPr/>
          <p:nvPr/>
        </p:nvSpPr>
        <p:spPr>
          <a:xfrm rot="5400000">
            <a:off x="3930117" y="1013317"/>
            <a:ext cx="2027802" cy="1814079"/>
          </a:xfrm>
          <a:prstGeom prst="flowChartPreparation">
            <a:avLst/>
          </a:prstGeom>
          <a:blipFill dpi="0" rotWithShape="0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Flowchart: Preparation 7">
            <a:extLst>
              <a:ext uri="{FF2B5EF4-FFF2-40B4-BE49-F238E27FC236}">
                <a16:creationId xmlns:a16="http://schemas.microsoft.com/office/drawing/2014/main" id="{643889A6-058F-33A1-6B9C-07276CEC1652}"/>
              </a:ext>
            </a:extLst>
          </p:cNvPr>
          <p:cNvSpPr/>
          <p:nvPr/>
        </p:nvSpPr>
        <p:spPr>
          <a:xfrm rot="5400000">
            <a:off x="5967089" y="1013316"/>
            <a:ext cx="2027803" cy="1814079"/>
          </a:xfrm>
          <a:prstGeom prst="flowChartPreparation">
            <a:avLst/>
          </a:prstGeom>
          <a:blipFill dpi="0" rotWithShape="0">
            <a:blip r:embed="rId5"/>
            <a:srcRect/>
            <a:stretch>
              <a:fillRect l="10000" t="10000" r="10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lowchart: Preparation 9">
            <a:extLst>
              <a:ext uri="{FF2B5EF4-FFF2-40B4-BE49-F238E27FC236}">
                <a16:creationId xmlns:a16="http://schemas.microsoft.com/office/drawing/2014/main" id="{B22BC081-13D1-171B-84CA-6E1791E052AD}"/>
              </a:ext>
            </a:extLst>
          </p:cNvPr>
          <p:cNvSpPr/>
          <p:nvPr/>
        </p:nvSpPr>
        <p:spPr>
          <a:xfrm rot="5400000">
            <a:off x="4939065" y="2744273"/>
            <a:ext cx="1996639" cy="1814077"/>
          </a:xfrm>
          <a:prstGeom prst="flowChartPreparation">
            <a:avLst/>
          </a:prstGeom>
          <a:blipFill dpi="0" rotWithShape="0">
            <a:blip r:embed="rId6"/>
            <a:srcRect/>
            <a:stretch>
              <a:fillRect l="5000" t="10000" r="5000" b="10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lowchart: Preparation 11">
            <a:extLst>
              <a:ext uri="{FF2B5EF4-FFF2-40B4-BE49-F238E27FC236}">
                <a16:creationId xmlns:a16="http://schemas.microsoft.com/office/drawing/2014/main" id="{A3B82F1E-96E0-206E-4068-07C4F308DD41}"/>
              </a:ext>
            </a:extLst>
          </p:cNvPr>
          <p:cNvSpPr/>
          <p:nvPr/>
        </p:nvSpPr>
        <p:spPr>
          <a:xfrm rot="5400000">
            <a:off x="3930115" y="4486901"/>
            <a:ext cx="2027802" cy="1814080"/>
          </a:xfrm>
          <a:prstGeom prst="flowChartPreparation">
            <a:avLst/>
          </a:prstGeom>
          <a:blipFill dpi="0" rotWithShape="0">
            <a:blip r:embed="rId7"/>
            <a:srcRect/>
            <a:stretch>
              <a:fillRect l="5000" r="5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Preparation 13">
            <a:extLst>
              <a:ext uri="{FF2B5EF4-FFF2-40B4-BE49-F238E27FC236}">
                <a16:creationId xmlns:a16="http://schemas.microsoft.com/office/drawing/2014/main" id="{CE0B6647-A257-5909-FAF0-44AE2AA7E212}"/>
              </a:ext>
            </a:extLst>
          </p:cNvPr>
          <p:cNvSpPr/>
          <p:nvPr/>
        </p:nvSpPr>
        <p:spPr>
          <a:xfrm rot="5400000">
            <a:off x="5983644" y="4428664"/>
            <a:ext cx="2027803" cy="1814077"/>
          </a:xfrm>
          <a:prstGeom prst="flowChartPreparation">
            <a:avLst/>
          </a:prstGeom>
          <a:blipFill dpi="0" rotWithShape="0">
            <a:blip r:embed="rId8"/>
            <a:srcRect/>
            <a:stretch>
              <a:fillRect l="5000" r="5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0DB808-AFA0-2930-AC75-B70EE249D2FA}"/>
              </a:ext>
            </a:extLst>
          </p:cNvPr>
          <p:cNvSpPr/>
          <p:nvPr/>
        </p:nvSpPr>
        <p:spPr>
          <a:xfrm>
            <a:off x="145916" y="1096985"/>
            <a:ext cx="3560321" cy="1532747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Frontend:</a:t>
            </a:r>
          </a:p>
          <a:p>
            <a:r>
              <a:rPr lang="en-US" dirty="0"/>
              <a:t>Flutter: Cross-platform framework for building natively compiled applications for mobile, web, and desktop from a single codebase.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E4E043E-970B-4295-80BA-A8A9C4E10ECF}"/>
              </a:ext>
            </a:extLst>
          </p:cNvPr>
          <p:cNvSpPr/>
          <p:nvPr/>
        </p:nvSpPr>
        <p:spPr>
          <a:xfrm>
            <a:off x="233463" y="4572000"/>
            <a:ext cx="3560321" cy="1633046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Real-time Data and Inventory: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Firebase: Platform for building mobile and web applications, providing services like real-time database, authentication, and cloud messaging.</a:t>
            </a:r>
            <a:endParaRPr lang="en-IN" sz="16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4519D2B-3CD3-26AF-DD1D-E2CB1DDD31D1}"/>
              </a:ext>
            </a:extLst>
          </p:cNvPr>
          <p:cNvSpPr/>
          <p:nvPr/>
        </p:nvSpPr>
        <p:spPr>
          <a:xfrm>
            <a:off x="8089786" y="1166550"/>
            <a:ext cx="4024390" cy="1501484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1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Database:</a:t>
            </a: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8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MySQL: Open-source relational database management system.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5E2FA9C-C5CD-215A-1FC2-F6DB3CFF8D76}"/>
              </a:ext>
            </a:extLst>
          </p:cNvPr>
          <p:cNvSpPr/>
          <p:nvPr/>
        </p:nvSpPr>
        <p:spPr>
          <a:xfrm>
            <a:off x="8042150" y="2909631"/>
            <a:ext cx="3925665" cy="1407953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1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Server &amp; Hosting:</a:t>
            </a: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8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XAMPP: Local server environment for development and testing.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A1C5776-8DC1-703C-B735-D07D71B720AD}"/>
              </a:ext>
            </a:extLst>
          </p:cNvPr>
          <p:cNvSpPr/>
          <p:nvPr/>
        </p:nvSpPr>
        <p:spPr>
          <a:xfrm>
            <a:off x="8042150" y="4766553"/>
            <a:ext cx="3925664" cy="152725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1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Backend: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8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PHP: Server-side scripting language suitable for web development and backend functionality.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>
            <a:spLocks noGrp="1"/>
          </p:cNvSpPr>
          <p:nvPr>
            <p:ph type="title"/>
          </p:nvPr>
        </p:nvSpPr>
        <p:spPr>
          <a:xfrm>
            <a:off x="2779704" y="57647"/>
            <a:ext cx="6390673" cy="495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Sitka Small Semibold" pitchFamily="2" charset="0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3600" dirty="0">
              <a:latin typeface="Sitka Small Semibold" pitchFamily="2" charset="0"/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6567" y="-70109"/>
            <a:ext cx="1405465" cy="71662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3F8A7C-7A3F-2451-3F3A-D52D743DD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914903"/>
              </p:ext>
            </p:extLst>
          </p:nvPr>
        </p:nvGraphicFramePr>
        <p:xfrm>
          <a:off x="0" y="580913"/>
          <a:ext cx="12179030" cy="6277088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095428">
                  <a:extLst>
                    <a:ext uri="{9D8B030D-6E8A-4147-A177-3AD203B41FA5}">
                      <a16:colId xmlns:a16="http://schemas.microsoft.com/office/drawing/2014/main" val="2899068885"/>
                    </a:ext>
                  </a:extLst>
                </a:gridCol>
                <a:gridCol w="4095428">
                  <a:extLst>
                    <a:ext uri="{9D8B030D-6E8A-4147-A177-3AD203B41FA5}">
                      <a16:colId xmlns:a16="http://schemas.microsoft.com/office/drawing/2014/main" val="3327523876"/>
                    </a:ext>
                  </a:extLst>
                </a:gridCol>
                <a:gridCol w="3988174">
                  <a:extLst>
                    <a:ext uri="{9D8B030D-6E8A-4147-A177-3AD203B41FA5}">
                      <a16:colId xmlns:a16="http://schemas.microsoft.com/office/drawing/2014/main" val="1313935535"/>
                    </a:ext>
                  </a:extLst>
                </a:gridCol>
              </a:tblGrid>
              <a:tr h="6277088"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Sitka Small Semibold" pitchFamily="2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Sitka Small Semibold" pitchFamily="2" charset="0"/>
                          <a:cs typeface="Times New Roman" panose="02020603050405020304" pitchFamily="18" charset="0"/>
                        </a:rPr>
                        <a:t>Analysis of the Feasibility of the Idea:</a:t>
                      </a:r>
                    </a:p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itka Small Semibold" pitchFamily="2" charset="0"/>
                          <a:cs typeface="Times New Roman" panose="02020603050405020304" pitchFamily="18" charset="0"/>
                        </a:rPr>
                        <a:t>Potential Challenges and Risks: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§"/>
                      </a:pP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Sitka Small Semibold" pitchFamily="2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Strategies for Overcoming Challenges:</a:t>
                      </a:r>
                    </a:p>
                    <a:p>
                      <a:pPr algn="just"/>
                      <a:endParaRPr lang="en-US" sz="1400" b="1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algn="just"/>
                      <a:endParaRPr lang="en-US" sz="1400" b="1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6084"/>
                  </a:ext>
                </a:extLst>
              </a:tr>
            </a:tbl>
          </a:graphicData>
        </a:graphic>
      </p:graphicFrame>
      <p:sp>
        <p:nvSpPr>
          <p:cNvPr id="3" name="Google Shape;105;p2" descr="Your startup LOGO">
            <a:extLst>
              <a:ext uri="{FF2B5EF4-FFF2-40B4-BE49-F238E27FC236}">
                <a16:creationId xmlns:a16="http://schemas.microsoft.com/office/drawing/2014/main" id="{20AB0A88-68E1-CED9-A3DC-BE52A85057AC}"/>
              </a:ext>
            </a:extLst>
          </p:cNvPr>
          <p:cNvSpPr/>
          <p:nvPr/>
        </p:nvSpPr>
        <p:spPr>
          <a:xfrm>
            <a:off x="241329" y="57647"/>
            <a:ext cx="1851241" cy="49524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Sudo_Scope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C236091-5E1D-8DD2-957B-F1C445EE96E2}"/>
              </a:ext>
            </a:extLst>
          </p:cNvPr>
          <p:cNvGrpSpPr/>
          <p:nvPr/>
        </p:nvGrpSpPr>
        <p:grpSpPr>
          <a:xfrm>
            <a:off x="127588" y="1080392"/>
            <a:ext cx="3929963" cy="888719"/>
            <a:chOff x="79968" y="1250329"/>
            <a:chExt cx="3929963" cy="888719"/>
          </a:xfrm>
          <a:effectLst>
            <a:outerShdw blurRad="279400" algn="ctr" rotWithShape="0">
              <a:prstClr val="black">
                <a:alpha val="26000"/>
              </a:prstClr>
            </a:outerShdw>
          </a:effectLst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9326675-2474-28B3-B82D-5CB0CD771A9D}"/>
                </a:ext>
              </a:extLst>
            </p:cNvPr>
            <p:cNvSpPr/>
            <p:nvPr/>
          </p:nvSpPr>
          <p:spPr>
            <a:xfrm rot="158526">
              <a:off x="749329" y="1458042"/>
              <a:ext cx="2685644" cy="426497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6AD4920-D4EF-00EE-3FF6-348B359B0FC7}"/>
                </a:ext>
              </a:extLst>
            </p:cNvPr>
            <p:cNvSpPr/>
            <p:nvPr/>
          </p:nvSpPr>
          <p:spPr>
            <a:xfrm flipV="1">
              <a:off x="1909059" y="1309572"/>
              <a:ext cx="2100872" cy="814202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C74308C-6C70-4013-FCB4-558F406F399D}"/>
                </a:ext>
              </a:extLst>
            </p:cNvPr>
            <p:cNvSpPr/>
            <p:nvPr/>
          </p:nvSpPr>
          <p:spPr>
            <a:xfrm flipV="1">
              <a:off x="773050" y="1309572"/>
              <a:ext cx="1229212" cy="814202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dirty="0">
                <a:latin typeface="Sitka Text Semibold" pitchFamily="2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3A0186C-6B17-1CA4-4E24-22D57E7474A8}"/>
                </a:ext>
              </a:extLst>
            </p:cNvPr>
            <p:cNvSpPr/>
            <p:nvPr/>
          </p:nvSpPr>
          <p:spPr>
            <a:xfrm>
              <a:off x="79968" y="1636748"/>
              <a:ext cx="850469" cy="42065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C9DB470-7A6D-0128-266D-A392B9D34026}"/>
                </a:ext>
              </a:extLst>
            </p:cNvPr>
            <p:cNvSpPr/>
            <p:nvPr/>
          </p:nvSpPr>
          <p:spPr>
            <a:xfrm>
              <a:off x="79968" y="1309572"/>
              <a:ext cx="850469" cy="438182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dirty="0">
                <a:latin typeface="Sitka Text Semibold" pitchFamily="2" charset="0"/>
              </a:endParaRPr>
            </a:p>
          </p:txBody>
        </p:sp>
        <p:sp>
          <p:nvSpPr>
            <p:cNvPr id="48" name="Frame 47">
              <a:extLst>
                <a:ext uri="{FF2B5EF4-FFF2-40B4-BE49-F238E27FC236}">
                  <a16:creationId xmlns:a16="http://schemas.microsoft.com/office/drawing/2014/main" id="{0CE3B75B-144D-4986-7D05-EC82C78DBFE0}"/>
                </a:ext>
              </a:extLst>
            </p:cNvPr>
            <p:cNvSpPr/>
            <p:nvPr/>
          </p:nvSpPr>
          <p:spPr>
            <a:xfrm>
              <a:off x="79968" y="1309572"/>
              <a:ext cx="850469" cy="814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AC30B0A-2B54-523D-9989-BB1B1382D896}"/>
                </a:ext>
              </a:extLst>
            </p:cNvPr>
            <p:cNvSpPr txBox="1"/>
            <p:nvPr/>
          </p:nvSpPr>
          <p:spPr>
            <a:xfrm>
              <a:off x="113049" y="1320875"/>
              <a:ext cx="761748" cy="71558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50" b="1" dirty="0">
                  <a:solidFill>
                    <a:schemeClr val="bg1"/>
                  </a:solidFill>
                  <a:latin typeface="Sitka Text Semibold" pitchFamily="2" charset="0"/>
                </a:rPr>
                <a:t>01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EAE7276-F149-0A85-EF89-7EAACABA9314}"/>
                </a:ext>
              </a:extLst>
            </p:cNvPr>
            <p:cNvGrpSpPr/>
            <p:nvPr/>
          </p:nvGrpSpPr>
          <p:grpSpPr>
            <a:xfrm>
              <a:off x="999127" y="1250329"/>
              <a:ext cx="2673568" cy="888719"/>
              <a:chOff x="7812529" y="1143507"/>
              <a:chExt cx="2954196" cy="1404986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997E187-B9F6-7DCB-6BA1-73C00B3D74E4}"/>
                  </a:ext>
                </a:extLst>
              </p:cNvPr>
              <p:cNvSpPr txBox="1"/>
              <p:nvPr/>
            </p:nvSpPr>
            <p:spPr>
              <a:xfrm>
                <a:off x="7829636" y="1143507"/>
                <a:ext cx="2937089" cy="535222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Technical Feasibility:</a:t>
                </a:r>
                <a:r>
                  <a:rPr lang="en-IN" sz="1600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 </a:t>
                </a:r>
                <a:endParaRPr lang="en-US" sz="12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46BE6CF-27BF-033D-CD01-9B958DD14865}"/>
                  </a:ext>
                </a:extLst>
              </p:cNvPr>
              <p:cNvSpPr txBox="1"/>
              <p:nvPr/>
            </p:nvSpPr>
            <p:spPr>
              <a:xfrm>
                <a:off x="7812529" y="1526701"/>
                <a:ext cx="2929293" cy="1021792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Reliable technologies like Flutter, PHP, and Firebase ensure smooth development and maintenance.</a:t>
                </a:r>
              </a:p>
            </p:txBody>
          </p:sp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127CE80-F5A5-DD0B-1528-9C6EC464A7C4}"/>
              </a:ext>
            </a:extLst>
          </p:cNvPr>
          <p:cNvGrpSpPr/>
          <p:nvPr/>
        </p:nvGrpSpPr>
        <p:grpSpPr>
          <a:xfrm>
            <a:off x="79967" y="2016656"/>
            <a:ext cx="3908374" cy="940229"/>
            <a:chOff x="1085997" y="3000429"/>
            <a:chExt cx="5993948" cy="1514511"/>
          </a:xfrm>
        </p:grpSpPr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AFCB2C86-6B44-38E8-2793-6ACA23881735}"/>
                </a:ext>
              </a:extLst>
            </p:cNvPr>
            <p:cNvSpPr/>
            <p:nvPr/>
          </p:nvSpPr>
          <p:spPr>
            <a:xfrm rot="21441474" flipH="1">
              <a:off x="1904183" y="3390401"/>
              <a:ext cx="4143141" cy="655754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8AC7A99-0706-DA93-2187-BF6C04C5B8F9}"/>
                </a:ext>
              </a:extLst>
            </p:cNvPr>
            <p:cNvSpPr/>
            <p:nvPr/>
          </p:nvSpPr>
          <p:spPr>
            <a:xfrm flipH="1" flipV="1">
              <a:off x="1085997" y="3162124"/>
              <a:ext cx="3172208" cy="1311509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796C3C6E-EBD7-938A-7942-B4DABA8DC9AD}"/>
                </a:ext>
              </a:extLst>
            </p:cNvPr>
            <p:cNvSpPr/>
            <p:nvPr/>
          </p:nvSpPr>
          <p:spPr>
            <a:xfrm flipH="1" flipV="1">
              <a:off x="4114425" y="3162124"/>
              <a:ext cx="1896305" cy="1318358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577C4E8-8B1E-96C7-DCEA-0C7F034690C7}"/>
                </a:ext>
              </a:extLst>
            </p:cNvPr>
            <p:cNvSpPr/>
            <p:nvPr/>
          </p:nvSpPr>
          <p:spPr>
            <a:xfrm flipH="1">
              <a:off x="5767927" y="3665169"/>
              <a:ext cx="1312018" cy="646771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A3CD4A0-2E2D-E56B-9CCB-528B56C41AD0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673719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36" name="Frame 135">
              <a:extLst>
                <a:ext uri="{FF2B5EF4-FFF2-40B4-BE49-F238E27FC236}">
                  <a16:creationId xmlns:a16="http://schemas.microsoft.com/office/drawing/2014/main" id="{C622DAB7-F044-9B8B-97CB-7C6EB3469695}"/>
                </a:ext>
              </a:extLst>
            </p:cNvPr>
            <p:cNvSpPr/>
            <p:nvPr/>
          </p:nvSpPr>
          <p:spPr>
            <a:xfrm flipH="1">
              <a:off x="5767927" y="3000429"/>
              <a:ext cx="1312018" cy="1514511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D70B2C4-519A-11F4-EDD8-8E8C1DF88C6A}"/>
                </a:ext>
              </a:extLst>
            </p:cNvPr>
            <p:cNvSpPr txBox="1"/>
            <p:nvPr/>
          </p:nvSpPr>
          <p:spPr>
            <a:xfrm>
              <a:off x="5769255" y="3072597"/>
              <a:ext cx="1259190" cy="115265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50" b="1" dirty="0">
                  <a:solidFill>
                    <a:schemeClr val="bg1"/>
                  </a:solidFill>
                  <a:latin typeface="Sitka Text Semibold" pitchFamily="2" charset="0"/>
                </a:rPr>
                <a:t>02</a:t>
              </a: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E9ED2D44-2423-0FFB-521C-93A366C93863}"/>
                </a:ext>
              </a:extLst>
            </p:cNvPr>
            <p:cNvGrpSpPr/>
            <p:nvPr/>
          </p:nvGrpSpPr>
          <p:grpSpPr>
            <a:xfrm>
              <a:off x="1428373" y="3036033"/>
              <a:ext cx="4269999" cy="1388213"/>
              <a:chOff x="7489692" y="1108614"/>
              <a:chExt cx="3362164" cy="1427379"/>
            </a:xfrm>
          </p:grpSpPr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AEFC3A54-2AE6-ED1F-DFAA-889AA5826A7D}"/>
                  </a:ext>
                </a:extLst>
              </p:cNvPr>
              <p:cNvSpPr txBox="1"/>
              <p:nvPr/>
            </p:nvSpPr>
            <p:spPr>
              <a:xfrm>
                <a:off x="7489692" y="1108614"/>
                <a:ext cx="2937088" cy="560724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Economic Feasibility:</a:t>
                </a:r>
                <a:r>
                  <a:rPr lang="en-IN" sz="1600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 </a:t>
                </a:r>
                <a:endParaRPr lang="en-US" sz="16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21CB287D-6D6D-2BF7-8013-F3A4D3C97D31}"/>
                  </a:ext>
                </a:extLst>
              </p:cNvPr>
              <p:cNvSpPr txBox="1"/>
              <p:nvPr/>
            </p:nvSpPr>
            <p:spPr>
              <a:xfrm>
                <a:off x="7922562" y="1465513"/>
                <a:ext cx="2929294" cy="1070480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algn="just"/>
                <a:r>
                  <a:rPr lang="en-US" sz="1200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Optimized resource use and reduced waste justify the investment with cost savings.</a:t>
                </a:r>
              </a:p>
            </p:txBody>
          </p:sp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041AE6B-F0D9-89E4-825F-6239506E2330}"/>
              </a:ext>
            </a:extLst>
          </p:cNvPr>
          <p:cNvGrpSpPr/>
          <p:nvPr/>
        </p:nvGrpSpPr>
        <p:grpSpPr>
          <a:xfrm>
            <a:off x="65495" y="3053380"/>
            <a:ext cx="3929963" cy="888718"/>
            <a:chOff x="79968" y="1250330"/>
            <a:chExt cx="3929963" cy="888718"/>
          </a:xfrm>
          <a:effectLst>
            <a:outerShdw blurRad="279400" algn="ctr" rotWithShape="0">
              <a:prstClr val="black">
                <a:alpha val="26000"/>
              </a:prstClr>
            </a:outerShdw>
          </a:effectLst>
        </p:grpSpPr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FBE854E7-0B29-D97A-6C17-0F4E72608111}"/>
                </a:ext>
              </a:extLst>
            </p:cNvPr>
            <p:cNvSpPr/>
            <p:nvPr/>
          </p:nvSpPr>
          <p:spPr>
            <a:xfrm rot="158526">
              <a:off x="749329" y="1458042"/>
              <a:ext cx="2685644" cy="426497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F0C87A6-FE03-7D75-2B4C-A23DC2C50F1D}"/>
                </a:ext>
              </a:extLst>
            </p:cNvPr>
            <p:cNvSpPr/>
            <p:nvPr/>
          </p:nvSpPr>
          <p:spPr>
            <a:xfrm flipV="1">
              <a:off x="1909059" y="1309572"/>
              <a:ext cx="2100872" cy="814202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5663B09-A277-62F8-58F5-4417AE0B5634}"/>
                </a:ext>
              </a:extLst>
            </p:cNvPr>
            <p:cNvSpPr/>
            <p:nvPr/>
          </p:nvSpPr>
          <p:spPr>
            <a:xfrm flipV="1">
              <a:off x="773050" y="1309572"/>
              <a:ext cx="1229212" cy="814202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FD231F06-F4F3-F310-6B6C-8F43E4BF9129}"/>
                </a:ext>
              </a:extLst>
            </p:cNvPr>
            <p:cNvSpPr/>
            <p:nvPr/>
          </p:nvSpPr>
          <p:spPr>
            <a:xfrm>
              <a:off x="79968" y="1636748"/>
              <a:ext cx="850469" cy="42065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56372683-D6DA-4E2E-EBF8-E6A36C41011F}"/>
                </a:ext>
              </a:extLst>
            </p:cNvPr>
            <p:cNvSpPr/>
            <p:nvPr/>
          </p:nvSpPr>
          <p:spPr>
            <a:xfrm>
              <a:off x="79968" y="1309572"/>
              <a:ext cx="850469" cy="438182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dirty="0">
                <a:latin typeface="Sitka Text Semibold" pitchFamily="2" charset="0"/>
              </a:endParaRPr>
            </a:p>
          </p:txBody>
        </p:sp>
        <p:sp>
          <p:nvSpPr>
            <p:cNvPr id="159" name="Frame 158">
              <a:extLst>
                <a:ext uri="{FF2B5EF4-FFF2-40B4-BE49-F238E27FC236}">
                  <a16:creationId xmlns:a16="http://schemas.microsoft.com/office/drawing/2014/main" id="{EB258C53-B1CD-FD87-7F3E-CF62452F42E8}"/>
                </a:ext>
              </a:extLst>
            </p:cNvPr>
            <p:cNvSpPr/>
            <p:nvPr/>
          </p:nvSpPr>
          <p:spPr>
            <a:xfrm>
              <a:off x="79968" y="1309572"/>
              <a:ext cx="850469" cy="814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54F610B7-C93F-AF7B-7199-9549F8B436CC}"/>
                </a:ext>
              </a:extLst>
            </p:cNvPr>
            <p:cNvSpPr txBox="1"/>
            <p:nvPr/>
          </p:nvSpPr>
          <p:spPr>
            <a:xfrm>
              <a:off x="96265" y="1320876"/>
              <a:ext cx="816250" cy="71558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50" b="1" dirty="0">
                  <a:solidFill>
                    <a:schemeClr val="bg1"/>
                  </a:solidFill>
                  <a:latin typeface="Sitka Text Semibold" pitchFamily="2" charset="0"/>
                </a:rPr>
                <a:t>03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9A406BF-EA2C-EAC0-8C3B-1E5CF28BB22F}"/>
                </a:ext>
              </a:extLst>
            </p:cNvPr>
            <p:cNvGrpSpPr/>
            <p:nvPr/>
          </p:nvGrpSpPr>
          <p:grpSpPr>
            <a:xfrm>
              <a:off x="1009591" y="1250330"/>
              <a:ext cx="2673570" cy="888718"/>
              <a:chOff x="7824095" y="1143511"/>
              <a:chExt cx="2954199" cy="1404983"/>
            </a:xfrm>
          </p:grpSpPr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53372B10-85CC-8C08-6100-CD8A40A2EE5A}"/>
                  </a:ext>
                </a:extLst>
              </p:cNvPr>
              <p:cNvSpPr txBox="1"/>
              <p:nvPr/>
            </p:nvSpPr>
            <p:spPr>
              <a:xfrm>
                <a:off x="7841205" y="1143511"/>
                <a:ext cx="2937089" cy="535224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Operational Feasibility: </a:t>
                </a:r>
                <a:endParaRPr lang="en-US" sz="12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7CF2223E-3375-E747-F4ED-AD219CBF80D0}"/>
                  </a:ext>
                </a:extLst>
              </p:cNvPr>
              <p:cNvSpPr txBox="1"/>
              <p:nvPr/>
            </p:nvSpPr>
            <p:spPr>
              <a:xfrm>
                <a:off x="7824095" y="1526703"/>
                <a:ext cx="2929293" cy="1021791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The solution integrates seamlessly with existing hospital workflows and infrastructure.</a:t>
                </a:r>
              </a:p>
            </p:txBody>
          </p:sp>
        </p:grp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AFBE4EA-9287-1B19-3F8A-20CB871F1499}"/>
              </a:ext>
            </a:extLst>
          </p:cNvPr>
          <p:cNvGrpSpPr/>
          <p:nvPr/>
        </p:nvGrpSpPr>
        <p:grpSpPr>
          <a:xfrm>
            <a:off x="48074" y="3978439"/>
            <a:ext cx="3908374" cy="918835"/>
            <a:chOff x="1085997" y="3000431"/>
            <a:chExt cx="5993948" cy="1480051"/>
          </a:xfrm>
        </p:grpSpPr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D87511CC-867E-5D92-9FBA-836A376F026C}"/>
                </a:ext>
              </a:extLst>
            </p:cNvPr>
            <p:cNvSpPr/>
            <p:nvPr/>
          </p:nvSpPr>
          <p:spPr>
            <a:xfrm rot="21441474" flipH="1">
              <a:off x="1904183" y="3390401"/>
              <a:ext cx="4143141" cy="655754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7FD894B-C8FF-A34B-DB5C-0BD1F9FCC2F8}"/>
                </a:ext>
              </a:extLst>
            </p:cNvPr>
            <p:cNvSpPr/>
            <p:nvPr/>
          </p:nvSpPr>
          <p:spPr>
            <a:xfrm flipH="1" flipV="1">
              <a:off x="1085997" y="3162124"/>
              <a:ext cx="3172208" cy="1311509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62D1111-24C8-83C2-CD86-068E295E21F2}"/>
                </a:ext>
              </a:extLst>
            </p:cNvPr>
            <p:cNvSpPr/>
            <p:nvPr/>
          </p:nvSpPr>
          <p:spPr>
            <a:xfrm flipH="1" flipV="1">
              <a:off x="4114425" y="3162124"/>
              <a:ext cx="1896305" cy="1318358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946FE92C-9C04-1149-3AFA-EEB43A1BFA98}"/>
                </a:ext>
              </a:extLst>
            </p:cNvPr>
            <p:cNvSpPr/>
            <p:nvPr/>
          </p:nvSpPr>
          <p:spPr>
            <a:xfrm flipH="1">
              <a:off x="5767927" y="3665169"/>
              <a:ext cx="1312018" cy="646771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FF2C5595-D079-704B-2C6A-D4ACE8E1EAAB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673719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70" name="Frame 169">
              <a:extLst>
                <a:ext uri="{FF2B5EF4-FFF2-40B4-BE49-F238E27FC236}">
                  <a16:creationId xmlns:a16="http://schemas.microsoft.com/office/drawing/2014/main" id="{FB886DA1-EE49-970D-10C1-432B8C1FF490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1473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9D23CF67-9B47-74C2-546B-1535A370A6F3}"/>
                </a:ext>
              </a:extLst>
            </p:cNvPr>
            <p:cNvSpPr txBox="1"/>
            <p:nvPr/>
          </p:nvSpPr>
          <p:spPr>
            <a:xfrm>
              <a:off x="5723078" y="3087133"/>
              <a:ext cx="1281315" cy="115265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50" b="1" dirty="0">
                  <a:solidFill>
                    <a:schemeClr val="bg1"/>
                  </a:solidFill>
                  <a:latin typeface="Sitka Text Semibold" pitchFamily="2" charset="0"/>
                </a:rPr>
                <a:t>04</a:t>
              </a:r>
            </a:p>
          </p:txBody>
        </p: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87245A40-A934-E12C-397C-F6C9916E2D33}"/>
                </a:ext>
              </a:extLst>
            </p:cNvPr>
            <p:cNvGrpSpPr/>
            <p:nvPr/>
          </p:nvGrpSpPr>
          <p:grpSpPr>
            <a:xfrm>
              <a:off x="1361406" y="3068792"/>
              <a:ext cx="4270000" cy="1388206"/>
              <a:chOff x="7436964" y="1142296"/>
              <a:chExt cx="3362165" cy="1427371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15FBC9D0-BE08-7DB0-35A7-86771936ED09}"/>
                  </a:ext>
                </a:extLst>
              </p:cNvPr>
              <p:cNvSpPr txBox="1"/>
              <p:nvPr/>
            </p:nvSpPr>
            <p:spPr>
              <a:xfrm>
                <a:off x="7436964" y="1142296"/>
                <a:ext cx="2937088" cy="560723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Market Feasibility: </a:t>
                </a:r>
                <a:endParaRPr lang="en-US" sz="16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4535323F-675C-4203-B513-437E6B223D82}"/>
                  </a:ext>
                </a:extLst>
              </p:cNvPr>
              <p:cNvSpPr txBox="1"/>
              <p:nvPr/>
            </p:nvSpPr>
            <p:spPr>
              <a:xfrm>
                <a:off x="7869835" y="1499191"/>
                <a:ext cx="2929294" cy="1070476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algn="just"/>
                <a:r>
                  <a:rPr lang="en-US" sz="1200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 Growing demand for hospital management solutions offers significant market potential.</a:t>
                </a:r>
              </a:p>
            </p:txBody>
          </p:sp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EFFCC37F-F8E7-8EE6-72C4-6661D48C0FE6}"/>
              </a:ext>
            </a:extLst>
          </p:cNvPr>
          <p:cNvGrpSpPr/>
          <p:nvPr/>
        </p:nvGrpSpPr>
        <p:grpSpPr>
          <a:xfrm>
            <a:off x="79967" y="4968436"/>
            <a:ext cx="3929963" cy="896814"/>
            <a:chOff x="79968" y="1291361"/>
            <a:chExt cx="3929963" cy="896814"/>
          </a:xfrm>
          <a:effectLst>
            <a:outerShdw blurRad="279400" algn="ctr" rotWithShape="0">
              <a:prstClr val="black">
                <a:alpha val="26000"/>
              </a:prstClr>
            </a:outerShdw>
          </a:effectLst>
        </p:grpSpPr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929549D-49CC-0758-9EDF-D0C85DCA5A06}"/>
                </a:ext>
              </a:extLst>
            </p:cNvPr>
            <p:cNvSpPr/>
            <p:nvPr/>
          </p:nvSpPr>
          <p:spPr>
            <a:xfrm rot="158526">
              <a:off x="749329" y="1458042"/>
              <a:ext cx="2685644" cy="426497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F6CC7DFF-F748-C566-052C-0BBCF5CDB729}"/>
                </a:ext>
              </a:extLst>
            </p:cNvPr>
            <p:cNvSpPr/>
            <p:nvPr/>
          </p:nvSpPr>
          <p:spPr>
            <a:xfrm flipV="1">
              <a:off x="1909059" y="1309572"/>
              <a:ext cx="2100872" cy="814202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3B229CA-2D22-86DB-000D-693C83E21AF5}"/>
                </a:ext>
              </a:extLst>
            </p:cNvPr>
            <p:cNvSpPr/>
            <p:nvPr/>
          </p:nvSpPr>
          <p:spPr>
            <a:xfrm flipV="1">
              <a:off x="773050" y="1309572"/>
              <a:ext cx="1229212" cy="814202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6AAB851F-EF4E-4345-2455-F6E2EBC0F104}"/>
                </a:ext>
              </a:extLst>
            </p:cNvPr>
            <p:cNvSpPr/>
            <p:nvPr/>
          </p:nvSpPr>
          <p:spPr>
            <a:xfrm>
              <a:off x="79968" y="1636748"/>
              <a:ext cx="850469" cy="42065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4F9ED38D-2769-7647-B766-6462D2A25A61}"/>
                </a:ext>
              </a:extLst>
            </p:cNvPr>
            <p:cNvSpPr/>
            <p:nvPr/>
          </p:nvSpPr>
          <p:spPr>
            <a:xfrm>
              <a:off x="79968" y="1309572"/>
              <a:ext cx="850469" cy="438182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dirty="0">
                <a:latin typeface="Sitka Text Semibold" pitchFamily="2" charset="0"/>
              </a:endParaRPr>
            </a:p>
          </p:txBody>
        </p:sp>
        <p:sp>
          <p:nvSpPr>
            <p:cNvPr id="181" name="Frame 180">
              <a:extLst>
                <a:ext uri="{FF2B5EF4-FFF2-40B4-BE49-F238E27FC236}">
                  <a16:creationId xmlns:a16="http://schemas.microsoft.com/office/drawing/2014/main" id="{D74D583B-A88D-CA7D-493A-CF28A7254D65}"/>
                </a:ext>
              </a:extLst>
            </p:cNvPr>
            <p:cNvSpPr/>
            <p:nvPr/>
          </p:nvSpPr>
          <p:spPr>
            <a:xfrm>
              <a:off x="79968" y="1309572"/>
              <a:ext cx="850469" cy="814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AF2D1A0B-B99B-0C31-EC63-4CA33D9F0849}"/>
                </a:ext>
              </a:extLst>
            </p:cNvPr>
            <p:cNvSpPr txBox="1"/>
            <p:nvPr/>
          </p:nvSpPr>
          <p:spPr>
            <a:xfrm>
              <a:off x="85673" y="1340336"/>
              <a:ext cx="814647" cy="71558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50" b="1" dirty="0">
                  <a:solidFill>
                    <a:schemeClr val="bg1"/>
                  </a:solidFill>
                  <a:latin typeface="Sitka Text Semibold" pitchFamily="2" charset="0"/>
                </a:rPr>
                <a:t>05</a:t>
              </a:r>
            </a:p>
          </p:txBody>
        </p: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54492870-892F-1F3B-7109-BFA7A9998D55}"/>
                </a:ext>
              </a:extLst>
            </p:cNvPr>
            <p:cNvGrpSpPr/>
            <p:nvPr/>
          </p:nvGrpSpPr>
          <p:grpSpPr>
            <a:xfrm>
              <a:off x="955180" y="1291361"/>
              <a:ext cx="2668424" cy="896814"/>
              <a:chOff x="7763975" y="1208377"/>
              <a:chExt cx="2948514" cy="1417782"/>
            </a:xfrm>
          </p:grpSpPr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AAC8A2B4-4669-9D1D-14FE-C6AD73E965C5}"/>
                  </a:ext>
                </a:extLst>
              </p:cNvPr>
              <p:cNvSpPr txBox="1"/>
              <p:nvPr/>
            </p:nvSpPr>
            <p:spPr>
              <a:xfrm>
                <a:off x="7763975" y="1208377"/>
                <a:ext cx="2937086" cy="535223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Social Feasibility: </a:t>
                </a:r>
                <a:endParaRPr lang="en-US" sz="12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98AE5677-A662-7D54-582B-AF6A3F7F98B4}"/>
                  </a:ext>
                </a:extLst>
              </p:cNvPr>
              <p:cNvSpPr txBox="1"/>
              <p:nvPr/>
            </p:nvSpPr>
            <p:spPr>
              <a:xfrm>
                <a:off x="7783196" y="1604368"/>
                <a:ext cx="2929293" cy="1021791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Positive social impact through improved patient care and reduced waiting times.</a:t>
                </a:r>
              </a:p>
            </p:txBody>
          </p:sp>
        </p:grp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0ECDFEF6-2C18-B62C-2B3E-4ED4E5365299}"/>
              </a:ext>
            </a:extLst>
          </p:cNvPr>
          <p:cNvGrpSpPr/>
          <p:nvPr/>
        </p:nvGrpSpPr>
        <p:grpSpPr>
          <a:xfrm>
            <a:off x="65221" y="5885772"/>
            <a:ext cx="3908374" cy="914584"/>
            <a:chOff x="1085997" y="3000431"/>
            <a:chExt cx="5993948" cy="1473202"/>
          </a:xfrm>
        </p:grpSpPr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0482539-3C76-CD57-1762-4B26BB053864}"/>
                </a:ext>
              </a:extLst>
            </p:cNvPr>
            <p:cNvSpPr/>
            <p:nvPr/>
          </p:nvSpPr>
          <p:spPr>
            <a:xfrm rot="21441474" flipH="1">
              <a:off x="1904183" y="3390401"/>
              <a:ext cx="4143141" cy="655754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AA60CEE-8E20-6520-0F72-DAF81B66BBCF}"/>
                </a:ext>
              </a:extLst>
            </p:cNvPr>
            <p:cNvSpPr/>
            <p:nvPr/>
          </p:nvSpPr>
          <p:spPr>
            <a:xfrm flipH="1" flipV="1">
              <a:off x="1085997" y="3162124"/>
              <a:ext cx="3172208" cy="1311509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70D5F25C-E6F9-BD22-749C-C4F8D377C5F9}"/>
                </a:ext>
              </a:extLst>
            </p:cNvPr>
            <p:cNvSpPr/>
            <p:nvPr/>
          </p:nvSpPr>
          <p:spPr>
            <a:xfrm flipH="1" flipV="1">
              <a:off x="4114425" y="3162124"/>
              <a:ext cx="1896305" cy="1311509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 dirty="0">
                <a:latin typeface="Sitka Text Semibold" pitchFamily="2" charset="0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336DBD14-0060-1D2D-8C43-16601836FB3E}"/>
                </a:ext>
              </a:extLst>
            </p:cNvPr>
            <p:cNvSpPr/>
            <p:nvPr/>
          </p:nvSpPr>
          <p:spPr>
            <a:xfrm flipH="1">
              <a:off x="5767927" y="3665169"/>
              <a:ext cx="1312018" cy="646771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B4691B28-E21A-9595-FC74-14BFA8163EF7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673719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92" name="Frame 191">
              <a:extLst>
                <a:ext uri="{FF2B5EF4-FFF2-40B4-BE49-F238E27FC236}">
                  <a16:creationId xmlns:a16="http://schemas.microsoft.com/office/drawing/2014/main" id="{A60624F5-692A-3CAD-0415-F233D44CA6A9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1473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>
                <a:latin typeface="Sitka Text Semibold" pitchFamily="2" charset="0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FD60FFFF-97F4-FBC7-3F19-8F6243E05294}"/>
                </a:ext>
              </a:extLst>
            </p:cNvPr>
            <p:cNvSpPr txBox="1"/>
            <p:nvPr/>
          </p:nvSpPr>
          <p:spPr>
            <a:xfrm>
              <a:off x="5796711" y="3164480"/>
              <a:ext cx="1281315" cy="115265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50" b="1" dirty="0">
                  <a:solidFill>
                    <a:schemeClr val="bg1"/>
                  </a:solidFill>
                  <a:latin typeface="Sitka Text Semibold" pitchFamily="2" charset="0"/>
                </a:rPr>
                <a:t>06</a:t>
              </a:r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03965AEF-535C-7FD3-8A72-2EED08FE5DD9}"/>
                </a:ext>
              </a:extLst>
            </p:cNvPr>
            <p:cNvGrpSpPr/>
            <p:nvPr/>
          </p:nvGrpSpPr>
          <p:grpSpPr>
            <a:xfrm>
              <a:off x="1437728" y="3080937"/>
              <a:ext cx="4269998" cy="1388207"/>
              <a:chOff x="7497058" y="1154784"/>
              <a:chExt cx="3362163" cy="1427373"/>
            </a:xfrm>
          </p:grpSpPr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546B6EB1-8ADA-9D68-04D5-79FA410CDBF0}"/>
                  </a:ext>
                </a:extLst>
              </p:cNvPr>
              <p:cNvSpPr txBox="1"/>
              <p:nvPr/>
            </p:nvSpPr>
            <p:spPr>
              <a:xfrm>
                <a:off x="7497058" y="1154784"/>
                <a:ext cx="2937088" cy="560724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Scalability:</a:t>
                </a:r>
                <a:endParaRPr lang="en-US" sz="16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A932A0A6-9963-5787-A9FD-F5CCFA1E0AE1}"/>
                  </a:ext>
                </a:extLst>
              </p:cNvPr>
              <p:cNvSpPr txBox="1"/>
              <p:nvPr/>
            </p:nvSpPr>
            <p:spPr>
              <a:xfrm>
                <a:off x="7929928" y="1511679"/>
                <a:ext cx="2929293" cy="1070478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algn="just"/>
                <a:r>
                  <a:rPr lang="en-US" sz="1200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The solution is designed to grow with hospital needs, ensuring long-term viability.</a:t>
                </a:r>
              </a:p>
            </p:txBody>
          </p:sp>
        </p:grp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03DE7606-50A1-6810-3911-78A0DCE125AA}"/>
              </a:ext>
            </a:extLst>
          </p:cNvPr>
          <p:cNvGrpSpPr/>
          <p:nvPr/>
        </p:nvGrpSpPr>
        <p:grpSpPr>
          <a:xfrm>
            <a:off x="4220355" y="1110386"/>
            <a:ext cx="3929963" cy="869031"/>
            <a:chOff x="79968" y="1280909"/>
            <a:chExt cx="3929963" cy="869031"/>
          </a:xfrm>
          <a:effectLst>
            <a:outerShdw blurRad="279400" algn="ctr" rotWithShape="0">
              <a:prstClr val="black">
                <a:alpha val="26000"/>
              </a:prstClr>
            </a:outerShdw>
          </a:effectLst>
        </p:grpSpPr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52ED1AD-DC2F-737B-49F6-8F8D2FDA2EC3}"/>
                </a:ext>
              </a:extLst>
            </p:cNvPr>
            <p:cNvSpPr/>
            <p:nvPr/>
          </p:nvSpPr>
          <p:spPr>
            <a:xfrm rot="158526">
              <a:off x="749329" y="1458042"/>
              <a:ext cx="2685644" cy="426497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3A518405-61D5-3837-974D-79ABFC137EB1}"/>
                </a:ext>
              </a:extLst>
            </p:cNvPr>
            <p:cNvSpPr/>
            <p:nvPr/>
          </p:nvSpPr>
          <p:spPr>
            <a:xfrm flipV="1">
              <a:off x="1909059" y="1309572"/>
              <a:ext cx="2100872" cy="814202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F80ECE0-BF7C-A7E2-630B-9BDEB039D36B}"/>
                </a:ext>
              </a:extLst>
            </p:cNvPr>
            <p:cNvSpPr/>
            <p:nvPr/>
          </p:nvSpPr>
          <p:spPr>
            <a:xfrm flipV="1">
              <a:off x="773050" y="1309572"/>
              <a:ext cx="1229212" cy="814202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B30B3DC3-C2EE-6BED-EFDC-8045E11BD026}"/>
                </a:ext>
              </a:extLst>
            </p:cNvPr>
            <p:cNvSpPr/>
            <p:nvPr/>
          </p:nvSpPr>
          <p:spPr>
            <a:xfrm>
              <a:off x="79968" y="1636748"/>
              <a:ext cx="850469" cy="420655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D016093D-6732-B8F4-CD84-BF1A1C21670C}"/>
                </a:ext>
              </a:extLst>
            </p:cNvPr>
            <p:cNvSpPr/>
            <p:nvPr/>
          </p:nvSpPr>
          <p:spPr>
            <a:xfrm>
              <a:off x="79968" y="1309572"/>
              <a:ext cx="850469" cy="438182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 dirty="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69" name="Frame 268">
              <a:extLst>
                <a:ext uri="{FF2B5EF4-FFF2-40B4-BE49-F238E27FC236}">
                  <a16:creationId xmlns:a16="http://schemas.microsoft.com/office/drawing/2014/main" id="{8167A949-7E04-6462-C3BA-49313D0ED130}"/>
                </a:ext>
              </a:extLst>
            </p:cNvPr>
            <p:cNvSpPr/>
            <p:nvPr/>
          </p:nvSpPr>
          <p:spPr>
            <a:xfrm>
              <a:off x="79968" y="1309572"/>
              <a:ext cx="850469" cy="814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29185671-DA65-CB38-3C85-DA6FD91B3E36}"/>
                </a:ext>
              </a:extLst>
            </p:cNvPr>
            <p:cNvSpPr txBox="1"/>
            <p:nvPr/>
          </p:nvSpPr>
          <p:spPr>
            <a:xfrm>
              <a:off x="106797" y="1317347"/>
              <a:ext cx="750526" cy="7078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rPr>
                <a:t>01</a:t>
              </a:r>
            </a:p>
          </p:txBody>
        </p:sp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9D894C77-AF78-A8C0-2F22-879DE3544236}"/>
                </a:ext>
              </a:extLst>
            </p:cNvPr>
            <p:cNvGrpSpPr/>
            <p:nvPr/>
          </p:nvGrpSpPr>
          <p:grpSpPr>
            <a:xfrm>
              <a:off x="996340" y="1280909"/>
              <a:ext cx="2662344" cy="869031"/>
              <a:chOff x="7809453" y="1191852"/>
              <a:chExt cx="2941795" cy="1373861"/>
            </a:xfrm>
          </p:grpSpPr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4DF23794-8CC7-20EC-48A0-03CC22619BE9}"/>
                  </a:ext>
                </a:extLst>
              </p:cNvPr>
              <p:cNvSpPr txBox="1"/>
              <p:nvPr/>
            </p:nvSpPr>
            <p:spPr>
              <a:xfrm>
                <a:off x="7809453" y="1191852"/>
                <a:ext cx="2937090" cy="535224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latin typeface="Sitka Text Semibold" pitchFamily="2" charset="0"/>
                    <a:cs typeface="Times New Roman" panose="02020603050405020304" pitchFamily="18" charset="0"/>
                  </a:rPr>
                  <a:t>System Integration:</a:t>
                </a:r>
                <a:endPara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824F5D96-599E-391E-D776-9537F2B74370}"/>
                  </a:ext>
                </a:extLst>
              </p:cNvPr>
              <p:cNvSpPr txBox="1"/>
              <p:nvPr/>
            </p:nvSpPr>
            <p:spPr>
              <a:xfrm>
                <a:off x="7821956" y="1543921"/>
                <a:ext cx="2929292" cy="1021792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tx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Compatibility issues may arise when integrating with existing hospital systems.</a:t>
                </a:r>
              </a:p>
            </p:txBody>
          </p:sp>
        </p:grpSp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0967A636-936D-89A7-87D0-BB256C0E9E57}"/>
              </a:ext>
            </a:extLst>
          </p:cNvPr>
          <p:cNvGrpSpPr/>
          <p:nvPr/>
        </p:nvGrpSpPr>
        <p:grpSpPr>
          <a:xfrm>
            <a:off x="4172734" y="2016068"/>
            <a:ext cx="3908374" cy="940819"/>
            <a:chOff x="1085997" y="3000431"/>
            <a:chExt cx="5993948" cy="1515464"/>
          </a:xfrm>
        </p:grpSpPr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AED6A664-CA5F-10FD-91BA-A68DAEE85898}"/>
                </a:ext>
              </a:extLst>
            </p:cNvPr>
            <p:cNvSpPr/>
            <p:nvPr/>
          </p:nvSpPr>
          <p:spPr>
            <a:xfrm rot="21441474" flipH="1">
              <a:off x="1904183" y="3390401"/>
              <a:ext cx="4143141" cy="655754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5B1B91F-F5E5-B499-9B9F-C25702622434}"/>
                </a:ext>
              </a:extLst>
            </p:cNvPr>
            <p:cNvSpPr/>
            <p:nvPr/>
          </p:nvSpPr>
          <p:spPr>
            <a:xfrm flipH="1" flipV="1">
              <a:off x="1085997" y="3162124"/>
              <a:ext cx="3172208" cy="1311509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7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564ACB9-DEA7-9E27-EC4C-2E9C3293FE39}"/>
                </a:ext>
              </a:extLst>
            </p:cNvPr>
            <p:cNvSpPr/>
            <p:nvPr/>
          </p:nvSpPr>
          <p:spPr>
            <a:xfrm flipH="1" flipV="1">
              <a:off x="4114425" y="3162124"/>
              <a:ext cx="1896305" cy="1318358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DF155FD8-A3C3-D8BF-E938-2394D068E390}"/>
                </a:ext>
              </a:extLst>
            </p:cNvPr>
            <p:cNvSpPr/>
            <p:nvPr/>
          </p:nvSpPr>
          <p:spPr>
            <a:xfrm flipH="1">
              <a:off x="5767927" y="3665169"/>
              <a:ext cx="1312018" cy="646771"/>
            </a:xfrm>
            <a:prstGeom prst="rect">
              <a:avLst/>
            </a:prstGeom>
            <a:blipFill>
              <a:blip r:embed="rId7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33150371-45BA-D97A-7113-C44E32A8B435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673719"/>
            </a:xfrm>
            <a:prstGeom prst="rect">
              <a:avLst/>
            </a:prstGeom>
            <a:blipFill>
              <a:blip r:embed="rId7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80" name="Frame 279">
              <a:extLst>
                <a:ext uri="{FF2B5EF4-FFF2-40B4-BE49-F238E27FC236}">
                  <a16:creationId xmlns:a16="http://schemas.microsoft.com/office/drawing/2014/main" id="{AFA6D815-CF9C-03CA-7FCA-4E3654992A65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1473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7F3EA22C-11DD-3369-5F40-C3DD9FB1205A}"/>
                </a:ext>
              </a:extLst>
            </p:cNvPr>
            <p:cNvSpPr txBox="1"/>
            <p:nvPr/>
          </p:nvSpPr>
          <p:spPr>
            <a:xfrm>
              <a:off x="5800571" y="3161747"/>
              <a:ext cx="1244440" cy="114025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rPr>
                <a:t>02</a:t>
              </a:r>
            </a:p>
          </p:txBody>
        </p: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E4EBA202-833C-145A-7080-7E92B61F6D74}"/>
                </a:ext>
              </a:extLst>
            </p:cNvPr>
            <p:cNvGrpSpPr/>
            <p:nvPr/>
          </p:nvGrpSpPr>
          <p:grpSpPr>
            <a:xfrm>
              <a:off x="1436278" y="3180602"/>
              <a:ext cx="4139346" cy="1335293"/>
              <a:chOff x="7495919" y="1257263"/>
              <a:chExt cx="3259290" cy="1372967"/>
            </a:xfrm>
          </p:grpSpPr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3796C0DC-F173-3C2E-71B6-03F1F39D8926}"/>
                  </a:ext>
                </a:extLst>
              </p:cNvPr>
              <p:cNvSpPr txBox="1"/>
              <p:nvPr/>
            </p:nvSpPr>
            <p:spPr>
              <a:xfrm>
                <a:off x="7495919" y="1257263"/>
                <a:ext cx="2022178" cy="560726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latin typeface="Sitka Text Semibold" pitchFamily="2" charset="0"/>
                    <a:cs typeface="Times New Roman" panose="02020603050405020304" pitchFamily="18" charset="0"/>
                  </a:rPr>
                  <a:t>Data Security: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8069A5AA-4A3E-0981-F5E8-1CDCA90C9B41}"/>
                  </a:ext>
                </a:extLst>
              </p:cNvPr>
              <p:cNvSpPr txBox="1"/>
              <p:nvPr/>
            </p:nvSpPr>
            <p:spPr>
              <a:xfrm>
                <a:off x="7825915" y="1559753"/>
                <a:ext cx="2929294" cy="1070477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algn="just"/>
                <a:r>
                  <a:rPr lang="en-US" sz="1200" dirty="0">
                    <a:solidFill>
                      <a:schemeClr val="tx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 Protecting patient data requires robust and compliant security measures.</a:t>
                </a:r>
              </a:p>
            </p:txBody>
          </p:sp>
        </p:grp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D8B53560-FDBB-790C-A7E3-1E467FEDE296}"/>
              </a:ext>
            </a:extLst>
          </p:cNvPr>
          <p:cNvGrpSpPr/>
          <p:nvPr/>
        </p:nvGrpSpPr>
        <p:grpSpPr>
          <a:xfrm>
            <a:off x="4152917" y="3081114"/>
            <a:ext cx="3954713" cy="888718"/>
            <a:chOff x="55218" y="1269790"/>
            <a:chExt cx="3954713" cy="888718"/>
          </a:xfrm>
          <a:effectLst>
            <a:outerShdw blurRad="279400" algn="ctr" rotWithShape="0">
              <a:prstClr val="black">
                <a:alpha val="26000"/>
              </a:prstClr>
            </a:outerShdw>
          </a:effectLst>
        </p:grpSpPr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6731BAD-239C-55BF-C915-5E077861864D}"/>
                </a:ext>
              </a:extLst>
            </p:cNvPr>
            <p:cNvSpPr/>
            <p:nvPr/>
          </p:nvSpPr>
          <p:spPr>
            <a:xfrm rot="158526">
              <a:off x="749329" y="1458042"/>
              <a:ext cx="2685644" cy="426497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DAAE56A3-6227-E900-A0EE-4E40E7D7701E}"/>
                </a:ext>
              </a:extLst>
            </p:cNvPr>
            <p:cNvSpPr/>
            <p:nvPr/>
          </p:nvSpPr>
          <p:spPr>
            <a:xfrm flipV="1">
              <a:off x="1909059" y="1309572"/>
              <a:ext cx="2100872" cy="814202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81D84D84-7035-060D-F74A-A9F34353BF13}"/>
                </a:ext>
              </a:extLst>
            </p:cNvPr>
            <p:cNvSpPr/>
            <p:nvPr/>
          </p:nvSpPr>
          <p:spPr>
            <a:xfrm flipV="1">
              <a:off x="773050" y="1309572"/>
              <a:ext cx="1229212" cy="814202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F86F5788-07DC-EE68-405B-431B8968E662}"/>
                </a:ext>
              </a:extLst>
            </p:cNvPr>
            <p:cNvSpPr/>
            <p:nvPr/>
          </p:nvSpPr>
          <p:spPr>
            <a:xfrm>
              <a:off x="79968" y="1636748"/>
              <a:ext cx="850469" cy="420655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F6F59908-5E95-8520-12EC-AEF3369FEFFA}"/>
                </a:ext>
              </a:extLst>
            </p:cNvPr>
            <p:cNvSpPr/>
            <p:nvPr/>
          </p:nvSpPr>
          <p:spPr>
            <a:xfrm>
              <a:off x="79968" y="1309572"/>
              <a:ext cx="850469" cy="438182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 dirty="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91" name="Frame 290">
              <a:extLst>
                <a:ext uri="{FF2B5EF4-FFF2-40B4-BE49-F238E27FC236}">
                  <a16:creationId xmlns:a16="http://schemas.microsoft.com/office/drawing/2014/main" id="{2A477CB3-610E-0B94-9135-CAB8D397032A}"/>
                </a:ext>
              </a:extLst>
            </p:cNvPr>
            <p:cNvSpPr/>
            <p:nvPr/>
          </p:nvSpPr>
          <p:spPr>
            <a:xfrm>
              <a:off x="79968" y="1309572"/>
              <a:ext cx="850469" cy="814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95B4EDDB-D69A-413E-BE9B-F744908BF8B0}"/>
                </a:ext>
              </a:extLst>
            </p:cNvPr>
            <p:cNvSpPr txBox="1"/>
            <p:nvPr/>
          </p:nvSpPr>
          <p:spPr>
            <a:xfrm>
              <a:off x="55218" y="1333405"/>
              <a:ext cx="808235" cy="7078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rPr>
                <a:t>03</a:t>
              </a:r>
            </a:p>
          </p:txBody>
        </p: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3C69088E-6E4F-7E30-EEFE-5245952386B5}"/>
                </a:ext>
              </a:extLst>
            </p:cNvPr>
            <p:cNvGrpSpPr/>
            <p:nvPr/>
          </p:nvGrpSpPr>
          <p:grpSpPr>
            <a:xfrm>
              <a:off x="1010405" y="1269790"/>
              <a:ext cx="2673571" cy="888718"/>
              <a:chOff x="7824993" y="1174275"/>
              <a:chExt cx="2954200" cy="1404984"/>
            </a:xfrm>
          </p:grpSpPr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8852CFD1-F423-CEE7-CBAC-47AF21AAA6BD}"/>
                  </a:ext>
                </a:extLst>
              </p:cNvPr>
              <p:cNvSpPr txBox="1"/>
              <p:nvPr/>
            </p:nvSpPr>
            <p:spPr>
              <a:xfrm>
                <a:off x="7842104" y="1174275"/>
                <a:ext cx="2937089" cy="535224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latin typeface="Sitka Text Semibold" pitchFamily="2" charset="0"/>
                    <a:cs typeface="Times New Roman" panose="02020603050405020304" pitchFamily="18" charset="0"/>
                  </a:rPr>
                  <a:t>User Adoption:</a:t>
                </a:r>
                <a:endPara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004E5650-B1C3-741B-38A4-48FBCC470FE5}"/>
                  </a:ext>
                </a:extLst>
              </p:cNvPr>
              <p:cNvSpPr txBox="1"/>
              <p:nvPr/>
            </p:nvSpPr>
            <p:spPr>
              <a:xfrm>
                <a:off x="7824993" y="1557467"/>
                <a:ext cx="2929293" cy="1021792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tx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Effective training is crucial to ensure that hospital staff can use the system efficiently.</a:t>
                </a:r>
              </a:p>
            </p:txBody>
          </p:sp>
        </p:grpSp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97DCF6EA-152D-87EA-30A5-80F30DB5E008}"/>
              </a:ext>
            </a:extLst>
          </p:cNvPr>
          <p:cNvGrpSpPr/>
          <p:nvPr/>
        </p:nvGrpSpPr>
        <p:grpSpPr>
          <a:xfrm>
            <a:off x="4140841" y="3977853"/>
            <a:ext cx="3914323" cy="918835"/>
            <a:chOff x="1085997" y="3000431"/>
            <a:chExt cx="6003071" cy="1480051"/>
          </a:xfrm>
        </p:grpSpPr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342807CE-9EB2-60E3-14D0-A77C28D0851B}"/>
                </a:ext>
              </a:extLst>
            </p:cNvPr>
            <p:cNvSpPr/>
            <p:nvPr/>
          </p:nvSpPr>
          <p:spPr>
            <a:xfrm rot="21441474" flipH="1">
              <a:off x="1904183" y="3390401"/>
              <a:ext cx="4143141" cy="655754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ACE05FD5-514E-D7B3-F160-9C21C5EDA447}"/>
                </a:ext>
              </a:extLst>
            </p:cNvPr>
            <p:cNvSpPr/>
            <p:nvPr/>
          </p:nvSpPr>
          <p:spPr>
            <a:xfrm flipH="1" flipV="1">
              <a:off x="1085997" y="3162124"/>
              <a:ext cx="3172208" cy="1311509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7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53407E62-4B0F-CC2E-ACC4-3A74622104BF}"/>
                </a:ext>
              </a:extLst>
            </p:cNvPr>
            <p:cNvSpPr/>
            <p:nvPr/>
          </p:nvSpPr>
          <p:spPr>
            <a:xfrm flipH="1" flipV="1">
              <a:off x="4114425" y="3162124"/>
              <a:ext cx="1896305" cy="1318358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90F53AAC-3007-7F93-FD52-E3FBFAD3EB11}"/>
                </a:ext>
              </a:extLst>
            </p:cNvPr>
            <p:cNvSpPr/>
            <p:nvPr/>
          </p:nvSpPr>
          <p:spPr>
            <a:xfrm flipH="1">
              <a:off x="5767927" y="3665169"/>
              <a:ext cx="1312018" cy="646771"/>
            </a:xfrm>
            <a:prstGeom prst="rect">
              <a:avLst/>
            </a:prstGeom>
            <a:blipFill>
              <a:blip r:embed="rId7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912FD76B-DA6F-58D3-A3C2-56ABF37A2456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673719"/>
            </a:xfrm>
            <a:prstGeom prst="rect">
              <a:avLst/>
            </a:prstGeom>
            <a:blipFill>
              <a:blip r:embed="rId7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02" name="Frame 301">
              <a:extLst>
                <a:ext uri="{FF2B5EF4-FFF2-40B4-BE49-F238E27FC236}">
                  <a16:creationId xmlns:a16="http://schemas.microsoft.com/office/drawing/2014/main" id="{5172E1A9-4D79-4229-8C38-62C0A38F5878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1473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CCF3EF3-9944-69AB-36F8-D0CA6ACB64C7}"/>
                </a:ext>
              </a:extLst>
            </p:cNvPr>
            <p:cNvSpPr txBox="1"/>
            <p:nvPr/>
          </p:nvSpPr>
          <p:spPr>
            <a:xfrm>
              <a:off x="5820045" y="3138321"/>
              <a:ext cx="1269023" cy="114025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rPr>
                <a:t>04</a:t>
              </a:r>
            </a:p>
          </p:txBody>
        </p:sp>
        <p:grpSp>
          <p:nvGrpSpPr>
            <p:cNvPr id="304" name="Group 303">
              <a:extLst>
                <a:ext uri="{FF2B5EF4-FFF2-40B4-BE49-F238E27FC236}">
                  <a16:creationId xmlns:a16="http://schemas.microsoft.com/office/drawing/2014/main" id="{DAB93A2C-8B5F-85E5-F90B-A7B9ABA0B35C}"/>
                </a:ext>
              </a:extLst>
            </p:cNvPr>
            <p:cNvGrpSpPr/>
            <p:nvPr/>
          </p:nvGrpSpPr>
          <p:grpSpPr>
            <a:xfrm>
              <a:off x="1518931" y="3195311"/>
              <a:ext cx="4118646" cy="1153106"/>
              <a:chOff x="7560998" y="1272385"/>
              <a:chExt cx="3242990" cy="1185639"/>
            </a:xfrm>
          </p:grpSpPr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6FEF54F3-9FBC-36B5-096D-D61A37FC1ED7}"/>
                  </a:ext>
                </a:extLst>
              </p:cNvPr>
              <p:cNvSpPr txBox="1"/>
              <p:nvPr/>
            </p:nvSpPr>
            <p:spPr>
              <a:xfrm>
                <a:off x="7560998" y="1272385"/>
                <a:ext cx="2937086" cy="560726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latin typeface="Sitka Text Semibold" pitchFamily="2" charset="0"/>
                    <a:cs typeface="Times New Roman" panose="02020603050405020304" pitchFamily="18" charset="0"/>
                  </a:rPr>
                  <a:t>Resistance to Change: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A114C89E-9EE6-D714-281B-57DF57E6DE4A}"/>
                  </a:ext>
                </a:extLst>
              </p:cNvPr>
              <p:cNvSpPr txBox="1"/>
              <p:nvPr/>
            </p:nvSpPr>
            <p:spPr>
              <a:xfrm>
                <a:off x="7874694" y="1693398"/>
                <a:ext cx="2929294" cy="764626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algn="just"/>
                <a:r>
                  <a:rPr lang="en-US" sz="1200" dirty="0">
                    <a:solidFill>
                      <a:schemeClr val="tx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 Some staff may resist adopting new technology and workflows.</a:t>
                </a:r>
              </a:p>
            </p:txBody>
          </p:sp>
        </p:grp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0CF323C1-9927-A916-17CF-35547E66804E}"/>
              </a:ext>
            </a:extLst>
          </p:cNvPr>
          <p:cNvGrpSpPr/>
          <p:nvPr/>
        </p:nvGrpSpPr>
        <p:grpSpPr>
          <a:xfrm>
            <a:off x="4172734" y="4942926"/>
            <a:ext cx="3929963" cy="857337"/>
            <a:chOff x="79968" y="1266437"/>
            <a:chExt cx="3929963" cy="857337"/>
          </a:xfrm>
          <a:effectLst>
            <a:outerShdw blurRad="279400" algn="ctr" rotWithShape="0">
              <a:prstClr val="black">
                <a:alpha val="26000"/>
              </a:prstClr>
            </a:outerShdw>
          </a:effectLst>
        </p:grpSpPr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7DB441F0-BB68-F74E-DBC3-15694FF423C3}"/>
                </a:ext>
              </a:extLst>
            </p:cNvPr>
            <p:cNvSpPr/>
            <p:nvPr/>
          </p:nvSpPr>
          <p:spPr>
            <a:xfrm rot="158526">
              <a:off x="749329" y="1458042"/>
              <a:ext cx="2685644" cy="426497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8EF1825E-13C6-08B3-4635-149884B78A3F}"/>
                </a:ext>
              </a:extLst>
            </p:cNvPr>
            <p:cNvSpPr/>
            <p:nvPr/>
          </p:nvSpPr>
          <p:spPr>
            <a:xfrm flipV="1">
              <a:off x="1909059" y="1309572"/>
              <a:ext cx="2100872" cy="814202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37F6784-5F84-0CFC-A42C-A88D0C9C9037}"/>
                </a:ext>
              </a:extLst>
            </p:cNvPr>
            <p:cNvSpPr/>
            <p:nvPr/>
          </p:nvSpPr>
          <p:spPr>
            <a:xfrm flipV="1">
              <a:off x="773050" y="1309572"/>
              <a:ext cx="1229212" cy="814202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D99D55D5-E264-78D7-0FB1-8A7CC486F14D}"/>
                </a:ext>
              </a:extLst>
            </p:cNvPr>
            <p:cNvSpPr/>
            <p:nvPr/>
          </p:nvSpPr>
          <p:spPr>
            <a:xfrm>
              <a:off x="79968" y="1636748"/>
              <a:ext cx="850469" cy="420655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D54911AF-A768-F4E0-E84F-52787CF389B8}"/>
                </a:ext>
              </a:extLst>
            </p:cNvPr>
            <p:cNvSpPr/>
            <p:nvPr/>
          </p:nvSpPr>
          <p:spPr>
            <a:xfrm>
              <a:off x="79968" y="1309572"/>
              <a:ext cx="850469" cy="438182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 dirty="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13" name="Frame 312">
              <a:extLst>
                <a:ext uri="{FF2B5EF4-FFF2-40B4-BE49-F238E27FC236}">
                  <a16:creationId xmlns:a16="http://schemas.microsoft.com/office/drawing/2014/main" id="{E8D20977-AABD-1EB2-5E54-DDE6509CD038}"/>
                </a:ext>
              </a:extLst>
            </p:cNvPr>
            <p:cNvSpPr/>
            <p:nvPr/>
          </p:nvSpPr>
          <p:spPr>
            <a:xfrm>
              <a:off x="79968" y="1309572"/>
              <a:ext cx="850469" cy="814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6AB82ABF-16B4-4403-001A-50727796AD28}"/>
                </a:ext>
              </a:extLst>
            </p:cNvPr>
            <p:cNvSpPr txBox="1"/>
            <p:nvPr/>
          </p:nvSpPr>
          <p:spPr>
            <a:xfrm>
              <a:off x="101886" y="1306885"/>
              <a:ext cx="806631" cy="7078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rPr>
                <a:t>05</a:t>
              </a:r>
            </a:p>
          </p:txBody>
        </p: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996AAA7E-BCD6-3926-5E9E-A5AF2E6CDA8A}"/>
                </a:ext>
              </a:extLst>
            </p:cNvPr>
            <p:cNvGrpSpPr/>
            <p:nvPr/>
          </p:nvGrpSpPr>
          <p:grpSpPr>
            <a:xfrm>
              <a:off x="989679" y="1266437"/>
              <a:ext cx="2741291" cy="853218"/>
              <a:chOff x="7802095" y="1168973"/>
              <a:chExt cx="3029029" cy="1348861"/>
            </a:xfrm>
          </p:grpSpPr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9E9AC39F-D6C1-D088-76A7-2C3EEFCC6C59}"/>
                  </a:ext>
                </a:extLst>
              </p:cNvPr>
              <p:cNvSpPr txBox="1"/>
              <p:nvPr/>
            </p:nvSpPr>
            <p:spPr>
              <a:xfrm>
                <a:off x="7828614" y="1168973"/>
                <a:ext cx="2937089" cy="535223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latin typeface="Sitka Text Semibold" pitchFamily="2" charset="0"/>
                    <a:cs typeface="Times New Roman" panose="02020603050405020304" pitchFamily="18" charset="0"/>
                  </a:rPr>
                  <a:t>Scalability Issues:</a:t>
                </a:r>
                <a:endPara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51537449-F938-3155-086E-A259CCE921D8}"/>
                  </a:ext>
                </a:extLst>
              </p:cNvPr>
              <p:cNvSpPr txBox="1"/>
              <p:nvPr/>
            </p:nvSpPr>
            <p:spPr>
              <a:xfrm>
                <a:off x="7802095" y="1496043"/>
                <a:ext cx="3029029" cy="1021791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tx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Managing large data volumes and ensuring system responsiveness under heavy load.</a:t>
                </a:r>
              </a:p>
            </p:txBody>
          </p:sp>
        </p:grp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5CC38C29-1E0F-DDFA-A68C-7056EFE4F498}"/>
              </a:ext>
            </a:extLst>
          </p:cNvPr>
          <p:cNvGrpSpPr/>
          <p:nvPr/>
        </p:nvGrpSpPr>
        <p:grpSpPr>
          <a:xfrm>
            <a:off x="4157988" y="5885185"/>
            <a:ext cx="3908374" cy="954873"/>
            <a:chOff x="1085997" y="3000431"/>
            <a:chExt cx="5993948" cy="1538100"/>
          </a:xfrm>
        </p:grpSpPr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6A94F726-1011-CF40-BBBF-1207A24C4CF4}"/>
                </a:ext>
              </a:extLst>
            </p:cNvPr>
            <p:cNvSpPr/>
            <p:nvPr/>
          </p:nvSpPr>
          <p:spPr>
            <a:xfrm rot="21441474" flipH="1">
              <a:off x="1904183" y="3390401"/>
              <a:ext cx="4143141" cy="655754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68F957D-0D6F-DDE1-B34C-EE9725CB82C3}"/>
                </a:ext>
              </a:extLst>
            </p:cNvPr>
            <p:cNvSpPr/>
            <p:nvPr/>
          </p:nvSpPr>
          <p:spPr>
            <a:xfrm flipH="1" flipV="1">
              <a:off x="1085997" y="3162124"/>
              <a:ext cx="3172208" cy="1311509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7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1F55AB12-D1A3-A98A-2A0F-0972B325148E}"/>
                </a:ext>
              </a:extLst>
            </p:cNvPr>
            <p:cNvSpPr/>
            <p:nvPr/>
          </p:nvSpPr>
          <p:spPr>
            <a:xfrm flipH="1" flipV="1">
              <a:off x="4114425" y="3162124"/>
              <a:ext cx="1896305" cy="1311509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 dirty="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D64678BD-ED39-6AB1-4998-58A9A03891A3}"/>
                </a:ext>
              </a:extLst>
            </p:cNvPr>
            <p:cNvSpPr/>
            <p:nvPr/>
          </p:nvSpPr>
          <p:spPr>
            <a:xfrm flipH="1">
              <a:off x="5767927" y="3665169"/>
              <a:ext cx="1312018" cy="646771"/>
            </a:xfrm>
            <a:prstGeom prst="rect">
              <a:avLst/>
            </a:prstGeom>
            <a:blipFill>
              <a:blip r:embed="rId7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602ACF52-E482-4BAD-FB1A-9E0FEDFFDF2D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673719"/>
            </a:xfrm>
            <a:prstGeom prst="rect">
              <a:avLst/>
            </a:prstGeom>
            <a:blipFill>
              <a:blip r:embed="rId7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24" name="Frame 323">
              <a:extLst>
                <a:ext uri="{FF2B5EF4-FFF2-40B4-BE49-F238E27FC236}">
                  <a16:creationId xmlns:a16="http://schemas.microsoft.com/office/drawing/2014/main" id="{0D1FD999-D3D2-65D0-4190-AF8BD4C7B87D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1473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C5313AAE-6EF5-5E08-0318-1AD21FA01A42}"/>
                </a:ext>
              </a:extLst>
            </p:cNvPr>
            <p:cNvSpPr txBox="1"/>
            <p:nvPr/>
          </p:nvSpPr>
          <p:spPr>
            <a:xfrm>
              <a:off x="5786940" y="3163549"/>
              <a:ext cx="1266564" cy="114025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rPr>
                <a:t>06</a:t>
              </a:r>
            </a:p>
          </p:txBody>
        </p: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0EB48FD3-A621-8673-7C62-981B6C53032C}"/>
                </a:ext>
              </a:extLst>
            </p:cNvPr>
            <p:cNvGrpSpPr/>
            <p:nvPr/>
          </p:nvGrpSpPr>
          <p:grpSpPr>
            <a:xfrm>
              <a:off x="1425693" y="3142331"/>
              <a:ext cx="4312463" cy="1396200"/>
              <a:chOff x="7487585" y="1217911"/>
              <a:chExt cx="3395601" cy="1435592"/>
            </a:xfrm>
          </p:grpSpPr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F703CF4B-74CC-0865-35E0-E84148A5CDD4}"/>
                  </a:ext>
                </a:extLst>
              </p:cNvPr>
              <p:cNvSpPr txBox="1"/>
              <p:nvPr/>
            </p:nvSpPr>
            <p:spPr>
              <a:xfrm>
                <a:off x="7487585" y="1217911"/>
                <a:ext cx="3395601" cy="560725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latin typeface="Sitka Text Semibold" pitchFamily="2" charset="0"/>
                    <a:cs typeface="Times New Roman" panose="02020603050405020304" pitchFamily="18" charset="0"/>
                  </a:rPr>
                  <a:t>Performance Optimization: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31F0D347-D0E3-1D6B-3AE9-0862CB391BD5}"/>
                  </a:ext>
                </a:extLst>
              </p:cNvPr>
              <p:cNvSpPr txBox="1"/>
              <p:nvPr/>
            </p:nvSpPr>
            <p:spPr>
              <a:xfrm>
                <a:off x="7861299" y="1583025"/>
                <a:ext cx="2929294" cy="1070478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algn="just"/>
                <a:r>
                  <a:rPr lang="en-US" sz="1200" dirty="0">
                    <a:solidFill>
                      <a:schemeClr val="tx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Continuous monitoring to maintain system performance is essential.</a:t>
                </a:r>
              </a:p>
            </p:txBody>
          </p:sp>
        </p:grpSp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E26DC44C-9565-D062-868B-2A7C8503E0F7}"/>
              </a:ext>
            </a:extLst>
          </p:cNvPr>
          <p:cNvGrpSpPr/>
          <p:nvPr/>
        </p:nvGrpSpPr>
        <p:grpSpPr>
          <a:xfrm>
            <a:off x="8296792" y="1137488"/>
            <a:ext cx="3929963" cy="871184"/>
            <a:chOff x="79968" y="1279089"/>
            <a:chExt cx="3929963" cy="871184"/>
          </a:xfrm>
          <a:effectLst>
            <a:outerShdw blurRad="279400" algn="ctr" rotWithShape="0">
              <a:prstClr val="black">
                <a:alpha val="26000"/>
              </a:prstClr>
            </a:outerShdw>
          </a:effectLst>
        </p:grpSpPr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51481A24-5CD8-7825-1132-63A3E7A91B95}"/>
                </a:ext>
              </a:extLst>
            </p:cNvPr>
            <p:cNvSpPr/>
            <p:nvPr/>
          </p:nvSpPr>
          <p:spPr>
            <a:xfrm rot="158526">
              <a:off x="749329" y="1458042"/>
              <a:ext cx="2685644" cy="426497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94F3A87C-E019-52D8-EA0F-31AB17D0DF77}"/>
                </a:ext>
              </a:extLst>
            </p:cNvPr>
            <p:cNvSpPr/>
            <p:nvPr/>
          </p:nvSpPr>
          <p:spPr>
            <a:xfrm flipV="1">
              <a:off x="1909059" y="1309572"/>
              <a:ext cx="2100872" cy="814202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 dpi="0" rotWithShape="0">
              <a:blip r:embed="rId8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82D77F40-0BBD-E343-9599-A672D1135A16}"/>
                </a:ext>
              </a:extLst>
            </p:cNvPr>
            <p:cNvSpPr/>
            <p:nvPr/>
          </p:nvSpPr>
          <p:spPr>
            <a:xfrm flipV="1">
              <a:off x="773050" y="1309572"/>
              <a:ext cx="1229212" cy="814202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8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D36114C2-C10D-8A61-8666-E1CAFF65DD0E}"/>
                </a:ext>
              </a:extLst>
            </p:cNvPr>
            <p:cNvSpPr/>
            <p:nvPr/>
          </p:nvSpPr>
          <p:spPr>
            <a:xfrm>
              <a:off x="79968" y="1636748"/>
              <a:ext cx="850469" cy="420655"/>
            </a:xfrm>
            <a:prstGeom prst="rect">
              <a:avLst/>
            </a:prstGeom>
            <a:blipFill dpi="0" rotWithShape="0">
              <a:blip r:embed="rId8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45AD92DE-2FC5-BE7E-5C85-85C4366E886F}"/>
                </a:ext>
              </a:extLst>
            </p:cNvPr>
            <p:cNvSpPr/>
            <p:nvPr/>
          </p:nvSpPr>
          <p:spPr>
            <a:xfrm>
              <a:off x="79968" y="1309572"/>
              <a:ext cx="850469" cy="438182"/>
            </a:xfrm>
            <a:prstGeom prst="rect">
              <a:avLst/>
            </a:prstGeom>
            <a:blipFill dpi="0" rotWithShape="0">
              <a:blip r:embed="rId8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 dirty="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35" name="Frame 334">
              <a:extLst>
                <a:ext uri="{FF2B5EF4-FFF2-40B4-BE49-F238E27FC236}">
                  <a16:creationId xmlns:a16="http://schemas.microsoft.com/office/drawing/2014/main" id="{FC18D838-6C13-BF66-081A-A498D50F9E54}"/>
                </a:ext>
              </a:extLst>
            </p:cNvPr>
            <p:cNvSpPr/>
            <p:nvPr/>
          </p:nvSpPr>
          <p:spPr>
            <a:xfrm>
              <a:off x="79968" y="1309572"/>
              <a:ext cx="850469" cy="814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A89BA978-037A-64BB-9E27-32165DF0104A}"/>
                </a:ext>
              </a:extLst>
            </p:cNvPr>
            <p:cNvSpPr txBox="1"/>
            <p:nvPr/>
          </p:nvSpPr>
          <p:spPr>
            <a:xfrm>
              <a:off x="119703" y="1336396"/>
              <a:ext cx="750526" cy="7078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rPr>
                <a:t>01</a:t>
              </a:r>
            </a:p>
          </p:txBody>
        </p:sp>
        <p:grpSp>
          <p:nvGrpSpPr>
            <p:cNvPr id="337" name="Group 336">
              <a:extLst>
                <a:ext uri="{FF2B5EF4-FFF2-40B4-BE49-F238E27FC236}">
                  <a16:creationId xmlns:a16="http://schemas.microsoft.com/office/drawing/2014/main" id="{A4516D74-2B2B-BF0D-8D9C-732A95234C91}"/>
                </a:ext>
              </a:extLst>
            </p:cNvPr>
            <p:cNvGrpSpPr/>
            <p:nvPr/>
          </p:nvGrpSpPr>
          <p:grpSpPr>
            <a:xfrm>
              <a:off x="1004417" y="1279089"/>
              <a:ext cx="2658086" cy="871184"/>
              <a:chOff x="7818378" y="1188975"/>
              <a:chExt cx="2937090" cy="1377263"/>
            </a:xfrm>
          </p:grpSpPr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724C1D6B-C6FF-3E62-FA00-0AB11338CCE7}"/>
                  </a:ext>
                </a:extLst>
              </p:cNvPr>
              <p:cNvSpPr txBox="1"/>
              <p:nvPr/>
            </p:nvSpPr>
            <p:spPr>
              <a:xfrm>
                <a:off x="7818378" y="1188975"/>
                <a:ext cx="2937090" cy="535223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Compatibility Testing:</a:t>
                </a:r>
                <a:endParaRPr lang="en-US" sz="12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66A5EC48-9572-C922-B9AD-83E9E666D232}"/>
                  </a:ext>
                </a:extLst>
              </p:cNvPr>
              <p:cNvSpPr txBox="1"/>
              <p:nvPr/>
            </p:nvSpPr>
            <p:spPr>
              <a:xfrm>
                <a:off x="7822276" y="1544447"/>
                <a:ext cx="2929292" cy="1021791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Thorough planning, testing, and pilot implementations to resolve integration issues.</a:t>
                </a:r>
              </a:p>
            </p:txBody>
          </p:sp>
        </p:grp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A530C5CE-6762-986F-52B3-373544112B18}"/>
              </a:ext>
            </a:extLst>
          </p:cNvPr>
          <p:cNvGrpSpPr/>
          <p:nvPr/>
        </p:nvGrpSpPr>
        <p:grpSpPr>
          <a:xfrm>
            <a:off x="8234953" y="2082961"/>
            <a:ext cx="3908374" cy="940821"/>
            <a:chOff x="1085997" y="3000431"/>
            <a:chExt cx="5993948" cy="1515467"/>
          </a:xfrm>
        </p:grpSpPr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708E5568-EA76-F447-CA53-68D1E51FD445}"/>
                </a:ext>
              </a:extLst>
            </p:cNvPr>
            <p:cNvSpPr/>
            <p:nvPr/>
          </p:nvSpPr>
          <p:spPr>
            <a:xfrm rot="21441474" flipH="1">
              <a:off x="1904183" y="3390401"/>
              <a:ext cx="4143141" cy="655754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B7C49597-D1BD-9EB3-CF83-7149583E97BD}"/>
                </a:ext>
              </a:extLst>
            </p:cNvPr>
            <p:cNvSpPr/>
            <p:nvPr/>
          </p:nvSpPr>
          <p:spPr>
            <a:xfrm flipH="1" flipV="1">
              <a:off x="1085997" y="3162124"/>
              <a:ext cx="3172208" cy="1311509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956140E1-C46F-BA43-A907-E1412E024493}"/>
                </a:ext>
              </a:extLst>
            </p:cNvPr>
            <p:cNvSpPr/>
            <p:nvPr/>
          </p:nvSpPr>
          <p:spPr>
            <a:xfrm flipH="1" flipV="1">
              <a:off x="4114425" y="3162124"/>
              <a:ext cx="1896305" cy="1318358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476057B9-464F-5B7F-1D0C-47638595E3E9}"/>
                </a:ext>
              </a:extLst>
            </p:cNvPr>
            <p:cNvSpPr/>
            <p:nvPr/>
          </p:nvSpPr>
          <p:spPr>
            <a:xfrm flipH="1">
              <a:off x="5767927" y="3665169"/>
              <a:ext cx="1312018" cy="646771"/>
            </a:xfrm>
            <a:prstGeom prst="rect">
              <a:avLst/>
            </a:pr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D92FE259-D44D-CC37-D164-E4711F1B2B1F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673719"/>
            </a:xfrm>
            <a:prstGeom prst="rect">
              <a:avLst/>
            </a:pr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46" name="Frame 345">
              <a:extLst>
                <a:ext uri="{FF2B5EF4-FFF2-40B4-BE49-F238E27FC236}">
                  <a16:creationId xmlns:a16="http://schemas.microsoft.com/office/drawing/2014/main" id="{2D005838-7D96-0671-3998-EAF7175839F1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1473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DCBF3020-D037-6461-0070-48A56A9E44C9}"/>
                </a:ext>
              </a:extLst>
            </p:cNvPr>
            <p:cNvSpPr txBox="1"/>
            <p:nvPr/>
          </p:nvSpPr>
          <p:spPr>
            <a:xfrm>
              <a:off x="5779209" y="3146153"/>
              <a:ext cx="1244440" cy="114025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rPr>
                <a:t>02</a:t>
              </a:r>
            </a:p>
          </p:txBody>
        </p:sp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D99911C3-108D-A406-82BA-39237CC62FAD}"/>
                </a:ext>
              </a:extLst>
            </p:cNvPr>
            <p:cNvGrpSpPr/>
            <p:nvPr/>
          </p:nvGrpSpPr>
          <p:grpSpPr>
            <a:xfrm>
              <a:off x="1436278" y="3149205"/>
              <a:ext cx="4378495" cy="1366693"/>
              <a:chOff x="7495919" y="1224980"/>
              <a:chExt cx="3447594" cy="1405253"/>
            </a:xfrm>
          </p:grpSpPr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C606C37D-F0E1-68CF-D8FD-8714917800FB}"/>
                  </a:ext>
                </a:extLst>
              </p:cNvPr>
              <p:cNvSpPr txBox="1"/>
              <p:nvPr/>
            </p:nvSpPr>
            <p:spPr>
              <a:xfrm>
                <a:off x="7495919" y="1224980"/>
                <a:ext cx="2568815" cy="560726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Security Protocols: </a:t>
                </a:r>
                <a:endParaRPr lang="en-US" sz="16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936DC1FE-CDAE-2621-6AF2-4E1A31AF76C8}"/>
                  </a:ext>
                </a:extLst>
              </p:cNvPr>
              <p:cNvSpPr txBox="1"/>
              <p:nvPr/>
            </p:nvSpPr>
            <p:spPr>
              <a:xfrm>
                <a:off x="7825913" y="1559753"/>
                <a:ext cx="3117600" cy="1070480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 Implement industry-standard security protocols and encryption to protect patient data.</a:t>
                </a:r>
              </a:p>
            </p:txBody>
          </p:sp>
        </p:grpSp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8B5A4AEB-4659-E730-5075-3D5583AEAD89}"/>
              </a:ext>
            </a:extLst>
          </p:cNvPr>
          <p:cNvGrpSpPr/>
          <p:nvPr/>
        </p:nvGrpSpPr>
        <p:grpSpPr>
          <a:xfrm>
            <a:off x="8249591" y="3089262"/>
            <a:ext cx="3929963" cy="888718"/>
            <a:chOff x="79968" y="1269182"/>
            <a:chExt cx="3929963" cy="888718"/>
          </a:xfrm>
          <a:effectLst>
            <a:outerShdw blurRad="279400" algn="ctr" rotWithShape="0">
              <a:prstClr val="black">
                <a:alpha val="26000"/>
              </a:prstClr>
            </a:outerShdw>
          </a:effectLst>
        </p:grpSpPr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87BCCEAD-20DA-234B-0F1C-56FAD6510CED}"/>
                </a:ext>
              </a:extLst>
            </p:cNvPr>
            <p:cNvSpPr/>
            <p:nvPr/>
          </p:nvSpPr>
          <p:spPr>
            <a:xfrm rot="158526">
              <a:off x="749329" y="1458042"/>
              <a:ext cx="2685644" cy="426497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B1FBA5B1-A97C-9477-2BF3-E0C21E5A5828}"/>
                </a:ext>
              </a:extLst>
            </p:cNvPr>
            <p:cNvSpPr/>
            <p:nvPr/>
          </p:nvSpPr>
          <p:spPr>
            <a:xfrm flipV="1">
              <a:off x="1909059" y="1309572"/>
              <a:ext cx="2100872" cy="814202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6BB37125-FD3F-B362-326E-B2B38C8CE563}"/>
                </a:ext>
              </a:extLst>
            </p:cNvPr>
            <p:cNvSpPr/>
            <p:nvPr/>
          </p:nvSpPr>
          <p:spPr>
            <a:xfrm flipV="1">
              <a:off x="773050" y="1309572"/>
              <a:ext cx="1229212" cy="814202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484B5A9F-8AF2-B2F6-3A3D-3A0513AA4C92}"/>
                </a:ext>
              </a:extLst>
            </p:cNvPr>
            <p:cNvSpPr/>
            <p:nvPr/>
          </p:nvSpPr>
          <p:spPr>
            <a:xfrm>
              <a:off x="79968" y="1636748"/>
              <a:ext cx="850469" cy="420655"/>
            </a:xfrm>
            <a:prstGeom prst="rect">
              <a:avLst/>
            </a:prstGeom>
            <a:blipFill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78F4B08D-09AB-008F-ADC3-60459ABA0FDF}"/>
                </a:ext>
              </a:extLst>
            </p:cNvPr>
            <p:cNvSpPr/>
            <p:nvPr/>
          </p:nvSpPr>
          <p:spPr>
            <a:xfrm>
              <a:off x="79968" y="1309572"/>
              <a:ext cx="850469" cy="438182"/>
            </a:xfrm>
            <a:prstGeom prst="rect">
              <a:avLst/>
            </a:prstGeom>
            <a:blipFill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 dirty="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57" name="Frame 356">
              <a:extLst>
                <a:ext uri="{FF2B5EF4-FFF2-40B4-BE49-F238E27FC236}">
                  <a16:creationId xmlns:a16="http://schemas.microsoft.com/office/drawing/2014/main" id="{FEA5479D-2258-8C68-FE5C-0F0342DC4437}"/>
                </a:ext>
              </a:extLst>
            </p:cNvPr>
            <p:cNvSpPr/>
            <p:nvPr/>
          </p:nvSpPr>
          <p:spPr>
            <a:xfrm>
              <a:off x="79968" y="1309572"/>
              <a:ext cx="850469" cy="814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7E37A1FA-EBCB-2B95-EE3D-F6611AF7FFA3}"/>
                </a:ext>
              </a:extLst>
            </p:cNvPr>
            <p:cNvSpPr txBox="1"/>
            <p:nvPr/>
          </p:nvSpPr>
          <p:spPr>
            <a:xfrm>
              <a:off x="108019" y="1323180"/>
              <a:ext cx="808235" cy="7078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rPr>
                <a:t>03</a:t>
              </a:r>
            </a:p>
          </p:txBody>
        </p:sp>
        <p:grpSp>
          <p:nvGrpSpPr>
            <p:cNvPr id="359" name="Group 358">
              <a:extLst>
                <a:ext uri="{FF2B5EF4-FFF2-40B4-BE49-F238E27FC236}">
                  <a16:creationId xmlns:a16="http://schemas.microsoft.com/office/drawing/2014/main" id="{EFC7BB0F-B9A4-8AC3-4350-4157D478FFF7}"/>
                </a:ext>
              </a:extLst>
            </p:cNvPr>
            <p:cNvGrpSpPr/>
            <p:nvPr/>
          </p:nvGrpSpPr>
          <p:grpSpPr>
            <a:xfrm>
              <a:off x="1023075" y="1269182"/>
              <a:ext cx="2673570" cy="888718"/>
              <a:chOff x="7838993" y="1173314"/>
              <a:chExt cx="2954199" cy="1404984"/>
            </a:xfrm>
          </p:grpSpPr>
          <p:sp>
            <p:nvSpPr>
              <p:cNvPr id="360" name="TextBox 359">
                <a:extLst>
                  <a:ext uri="{FF2B5EF4-FFF2-40B4-BE49-F238E27FC236}">
                    <a16:creationId xmlns:a16="http://schemas.microsoft.com/office/drawing/2014/main" id="{A859009A-D35C-F5C4-2AD3-ABF5A7BDB2A0}"/>
                  </a:ext>
                </a:extLst>
              </p:cNvPr>
              <p:cNvSpPr txBox="1"/>
              <p:nvPr/>
            </p:nvSpPr>
            <p:spPr>
              <a:xfrm>
                <a:off x="7856103" y="1173314"/>
                <a:ext cx="2937089" cy="535224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Comprehensive Training:</a:t>
                </a:r>
                <a:endParaRPr lang="en-US" sz="12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1" name="TextBox 360">
                <a:extLst>
                  <a:ext uri="{FF2B5EF4-FFF2-40B4-BE49-F238E27FC236}">
                    <a16:creationId xmlns:a16="http://schemas.microsoft.com/office/drawing/2014/main" id="{C891E82C-969F-7FCD-AC1A-182003176AA1}"/>
                  </a:ext>
                </a:extLst>
              </p:cNvPr>
              <p:cNvSpPr txBox="1"/>
              <p:nvPr/>
            </p:nvSpPr>
            <p:spPr>
              <a:xfrm>
                <a:off x="7838993" y="1556506"/>
                <a:ext cx="2929293" cy="1021792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Provide hands-on training to hospital staff, addressing practical use and concerns.</a:t>
                </a:r>
              </a:p>
            </p:txBody>
          </p:sp>
        </p:grpSp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328FF0F8-B778-9D07-0803-B66B5A39BDD9}"/>
              </a:ext>
            </a:extLst>
          </p:cNvPr>
          <p:cNvGrpSpPr/>
          <p:nvPr/>
        </p:nvGrpSpPr>
        <p:grpSpPr>
          <a:xfrm>
            <a:off x="8212765" y="3986609"/>
            <a:ext cx="3908375" cy="953508"/>
            <a:chOff x="1085997" y="3000431"/>
            <a:chExt cx="5993948" cy="1535902"/>
          </a:xfrm>
        </p:grpSpPr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898C6714-949F-C509-FDF0-36012B080096}"/>
                </a:ext>
              </a:extLst>
            </p:cNvPr>
            <p:cNvSpPr/>
            <p:nvPr/>
          </p:nvSpPr>
          <p:spPr>
            <a:xfrm rot="21441474" flipH="1">
              <a:off x="1904183" y="3390401"/>
              <a:ext cx="4143141" cy="655754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000BD038-69E5-D3A6-5F54-296F0A54F4D0}"/>
                </a:ext>
              </a:extLst>
            </p:cNvPr>
            <p:cNvSpPr/>
            <p:nvPr/>
          </p:nvSpPr>
          <p:spPr>
            <a:xfrm flipH="1" flipV="1">
              <a:off x="1085997" y="3162124"/>
              <a:ext cx="3172208" cy="1311509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2C8E67AF-0181-EDFE-1838-E3E82A7AD930}"/>
                </a:ext>
              </a:extLst>
            </p:cNvPr>
            <p:cNvSpPr/>
            <p:nvPr/>
          </p:nvSpPr>
          <p:spPr>
            <a:xfrm flipH="1" flipV="1">
              <a:off x="4114425" y="3162124"/>
              <a:ext cx="1896305" cy="1318358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34695BC7-8EAA-58B4-9793-0E148628648B}"/>
                </a:ext>
              </a:extLst>
            </p:cNvPr>
            <p:cNvSpPr/>
            <p:nvPr/>
          </p:nvSpPr>
          <p:spPr>
            <a:xfrm flipH="1">
              <a:off x="5767927" y="3665169"/>
              <a:ext cx="1312018" cy="646771"/>
            </a:xfrm>
            <a:prstGeom prst="rect">
              <a:avLst/>
            </a:pr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99536C49-20FB-CE35-7A25-B71E1FE92509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673719"/>
            </a:xfrm>
            <a:prstGeom prst="rect">
              <a:avLst/>
            </a:pr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68" name="Frame 367">
              <a:extLst>
                <a:ext uri="{FF2B5EF4-FFF2-40B4-BE49-F238E27FC236}">
                  <a16:creationId xmlns:a16="http://schemas.microsoft.com/office/drawing/2014/main" id="{79902FC5-CF88-E7A4-E092-1C9B1C127C52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1473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1467B92C-07B7-48B5-11BE-07081B184C27}"/>
                </a:ext>
              </a:extLst>
            </p:cNvPr>
            <p:cNvSpPr txBox="1"/>
            <p:nvPr/>
          </p:nvSpPr>
          <p:spPr>
            <a:xfrm>
              <a:off x="5777051" y="3122426"/>
              <a:ext cx="1269023" cy="114025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rPr>
                <a:t>04</a:t>
              </a:r>
            </a:p>
          </p:txBody>
        </p:sp>
        <p:grpSp>
          <p:nvGrpSpPr>
            <p:cNvPr id="370" name="Group 369">
              <a:extLst>
                <a:ext uri="{FF2B5EF4-FFF2-40B4-BE49-F238E27FC236}">
                  <a16:creationId xmlns:a16="http://schemas.microsoft.com/office/drawing/2014/main" id="{149EF848-520F-5AFA-C417-07D536D9CFF1}"/>
                </a:ext>
              </a:extLst>
            </p:cNvPr>
            <p:cNvGrpSpPr/>
            <p:nvPr/>
          </p:nvGrpSpPr>
          <p:grpSpPr>
            <a:xfrm>
              <a:off x="1475324" y="3131976"/>
              <a:ext cx="4146815" cy="1404357"/>
              <a:chOff x="7526662" y="1207263"/>
              <a:chExt cx="3265170" cy="1443978"/>
            </a:xfrm>
          </p:grpSpPr>
          <p:sp>
            <p:nvSpPr>
              <p:cNvPr id="371" name="TextBox 370">
                <a:extLst>
                  <a:ext uri="{FF2B5EF4-FFF2-40B4-BE49-F238E27FC236}">
                    <a16:creationId xmlns:a16="http://schemas.microsoft.com/office/drawing/2014/main" id="{8DDAF8BD-152B-B4EE-6D21-C53274A40C60}"/>
                  </a:ext>
                </a:extLst>
              </p:cNvPr>
              <p:cNvSpPr txBox="1"/>
              <p:nvPr/>
            </p:nvSpPr>
            <p:spPr>
              <a:xfrm>
                <a:off x="7526662" y="1207263"/>
                <a:ext cx="2937087" cy="560726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Change perception:</a:t>
                </a:r>
                <a:endParaRPr lang="en-US" sz="16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2" name="TextBox 371">
                <a:extLst>
                  <a:ext uri="{FF2B5EF4-FFF2-40B4-BE49-F238E27FC236}">
                    <a16:creationId xmlns:a16="http://schemas.microsoft.com/office/drawing/2014/main" id="{86819F95-46B1-236A-C86A-1ED4E17F1562}"/>
                  </a:ext>
                </a:extLst>
              </p:cNvPr>
              <p:cNvSpPr txBox="1"/>
              <p:nvPr/>
            </p:nvSpPr>
            <p:spPr>
              <a:xfrm>
                <a:off x="7862538" y="1580764"/>
                <a:ext cx="2929294" cy="1070477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algn="just"/>
                <a:r>
                  <a:rPr lang="en-US" sz="1200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Make necessary changes beforehand by consult with staffs for better workflow.</a:t>
                </a:r>
              </a:p>
            </p:txBody>
          </p:sp>
        </p:grpSp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1BF7666A-0AD3-E68B-6957-F5850F65A58B}"/>
              </a:ext>
            </a:extLst>
          </p:cNvPr>
          <p:cNvGrpSpPr/>
          <p:nvPr/>
        </p:nvGrpSpPr>
        <p:grpSpPr>
          <a:xfrm>
            <a:off x="8244658" y="4962005"/>
            <a:ext cx="3929963" cy="880187"/>
            <a:chOff x="79968" y="1276760"/>
            <a:chExt cx="3929963" cy="880187"/>
          </a:xfrm>
          <a:effectLst>
            <a:outerShdw blurRad="279400" algn="ctr" rotWithShape="0">
              <a:prstClr val="black">
                <a:alpha val="26000"/>
              </a:prstClr>
            </a:outerShdw>
          </a:effectLst>
        </p:grpSpPr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A731E1D5-F2A3-6168-1B1F-2509A82BBB46}"/>
                </a:ext>
              </a:extLst>
            </p:cNvPr>
            <p:cNvSpPr/>
            <p:nvPr/>
          </p:nvSpPr>
          <p:spPr>
            <a:xfrm rot="158526">
              <a:off x="749329" y="1458042"/>
              <a:ext cx="2685644" cy="426497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42DBD1D2-4607-BF5F-5F47-FC92AD52E7EE}"/>
                </a:ext>
              </a:extLst>
            </p:cNvPr>
            <p:cNvSpPr/>
            <p:nvPr/>
          </p:nvSpPr>
          <p:spPr>
            <a:xfrm flipV="1">
              <a:off x="1909059" y="1309572"/>
              <a:ext cx="2100872" cy="814202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2C58F2B8-635F-F7F8-5D20-55F133B043FC}"/>
                </a:ext>
              </a:extLst>
            </p:cNvPr>
            <p:cNvSpPr/>
            <p:nvPr/>
          </p:nvSpPr>
          <p:spPr>
            <a:xfrm flipV="1">
              <a:off x="773050" y="1309572"/>
              <a:ext cx="1229212" cy="814202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D9428807-EB6B-95CB-114D-4AA78639875E}"/>
                </a:ext>
              </a:extLst>
            </p:cNvPr>
            <p:cNvSpPr/>
            <p:nvPr/>
          </p:nvSpPr>
          <p:spPr>
            <a:xfrm>
              <a:off x="79968" y="1636748"/>
              <a:ext cx="850469" cy="420655"/>
            </a:xfrm>
            <a:prstGeom prst="rect">
              <a:avLst/>
            </a:prstGeom>
            <a:blipFill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3BCD823B-2F44-A056-5DA2-CD580B86CF7E}"/>
                </a:ext>
              </a:extLst>
            </p:cNvPr>
            <p:cNvSpPr/>
            <p:nvPr/>
          </p:nvSpPr>
          <p:spPr>
            <a:xfrm>
              <a:off x="79968" y="1309572"/>
              <a:ext cx="850469" cy="438182"/>
            </a:xfrm>
            <a:prstGeom prst="rect">
              <a:avLst/>
            </a:prstGeom>
            <a:blipFill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 dirty="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79" name="Frame 378">
              <a:extLst>
                <a:ext uri="{FF2B5EF4-FFF2-40B4-BE49-F238E27FC236}">
                  <a16:creationId xmlns:a16="http://schemas.microsoft.com/office/drawing/2014/main" id="{BFDE5810-76BC-627D-922A-92AD47F6A02F}"/>
                </a:ext>
              </a:extLst>
            </p:cNvPr>
            <p:cNvSpPr/>
            <p:nvPr/>
          </p:nvSpPr>
          <p:spPr>
            <a:xfrm>
              <a:off x="79968" y="1309572"/>
              <a:ext cx="850469" cy="814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005F6FD9-827E-0351-411B-209A76CCA9AA}"/>
                </a:ext>
              </a:extLst>
            </p:cNvPr>
            <p:cNvSpPr txBox="1"/>
            <p:nvPr/>
          </p:nvSpPr>
          <p:spPr>
            <a:xfrm>
              <a:off x="110516" y="1317208"/>
              <a:ext cx="806631" cy="70788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rPr>
                <a:t>05</a:t>
              </a:r>
            </a:p>
          </p:txBody>
        </p:sp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9F86B5E2-31A0-49DD-D55B-A89C088B30B3}"/>
                </a:ext>
              </a:extLst>
            </p:cNvPr>
            <p:cNvGrpSpPr/>
            <p:nvPr/>
          </p:nvGrpSpPr>
          <p:grpSpPr>
            <a:xfrm>
              <a:off x="1006839" y="1276760"/>
              <a:ext cx="2723316" cy="880187"/>
              <a:chOff x="7821054" y="1185293"/>
              <a:chExt cx="3009167" cy="1391496"/>
            </a:xfrm>
          </p:grpSpPr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DAE266C8-0710-A09C-F1D3-8A7DBD330A11}"/>
                  </a:ext>
                </a:extLst>
              </p:cNvPr>
              <p:cNvSpPr txBox="1"/>
              <p:nvPr/>
            </p:nvSpPr>
            <p:spPr>
              <a:xfrm>
                <a:off x="7838150" y="1185293"/>
                <a:ext cx="2937089" cy="535223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Scalable Design:</a:t>
                </a:r>
                <a:endParaRPr lang="en-US" sz="12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3279F5B7-B04D-EBF1-FC84-2FF584BF635A}"/>
                  </a:ext>
                </a:extLst>
              </p:cNvPr>
              <p:cNvSpPr txBox="1"/>
              <p:nvPr/>
            </p:nvSpPr>
            <p:spPr>
              <a:xfrm>
                <a:off x="7821054" y="1554998"/>
                <a:ext cx="3009167" cy="1021791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Develop a scalable system architecture to handle future growth and maintain high performance.</a:t>
                </a:r>
              </a:p>
            </p:txBody>
          </p:sp>
        </p:grpSp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4DBABFAF-EA5A-E472-8E2B-9EA5412455D1}"/>
              </a:ext>
            </a:extLst>
          </p:cNvPr>
          <p:cNvGrpSpPr/>
          <p:nvPr/>
        </p:nvGrpSpPr>
        <p:grpSpPr>
          <a:xfrm>
            <a:off x="8229912" y="5893938"/>
            <a:ext cx="3908374" cy="914582"/>
            <a:chOff x="1085997" y="3000431"/>
            <a:chExt cx="5993948" cy="1473202"/>
          </a:xfrm>
        </p:grpSpPr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E001F01-5486-DF9E-649B-C9FE2E1BFE54}"/>
                </a:ext>
              </a:extLst>
            </p:cNvPr>
            <p:cNvSpPr/>
            <p:nvPr/>
          </p:nvSpPr>
          <p:spPr>
            <a:xfrm rot="21441474" flipH="1">
              <a:off x="1904183" y="3390401"/>
              <a:ext cx="4143141" cy="655754"/>
            </a:xfrm>
            <a:custGeom>
              <a:avLst/>
              <a:gdLst>
                <a:gd name="connsiteX0" fmla="*/ 0 w 4258374"/>
                <a:gd name="connsiteY0" fmla="*/ 0 h 674255"/>
                <a:gd name="connsiteX1" fmla="*/ 4258374 w 4258374"/>
                <a:gd name="connsiteY1" fmla="*/ 0 h 674255"/>
                <a:gd name="connsiteX2" fmla="*/ 4258374 w 4258374"/>
                <a:gd name="connsiteY2" fmla="*/ 196321 h 674255"/>
                <a:gd name="connsiteX3" fmla="*/ 3938879 w 4258374"/>
                <a:gd name="connsiteY3" fmla="*/ 674255 h 674255"/>
                <a:gd name="connsiteX4" fmla="*/ 0 w 4258374"/>
                <a:gd name="connsiteY4" fmla="*/ 674255 h 67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8374" h="674255">
                  <a:moveTo>
                    <a:pt x="0" y="0"/>
                  </a:moveTo>
                  <a:lnTo>
                    <a:pt x="4258374" y="0"/>
                  </a:lnTo>
                  <a:lnTo>
                    <a:pt x="4258374" y="196321"/>
                  </a:lnTo>
                  <a:lnTo>
                    <a:pt x="3938879" y="674255"/>
                  </a:lnTo>
                  <a:lnTo>
                    <a:pt x="0" y="674255"/>
                  </a:lnTo>
                  <a:close/>
                </a:path>
              </a:pathLst>
            </a:custGeom>
            <a:ln>
              <a:noFill/>
            </a:ln>
            <a:effectLst>
              <a:outerShdw blurRad="317500" dist="3175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09E2603D-1488-74CA-7B0D-6A4297ECAB0B}"/>
                </a:ext>
              </a:extLst>
            </p:cNvPr>
            <p:cNvSpPr/>
            <p:nvPr/>
          </p:nvSpPr>
          <p:spPr>
            <a:xfrm flipH="1" flipV="1">
              <a:off x="1085997" y="3162124"/>
              <a:ext cx="3172208" cy="1311509"/>
            </a:xfrm>
            <a:custGeom>
              <a:avLst/>
              <a:gdLst>
                <a:gd name="connsiteX0" fmla="*/ 2521527 w 3260437"/>
                <a:gd name="connsiteY0" fmla="*/ 1027545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  <a:gd name="connsiteX0" fmla="*/ 2521527 w 3260437"/>
                <a:gd name="connsiteY0" fmla="*/ 1027543 h 1027545"/>
                <a:gd name="connsiteX1" fmla="*/ 3260437 w 3260437"/>
                <a:gd name="connsiteY1" fmla="*/ 1027545 h 1027545"/>
                <a:gd name="connsiteX2" fmla="*/ 2521527 w 3260437"/>
                <a:gd name="connsiteY2" fmla="*/ 0 h 1027545"/>
                <a:gd name="connsiteX3" fmla="*/ 2521527 w 3260437"/>
                <a:gd name="connsiteY3" fmla="*/ 2306 h 1027545"/>
                <a:gd name="connsiteX4" fmla="*/ 0 w 3260437"/>
                <a:gd name="connsiteY4" fmla="*/ 2306 h 1027545"/>
                <a:gd name="connsiteX5" fmla="*/ 0 w 3260437"/>
                <a:gd name="connsiteY5" fmla="*/ 1027543 h 1027545"/>
                <a:gd name="connsiteX6" fmla="*/ 2521527 w 3260437"/>
                <a:gd name="connsiteY6" fmla="*/ 1027543 h 102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60437" h="1027545">
                  <a:moveTo>
                    <a:pt x="2521527" y="1027543"/>
                  </a:moveTo>
                  <a:lnTo>
                    <a:pt x="3260437" y="1027545"/>
                  </a:lnTo>
                  <a:lnTo>
                    <a:pt x="2521527" y="0"/>
                  </a:lnTo>
                  <a:lnTo>
                    <a:pt x="2521527" y="2306"/>
                  </a:lnTo>
                  <a:lnTo>
                    <a:pt x="0" y="2306"/>
                  </a:lnTo>
                  <a:lnTo>
                    <a:pt x="0" y="1027543"/>
                  </a:lnTo>
                  <a:lnTo>
                    <a:pt x="2521527" y="1027543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ED28E047-CBB4-0E08-FBF1-483D67440E04}"/>
                </a:ext>
              </a:extLst>
            </p:cNvPr>
            <p:cNvSpPr/>
            <p:nvPr/>
          </p:nvSpPr>
          <p:spPr>
            <a:xfrm flipH="1" flipV="1">
              <a:off x="4114425" y="3162124"/>
              <a:ext cx="1896305" cy="1311509"/>
            </a:xfrm>
            <a:custGeom>
              <a:avLst/>
              <a:gdLst>
                <a:gd name="connsiteX0" fmla="*/ 0 w 1348509"/>
                <a:gd name="connsiteY0" fmla="*/ 1004502 h 1004502"/>
                <a:gd name="connsiteX1" fmla="*/ 1348509 w 1348509"/>
                <a:gd name="connsiteY1" fmla="*/ 1004502 h 1004502"/>
                <a:gd name="connsiteX2" fmla="*/ 1348509 w 1348509"/>
                <a:gd name="connsiteY2" fmla="*/ 0 h 1004502"/>
                <a:gd name="connsiteX3" fmla="*/ 0 w 1348509"/>
                <a:gd name="connsiteY3" fmla="*/ 0 h 100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509" h="1004502">
                  <a:moveTo>
                    <a:pt x="0" y="1004502"/>
                  </a:moveTo>
                  <a:lnTo>
                    <a:pt x="1348509" y="1004502"/>
                  </a:lnTo>
                  <a:lnTo>
                    <a:pt x="1348509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 dirty="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2B43B462-806E-73E6-F45E-81F4D2DBE4C1}"/>
                </a:ext>
              </a:extLst>
            </p:cNvPr>
            <p:cNvSpPr/>
            <p:nvPr/>
          </p:nvSpPr>
          <p:spPr>
            <a:xfrm flipH="1">
              <a:off x="5767927" y="3665169"/>
              <a:ext cx="1312018" cy="646771"/>
            </a:xfrm>
            <a:prstGeom prst="rect">
              <a:avLst/>
            </a:pr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1E175784-ACC9-7C59-59B5-64C55715CA53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673719"/>
            </a:xfrm>
            <a:prstGeom prst="rect">
              <a:avLst/>
            </a:pr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90" name="Frame 389">
              <a:extLst>
                <a:ext uri="{FF2B5EF4-FFF2-40B4-BE49-F238E27FC236}">
                  <a16:creationId xmlns:a16="http://schemas.microsoft.com/office/drawing/2014/main" id="{D33CA87B-DC5D-E805-B51B-B4DC0B665C4E}"/>
                </a:ext>
              </a:extLst>
            </p:cNvPr>
            <p:cNvSpPr/>
            <p:nvPr/>
          </p:nvSpPr>
          <p:spPr>
            <a:xfrm flipH="1">
              <a:off x="5767927" y="3000431"/>
              <a:ext cx="1312018" cy="1473202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  <a:effectLst>
              <a:outerShdw blurRad="317500" dist="508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>
                <a:latin typeface="Sitka Text Semibold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060E8C22-723B-A200-F571-70C99882CCC4}"/>
                </a:ext>
              </a:extLst>
            </p:cNvPr>
            <p:cNvSpPr txBox="1"/>
            <p:nvPr/>
          </p:nvSpPr>
          <p:spPr>
            <a:xfrm>
              <a:off x="5802889" y="3207658"/>
              <a:ext cx="1266564" cy="114025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rPr>
                <a:t>06</a:t>
              </a:r>
            </a:p>
          </p:txBody>
        </p: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D8E270A4-3CFF-13F7-A5BF-9751D10B670C}"/>
                </a:ext>
              </a:extLst>
            </p:cNvPr>
            <p:cNvGrpSpPr/>
            <p:nvPr/>
          </p:nvGrpSpPr>
          <p:grpSpPr>
            <a:xfrm>
              <a:off x="1337165" y="3105731"/>
              <a:ext cx="4312463" cy="1356844"/>
              <a:chOff x="7417878" y="1180278"/>
              <a:chExt cx="3395601" cy="1395125"/>
            </a:xfrm>
          </p:grpSpPr>
          <p:sp>
            <p:nvSpPr>
              <p:cNvPr id="393" name="TextBox 392">
                <a:extLst>
                  <a:ext uri="{FF2B5EF4-FFF2-40B4-BE49-F238E27FC236}">
                    <a16:creationId xmlns:a16="http://schemas.microsoft.com/office/drawing/2014/main" id="{381571C6-6D0B-816F-0E33-AEBB5131FFB3}"/>
                  </a:ext>
                </a:extLst>
              </p:cNvPr>
              <p:cNvSpPr txBox="1"/>
              <p:nvPr/>
            </p:nvSpPr>
            <p:spPr>
              <a:xfrm>
                <a:off x="7417878" y="1180278"/>
                <a:ext cx="3395601" cy="560724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r>
                  <a:rPr lang="en-IN" sz="1600" b="1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Continuous Monitoring</a:t>
                </a:r>
                <a:endParaRPr lang="en-US" sz="1600" b="1" dirty="0">
                  <a:solidFill>
                    <a:schemeClr val="bg1"/>
                  </a:solidFill>
                  <a:latin typeface="Sitka Text Semibold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24BED932-FE99-9809-3528-09B66F807B07}"/>
                  </a:ext>
                </a:extLst>
              </p:cNvPr>
              <p:cNvSpPr txBox="1"/>
              <p:nvPr/>
            </p:nvSpPr>
            <p:spPr>
              <a:xfrm>
                <a:off x="7838797" y="1504927"/>
                <a:ext cx="2929295" cy="1070476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algn="just"/>
                <a:r>
                  <a:rPr lang="en-US" sz="1200" dirty="0">
                    <a:solidFill>
                      <a:schemeClr val="bg1"/>
                    </a:solidFill>
                    <a:latin typeface="Sitka Text Semibold" pitchFamily="2" charset="0"/>
                    <a:cs typeface="Times New Roman" panose="02020603050405020304" pitchFamily="18" charset="0"/>
                  </a:rPr>
                  <a:t> Regular performance checks and updates to ensure the system remains efficient.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4026782" y="-21173"/>
            <a:ext cx="3974311" cy="37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Sitka Subheading Semibold" pitchFamily="2" charset="0"/>
                <a:ea typeface="Times New Roman"/>
                <a:cs typeface="Times New Roman"/>
                <a:sym typeface="Times New Roman"/>
              </a:rPr>
              <a:t>IMPACT AND BENEFITS</a:t>
            </a:r>
            <a:endParaRPr sz="3200" dirty="0">
              <a:latin typeface="Sitka Subheading Semibold" pitchFamily="2" charset="0"/>
            </a:endParaRPr>
          </a:p>
        </p:txBody>
      </p:sp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8800" y="0"/>
            <a:ext cx="1303232" cy="60666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5;p2" descr="Your startup LOGO">
            <a:extLst>
              <a:ext uri="{FF2B5EF4-FFF2-40B4-BE49-F238E27FC236}">
                <a16:creationId xmlns:a16="http://schemas.microsoft.com/office/drawing/2014/main" id="{0668D8F0-CDF9-2D85-C472-3FE028E1B229}"/>
              </a:ext>
            </a:extLst>
          </p:cNvPr>
          <p:cNvSpPr/>
          <p:nvPr/>
        </p:nvSpPr>
        <p:spPr>
          <a:xfrm>
            <a:off x="0" y="0"/>
            <a:ext cx="1887166" cy="417138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Times New Roman" panose="02020603050405020304" pitchFamily="18" charset="0"/>
                <a:sym typeface="Calibri"/>
              </a:rPr>
              <a:t>Sudo_Scope</a:t>
            </a:r>
            <a:endParaRPr sz="1600" b="1" dirty="0">
              <a:solidFill>
                <a:schemeClr val="dk1"/>
              </a:solidFill>
              <a:latin typeface="Consolas" panose="020B0609020204030204" pitchFamily="49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C9523B-71F4-F724-F45E-ED48474FB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75370"/>
              </p:ext>
            </p:extLst>
          </p:nvPr>
        </p:nvGraphicFramePr>
        <p:xfrm>
          <a:off x="0" y="606669"/>
          <a:ext cx="12112032" cy="6251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6692">
                  <a:extLst>
                    <a:ext uri="{9D8B030D-6E8A-4147-A177-3AD203B41FA5}">
                      <a16:colId xmlns:a16="http://schemas.microsoft.com/office/drawing/2014/main" val="1985463618"/>
                    </a:ext>
                  </a:extLst>
                </a:gridCol>
                <a:gridCol w="6045340">
                  <a:extLst>
                    <a:ext uri="{9D8B030D-6E8A-4147-A177-3AD203B41FA5}">
                      <a16:colId xmlns:a16="http://schemas.microsoft.com/office/drawing/2014/main" val="3775856920"/>
                    </a:ext>
                  </a:extLst>
                </a:gridCol>
              </a:tblGrid>
              <a:tr h="6251331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Potential Impact on the Target Audience:</a:t>
                      </a:r>
                    </a:p>
                    <a:p>
                      <a:pPr algn="just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Target Audience: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Patients, Hospital Staff, Hospital Administration.</a:t>
                      </a:r>
                    </a:p>
                    <a:p>
                      <a:pPr algn="just"/>
                      <a:endParaRPr lang="en-US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3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Benefits of the Solution:</a:t>
                      </a:r>
                    </a:p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387785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BDF4C3-D8A2-AB20-4698-8F424BA1DC87}"/>
              </a:ext>
            </a:extLst>
          </p:cNvPr>
          <p:cNvSpPr/>
          <p:nvPr/>
        </p:nvSpPr>
        <p:spPr>
          <a:xfrm>
            <a:off x="79966" y="1573595"/>
            <a:ext cx="5933971" cy="1568764"/>
          </a:xfrm>
          <a:prstGeom prst="roundRect">
            <a:avLst/>
          </a:prstGeom>
          <a:blipFill dpi="0" rotWithShape="1">
            <a:blip r:embed="rId4">
              <a:alphaModFix amt="28000"/>
            </a:blip>
            <a:srcRect/>
            <a:stretch>
              <a:fillRect/>
            </a:stretch>
          </a:blip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algn="just"/>
            <a:r>
              <a:rPr lang="en-US" sz="1300" b="1" dirty="0">
                <a:ln>
                  <a:solidFill>
                    <a:schemeClr val="bg2">
                      <a:lumMod val="75000"/>
                      <a:alpha val="77000"/>
                    </a:schemeClr>
                  </a:solidFill>
                </a:ln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Patients: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b="0" dirty="0">
                <a:ln>
                  <a:solidFill>
                    <a:schemeClr val="bg2">
                      <a:lumMod val="75000"/>
                      <a:alpha val="77000"/>
                    </a:schemeClr>
                  </a:solidFill>
                </a:ln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Reduced waiting times and faster access to care.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b="0" dirty="0">
                <a:ln>
                  <a:solidFill>
                    <a:schemeClr val="bg2">
                      <a:lumMod val="75000"/>
                      <a:alpha val="77000"/>
                    </a:schemeClr>
                  </a:solidFill>
                </a:ln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Improved communication and transparency regarding appointments and procedures.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b="0" dirty="0">
                <a:ln>
                  <a:solidFill>
                    <a:schemeClr val="bg2">
                      <a:lumMod val="75000"/>
                      <a:alpha val="77000"/>
                    </a:schemeClr>
                  </a:solidFill>
                </a:ln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Enhanced convenience through mobile app accessibility.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b="0" dirty="0">
                <a:ln>
                  <a:solidFill>
                    <a:schemeClr val="bg2">
                      <a:lumMod val="75000"/>
                      <a:alpha val="77000"/>
                    </a:schemeClr>
                  </a:solidFill>
                </a:ln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Increased satisfaction with overall hospital experience.</a:t>
            </a:r>
          </a:p>
          <a:p>
            <a:pPr algn="ctr"/>
            <a:endParaRPr lang="en-IN" sz="1300" dirty="0">
              <a:latin typeface="Consolas" panose="020B06090202040302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095518-94FC-129F-AF25-5A52D2A001AD}"/>
              </a:ext>
            </a:extLst>
          </p:cNvPr>
          <p:cNvSpPr/>
          <p:nvPr/>
        </p:nvSpPr>
        <p:spPr>
          <a:xfrm>
            <a:off x="79965" y="3239462"/>
            <a:ext cx="5933971" cy="1617754"/>
          </a:xfrm>
          <a:prstGeom prst="roundRect">
            <a:avLst/>
          </a:prstGeom>
          <a:blipFill dpi="0" rotWithShape="1">
            <a:blip r:embed="rId5">
              <a:alphaModFix amt="37000"/>
            </a:blip>
            <a:srcRect/>
            <a:stretch>
              <a:fillRect/>
            </a:stretch>
          </a:blip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algn="just"/>
            <a:r>
              <a:rPr lang="en-US" sz="1300" b="1" dirty="0">
                <a:ln>
                  <a:solidFill>
                    <a:schemeClr val="bg2">
                      <a:lumMod val="75000"/>
                      <a:alpha val="66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Hospital Staff: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b="0" dirty="0">
                <a:ln>
                  <a:solidFill>
                    <a:schemeClr val="bg2">
                      <a:lumMod val="75000"/>
                      <a:alpha val="66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Streamlined workflows and reduced administrative burden.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b="0" dirty="0">
                <a:ln>
                  <a:solidFill>
                    <a:schemeClr val="bg2">
                      <a:lumMod val="75000"/>
                      <a:alpha val="66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Access to real-time data for informed decision-making.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b="0" dirty="0">
                <a:ln>
                  <a:solidFill>
                    <a:schemeClr val="bg2">
                      <a:lumMod val="75000"/>
                      <a:alpha val="66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Improved efficiency in bed management and resource allocation.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b="0" dirty="0">
                <a:ln>
                  <a:solidFill>
                    <a:schemeClr val="bg2">
                      <a:lumMod val="75000"/>
                      <a:alpha val="66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Enhanced focus on patient care rather than administrative tasks.</a:t>
            </a:r>
          </a:p>
          <a:p>
            <a:pPr algn="ctr"/>
            <a:endParaRPr lang="en-IN" sz="1300" dirty="0">
              <a:latin typeface="Consolas" panose="020B0609020204030204" pitchFamily="49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5CE3BD-AAA3-ECF9-8879-665CA39AD594}"/>
              </a:ext>
            </a:extLst>
          </p:cNvPr>
          <p:cNvSpPr/>
          <p:nvPr/>
        </p:nvSpPr>
        <p:spPr>
          <a:xfrm>
            <a:off x="79968" y="4954319"/>
            <a:ext cx="5933971" cy="1806578"/>
          </a:xfrm>
          <a:prstGeom prst="roundRect">
            <a:avLst/>
          </a:prstGeom>
          <a:blipFill dpi="0" rotWithShape="1">
            <a:blip r:embed="rId6">
              <a:alphaModFix amt="25000"/>
            </a:blip>
            <a:srcRect/>
            <a:stretch>
              <a:fillRect/>
            </a:stretch>
          </a:blip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300" dirty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Hospital Administration: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dirty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Optimized resource utilization and cost savings.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dirty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Improved bed turnover rates and increased patient capacity.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dirty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Enhanced operational efficiency and streamlined workflows.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dirty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Data-driven insights for better resource planning and decision-making.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dirty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Positive reputation and increased patient satisfaction.</a:t>
            </a:r>
            <a:endParaRPr lang="en-IN" sz="1300" dirty="0">
              <a:ln w="9525"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1D57D4-87EE-A44A-F063-09BD4535C0A9}"/>
              </a:ext>
            </a:extLst>
          </p:cNvPr>
          <p:cNvSpPr txBox="1"/>
          <p:nvPr/>
        </p:nvSpPr>
        <p:spPr>
          <a:xfrm>
            <a:off x="2033081" y="1169072"/>
            <a:ext cx="2062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Impact</a:t>
            </a:r>
            <a:endParaRPr lang="en-US" sz="1600" b="1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7FFD85F-41C6-4C48-094D-6198B5A15A22}"/>
              </a:ext>
            </a:extLst>
          </p:cNvPr>
          <p:cNvSpPr/>
          <p:nvPr/>
        </p:nvSpPr>
        <p:spPr>
          <a:xfrm>
            <a:off x="6178058" y="1494757"/>
            <a:ext cx="5933971" cy="1568764"/>
          </a:xfrm>
          <a:prstGeom prst="roundRect">
            <a:avLst/>
          </a:prstGeom>
          <a:blipFill dpi="0" rotWithShape="1">
            <a:blip r:embed="rId7">
              <a:alphaModFix amt="51000"/>
            </a:blip>
            <a:srcRect/>
            <a:stretch>
              <a:fillRect/>
            </a:stretch>
          </a:blip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algn="just"/>
            <a:r>
              <a:rPr lang="en-US" sz="1300" b="1" dirty="0">
                <a:ln>
                  <a:solidFill>
                    <a:schemeClr val="bg2">
                      <a:lumMod val="75000"/>
                      <a:alpha val="77000"/>
                    </a:schemeClr>
                  </a:solidFill>
                </a:ln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Social Benefits: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b="0" dirty="0">
                <a:ln>
                  <a:solidFill>
                    <a:schemeClr val="bg2">
                      <a:lumMod val="75000"/>
                      <a:alpha val="77000"/>
                    </a:schemeClr>
                  </a:solidFill>
                </a:ln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Better Patient Care: </a:t>
            </a:r>
            <a:r>
              <a:rPr lang="en-US" sz="1300" b="0" dirty="0">
                <a:ln>
                  <a:solidFill>
                    <a:schemeClr val="bg2">
                      <a:lumMod val="60000"/>
                      <a:lumOff val="40000"/>
                      <a:alpha val="77000"/>
                    </a:schemeClr>
                  </a:solidFill>
                </a:ln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Faster care, shorter waits, better communication.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b="0" dirty="0">
                <a:ln>
                  <a:solidFill>
                    <a:schemeClr val="bg2">
                      <a:lumMod val="75000"/>
                      <a:alpha val="77000"/>
                    </a:schemeClr>
                  </a:solidFill>
                </a:ln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Happy Patients: </a:t>
            </a:r>
            <a:r>
              <a:rPr lang="en-US" sz="1300" b="0" dirty="0">
                <a:ln>
                  <a:solidFill>
                    <a:schemeClr val="bg2">
                      <a:lumMod val="60000"/>
                      <a:lumOff val="40000"/>
                      <a:alpha val="77000"/>
                    </a:schemeClr>
                  </a:solidFill>
                </a:ln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Efficient, convenient experience means satisfied patients.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b="0" dirty="0">
                <a:ln>
                  <a:solidFill>
                    <a:schemeClr val="bg2">
                      <a:lumMod val="75000"/>
                      <a:alpha val="77000"/>
                    </a:schemeClr>
                  </a:solidFill>
                </a:ln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Greater Access: </a:t>
            </a:r>
            <a:r>
              <a:rPr lang="en-US" sz="1300" b="0" dirty="0">
                <a:ln>
                  <a:solidFill>
                    <a:schemeClr val="bg2">
                      <a:lumMod val="60000"/>
                      <a:lumOff val="40000"/>
                      <a:alpha val="77000"/>
                    </a:schemeClr>
                  </a:solidFill>
                </a:ln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Mobile app makes healthcare more accessible.</a:t>
            </a:r>
          </a:p>
          <a:p>
            <a:pPr algn="ctr"/>
            <a:endParaRPr lang="en-IN" sz="1300" dirty="0">
              <a:latin typeface="Consolas" panose="020B0609020204030204" pitchFamily="49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ACEFD63-EF27-83D9-592D-0D4564C73580}"/>
              </a:ext>
            </a:extLst>
          </p:cNvPr>
          <p:cNvSpPr/>
          <p:nvPr/>
        </p:nvSpPr>
        <p:spPr>
          <a:xfrm>
            <a:off x="6178058" y="3142358"/>
            <a:ext cx="5933971" cy="1714857"/>
          </a:xfrm>
          <a:prstGeom prst="roundRect">
            <a:avLst/>
          </a:prstGeom>
          <a:blipFill dpi="0" rotWithShape="1">
            <a:blip r:embed="rId8">
              <a:alphaModFix amt="27000"/>
            </a:blip>
            <a:srcRect/>
            <a:stretch>
              <a:fillRect/>
            </a:stretch>
          </a:blip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algn="just"/>
            <a:r>
              <a:rPr lang="en-US" sz="1300" b="1" dirty="0">
                <a:ln>
                  <a:solidFill>
                    <a:schemeClr val="bg2">
                      <a:lumMod val="75000"/>
                      <a:alpha val="66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Economic Benefits: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b="0" dirty="0">
                <a:ln>
                  <a:solidFill>
                    <a:schemeClr val="bg2">
                      <a:lumMod val="75000"/>
                      <a:alpha val="66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Lower Costs: Optimized resource use, less waste, efficient bed management.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b="0" dirty="0">
                <a:ln>
                  <a:solidFill>
                    <a:schemeClr val="bg2">
                      <a:lumMod val="75000"/>
                      <a:alpha val="66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More Revenue: Higher patient turnover and capacity potential.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b="0" dirty="0">
                <a:ln>
                  <a:solidFill>
                    <a:schemeClr val="bg2">
                      <a:lumMod val="75000"/>
                      <a:alpha val="66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Streamlined Operations: Efficient workflows and reduced admin burden.</a:t>
            </a:r>
          </a:p>
          <a:p>
            <a:pPr algn="ctr"/>
            <a:endParaRPr lang="en-IN" sz="1300" dirty="0">
              <a:latin typeface="Consolas" panose="020B0609020204030204" pitchFamily="49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9BF7109-27C0-3AB8-DEB5-7E665030BC7A}"/>
              </a:ext>
            </a:extLst>
          </p:cNvPr>
          <p:cNvSpPr/>
          <p:nvPr/>
        </p:nvSpPr>
        <p:spPr>
          <a:xfrm>
            <a:off x="6178061" y="4914899"/>
            <a:ext cx="5933971" cy="1845997"/>
          </a:xfrm>
          <a:prstGeom prst="roundRect">
            <a:avLst/>
          </a:prstGeom>
          <a:blipFill dpi="0" rotWithShape="1">
            <a:blip r:embed="rId9">
              <a:alphaModFix amt="23000"/>
            </a:blip>
            <a:srcRect/>
            <a:stretch>
              <a:fillRect/>
            </a:stretch>
          </a:blip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300" dirty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Environmental Benefits: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dirty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Less Paper: Digitized processes minimize paper usage.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dirty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Reduced Waste: Optimized inventory management minimizes waste.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300" dirty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Time conservation: This application helps patients to efficiently plan and schedule appointments for time conservation.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609600" y="-31203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dirty="0"/>
          </a:p>
        </p:txBody>
      </p:sp>
      <p:sp>
        <p:nvSpPr>
          <p:cNvPr id="150" name="Google Shape;150;p6"/>
          <p:cNvSpPr txBox="1"/>
          <p:nvPr/>
        </p:nvSpPr>
        <p:spPr>
          <a:xfrm>
            <a:off x="70757" y="864264"/>
            <a:ext cx="12050485" cy="566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800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Details / Links of the reference and research work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endParaRPr lang="en-US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Queuing Models and Optimization: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Research on Queuing Theory in Healthcare Hospital Bed Management: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(PDF) ‘Queuing-Model’ to optimize Patient waiting time in Out Patient Department (OPD) of a Super-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speciality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public hospital of India. (researchgate.net)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ü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Hospital Bed Management: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Study on Bed Management Strategies: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(PDF) An exploratory study of bed management (researchgate.net)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ü"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Hospital Admission Processes: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Analysis of Hospital Admission Procedures: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Standardizing admission and discharge processes to improve patient flow: A cross sectional study - PMC (nih.gov)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ü"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Inventory Management in Hospitals: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Research on Hospital Inventory Control: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Inventory Management and Pharmaceutical Supply Chain Performance of Hospital Pharmacies in Bahrain: A Structural Equation Modeling Approach -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Shaju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 George,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Safaa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Elrashid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, 2023 (sagepub.com)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ü"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Mobile Applications in Healthcare: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Benefits of Mobile Health Apps: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Effectiveness of Mobile Health Application Use to Improve Health Behavior Changes: A Systematic Review of Randomized Controlled Trials - PMC (nih.gov)</a:t>
            </a:r>
            <a:endParaRPr lang="en-US" sz="1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53" name="Google Shape;153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5;p2" descr="Your startup LOGO">
            <a:extLst>
              <a:ext uri="{FF2B5EF4-FFF2-40B4-BE49-F238E27FC236}">
                <a16:creationId xmlns:a16="http://schemas.microsoft.com/office/drawing/2014/main" id="{D0D065CD-39EE-347B-8174-0A986EF2CDD1}"/>
              </a:ext>
            </a:extLst>
          </p:cNvPr>
          <p:cNvSpPr/>
          <p:nvPr/>
        </p:nvSpPr>
        <p:spPr>
          <a:xfrm>
            <a:off x="79968" y="57647"/>
            <a:ext cx="1846109" cy="588872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Sudo_Scope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1292</Words>
  <Application>Microsoft Office PowerPoint</Application>
  <PresentationFormat>Widescreen</PresentationFormat>
  <Paragraphs>200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Wingdings</vt:lpstr>
      <vt:lpstr>Oswald</vt:lpstr>
      <vt:lpstr>Calibri</vt:lpstr>
      <vt:lpstr>Sitka Small Semibold</vt:lpstr>
      <vt:lpstr>Noto Sans Symbols</vt:lpstr>
      <vt:lpstr>Sitka Subheading Semibold</vt:lpstr>
      <vt:lpstr>Arial</vt:lpstr>
      <vt:lpstr>Consolas</vt:lpstr>
      <vt:lpstr>Garamond</vt:lpstr>
      <vt:lpstr>Times New Roman</vt:lpstr>
      <vt:lpstr>Sitka Text Semibold</vt:lpstr>
      <vt:lpstr>Office Theme</vt:lpstr>
      <vt:lpstr>SMART INDIA HACKATHON 2024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Bharathwaj Ryder</cp:lastModifiedBy>
  <cp:revision>36</cp:revision>
  <dcterms:created xsi:type="dcterms:W3CDTF">2013-12-12T18:46:50Z</dcterms:created>
  <dcterms:modified xsi:type="dcterms:W3CDTF">2024-09-04T17:44:30Z</dcterms:modified>
</cp:coreProperties>
</file>