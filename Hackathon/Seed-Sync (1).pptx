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4630400" cy="8229600"/>
  <p:notesSz cx="8229600" cy="14630400"/>
  <p:embeddedFontLst>
    <p:embeddedFont>
      <p:font typeface="Crimson Pro" pitchFamily="34" charset="0"/>
      <p:bold r:id="rId16"/>
    </p:embeddedFont>
    <p:embeddedFont>
      <p:font typeface="Crimson Pro" pitchFamily="34" charset="-122"/>
      <p:bold r:id="rId17"/>
    </p:embeddedFont>
    <p:embeddedFont>
      <p:font typeface="Crimson Pro" pitchFamily="34" charset="-120"/>
      <p:bold r:id="rId18"/>
    </p:embeddedFont>
    <p:embeddedFont>
      <p:font typeface="Open Sans" pitchFamily="34" charset="0"/>
      <p:bold r:id="rId19"/>
    </p:embeddedFont>
    <p:embeddedFont>
      <p:font typeface="Open Sans" pitchFamily="34" charset="-122"/>
      <p:bold r:id="rId20"/>
    </p:embeddedFont>
    <p:embeddedFont>
      <p:font typeface="Open Sans" pitchFamily="34" charset="-120"/>
      <p:bold r:id="rId21"/>
    </p:embeddedFont>
    <p:embeddedFont>
      <p:font typeface="Calibri" panose="020F0502020204030204" charset="0"/>
      <p:regular r:id="rId22"/>
      <p:bold r:id="rId23"/>
      <p:italic r:id="rId24"/>
      <p:boldItalic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font" Target="fonts/font10.fntdata"/><Relationship Id="rId24" Type="http://schemas.openxmlformats.org/officeDocument/2006/relationships/font" Target="fonts/font9.fntdata"/><Relationship Id="rId23" Type="http://schemas.openxmlformats.org/officeDocument/2006/relationships/font" Target="fonts/font8.fntdata"/><Relationship Id="rId22" Type="http://schemas.openxmlformats.org/officeDocument/2006/relationships/font" Target="fonts/font7.fntdata"/><Relationship Id="rId21" Type="http://schemas.openxmlformats.org/officeDocument/2006/relationships/font" Target="fonts/font6.fntdata"/><Relationship Id="rId20" Type="http://schemas.openxmlformats.org/officeDocument/2006/relationships/font" Target="fonts/font5.fntdata"/><Relationship Id="rId2" Type="http://schemas.openxmlformats.org/officeDocument/2006/relationships/theme" Target="theme/theme1.xml"/><Relationship Id="rId19" Type="http://schemas.openxmlformats.org/officeDocument/2006/relationships/font" Target="fonts/font4.fntdata"/><Relationship Id="rId18" Type="http://schemas.openxmlformats.org/officeDocument/2006/relationships/font" Target="fonts/font3.fntdata"/><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p:spPr>
      </p:sp>
      <p:sp>
        <p:nvSpPr>
          <p:cNvPr id="3" name="Shape 1"/>
          <p:cNvSpPr/>
          <p:nvPr/>
        </p:nvSpPr>
        <p:spPr>
          <a:xfrm>
            <a:off x="0" y="0"/>
            <a:ext cx="14630400" cy="8229600"/>
          </a:xfrm>
          <a:prstGeom prst="rect">
            <a:avLst/>
          </a:prstGeom>
          <a:solidFill>
            <a:srgbClr val="FFFC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p:spPr>
      </p:sp>
      <p:sp>
        <p:nvSpPr>
          <p:cNvPr id="3" name="Shape 1"/>
          <p:cNvSpPr/>
          <p:nvPr/>
        </p:nvSpPr>
        <p:spPr>
          <a:xfrm>
            <a:off x="0" y="0"/>
            <a:ext cx="14630400" cy="8232934"/>
          </a:xfrm>
          <a:prstGeom prst="rect">
            <a:avLst/>
          </a:prstGeom>
          <a:solidFill>
            <a:srgbClr val="FFFC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p:spPr>
      </p:sp>
      <p:sp>
        <p:nvSpPr>
          <p:cNvPr id="3" name="Shape 1"/>
          <p:cNvSpPr/>
          <p:nvPr/>
        </p:nvSpPr>
        <p:spPr>
          <a:xfrm>
            <a:off x="0" y="0"/>
            <a:ext cx="14630400" cy="8229600"/>
          </a:xfrm>
          <a:prstGeom prst="rect">
            <a:avLst/>
          </a:prstGeom>
          <a:solidFill>
            <a:srgbClr val="FFFC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p:spPr>
      </p:sp>
      <p:sp>
        <p:nvSpPr>
          <p:cNvPr id="3" name="Shape 1"/>
          <p:cNvSpPr/>
          <p:nvPr/>
        </p:nvSpPr>
        <p:spPr>
          <a:xfrm>
            <a:off x="0" y="0"/>
            <a:ext cx="14630400" cy="8229600"/>
          </a:xfrm>
          <a:prstGeom prst="rect">
            <a:avLst/>
          </a:prstGeom>
          <a:solidFill>
            <a:srgbClr val="FFFC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p:spPr>
      </p:sp>
      <p:sp>
        <p:nvSpPr>
          <p:cNvPr id="3" name="Shape 1"/>
          <p:cNvSpPr/>
          <p:nvPr/>
        </p:nvSpPr>
        <p:spPr>
          <a:xfrm>
            <a:off x="0" y="0"/>
            <a:ext cx="14630400" cy="8229600"/>
          </a:xfrm>
          <a:prstGeom prst="rect">
            <a:avLst/>
          </a:prstGeom>
          <a:solidFill>
            <a:srgbClr val="FFFC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p:spPr>
      </p:sp>
      <p:sp>
        <p:nvSpPr>
          <p:cNvPr id="3" name="Shape 1"/>
          <p:cNvSpPr/>
          <p:nvPr/>
        </p:nvSpPr>
        <p:spPr>
          <a:xfrm>
            <a:off x="0" y="0"/>
            <a:ext cx="14630400" cy="8230314"/>
          </a:xfrm>
          <a:prstGeom prst="rect">
            <a:avLst/>
          </a:prstGeom>
          <a:solidFill>
            <a:srgbClr val="FFFC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p:spPr>
      </p:sp>
      <p:sp>
        <p:nvSpPr>
          <p:cNvPr id="3" name="Shape 1"/>
          <p:cNvSpPr/>
          <p:nvPr/>
        </p:nvSpPr>
        <p:spPr>
          <a:xfrm>
            <a:off x="0" y="0"/>
            <a:ext cx="14630400" cy="8229600"/>
          </a:xfrm>
          <a:prstGeom prst="rect">
            <a:avLst/>
          </a:prstGeom>
          <a:solidFill>
            <a:srgbClr val="FFFC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p:spPr>
      </p:sp>
      <p:sp>
        <p:nvSpPr>
          <p:cNvPr id="3" name="Shape 1"/>
          <p:cNvSpPr/>
          <p:nvPr/>
        </p:nvSpPr>
        <p:spPr>
          <a:xfrm>
            <a:off x="0" y="0"/>
            <a:ext cx="14630400" cy="8229600"/>
          </a:xfrm>
          <a:prstGeom prst="rect">
            <a:avLst/>
          </a:prstGeom>
          <a:solidFill>
            <a:srgbClr val="FFFC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p:spPr>
      </p:sp>
      <p:sp>
        <p:nvSpPr>
          <p:cNvPr id="3" name="Shape 1"/>
          <p:cNvSpPr/>
          <p:nvPr/>
        </p:nvSpPr>
        <p:spPr>
          <a:xfrm>
            <a:off x="0" y="0"/>
            <a:ext cx="14630400" cy="8229600"/>
          </a:xfrm>
          <a:prstGeom prst="rect">
            <a:avLst/>
          </a:prstGeom>
          <a:solidFill>
            <a:srgbClr val="FFFC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5.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9.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930241"/>
            <a:ext cx="7556421" cy="978218"/>
          </a:xfrm>
          <a:prstGeom prst="rect">
            <a:avLst/>
          </a:prstGeom>
          <a:noFill/>
        </p:spPr>
        <p:txBody>
          <a:bodyPr wrap="none" lIns="0" tIns="0" rIns="0" bIns="0" rtlCol="0" anchor="t"/>
          <a:lstStyle/>
          <a:p>
            <a:pPr marL="0" indent="0">
              <a:lnSpc>
                <a:spcPts val="7700"/>
              </a:lnSpc>
              <a:buNone/>
            </a:pPr>
            <a:r>
              <a:rPr lang="en-US" sz="6150" b="1" dirty="0">
                <a:solidFill>
                  <a:srgbClr val="443728"/>
                </a:solidFill>
                <a:latin typeface="Crimson Pro" pitchFamily="34" charset="0"/>
                <a:ea typeface="Crimson Pro" pitchFamily="34" charset="-122"/>
                <a:cs typeface="Crimson Pro" pitchFamily="34" charset="-120"/>
              </a:rPr>
              <a:t>Seed Sync</a:t>
            </a:r>
            <a:endParaRPr lang="en-US" sz="6150" dirty="0"/>
          </a:p>
        </p:txBody>
      </p:sp>
      <p:sp>
        <p:nvSpPr>
          <p:cNvPr id="4" name="Text 1"/>
          <p:cNvSpPr/>
          <p:nvPr/>
        </p:nvSpPr>
        <p:spPr>
          <a:xfrm>
            <a:off x="793790" y="3248620"/>
            <a:ext cx="7556421" cy="1814513"/>
          </a:xfrm>
          <a:prstGeom prst="rect">
            <a:avLst/>
          </a:prstGeom>
          <a:noFill/>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Seed Sync is a mobile application designed to revolutionize the agricultural supply chain by connecting farmers directly with consumers and retailers. Our platform aims to eliminate intermediaries, increase transparency, and empower both producers and consumers.</a:t>
            </a:r>
            <a:endParaRPr lang="en-US" sz="1750" dirty="0"/>
          </a:p>
        </p:txBody>
      </p:sp>
      <p:sp>
        <p:nvSpPr>
          <p:cNvPr id="5" name="Text 2"/>
          <p:cNvSpPr/>
          <p:nvPr/>
        </p:nvSpPr>
        <p:spPr>
          <a:xfrm>
            <a:off x="793790" y="5318284"/>
            <a:ext cx="7556421" cy="362903"/>
          </a:xfrm>
          <a:prstGeom prst="rect">
            <a:avLst/>
          </a:prstGeom>
          <a:noFill/>
        </p:spPr>
        <p:txBody>
          <a:bodyPr wrap="non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Team Name : Sudo_Seed</a:t>
            </a:r>
            <a:endParaRPr lang="en-US" sz="1750" dirty="0"/>
          </a:p>
        </p:txBody>
      </p:sp>
      <p:sp>
        <p:nvSpPr>
          <p:cNvPr id="6" name="Text 3"/>
          <p:cNvSpPr/>
          <p:nvPr/>
        </p:nvSpPr>
        <p:spPr>
          <a:xfrm>
            <a:off x="793790" y="5936337"/>
            <a:ext cx="7556421" cy="362903"/>
          </a:xfrm>
          <a:prstGeom prst="rect">
            <a:avLst/>
          </a:prstGeom>
          <a:noFill/>
        </p:spPr>
        <p:txBody>
          <a:bodyPr wrap="none" lIns="0" tIns="0" rIns="0" bIns="0" rtlCol="0" anchor="t"/>
          <a:lstStyle/>
          <a:p>
            <a:pPr marL="0" indent="0">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7343" y="508635"/>
            <a:ext cx="4624149" cy="578048"/>
          </a:xfrm>
          <a:prstGeom prst="rect">
            <a:avLst/>
          </a:prstGeom>
          <a:noFill/>
        </p:spPr>
        <p:txBody>
          <a:bodyPr wrap="none" lIns="0" tIns="0" rIns="0" bIns="0" rtlCol="0" anchor="t"/>
          <a:lstStyle/>
          <a:p>
            <a:pPr marL="0" indent="0">
              <a:lnSpc>
                <a:spcPts val="4550"/>
              </a:lnSpc>
              <a:buNone/>
            </a:pPr>
            <a:r>
              <a:rPr lang="en-US" sz="3600" b="1" dirty="0">
                <a:solidFill>
                  <a:srgbClr val="443728"/>
                </a:solidFill>
                <a:latin typeface="Crimson Pro" pitchFamily="34" charset="0"/>
                <a:ea typeface="Crimson Pro" pitchFamily="34" charset="-122"/>
                <a:cs typeface="Crimson Pro" pitchFamily="34" charset="-120"/>
              </a:rPr>
              <a:t>Content</a:t>
            </a:r>
            <a:endParaRPr lang="en-US" sz="3600" dirty="0"/>
          </a:p>
        </p:txBody>
      </p:sp>
      <p:sp>
        <p:nvSpPr>
          <p:cNvPr id="3" name="Shape 1"/>
          <p:cNvSpPr/>
          <p:nvPr/>
        </p:nvSpPr>
        <p:spPr>
          <a:xfrm>
            <a:off x="7303770" y="1456611"/>
            <a:ext cx="22860" cy="6267688"/>
          </a:xfrm>
          <a:prstGeom prst="roundRect">
            <a:avLst>
              <a:gd name="adj" fmla="val 339834"/>
            </a:avLst>
          </a:prstGeom>
          <a:solidFill>
            <a:srgbClr val="D1C8C6"/>
          </a:solidFill>
        </p:spPr>
      </p:sp>
      <p:sp>
        <p:nvSpPr>
          <p:cNvPr id="4" name="Shape 2"/>
          <p:cNvSpPr/>
          <p:nvPr/>
        </p:nvSpPr>
        <p:spPr>
          <a:xfrm>
            <a:off x="6482655" y="1861185"/>
            <a:ext cx="647343" cy="22860"/>
          </a:xfrm>
          <a:prstGeom prst="roundRect">
            <a:avLst>
              <a:gd name="adj" fmla="val 339834"/>
            </a:avLst>
          </a:prstGeom>
          <a:solidFill>
            <a:srgbClr val="D1C8C6"/>
          </a:solidFill>
        </p:spPr>
      </p:sp>
      <p:sp>
        <p:nvSpPr>
          <p:cNvPr id="5" name="Shape 3"/>
          <p:cNvSpPr/>
          <p:nvPr/>
        </p:nvSpPr>
        <p:spPr>
          <a:xfrm>
            <a:off x="7107138" y="1664613"/>
            <a:ext cx="416123" cy="416123"/>
          </a:xfrm>
          <a:prstGeom prst="roundRect">
            <a:avLst>
              <a:gd name="adj" fmla="val 18669"/>
            </a:avLst>
          </a:prstGeom>
          <a:solidFill>
            <a:srgbClr val="EBE2E0"/>
          </a:solidFill>
          <a:ln w="7620">
            <a:solidFill>
              <a:srgbClr val="D1C8C6"/>
            </a:solidFill>
            <a:prstDash val="solid"/>
          </a:ln>
        </p:spPr>
      </p:sp>
      <p:sp>
        <p:nvSpPr>
          <p:cNvPr id="6" name="Text 4"/>
          <p:cNvSpPr/>
          <p:nvPr/>
        </p:nvSpPr>
        <p:spPr>
          <a:xfrm>
            <a:off x="7263229" y="1733907"/>
            <a:ext cx="103823" cy="277416"/>
          </a:xfrm>
          <a:prstGeom prst="rect">
            <a:avLst/>
          </a:prstGeom>
          <a:noFill/>
        </p:spPr>
        <p:txBody>
          <a:bodyPr wrap="none" lIns="0" tIns="0" rIns="0" bIns="0" rtlCol="0" anchor="t"/>
          <a:lstStyle/>
          <a:p>
            <a:pPr marL="0" indent="0" algn="ctr">
              <a:lnSpc>
                <a:spcPts val="2150"/>
              </a:lnSpc>
              <a:buNone/>
            </a:pPr>
            <a:r>
              <a:rPr lang="en-US" sz="2150" b="1" dirty="0">
                <a:solidFill>
                  <a:srgbClr val="443728"/>
                </a:solidFill>
                <a:latin typeface="Crimson Pro" pitchFamily="34" charset="0"/>
                <a:ea typeface="Crimson Pro" pitchFamily="34" charset="-122"/>
                <a:cs typeface="Crimson Pro" pitchFamily="34" charset="-120"/>
              </a:rPr>
              <a:t>1</a:t>
            </a:r>
            <a:endParaRPr lang="en-US" sz="2150" dirty="0"/>
          </a:p>
        </p:txBody>
      </p:sp>
      <p:sp>
        <p:nvSpPr>
          <p:cNvPr id="7" name="Text 5"/>
          <p:cNvSpPr/>
          <p:nvPr/>
        </p:nvSpPr>
        <p:spPr>
          <a:xfrm>
            <a:off x="3985855" y="1641515"/>
            <a:ext cx="2312075" cy="288965"/>
          </a:xfrm>
          <a:prstGeom prst="rect">
            <a:avLst/>
          </a:prstGeom>
          <a:noFill/>
        </p:spPr>
        <p:txBody>
          <a:bodyPr wrap="none" lIns="0" tIns="0" rIns="0" bIns="0" rtlCol="0" anchor="t"/>
          <a:lstStyle/>
          <a:p>
            <a:pPr marL="0" indent="0" algn="r">
              <a:lnSpc>
                <a:spcPts val="2250"/>
              </a:lnSpc>
              <a:buNone/>
            </a:pPr>
            <a:r>
              <a:rPr lang="en-US" sz="1800" b="1" dirty="0">
                <a:solidFill>
                  <a:srgbClr val="443728"/>
                </a:solidFill>
                <a:latin typeface="Crimson Pro" pitchFamily="34" charset="0"/>
                <a:ea typeface="Crimson Pro" pitchFamily="34" charset="-122"/>
                <a:cs typeface="Crimson Pro" pitchFamily="34" charset="-120"/>
              </a:rPr>
              <a:t>Problem Statement</a:t>
            </a:r>
            <a:endParaRPr lang="en-US" sz="1800" dirty="0"/>
          </a:p>
        </p:txBody>
      </p:sp>
      <p:sp>
        <p:nvSpPr>
          <p:cNvPr id="8" name="Text 6"/>
          <p:cNvSpPr/>
          <p:nvPr/>
        </p:nvSpPr>
        <p:spPr>
          <a:xfrm>
            <a:off x="647343" y="2041446"/>
            <a:ext cx="5650587" cy="887968"/>
          </a:xfrm>
          <a:prstGeom prst="rect">
            <a:avLst/>
          </a:prstGeom>
          <a:noFill/>
        </p:spPr>
        <p:txBody>
          <a:bodyPr wrap="square" lIns="0" tIns="0" rIns="0" bIns="0" rtlCol="0" anchor="t"/>
          <a:lstStyle/>
          <a:p>
            <a:pPr marL="0" indent="0" algn="r">
              <a:lnSpc>
                <a:spcPts val="2300"/>
              </a:lnSpc>
              <a:buNone/>
            </a:pPr>
            <a:r>
              <a:rPr lang="en-US" sz="1450" dirty="0">
                <a:solidFill>
                  <a:srgbClr val="443728"/>
                </a:solidFill>
                <a:latin typeface="Open Sans" pitchFamily="34" charset="0"/>
                <a:ea typeface="Open Sans" pitchFamily="34" charset="-122"/>
                <a:cs typeface="Open Sans" pitchFamily="34" charset="-120"/>
              </a:rPr>
              <a:t>The current agricultural supply chain is inefficient and opaque, leading to price volatility and a lack of transparency for both farmers and consumers.</a:t>
            </a:r>
            <a:endParaRPr lang="en-US" sz="1450" dirty="0"/>
          </a:p>
        </p:txBody>
      </p:sp>
      <p:sp>
        <p:nvSpPr>
          <p:cNvPr id="9" name="Shape 7"/>
          <p:cNvSpPr/>
          <p:nvPr/>
        </p:nvSpPr>
        <p:spPr>
          <a:xfrm>
            <a:off x="7500402" y="2785943"/>
            <a:ext cx="647343" cy="22860"/>
          </a:xfrm>
          <a:prstGeom prst="roundRect">
            <a:avLst>
              <a:gd name="adj" fmla="val 339834"/>
            </a:avLst>
          </a:prstGeom>
          <a:solidFill>
            <a:srgbClr val="D1C8C6"/>
          </a:solidFill>
        </p:spPr>
      </p:sp>
      <p:sp>
        <p:nvSpPr>
          <p:cNvPr id="10" name="Shape 8"/>
          <p:cNvSpPr/>
          <p:nvPr/>
        </p:nvSpPr>
        <p:spPr>
          <a:xfrm>
            <a:off x="7107138" y="2589371"/>
            <a:ext cx="416123" cy="416123"/>
          </a:xfrm>
          <a:prstGeom prst="roundRect">
            <a:avLst>
              <a:gd name="adj" fmla="val 18669"/>
            </a:avLst>
          </a:prstGeom>
          <a:solidFill>
            <a:srgbClr val="EBE2E0"/>
          </a:solidFill>
          <a:ln w="7620">
            <a:solidFill>
              <a:srgbClr val="D1C8C6"/>
            </a:solidFill>
            <a:prstDash val="solid"/>
          </a:ln>
        </p:spPr>
      </p:sp>
      <p:sp>
        <p:nvSpPr>
          <p:cNvPr id="11" name="Text 9"/>
          <p:cNvSpPr/>
          <p:nvPr/>
        </p:nvSpPr>
        <p:spPr>
          <a:xfrm>
            <a:off x="7244417" y="2658666"/>
            <a:ext cx="141446" cy="277416"/>
          </a:xfrm>
          <a:prstGeom prst="rect">
            <a:avLst/>
          </a:prstGeom>
          <a:noFill/>
        </p:spPr>
        <p:txBody>
          <a:bodyPr wrap="none" lIns="0" tIns="0" rIns="0" bIns="0" rtlCol="0" anchor="t"/>
          <a:lstStyle/>
          <a:p>
            <a:pPr marL="0" indent="0" algn="ctr">
              <a:lnSpc>
                <a:spcPts val="2150"/>
              </a:lnSpc>
              <a:buNone/>
            </a:pPr>
            <a:r>
              <a:rPr lang="en-US" sz="2150" b="1" dirty="0">
                <a:solidFill>
                  <a:srgbClr val="443728"/>
                </a:solidFill>
                <a:latin typeface="Crimson Pro" pitchFamily="34" charset="0"/>
                <a:ea typeface="Crimson Pro" pitchFamily="34" charset="-122"/>
                <a:cs typeface="Crimson Pro" pitchFamily="34" charset="-120"/>
              </a:rPr>
              <a:t>2</a:t>
            </a:r>
            <a:endParaRPr lang="en-US" sz="2150" dirty="0"/>
          </a:p>
        </p:txBody>
      </p:sp>
      <p:sp>
        <p:nvSpPr>
          <p:cNvPr id="12" name="Text 10"/>
          <p:cNvSpPr/>
          <p:nvPr/>
        </p:nvSpPr>
        <p:spPr>
          <a:xfrm>
            <a:off x="8332470" y="2566273"/>
            <a:ext cx="2312075" cy="288965"/>
          </a:xfrm>
          <a:prstGeom prst="rect">
            <a:avLst/>
          </a:prstGeom>
          <a:noFill/>
        </p:spPr>
        <p:txBody>
          <a:bodyPr wrap="none" lIns="0" tIns="0" rIns="0" bIns="0" rtlCol="0" anchor="t"/>
          <a:lstStyle/>
          <a:p>
            <a:pPr marL="0" indent="0" algn="l">
              <a:lnSpc>
                <a:spcPts val="2250"/>
              </a:lnSpc>
              <a:buNone/>
            </a:pPr>
            <a:r>
              <a:rPr lang="en-US" sz="1800" b="1" dirty="0">
                <a:solidFill>
                  <a:srgbClr val="443728"/>
                </a:solidFill>
                <a:latin typeface="Crimson Pro" pitchFamily="34" charset="0"/>
                <a:ea typeface="Crimson Pro" pitchFamily="34" charset="-122"/>
                <a:cs typeface="Crimson Pro" pitchFamily="34" charset="-120"/>
              </a:rPr>
              <a:t>Proposed Solution</a:t>
            </a:r>
            <a:endParaRPr lang="en-US" sz="1800" dirty="0"/>
          </a:p>
        </p:txBody>
      </p:sp>
      <p:sp>
        <p:nvSpPr>
          <p:cNvPr id="13" name="Text 11"/>
          <p:cNvSpPr/>
          <p:nvPr/>
        </p:nvSpPr>
        <p:spPr>
          <a:xfrm>
            <a:off x="8332470" y="2966204"/>
            <a:ext cx="5650587" cy="887968"/>
          </a:xfrm>
          <a:prstGeom prst="rect">
            <a:avLst/>
          </a:prstGeom>
          <a:noFill/>
        </p:spPr>
        <p:txBody>
          <a:bodyPr wrap="square" lIns="0" tIns="0" rIns="0" bIns="0" rtlCol="0" anchor="t"/>
          <a:lstStyle/>
          <a:p>
            <a:pPr marL="0" indent="0" algn="l">
              <a:lnSpc>
                <a:spcPts val="2300"/>
              </a:lnSpc>
              <a:buNone/>
            </a:pPr>
            <a:r>
              <a:rPr lang="en-US" sz="1450" dirty="0">
                <a:solidFill>
                  <a:srgbClr val="443728"/>
                </a:solidFill>
                <a:latin typeface="Open Sans" pitchFamily="34" charset="0"/>
                <a:ea typeface="Open Sans" pitchFamily="34" charset="-122"/>
                <a:cs typeface="Open Sans" pitchFamily="34" charset="-120"/>
              </a:rPr>
              <a:t>Seed Sync aims to create a platform that empowers farmers to directly market their products, allowing them to receive fair prices and connect with a wider customer base.</a:t>
            </a:r>
            <a:endParaRPr lang="en-US" sz="1450" dirty="0"/>
          </a:p>
        </p:txBody>
      </p:sp>
      <p:sp>
        <p:nvSpPr>
          <p:cNvPr id="14" name="Shape 12"/>
          <p:cNvSpPr/>
          <p:nvPr/>
        </p:nvSpPr>
        <p:spPr>
          <a:xfrm>
            <a:off x="6482655" y="3707249"/>
            <a:ext cx="647343" cy="22860"/>
          </a:xfrm>
          <a:prstGeom prst="roundRect">
            <a:avLst>
              <a:gd name="adj" fmla="val 339834"/>
            </a:avLst>
          </a:prstGeom>
          <a:solidFill>
            <a:srgbClr val="D1C8C6"/>
          </a:solidFill>
        </p:spPr>
      </p:sp>
      <p:sp>
        <p:nvSpPr>
          <p:cNvPr id="15" name="Shape 13"/>
          <p:cNvSpPr/>
          <p:nvPr/>
        </p:nvSpPr>
        <p:spPr>
          <a:xfrm>
            <a:off x="7107138" y="3510677"/>
            <a:ext cx="416123" cy="416123"/>
          </a:xfrm>
          <a:prstGeom prst="roundRect">
            <a:avLst>
              <a:gd name="adj" fmla="val 18669"/>
            </a:avLst>
          </a:prstGeom>
          <a:solidFill>
            <a:srgbClr val="EBE2E0"/>
          </a:solidFill>
          <a:ln w="7620">
            <a:solidFill>
              <a:srgbClr val="D1C8C6"/>
            </a:solidFill>
            <a:prstDash val="solid"/>
          </a:ln>
        </p:spPr>
      </p:sp>
      <p:sp>
        <p:nvSpPr>
          <p:cNvPr id="16" name="Text 14"/>
          <p:cNvSpPr/>
          <p:nvPr/>
        </p:nvSpPr>
        <p:spPr>
          <a:xfrm>
            <a:off x="7247394" y="3579971"/>
            <a:ext cx="135493" cy="277416"/>
          </a:xfrm>
          <a:prstGeom prst="rect">
            <a:avLst/>
          </a:prstGeom>
          <a:noFill/>
        </p:spPr>
        <p:txBody>
          <a:bodyPr wrap="none" lIns="0" tIns="0" rIns="0" bIns="0" rtlCol="0" anchor="t"/>
          <a:lstStyle/>
          <a:p>
            <a:pPr marL="0" indent="0" algn="ctr">
              <a:lnSpc>
                <a:spcPts val="2150"/>
              </a:lnSpc>
              <a:buNone/>
            </a:pPr>
            <a:r>
              <a:rPr lang="en-US" sz="2150" b="1" dirty="0">
                <a:solidFill>
                  <a:srgbClr val="443728"/>
                </a:solidFill>
                <a:latin typeface="Crimson Pro" pitchFamily="34" charset="0"/>
                <a:ea typeface="Crimson Pro" pitchFamily="34" charset="-122"/>
                <a:cs typeface="Crimson Pro" pitchFamily="34" charset="-120"/>
              </a:rPr>
              <a:t>3</a:t>
            </a:r>
            <a:endParaRPr lang="en-US" sz="2150" dirty="0"/>
          </a:p>
        </p:txBody>
      </p:sp>
      <p:sp>
        <p:nvSpPr>
          <p:cNvPr id="17" name="Text 15"/>
          <p:cNvSpPr/>
          <p:nvPr/>
        </p:nvSpPr>
        <p:spPr>
          <a:xfrm>
            <a:off x="3985855" y="3487579"/>
            <a:ext cx="2312075" cy="288965"/>
          </a:xfrm>
          <a:prstGeom prst="rect">
            <a:avLst/>
          </a:prstGeom>
          <a:noFill/>
        </p:spPr>
        <p:txBody>
          <a:bodyPr wrap="none" lIns="0" tIns="0" rIns="0" bIns="0" rtlCol="0" anchor="t"/>
          <a:lstStyle/>
          <a:p>
            <a:pPr marL="0" indent="0" algn="r">
              <a:lnSpc>
                <a:spcPts val="2250"/>
              </a:lnSpc>
              <a:buNone/>
            </a:pPr>
            <a:r>
              <a:rPr lang="en-US" sz="1800" b="1" dirty="0">
                <a:solidFill>
                  <a:srgbClr val="443728"/>
                </a:solidFill>
                <a:latin typeface="Crimson Pro" pitchFamily="34" charset="0"/>
                <a:ea typeface="Crimson Pro" pitchFamily="34" charset="-122"/>
                <a:cs typeface="Crimson Pro" pitchFamily="34" charset="-120"/>
              </a:rPr>
              <a:t>Technology Stack</a:t>
            </a:r>
            <a:endParaRPr lang="en-US" sz="1800" dirty="0"/>
          </a:p>
        </p:txBody>
      </p:sp>
      <p:sp>
        <p:nvSpPr>
          <p:cNvPr id="18" name="Text 16"/>
          <p:cNvSpPr/>
          <p:nvPr/>
        </p:nvSpPr>
        <p:spPr>
          <a:xfrm>
            <a:off x="647343" y="3887510"/>
            <a:ext cx="5650587" cy="887968"/>
          </a:xfrm>
          <a:prstGeom prst="rect">
            <a:avLst/>
          </a:prstGeom>
          <a:noFill/>
        </p:spPr>
        <p:txBody>
          <a:bodyPr wrap="square" lIns="0" tIns="0" rIns="0" bIns="0" rtlCol="0" anchor="t"/>
          <a:lstStyle/>
          <a:p>
            <a:pPr marL="0" indent="0" algn="r">
              <a:lnSpc>
                <a:spcPts val="2300"/>
              </a:lnSpc>
              <a:buNone/>
            </a:pPr>
            <a:r>
              <a:rPr lang="en-US" sz="1450" dirty="0">
                <a:solidFill>
                  <a:srgbClr val="443728"/>
                </a:solidFill>
                <a:latin typeface="Open Sans" pitchFamily="34" charset="0"/>
                <a:ea typeface="Open Sans" pitchFamily="34" charset="-122"/>
                <a:cs typeface="Open Sans" pitchFamily="34" charset="-120"/>
              </a:rPr>
              <a:t>We plan to leverage modern technologies such as mobile application development, geolocation services, and secure payment gateways.</a:t>
            </a:r>
            <a:endParaRPr lang="en-US" sz="1450" dirty="0"/>
          </a:p>
        </p:txBody>
      </p:sp>
      <p:sp>
        <p:nvSpPr>
          <p:cNvPr id="19" name="Shape 17"/>
          <p:cNvSpPr/>
          <p:nvPr/>
        </p:nvSpPr>
        <p:spPr>
          <a:xfrm>
            <a:off x="7500402" y="4628555"/>
            <a:ext cx="647343" cy="22860"/>
          </a:xfrm>
          <a:prstGeom prst="roundRect">
            <a:avLst>
              <a:gd name="adj" fmla="val 339834"/>
            </a:avLst>
          </a:prstGeom>
          <a:solidFill>
            <a:srgbClr val="D1C8C6"/>
          </a:solidFill>
        </p:spPr>
      </p:sp>
      <p:sp>
        <p:nvSpPr>
          <p:cNvPr id="20" name="Shape 18"/>
          <p:cNvSpPr/>
          <p:nvPr/>
        </p:nvSpPr>
        <p:spPr>
          <a:xfrm>
            <a:off x="7107138" y="4431983"/>
            <a:ext cx="416123" cy="416123"/>
          </a:xfrm>
          <a:prstGeom prst="roundRect">
            <a:avLst>
              <a:gd name="adj" fmla="val 18669"/>
            </a:avLst>
          </a:prstGeom>
          <a:solidFill>
            <a:srgbClr val="EBE2E0"/>
          </a:solidFill>
          <a:ln w="7620">
            <a:solidFill>
              <a:srgbClr val="D1C8C6"/>
            </a:solidFill>
            <a:prstDash val="solid"/>
          </a:ln>
        </p:spPr>
      </p:sp>
      <p:sp>
        <p:nvSpPr>
          <p:cNvPr id="21" name="Text 19"/>
          <p:cNvSpPr/>
          <p:nvPr/>
        </p:nvSpPr>
        <p:spPr>
          <a:xfrm>
            <a:off x="7240369" y="4501277"/>
            <a:ext cx="149662" cy="277416"/>
          </a:xfrm>
          <a:prstGeom prst="rect">
            <a:avLst/>
          </a:prstGeom>
          <a:noFill/>
        </p:spPr>
        <p:txBody>
          <a:bodyPr wrap="none" lIns="0" tIns="0" rIns="0" bIns="0" rtlCol="0" anchor="t"/>
          <a:lstStyle/>
          <a:p>
            <a:pPr marL="0" indent="0" algn="ctr">
              <a:lnSpc>
                <a:spcPts val="2150"/>
              </a:lnSpc>
              <a:buNone/>
            </a:pPr>
            <a:r>
              <a:rPr lang="en-US" sz="2150" b="1" dirty="0">
                <a:solidFill>
                  <a:srgbClr val="443728"/>
                </a:solidFill>
                <a:latin typeface="Crimson Pro" pitchFamily="34" charset="0"/>
                <a:ea typeface="Crimson Pro" pitchFamily="34" charset="-122"/>
                <a:cs typeface="Crimson Pro" pitchFamily="34" charset="-120"/>
              </a:rPr>
              <a:t>4</a:t>
            </a:r>
            <a:endParaRPr lang="en-US" sz="2150" dirty="0"/>
          </a:p>
        </p:txBody>
      </p:sp>
      <p:sp>
        <p:nvSpPr>
          <p:cNvPr id="22" name="Text 20"/>
          <p:cNvSpPr/>
          <p:nvPr/>
        </p:nvSpPr>
        <p:spPr>
          <a:xfrm>
            <a:off x="8332470" y="4408884"/>
            <a:ext cx="2312075" cy="288965"/>
          </a:xfrm>
          <a:prstGeom prst="rect">
            <a:avLst/>
          </a:prstGeom>
          <a:noFill/>
        </p:spPr>
        <p:txBody>
          <a:bodyPr wrap="none" lIns="0" tIns="0" rIns="0" bIns="0" rtlCol="0" anchor="t"/>
          <a:lstStyle/>
          <a:p>
            <a:pPr marL="0" indent="0" algn="l">
              <a:lnSpc>
                <a:spcPts val="2250"/>
              </a:lnSpc>
              <a:buNone/>
            </a:pPr>
            <a:r>
              <a:rPr lang="en-US" sz="1800" b="1" dirty="0">
                <a:solidFill>
                  <a:srgbClr val="443728"/>
                </a:solidFill>
                <a:latin typeface="Crimson Pro" pitchFamily="34" charset="0"/>
                <a:ea typeface="Crimson Pro" pitchFamily="34" charset="-122"/>
                <a:cs typeface="Crimson Pro" pitchFamily="34" charset="-120"/>
              </a:rPr>
              <a:t>Feasibility and Viability</a:t>
            </a:r>
            <a:endParaRPr lang="en-US" sz="1800" dirty="0"/>
          </a:p>
        </p:txBody>
      </p:sp>
      <p:sp>
        <p:nvSpPr>
          <p:cNvPr id="23" name="Text 21"/>
          <p:cNvSpPr/>
          <p:nvPr/>
        </p:nvSpPr>
        <p:spPr>
          <a:xfrm>
            <a:off x="8332470" y="4808815"/>
            <a:ext cx="5650587" cy="887968"/>
          </a:xfrm>
          <a:prstGeom prst="rect">
            <a:avLst/>
          </a:prstGeom>
          <a:noFill/>
        </p:spPr>
        <p:txBody>
          <a:bodyPr wrap="square" lIns="0" tIns="0" rIns="0" bIns="0" rtlCol="0" anchor="t"/>
          <a:lstStyle/>
          <a:p>
            <a:pPr marL="0" indent="0" algn="l">
              <a:lnSpc>
                <a:spcPts val="2300"/>
              </a:lnSpc>
              <a:buNone/>
            </a:pPr>
            <a:r>
              <a:rPr lang="en-US" sz="1450" dirty="0">
                <a:solidFill>
                  <a:srgbClr val="443728"/>
                </a:solidFill>
                <a:latin typeface="Open Sans" pitchFamily="34" charset="0"/>
                <a:ea typeface="Open Sans" pitchFamily="34" charset="-122"/>
                <a:cs typeface="Open Sans" pitchFamily="34" charset="-120"/>
              </a:rPr>
              <a:t>The market for direct-to-consumer agriculture is growing rapidly, and Seed Sync has the potential to become a leading platform in this space.</a:t>
            </a:r>
            <a:endParaRPr lang="en-US" sz="1450" dirty="0"/>
          </a:p>
        </p:txBody>
      </p:sp>
      <p:sp>
        <p:nvSpPr>
          <p:cNvPr id="24" name="Shape 22"/>
          <p:cNvSpPr/>
          <p:nvPr/>
        </p:nvSpPr>
        <p:spPr>
          <a:xfrm>
            <a:off x="6482655" y="5549860"/>
            <a:ext cx="647343" cy="22860"/>
          </a:xfrm>
          <a:prstGeom prst="roundRect">
            <a:avLst>
              <a:gd name="adj" fmla="val 339834"/>
            </a:avLst>
          </a:prstGeom>
          <a:solidFill>
            <a:srgbClr val="D1C8C6"/>
          </a:solidFill>
        </p:spPr>
      </p:sp>
      <p:sp>
        <p:nvSpPr>
          <p:cNvPr id="25" name="Shape 23"/>
          <p:cNvSpPr/>
          <p:nvPr/>
        </p:nvSpPr>
        <p:spPr>
          <a:xfrm>
            <a:off x="7107138" y="5353288"/>
            <a:ext cx="416123" cy="416123"/>
          </a:xfrm>
          <a:prstGeom prst="roundRect">
            <a:avLst>
              <a:gd name="adj" fmla="val 18669"/>
            </a:avLst>
          </a:prstGeom>
          <a:solidFill>
            <a:srgbClr val="EBE2E0"/>
          </a:solidFill>
          <a:ln w="7620">
            <a:solidFill>
              <a:srgbClr val="D1C8C6"/>
            </a:solidFill>
            <a:prstDash val="solid"/>
          </a:ln>
        </p:spPr>
      </p:sp>
      <p:sp>
        <p:nvSpPr>
          <p:cNvPr id="26" name="Text 24"/>
          <p:cNvSpPr/>
          <p:nvPr/>
        </p:nvSpPr>
        <p:spPr>
          <a:xfrm>
            <a:off x="7247156" y="5422583"/>
            <a:ext cx="136088" cy="277416"/>
          </a:xfrm>
          <a:prstGeom prst="rect">
            <a:avLst/>
          </a:prstGeom>
          <a:noFill/>
        </p:spPr>
        <p:txBody>
          <a:bodyPr wrap="none" lIns="0" tIns="0" rIns="0" bIns="0" rtlCol="0" anchor="t"/>
          <a:lstStyle/>
          <a:p>
            <a:pPr marL="0" indent="0" algn="ctr">
              <a:lnSpc>
                <a:spcPts val="2150"/>
              </a:lnSpc>
              <a:buNone/>
            </a:pPr>
            <a:r>
              <a:rPr lang="en-US" sz="2150" b="1" dirty="0">
                <a:solidFill>
                  <a:srgbClr val="443728"/>
                </a:solidFill>
                <a:latin typeface="Crimson Pro" pitchFamily="34" charset="0"/>
                <a:ea typeface="Crimson Pro" pitchFamily="34" charset="-122"/>
                <a:cs typeface="Crimson Pro" pitchFamily="34" charset="-120"/>
              </a:rPr>
              <a:t>5</a:t>
            </a:r>
            <a:endParaRPr lang="en-US" sz="2150" dirty="0"/>
          </a:p>
        </p:txBody>
      </p:sp>
      <p:sp>
        <p:nvSpPr>
          <p:cNvPr id="27" name="Text 25"/>
          <p:cNvSpPr/>
          <p:nvPr/>
        </p:nvSpPr>
        <p:spPr>
          <a:xfrm>
            <a:off x="3985855" y="5330190"/>
            <a:ext cx="2312075" cy="288965"/>
          </a:xfrm>
          <a:prstGeom prst="rect">
            <a:avLst/>
          </a:prstGeom>
          <a:noFill/>
        </p:spPr>
        <p:txBody>
          <a:bodyPr wrap="none" lIns="0" tIns="0" rIns="0" bIns="0" rtlCol="0" anchor="t"/>
          <a:lstStyle/>
          <a:p>
            <a:pPr marL="0" indent="0" algn="r">
              <a:lnSpc>
                <a:spcPts val="2250"/>
              </a:lnSpc>
              <a:buNone/>
            </a:pPr>
            <a:r>
              <a:rPr lang="en-US" sz="1800" b="1" dirty="0">
                <a:solidFill>
                  <a:srgbClr val="443728"/>
                </a:solidFill>
                <a:latin typeface="Crimson Pro" pitchFamily="34" charset="0"/>
                <a:ea typeface="Crimson Pro" pitchFamily="34" charset="-122"/>
                <a:cs typeface="Crimson Pro" pitchFamily="34" charset="-120"/>
              </a:rPr>
              <a:t>Challenges</a:t>
            </a:r>
            <a:endParaRPr lang="en-US" sz="1800" dirty="0"/>
          </a:p>
        </p:txBody>
      </p:sp>
      <p:sp>
        <p:nvSpPr>
          <p:cNvPr id="28" name="Text 26"/>
          <p:cNvSpPr/>
          <p:nvPr/>
        </p:nvSpPr>
        <p:spPr>
          <a:xfrm>
            <a:off x="647343" y="5730121"/>
            <a:ext cx="5650587" cy="591979"/>
          </a:xfrm>
          <a:prstGeom prst="rect">
            <a:avLst/>
          </a:prstGeom>
          <a:noFill/>
        </p:spPr>
        <p:txBody>
          <a:bodyPr wrap="square" lIns="0" tIns="0" rIns="0" bIns="0" rtlCol="0" anchor="t"/>
          <a:lstStyle/>
          <a:p>
            <a:pPr marL="0" indent="0" algn="r">
              <a:lnSpc>
                <a:spcPts val="2300"/>
              </a:lnSpc>
              <a:buNone/>
            </a:pPr>
            <a:r>
              <a:rPr lang="en-US" sz="1450" dirty="0">
                <a:solidFill>
                  <a:srgbClr val="443728"/>
                </a:solidFill>
                <a:latin typeface="Open Sans" pitchFamily="34" charset="0"/>
                <a:ea typeface="Open Sans" pitchFamily="34" charset="-122"/>
                <a:cs typeface="Open Sans" pitchFamily="34" charset="-120"/>
              </a:rPr>
              <a:t>Challenges include onboarding farmers, building a user base, and managing logistics and distribution.</a:t>
            </a:r>
            <a:endParaRPr lang="en-US" sz="1450" dirty="0"/>
          </a:p>
        </p:txBody>
      </p:sp>
      <p:sp>
        <p:nvSpPr>
          <p:cNvPr id="29" name="Shape 27"/>
          <p:cNvSpPr/>
          <p:nvPr/>
        </p:nvSpPr>
        <p:spPr>
          <a:xfrm>
            <a:off x="7500402" y="6471166"/>
            <a:ext cx="647343" cy="22860"/>
          </a:xfrm>
          <a:prstGeom prst="roundRect">
            <a:avLst>
              <a:gd name="adj" fmla="val 339834"/>
            </a:avLst>
          </a:prstGeom>
          <a:solidFill>
            <a:srgbClr val="D1C8C6"/>
          </a:solidFill>
        </p:spPr>
      </p:sp>
      <p:sp>
        <p:nvSpPr>
          <p:cNvPr id="30" name="Shape 28"/>
          <p:cNvSpPr/>
          <p:nvPr/>
        </p:nvSpPr>
        <p:spPr>
          <a:xfrm>
            <a:off x="7107138" y="6274594"/>
            <a:ext cx="416123" cy="416123"/>
          </a:xfrm>
          <a:prstGeom prst="roundRect">
            <a:avLst>
              <a:gd name="adj" fmla="val 18669"/>
            </a:avLst>
          </a:prstGeom>
          <a:solidFill>
            <a:srgbClr val="EBE2E0"/>
          </a:solidFill>
          <a:ln w="7620">
            <a:solidFill>
              <a:srgbClr val="D1C8C6"/>
            </a:solidFill>
            <a:prstDash val="solid"/>
          </a:ln>
        </p:spPr>
      </p:sp>
      <p:sp>
        <p:nvSpPr>
          <p:cNvPr id="31" name="Text 29"/>
          <p:cNvSpPr/>
          <p:nvPr/>
        </p:nvSpPr>
        <p:spPr>
          <a:xfrm>
            <a:off x="7239417" y="6343888"/>
            <a:ext cx="151448" cy="277416"/>
          </a:xfrm>
          <a:prstGeom prst="rect">
            <a:avLst/>
          </a:prstGeom>
          <a:noFill/>
        </p:spPr>
        <p:txBody>
          <a:bodyPr wrap="none" lIns="0" tIns="0" rIns="0" bIns="0" rtlCol="0" anchor="t"/>
          <a:lstStyle/>
          <a:p>
            <a:pPr marL="0" indent="0" algn="ctr">
              <a:lnSpc>
                <a:spcPts val="2150"/>
              </a:lnSpc>
              <a:buNone/>
            </a:pPr>
            <a:r>
              <a:rPr lang="en-US" sz="2150" b="1" dirty="0">
                <a:solidFill>
                  <a:srgbClr val="443728"/>
                </a:solidFill>
                <a:latin typeface="Crimson Pro" pitchFamily="34" charset="0"/>
                <a:ea typeface="Crimson Pro" pitchFamily="34" charset="-122"/>
                <a:cs typeface="Crimson Pro" pitchFamily="34" charset="-120"/>
              </a:rPr>
              <a:t>6</a:t>
            </a:r>
            <a:endParaRPr lang="en-US" sz="2150" dirty="0"/>
          </a:p>
        </p:txBody>
      </p:sp>
      <p:sp>
        <p:nvSpPr>
          <p:cNvPr id="32" name="Text 30"/>
          <p:cNvSpPr/>
          <p:nvPr/>
        </p:nvSpPr>
        <p:spPr>
          <a:xfrm>
            <a:off x="8332470" y="6251496"/>
            <a:ext cx="2312075" cy="288965"/>
          </a:xfrm>
          <a:prstGeom prst="rect">
            <a:avLst/>
          </a:prstGeom>
          <a:noFill/>
        </p:spPr>
        <p:txBody>
          <a:bodyPr wrap="none" lIns="0" tIns="0" rIns="0" bIns="0" rtlCol="0" anchor="t"/>
          <a:lstStyle/>
          <a:p>
            <a:pPr marL="0" indent="0" algn="l">
              <a:lnSpc>
                <a:spcPts val="2250"/>
              </a:lnSpc>
              <a:buNone/>
            </a:pPr>
            <a:r>
              <a:rPr lang="en-US" sz="1800" b="1" dirty="0">
                <a:solidFill>
                  <a:srgbClr val="443728"/>
                </a:solidFill>
                <a:latin typeface="Crimson Pro" pitchFamily="34" charset="0"/>
                <a:ea typeface="Crimson Pro" pitchFamily="34" charset="-122"/>
                <a:cs typeface="Crimson Pro" pitchFamily="34" charset="-120"/>
              </a:rPr>
              <a:t>Impact and Benefits</a:t>
            </a:r>
            <a:endParaRPr lang="en-US" sz="1800" dirty="0"/>
          </a:p>
        </p:txBody>
      </p:sp>
      <p:sp>
        <p:nvSpPr>
          <p:cNvPr id="33" name="Text 31"/>
          <p:cNvSpPr/>
          <p:nvPr/>
        </p:nvSpPr>
        <p:spPr>
          <a:xfrm>
            <a:off x="8332470" y="6651427"/>
            <a:ext cx="5650587" cy="887968"/>
          </a:xfrm>
          <a:prstGeom prst="rect">
            <a:avLst/>
          </a:prstGeom>
          <a:noFill/>
        </p:spPr>
        <p:txBody>
          <a:bodyPr wrap="square" lIns="0" tIns="0" rIns="0" bIns="0" rtlCol="0" anchor="t"/>
          <a:lstStyle/>
          <a:p>
            <a:pPr marL="0" indent="0" algn="l">
              <a:lnSpc>
                <a:spcPts val="2300"/>
              </a:lnSpc>
              <a:buNone/>
            </a:pPr>
            <a:r>
              <a:rPr lang="en-US" sz="1450" dirty="0">
                <a:solidFill>
                  <a:srgbClr val="443728"/>
                </a:solidFill>
                <a:latin typeface="Open Sans" pitchFamily="34" charset="0"/>
                <a:ea typeface="Open Sans" pitchFamily="34" charset="-122"/>
                <a:cs typeface="Open Sans" pitchFamily="34" charset="-120"/>
              </a:rPr>
              <a:t>Seed Sync will create a more equitable and sustainable agricultural ecosystem, benefiting farmers, consumers, and the environment.</a:t>
            </a:r>
            <a:endParaRPr lang="en-US" sz="1450" dirty="0"/>
          </a:p>
        </p:txBody>
      </p:sp>
      <p:sp>
        <p:nvSpPr>
          <p:cNvPr id="36" name="Text Box 35"/>
          <p:cNvSpPr txBox="1"/>
          <p:nvPr/>
        </p:nvSpPr>
        <p:spPr>
          <a:xfrm>
            <a:off x="12822555" y="7733665"/>
            <a:ext cx="1807845" cy="485775"/>
          </a:xfrm>
          <a:prstGeom prst="rect">
            <a:avLst/>
          </a:prstGeom>
          <a:solidFill>
            <a:schemeClr val="bg1"/>
          </a:solidFill>
        </p:spPr>
        <p:txBody>
          <a:bodyPr wrap="square" rtlCol="0">
            <a:noAutofit/>
          </a:bodyPr>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84515"/>
            <a:ext cx="5670590" cy="708779"/>
          </a:xfrm>
          <a:prstGeom prst="rect">
            <a:avLst/>
          </a:prstGeom>
          <a:noFill/>
        </p:spPr>
        <p:txBody>
          <a:bodyPr wrap="none" lIns="0" tIns="0" rIns="0" bIns="0" rtlCol="0" anchor="t"/>
          <a:lstStyle/>
          <a:p>
            <a:pPr marL="0" indent="0">
              <a:lnSpc>
                <a:spcPts val="5550"/>
              </a:lnSpc>
              <a:buNone/>
            </a:pPr>
            <a:r>
              <a:rPr lang="en-US" sz="4450" b="1" dirty="0">
                <a:solidFill>
                  <a:srgbClr val="443728"/>
                </a:solidFill>
                <a:latin typeface="Crimson Pro" pitchFamily="34" charset="0"/>
                <a:ea typeface="Crimson Pro" pitchFamily="34" charset="-122"/>
                <a:cs typeface="Crimson Pro" pitchFamily="34" charset="-120"/>
              </a:rPr>
              <a:t>Problem Statement</a:t>
            </a:r>
            <a:endParaRPr lang="en-US" sz="4450" dirty="0"/>
          </a:p>
        </p:txBody>
      </p:sp>
      <p:sp>
        <p:nvSpPr>
          <p:cNvPr id="4" name="Shape 1"/>
          <p:cNvSpPr/>
          <p:nvPr/>
        </p:nvSpPr>
        <p:spPr>
          <a:xfrm>
            <a:off x="793790" y="1933456"/>
            <a:ext cx="3664863" cy="3136702"/>
          </a:xfrm>
          <a:prstGeom prst="roundRect">
            <a:avLst>
              <a:gd name="adj" fmla="val 3037"/>
            </a:avLst>
          </a:prstGeom>
          <a:solidFill>
            <a:srgbClr val="EBE2E0"/>
          </a:solidFill>
          <a:ln w="7620">
            <a:solidFill>
              <a:srgbClr val="D1C8C6"/>
            </a:solidFill>
            <a:prstDash val="solid"/>
          </a:ln>
        </p:spPr>
      </p:sp>
      <p:sp>
        <p:nvSpPr>
          <p:cNvPr id="5" name="Text 2"/>
          <p:cNvSpPr/>
          <p:nvPr/>
        </p:nvSpPr>
        <p:spPr>
          <a:xfrm>
            <a:off x="1028224" y="2167890"/>
            <a:ext cx="2835235" cy="354330"/>
          </a:xfrm>
          <a:prstGeom prst="rect">
            <a:avLst/>
          </a:prstGeom>
          <a:noFill/>
        </p:spPr>
        <p:txBody>
          <a:bodyPr wrap="none" lIns="0" tIns="0" rIns="0" bIns="0" rtlCol="0" anchor="t"/>
          <a:lstStyle/>
          <a:p>
            <a:pPr marL="0" indent="0">
              <a:lnSpc>
                <a:spcPts val="2750"/>
              </a:lnSpc>
              <a:buNone/>
            </a:pPr>
            <a:r>
              <a:rPr lang="en-US" sz="2200" b="1" dirty="0">
                <a:solidFill>
                  <a:srgbClr val="443728"/>
                </a:solidFill>
                <a:latin typeface="Crimson Pro" pitchFamily="34" charset="0"/>
                <a:ea typeface="Crimson Pro" pitchFamily="34" charset="-122"/>
                <a:cs typeface="Crimson Pro" pitchFamily="34" charset="-120"/>
              </a:rPr>
              <a:t>Price Volatility</a:t>
            </a:r>
            <a:endParaRPr lang="en-US" sz="2200" dirty="0"/>
          </a:p>
        </p:txBody>
      </p:sp>
      <p:sp>
        <p:nvSpPr>
          <p:cNvPr id="6" name="Text 3"/>
          <p:cNvSpPr/>
          <p:nvPr/>
        </p:nvSpPr>
        <p:spPr>
          <a:xfrm>
            <a:off x="1028224" y="2658308"/>
            <a:ext cx="3195995" cy="1814513"/>
          </a:xfrm>
          <a:prstGeom prst="rect">
            <a:avLst/>
          </a:prstGeom>
          <a:noFill/>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Farmers often face unpredictable market prices, resulting in financial instability and difficulty in planning for the future.</a:t>
            </a:r>
            <a:endParaRPr lang="en-US" sz="1750" dirty="0"/>
          </a:p>
        </p:txBody>
      </p:sp>
      <p:sp>
        <p:nvSpPr>
          <p:cNvPr id="7" name="Shape 4"/>
          <p:cNvSpPr/>
          <p:nvPr/>
        </p:nvSpPr>
        <p:spPr>
          <a:xfrm>
            <a:off x="4685467" y="1933456"/>
            <a:ext cx="3664863" cy="3136702"/>
          </a:xfrm>
          <a:prstGeom prst="roundRect">
            <a:avLst>
              <a:gd name="adj" fmla="val 3037"/>
            </a:avLst>
          </a:prstGeom>
          <a:solidFill>
            <a:srgbClr val="EBE2E0"/>
          </a:solidFill>
          <a:ln w="7620">
            <a:solidFill>
              <a:srgbClr val="D1C8C6"/>
            </a:solidFill>
            <a:prstDash val="solid"/>
          </a:ln>
        </p:spPr>
      </p:sp>
      <p:sp>
        <p:nvSpPr>
          <p:cNvPr id="8" name="Text 5"/>
          <p:cNvSpPr/>
          <p:nvPr/>
        </p:nvSpPr>
        <p:spPr>
          <a:xfrm>
            <a:off x="4919901" y="2072005"/>
            <a:ext cx="2835235" cy="354330"/>
          </a:xfrm>
          <a:prstGeom prst="rect">
            <a:avLst/>
          </a:prstGeom>
          <a:noFill/>
        </p:spPr>
        <p:txBody>
          <a:bodyPr wrap="none" lIns="0" tIns="0" rIns="0" bIns="0" rtlCol="0" anchor="t"/>
          <a:lstStyle/>
          <a:p>
            <a:pPr marL="0" indent="0">
              <a:lnSpc>
                <a:spcPts val="2750"/>
              </a:lnSpc>
              <a:buNone/>
            </a:pPr>
            <a:r>
              <a:rPr lang="en-US" sz="2200" b="1" dirty="0">
                <a:solidFill>
                  <a:srgbClr val="443728"/>
                </a:solidFill>
                <a:latin typeface="Crimson Pro" pitchFamily="34" charset="0"/>
                <a:ea typeface="Crimson Pro" pitchFamily="34" charset="-122"/>
                <a:cs typeface="Crimson Pro" pitchFamily="34" charset="-120"/>
              </a:rPr>
              <a:t>Lack of Transparency</a:t>
            </a:r>
            <a:endParaRPr lang="en-US" sz="2200" dirty="0"/>
          </a:p>
        </p:txBody>
      </p:sp>
      <p:sp>
        <p:nvSpPr>
          <p:cNvPr id="9" name="Text 6"/>
          <p:cNvSpPr/>
          <p:nvPr/>
        </p:nvSpPr>
        <p:spPr>
          <a:xfrm>
            <a:off x="4919980" y="2492375"/>
            <a:ext cx="3195955" cy="2578100"/>
          </a:xfrm>
          <a:prstGeom prst="rect">
            <a:avLst/>
          </a:prstGeom>
          <a:noFill/>
        </p:spPr>
        <p:txBody>
          <a:bodyPr wrap="square" lIns="0" tIns="0" rIns="0" bIns="0" rtlCol="0" anchor="t"/>
          <a:lstStyle/>
          <a:p>
            <a:pPr marL="0" indent="0">
              <a:lnSpc>
                <a:spcPts val="2850"/>
              </a:lnSpc>
              <a:buNone/>
            </a:pPr>
            <a:r>
              <a:rPr lang="en-US" sz="1750" b="1" dirty="0">
                <a:solidFill>
                  <a:srgbClr val="443728"/>
                </a:solidFill>
                <a:latin typeface="Open Sans" pitchFamily="34" charset="0"/>
                <a:ea typeface="Open Sans" pitchFamily="34" charset="-122"/>
                <a:cs typeface="Open Sans" pitchFamily="34" charset="-120"/>
              </a:rPr>
              <a:t>Intermediaries often exploit farmers by paying them low prices while charging inflated prices to consumers, creating a lack of transparency in the supply chain.</a:t>
            </a:r>
            <a:endParaRPr lang="en-US" sz="1750" b="1" dirty="0"/>
          </a:p>
        </p:txBody>
      </p:sp>
      <p:sp>
        <p:nvSpPr>
          <p:cNvPr id="10" name="Shape 7"/>
          <p:cNvSpPr/>
          <p:nvPr/>
        </p:nvSpPr>
        <p:spPr>
          <a:xfrm>
            <a:off x="793790" y="5296972"/>
            <a:ext cx="7556421" cy="2047994"/>
          </a:xfrm>
          <a:prstGeom prst="roundRect">
            <a:avLst>
              <a:gd name="adj" fmla="val 4652"/>
            </a:avLst>
          </a:prstGeom>
          <a:solidFill>
            <a:srgbClr val="EBE2E0"/>
          </a:solidFill>
          <a:ln w="7620">
            <a:solidFill>
              <a:srgbClr val="D1C8C6"/>
            </a:solidFill>
            <a:prstDash val="solid"/>
          </a:ln>
        </p:spPr>
      </p:sp>
      <p:sp>
        <p:nvSpPr>
          <p:cNvPr id="11" name="Text 8"/>
          <p:cNvSpPr/>
          <p:nvPr/>
        </p:nvSpPr>
        <p:spPr>
          <a:xfrm>
            <a:off x="1028224" y="5531406"/>
            <a:ext cx="2835235" cy="354330"/>
          </a:xfrm>
          <a:prstGeom prst="rect">
            <a:avLst/>
          </a:prstGeom>
          <a:noFill/>
        </p:spPr>
        <p:txBody>
          <a:bodyPr wrap="none" lIns="0" tIns="0" rIns="0" bIns="0" rtlCol="0" anchor="t"/>
          <a:lstStyle/>
          <a:p>
            <a:pPr marL="0" indent="0">
              <a:lnSpc>
                <a:spcPts val="2750"/>
              </a:lnSpc>
              <a:buNone/>
            </a:pPr>
            <a:r>
              <a:rPr lang="en-US" sz="2200" b="1" dirty="0">
                <a:solidFill>
                  <a:srgbClr val="443728"/>
                </a:solidFill>
                <a:latin typeface="Crimson Pro" pitchFamily="34" charset="0"/>
                <a:ea typeface="Crimson Pro" pitchFamily="34" charset="-122"/>
                <a:cs typeface="Crimson Pro" pitchFamily="34" charset="-120"/>
              </a:rPr>
              <a:t>Limited Market Access</a:t>
            </a:r>
            <a:endParaRPr lang="en-US" sz="2200" dirty="0"/>
          </a:p>
        </p:txBody>
      </p:sp>
      <p:sp>
        <p:nvSpPr>
          <p:cNvPr id="12" name="Text 9"/>
          <p:cNvSpPr/>
          <p:nvPr/>
        </p:nvSpPr>
        <p:spPr>
          <a:xfrm>
            <a:off x="1028224" y="6021824"/>
            <a:ext cx="7087553" cy="1088708"/>
          </a:xfrm>
          <a:prstGeom prst="rect">
            <a:avLst/>
          </a:prstGeom>
          <a:noFill/>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Farmers have limited access to larger markets and often rely on local buyers, restricting their ability to reach a wider customer base and diversify their income.</a:t>
            </a:r>
            <a:endParaRPr lang="en-US" sz="1750" dirty="0"/>
          </a:p>
        </p:txBody>
      </p:sp>
      <p:sp>
        <p:nvSpPr>
          <p:cNvPr id="13" name="Text Box 12"/>
          <p:cNvSpPr txBox="1"/>
          <p:nvPr/>
        </p:nvSpPr>
        <p:spPr>
          <a:xfrm>
            <a:off x="12822555" y="7733665"/>
            <a:ext cx="1807845" cy="485775"/>
          </a:xfrm>
          <a:prstGeom prst="rect">
            <a:avLst/>
          </a:prstGeom>
          <a:noFill/>
        </p:spPr>
        <p:txBody>
          <a:bodyPr wrap="square" rtlCol="0">
            <a:noAutofit/>
          </a:bodyPr>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02680" y="890707"/>
            <a:ext cx="5116354" cy="639485"/>
          </a:xfrm>
          <a:prstGeom prst="rect">
            <a:avLst/>
          </a:prstGeom>
          <a:noFill/>
        </p:spPr>
        <p:txBody>
          <a:bodyPr wrap="none" lIns="0" tIns="0" rIns="0" bIns="0" rtlCol="0" anchor="t"/>
          <a:lstStyle/>
          <a:p>
            <a:pPr marL="0" indent="0">
              <a:lnSpc>
                <a:spcPts val="5000"/>
              </a:lnSpc>
              <a:buNone/>
            </a:pPr>
            <a:r>
              <a:rPr lang="en-US" sz="4000" b="1" dirty="0">
                <a:solidFill>
                  <a:srgbClr val="443728"/>
                </a:solidFill>
                <a:latin typeface="Crimson Pro" pitchFamily="34" charset="0"/>
                <a:ea typeface="Crimson Pro" pitchFamily="34" charset="-122"/>
                <a:cs typeface="Crimson Pro" pitchFamily="34" charset="-120"/>
              </a:rPr>
              <a:t>Proposed Solution</a:t>
            </a:r>
            <a:endParaRPr lang="en-US" sz="4000" dirty="0"/>
          </a:p>
        </p:txBody>
      </p:sp>
      <p:pic>
        <p:nvPicPr>
          <p:cNvPr id="4" name="Image 1" descr="preencoded.png"/>
          <p:cNvPicPr>
            <a:picLocks noChangeAspect="1"/>
          </p:cNvPicPr>
          <p:nvPr/>
        </p:nvPicPr>
        <p:blipFill>
          <a:blip r:embed="rId2"/>
          <a:stretch>
            <a:fillRect/>
          </a:stretch>
        </p:blipFill>
        <p:spPr>
          <a:xfrm>
            <a:off x="6202680" y="1837134"/>
            <a:ext cx="1023223" cy="1833920"/>
          </a:xfrm>
          <a:prstGeom prst="rect">
            <a:avLst/>
          </a:prstGeom>
        </p:spPr>
      </p:pic>
      <p:sp>
        <p:nvSpPr>
          <p:cNvPr id="5" name="Text 1"/>
          <p:cNvSpPr/>
          <p:nvPr/>
        </p:nvSpPr>
        <p:spPr>
          <a:xfrm>
            <a:off x="7532846" y="2041684"/>
            <a:ext cx="2558177" cy="319802"/>
          </a:xfrm>
          <a:prstGeom prst="rect">
            <a:avLst/>
          </a:prstGeom>
          <a:noFill/>
        </p:spPr>
        <p:txBody>
          <a:bodyPr wrap="none" lIns="0" tIns="0" rIns="0" bIns="0" rtlCol="0" anchor="t"/>
          <a:lstStyle/>
          <a:p>
            <a:pPr marL="0" indent="0" algn="l">
              <a:lnSpc>
                <a:spcPts val="2500"/>
              </a:lnSpc>
              <a:buNone/>
            </a:pPr>
            <a:r>
              <a:rPr lang="en-US" sz="2000" b="1" dirty="0">
                <a:solidFill>
                  <a:srgbClr val="443728"/>
                </a:solidFill>
                <a:latin typeface="Crimson Pro" pitchFamily="34" charset="0"/>
                <a:ea typeface="Crimson Pro" pitchFamily="34" charset="-122"/>
                <a:cs typeface="Crimson Pro" pitchFamily="34" charset="-120"/>
              </a:rPr>
              <a:t>Direct Market Access</a:t>
            </a:r>
            <a:endParaRPr lang="en-US" sz="2000" dirty="0"/>
          </a:p>
        </p:txBody>
      </p:sp>
      <p:sp>
        <p:nvSpPr>
          <p:cNvPr id="6" name="Text 2"/>
          <p:cNvSpPr/>
          <p:nvPr/>
        </p:nvSpPr>
        <p:spPr>
          <a:xfrm>
            <a:off x="7532846" y="2484239"/>
            <a:ext cx="6381274" cy="982266"/>
          </a:xfrm>
          <a:prstGeom prst="rect">
            <a:avLst/>
          </a:prstGeom>
          <a:noFill/>
        </p:spPr>
        <p:txBody>
          <a:bodyPr wrap="squar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Seed Sync will allow farmers to directly sell their produce to consumers and retailers, bypassing intermediaries and eliminating price markups.</a:t>
            </a:r>
            <a:endParaRPr lang="en-US" sz="1600" dirty="0"/>
          </a:p>
        </p:txBody>
      </p:sp>
      <p:pic>
        <p:nvPicPr>
          <p:cNvPr id="7" name="Image 2" descr="preencoded.png"/>
          <p:cNvPicPr>
            <a:picLocks noChangeAspect="1"/>
          </p:cNvPicPr>
          <p:nvPr/>
        </p:nvPicPr>
        <p:blipFill>
          <a:blip r:embed="rId3"/>
          <a:stretch>
            <a:fillRect/>
          </a:stretch>
        </p:blipFill>
        <p:spPr>
          <a:xfrm>
            <a:off x="6202680" y="3671054"/>
            <a:ext cx="1023223" cy="1833920"/>
          </a:xfrm>
          <a:prstGeom prst="rect">
            <a:avLst/>
          </a:prstGeom>
        </p:spPr>
      </p:pic>
      <p:sp>
        <p:nvSpPr>
          <p:cNvPr id="8" name="Text 3"/>
          <p:cNvSpPr/>
          <p:nvPr/>
        </p:nvSpPr>
        <p:spPr>
          <a:xfrm>
            <a:off x="7532846" y="3875603"/>
            <a:ext cx="3308747" cy="319802"/>
          </a:xfrm>
          <a:prstGeom prst="rect">
            <a:avLst/>
          </a:prstGeom>
          <a:noFill/>
        </p:spPr>
        <p:txBody>
          <a:bodyPr wrap="none" lIns="0" tIns="0" rIns="0" bIns="0" rtlCol="0" anchor="t"/>
          <a:lstStyle/>
          <a:p>
            <a:pPr marL="0" indent="0" algn="l">
              <a:lnSpc>
                <a:spcPts val="2500"/>
              </a:lnSpc>
              <a:buNone/>
            </a:pPr>
            <a:r>
              <a:rPr lang="en-US" sz="2000" b="1" dirty="0">
                <a:solidFill>
                  <a:srgbClr val="443728"/>
                </a:solidFill>
                <a:latin typeface="Crimson Pro" pitchFamily="34" charset="0"/>
                <a:ea typeface="Crimson Pro" pitchFamily="34" charset="-122"/>
                <a:cs typeface="Crimson Pro" pitchFamily="34" charset="-120"/>
              </a:rPr>
              <a:t>Transparency and Traceability</a:t>
            </a:r>
            <a:endParaRPr lang="en-US" sz="2000" dirty="0"/>
          </a:p>
        </p:txBody>
      </p:sp>
      <p:sp>
        <p:nvSpPr>
          <p:cNvPr id="9" name="Text 4"/>
          <p:cNvSpPr/>
          <p:nvPr/>
        </p:nvSpPr>
        <p:spPr>
          <a:xfrm>
            <a:off x="7532846" y="4318159"/>
            <a:ext cx="6381274" cy="982266"/>
          </a:xfrm>
          <a:prstGeom prst="rect">
            <a:avLst/>
          </a:prstGeom>
          <a:noFill/>
        </p:spPr>
        <p:txBody>
          <a:bodyPr wrap="squar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The platform will provide real-time information on market prices, product origin, and supply chain details, ensuring transparency and traceability for all stakeholders.</a:t>
            </a:r>
            <a:endParaRPr lang="en-US" sz="1600" dirty="0"/>
          </a:p>
        </p:txBody>
      </p:sp>
      <p:pic>
        <p:nvPicPr>
          <p:cNvPr id="10" name="Image 3" descr="preencoded.png"/>
          <p:cNvPicPr>
            <a:picLocks noChangeAspect="1"/>
          </p:cNvPicPr>
          <p:nvPr/>
        </p:nvPicPr>
        <p:blipFill>
          <a:blip r:embed="rId4"/>
          <a:stretch>
            <a:fillRect/>
          </a:stretch>
        </p:blipFill>
        <p:spPr>
          <a:xfrm>
            <a:off x="6202680" y="5504974"/>
            <a:ext cx="1023223" cy="1833920"/>
          </a:xfrm>
          <a:prstGeom prst="rect">
            <a:avLst/>
          </a:prstGeom>
        </p:spPr>
      </p:pic>
      <p:sp>
        <p:nvSpPr>
          <p:cNvPr id="11" name="Text 5"/>
          <p:cNvSpPr/>
          <p:nvPr/>
        </p:nvSpPr>
        <p:spPr>
          <a:xfrm>
            <a:off x="7532846" y="5709523"/>
            <a:ext cx="2558177" cy="319802"/>
          </a:xfrm>
          <a:prstGeom prst="rect">
            <a:avLst/>
          </a:prstGeom>
          <a:noFill/>
        </p:spPr>
        <p:txBody>
          <a:bodyPr wrap="none" lIns="0" tIns="0" rIns="0" bIns="0" rtlCol="0" anchor="t"/>
          <a:lstStyle/>
          <a:p>
            <a:pPr marL="0" indent="0" algn="l">
              <a:lnSpc>
                <a:spcPts val="2500"/>
              </a:lnSpc>
              <a:buNone/>
            </a:pPr>
            <a:r>
              <a:rPr lang="en-US" sz="2000" b="1" dirty="0">
                <a:solidFill>
                  <a:srgbClr val="443728"/>
                </a:solidFill>
                <a:latin typeface="Crimson Pro" pitchFamily="34" charset="0"/>
                <a:ea typeface="Crimson Pro" pitchFamily="34" charset="-122"/>
                <a:cs typeface="Crimson Pro" pitchFamily="34" charset="-120"/>
              </a:rPr>
              <a:t>Community Building</a:t>
            </a:r>
            <a:endParaRPr lang="en-US" sz="2000" dirty="0"/>
          </a:p>
        </p:txBody>
      </p:sp>
      <p:sp>
        <p:nvSpPr>
          <p:cNvPr id="12" name="Text 6"/>
          <p:cNvSpPr/>
          <p:nvPr/>
        </p:nvSpPr>
        <p:spPr>
          <a:xfrm>
            <a:off x="7532846" y="6152078"/>
            <a:ext cx="6381274" cy="982266"/>
          </a:xfrm>
          <a:prstGeom prst="rect">
            <a:avLst/>
          </a:prstGeom>
          <a:noFill/>
        </p:spPr>
        <p:txBody>
          <a:bodyPr wrap="squar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Seed Sync will facilitate communication and collaboration between farmers, consumers, and retailers, fostering a sense of community and supporting sustainable practices.</a:t>
            </a:r>
            <a:endParaRPr lang="en-US" sz="1600" dirty="0"/>
          </a:p>
        </p:txBody>
      </p:sp>
      <p:sp>
        <p:nvSpPr>
          <p:cNvPr id="13" name="Text Box 12"/>
          <p:cNvSpPr txBox="1"/>
          <p:nvPr/>
        </p:nvSpPr>
        <p:spPr>
          <a:xfrm>
            <a:off x="12822555" y="7733665"/>
            <a:ext cx="1807845" cy="485775"/>
          </a:xfrm>
          <a:prstGeom prst="rect">
            <a:avLst/>
          </a:prstGeom>
          <a:solidFill>
            <a:schemeClr val="bg1"/>
          </a:solidFill>
        </p:spPr>
        <p:txBody>
          <a:bodyPr wrap="square" rtlCol="0">
            <a:noAutofit/>
          </a:bodyPr>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11925"/>
            <a:ext cx="5670590" cy="708779"/>
          </a:xfrm>
          <a:prstGeom prst="rect">
            <a:avLst/>
          </a:prstGeom>
          <a:noFill/>
        </p:spPr>
        <p:txBody>
          <a:bodyPr wrap="none" lIns="0" tIns="0" rIns="0" bIns="0" rtlCol="0" anchor="t"/>
          <a:lstStyle/>
          <a:p>
            <a:pPr marL="0" indent="0">
              <a:lnSpc>
                <a:spcPts val="5550"/>
              </a:lnSpc>
              <a:buNone/>
            </a:pPr>
            <a:r>
              <a:rPr lang="en-US" sz="4450" b="1" dirty="0">
                <a:solidFill>
                  <a:srgbClr val="443728"/>
                </a:solidFill>
                <a:latin typeface="Crimson Pro" pitchFamily="34" charset="0"/>
                <a:ea typeface="Crimson Pro" pitchFamily="34" charset="-122"/>
                <a:cs typeface="Crimson Pro" pitchFamily="34" charset="-120"/>
              </a:rPr>
              <a:t>Technology Stack</a:t>
            </a:r>
            <a:endParaRPr lang="en-US" sz="4450" dirty="0"/>
          </a:p>
        </p:txBody>
      </p:sp>
      <p:pic>
        <p:nvPicPr>
          <p:cNvPr id="3" name="Image 0" descr="preencoded.png"/>
          <p:cNvPicPr>
            <a:picLocks noChangeAspect="1"/>
          </p:cNvPicPr>
          <p:nvPr/>
        </p:nvPicPr>
        <p:blipFill>
          <a:blip r:embed="rId1"/>
          <a:stretch>
            <a:fillRect/>
          </a:stretch>
        </p:blipFill>
        <p:spPr>
          <a:xfrm>
            <a:off x="793790" y="2274332"/>
            <a:ext cx="4120753" cy="2546747"/>
          </a:xfrm>
          <a:prstGeom prst="rect">
            <a:avLst/>
          </a:prstGeom>
        </p:spPr>
      </p:pic>
      <p:sp>
        <p:nvSpPr>
          <p:cNvPr id="4" name="Text 1"/>
          <p:cNvSpPr/>
          <p:nvPr/>
        </p:nvSpPr>
        <p:spPr>
          <a:xfrm>
            <a:off x="793790" y="5104567"/>
            <a:ext cx="3402330" cy="425291"/>
          </a:xfrm>
          <a:prstGeom prst="rect">
            <a:avLst/>
          </a:prstGeom>
          <a:noFill/>
        </p:spPr>
        <p:txBody>
          <a:bodyPr wrap="none" lIns="0" tIns="0" rIns="0" bIns="0" rtlCol="0" anchor="t"/>
          <a:lstStyle/>
          <a:p>
            <a:pPr marL="0" indent="0" algn="l">
              <a:lnSpc>
                <a:spcPts val="3300"/>
              </a:lnSpc>
              <a:buNone/>
            </a:pPr>
            <a:r>
              <a:rPr lang="en-US" sz="2650" b="1" dirty="0">
                <a:solidFill>
                  <a:srgbClr val="443728"/>
                </a:solidFill>
                <a:latin typeface="Crimson Pro" pitchFamily="34" charset="0"/>
                <a:ea typeface="Crimson Pro" pitchFamily="34" charset="-122"/>
                <a:cs typeface="Crimson Pro" pitchFamily="34" charset="-120"/>
              </a:rPr>
              <a:t>Mobile Application</a:t>
            </a:r>
            <a:endParaRPr lang="en-US" sz="2650" dirty="0"/>
          </a:p>
        </p:txBody>
      </p:sp>
      <p:sp>
        <p:nvSpPr>
          <p:cNvPr id="5" name="Text 2"/>
          <p:cNvSpPr/>
          <p:nvPr/>
        </p:nvSpPr>
        <p:spPr>
          <a:xfrm>
            <a:off x="793790" y="5665946"/>
            <a:ext cx="4120753" cy="1088708"/>
          </a:xfrm>
          <a:prstGeom prst="rect">
            <a:avLst/>
          </a:prstGeom>
          <a:noFill/>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Seed Sync will be a user-friendly mobile application available for both Android and iOS platforms.</a:t>
            </a:r>
            <a:endParaRPr lang="en-US" sz="1750" dirty="0"/>
          </a:p>
        </p:txBody>
      </p:sp>
      <p:pic>
        <p:nvPicPr>
          <p:cNvPr id="6" name="Image 1" descr="preencoded.png"/>
          <p:cNvPicPr>
            <a:picLocks noChangeAspect="1"/>
          </p:cNvPicPr>
          <p:nvPr/>
        </p:nvPicPr>
        <p:blipFill>
          <a:blip r:embed="rId2"/>
          <a:stretch>
            <a:fillRect/>
          </a:stretch>
        </p:blipFill>
        <p:spPr>
          <a:xfrm>
            <a:off x="5254704" y="2274332"/>
            <a:ext cx="4120872" cy="2546866"/>
          </a:xfrm>
          <a:prstGeom prst="rect">
            <a:avLst/>
          </a:prstGeom>
        </p:spPr>
      </p:pic>
      <p:sp>
        <p:nvSpPr>
          <p:cNvPr id="7" name="Text 3"/>
          <p:cNvSpPr/>
          <p:nvPr/>
        </p:nvSpPr>
        <p:spPr>
          <a:xfrm>
            <a:off x="5254704" y="5104686"/>
            <a:ext cx="3402330" cy="425291"/>
          </a:xfrm>
          <a:prstGeom prst="rect">
            <a:avLst/>
          </a:prstGeom>
          <a:noFill/>
        </p:spPr>
        <p:txBody>
          <a:bodyPr wrap="none" lIns="0" tIns="0" rIns="0" bIns="0" rtlCol="0" anchor="t"/>
          <a:lstStyle/>
          <a:p>
            <a:pPr marL="0" indent="0" algn="l">
              <a:lnSpc>
                <a:spcPts val="3300"/>
              </a:lnSpc>
              <a:buNone/>
            </a:pPr>
            <a:r>
              <a:rPr lang="en-US" sz="2650" b="1" dirty="0">
                <a:solidFill>
                  <a:srgbClr val="443728"/>
                </a:solidFill>
                <a:latin typeface="Crimson Pro" pitchFamily="34" charset="0"/>
                <a:ea typeface="Crimson Pro" pitchFamily="34" charset="-122"/>
                <a:cs typeface="Crimson Pro" pitchFamily="34" charset="-120"/>
              </a:rPr>
              <a:t>Geolocation Services</a:t>
            </a:r>
            <a:endParaRPr lang="en-US" sz="2650" dirty="0"/>
          </a:p>
        </p:txBody>
      </p:sp>
      <p:sp>
        <p:nvSpPr>
          <p:cNvPr id="8" name="Text 4"/>
          <p:cNvSpPr/>
          <p:nvPr/>
        </p:nvSpPr>
        <p:spPr>
          <a:xfrm>
            <a:off x="5254704" y="5666065"/>
            <a:ext cx="4120872" cy="1088708"/>
          </a:xfrm>
          <a:prstGeom prst="rect">
            <a:avLst/>
          </a:prstGeom>
          <a:noFill/>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The app will utilize GPS and location-based services to connect farmers with nearby consumers and retailers.</a:t>
            </a:r>
            <a:endParaRPr lang="en-US" sz="1750" dirty="0"/>
          </a:p>
        </p:txBody>
      </p:sp>
      <p:pic>
        <p:nvPicPr>
          <p:cNvPr id="9" name="Image 2" descr="preencoded.png"/>
          <p:cNvPicPr>
            <a:picLocks noChangeAspect="1"/>
          </p:cNvPicPr>
          <p:nvPr/>
        </p:nvPicPr>
        <p:blipFill>
          <a:blip r:embed="rId3"/>
          <a:stretch>
            <a:fillRect/>
          </a:stretch>
        </p:blipFill>
        <p:spPr>
          <a:xfrm>
            <a:off x="9715738" y="2274332"/>
            <a:ext cx="4120753" cy="2546747"/>
          </a:xfrm>
          <a:prstGeom prst="rect">
            <a:avLst/>
          </a:prstGeom>
        </p:spPr>
      </p:pic>
      <p:sp>
        <p:nvSpPr>
          <p:cNvPr id="10" name="Text 5"/>
          <p:cNvSpPr/>
          <p:nvPr/>
        </p:nvSpPr>
        <p:spPr>
          <a:xfrm>
            <a:off x="9715738" y="5104567"/>
            <a:ext cx="3402330" cy="425291"/>
          </a:xfrm>
          <a:prstGeom prst="rect">
            <a:avLst/>
          </a:prstGeom>
          <a:noFill/>
        </p:spPr>
        <p:txBody>
          <a:bodyPr wrap="none" lIns="0" tIns="0" rIns="0" bIns="0" rtlCol="0" anchor="t"/>
          <a:lstStyle/>
          <a:p>
            <a:pPr marL="0" indent="0" algn="l">
              <a:lnSpc>
                <a:spcPts val="3300"/>
              </a:lnSpc>
              <a:buNone/>
            </a:pPr>
            <a:r>
              <a:rPr lang="en-US" sz="2650" b="1" dirty="0">
                <a:solidFill>
                  <a:srgbClr val="443728"/>
                </a:solidFill>
                <a:latin typeface="Crimson Pro" pitchFamily="34" charset="0"/>
                <a:ea typeface="Crimson Pro" pitchFamily="34" charset="-122"/>
                <a:cs typeface="Crimson Pro" pitchFamily="34" charset="-120"/>
              </a:rPr>
              <a:t>Payment Gateway</a:t>
            </a:r>
            <a:endParaRPr lang="en-US" sz="2650" dirty="0"/>
          </a:p>
        </p:txBody>
      </p:sp>
      <p:sp>
        <p:nvSpPr>
          <p:cNvPr id="11" name="Text 6"/>
          <p:cNvSpPr/>
          <p:nvPr/>
        </p:nvSpPr>
        <p:spPr>
          <a:xfrm>
            <a:off x="9715738" y="5665946"/>
            <a:ext cx="4120753" cy="1451610"/>
          </a:xfrm>
          <a:prstGeom prst="rect">
            <a:avLst/>
          </a:prstGeom>
          <a:noFill/>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Seed Sync will integrate with secure payment gateways to facilitate online transactions between farmers and buyers.</a:t>
            </a:r>
            <a:endParaRPr lang="en-US" sz="1750" dirty="0"/>
          </a:p>
        </p:txBody>
      </p:sp>
      <p:sp>
        <p:nvSpPr>
          <p:cNvPr id="13" name="Text Box 12"/>
          <p:cNvSpPr txBox="1"/>
          <p:nvPr/>
        </p:nvSpPr>
        <p:spPr>
          <a:xfrm>
            <a:off x="12822555" y="7733665"/>
            <a:ext cx="1807845" cy="485775"/>
          </a:xfrm>
          <a:prstGeom prst="rect">
            <a:avLst/>
          </a:prstGeom>
          <a:solidFill>
            <a:schemeClr val="bg1"/>
          </a:solidFill>
        </p:spPr>
        <p:txBody>
          <a:bodyPr wrap="square" rtlCol="0">
            <a:noAutofit/>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30314"/>
          </a:xfrm>
          <a:prstGeom prst="rect">
            <a:avLst/>
          </a:prstGeom>
        </p:spPr>
      </p:pic>
      <p:sp>
        <p:nvSpPr>
          <p:cNvPr id="3" name="Text 0"/>
          <p:cNvSpPr/>
          <p:nvPr/>
        </p:nvSpPr>
        <p:spPr>
          <a:xfrm>
            <a:off x="6224826" y="580192"/>
            <a:ext cx="5275064" cy="659368"/>
          </a:xfrm>
          <a:prstGeom prst="rect">
            <a:avLst/>
          </a:prstGeom>
          <a:noFill/>
        </p:spPr>
        <p:txBody>
          <a:bodyPr wrap="none" lIns="0" tIns="0" rIns="0" bIns="0" rtlCol="0" anchor="t"/>
          <a:lstStyle/>
          <a:p>
            <a:pPr marL="0" indent="0">
              <a:lnSpc>
                <a:spcPts val="5150"/>
              </a:lnSpc>
              <a:buNone/>
            </a:pPr>
            <a:r>
              <a:rPr lang="en-US" sz="4150" b="1" dirty="0">
                <a:solidFill>
                  <a:srgbClr val="443728"/>
                </a:solidFill>
                <a:latin typeface="Crimson Pro" pitchFamily="34" charset="0"/>
                <a:ea typeface="Crimson Pro" pitchFamily="34" charset="-122"/>
                <a:cs typeface="Crimson Pro" pitchFamily="34" charset="-120"/>
              </a:rPr>
              <a:t>Feasibility and Viability</a:t>
            </a:r>
            <a:endParaRPr lang="en-US" sz="4150" dirty="0"/>
          </a:p>
        </p:txBody>
      </p:sp>
      <p:sp>
        <p:nvSpPr>
          <p:cNvPr id="4" name="Shape 1"/>
          <p:cNvSpPr/>
          <p:nvPr/>
        </p:nvSpPr>
        <p:spPr>
          <a:xfrm>
            <a:off x="6529864" y="1556028"/>
            <a:ext cx="22860" cy="6094095"/>
          </a:xfrm>
          <a:prstGeom prst="roundRect">
            <a:avLst>
              <a:gd name="adj" fmla="val 387669"/>
            </a:avLst>
          </a:prstGeom>
          <a:solidFill>
            <a:srgbClr val="D1C8C6"/>
          </a:solidFill>
        </p:spPr>
      </p:sp>
      <p:sp>
        <p:nvSpPr>
          <p:cNvPr id="5" name="Shape 2"/>
          <p:cNvSpPr/>
          <p:nvPr/>
        </p:nvSpPr>
        <p:spPr>
          <a:xfrm>
            <a:off x="6755785" y="2019181"/>
            <a:ext cx="738426" cy="22860"/>
          </a:xfrm>
          <a:prstGeom prst="roundRect">
            <a:avLst>
              <a:gd name="adj" fmla="val 387669"/>
            </a:avLst>
          </a:prstGeom>
          <a:solidFill>
            <a:srgbClr val="D1C8C6"/>
          </a:solidFill>
        </p:spPr>
      </p:sp>
      <p:sp>
        <p:nvSpPr>
          <p:cNvPr id="6" name="Shape 3"/>
          <p:cNvSpPr/>
          <p:nvPr/>
        </p:nvSpPr>
        <p:spPr>
          <a:xfrm>
            <a:off x="6303943" y="1793319"/>
            <a:ext cx="474702" cy="474702"/>
          </a:xfrm>
          <a:prstGeom prst="roundRect">
            <a:avLst>
              <a:gd name="adj" fmla="val 18669"/>
            </a:avLst>
          </a:prstGeom>
          <a:solidFill>
            <a:srgbClr val="EBE2E0"/>
          </a:solidFill>
          <a:ln w="7620">
            <a:solidFill>
              <a:srgbClr val="D1C8C6"/>
            </a:solidFill>
            <a:prstDash val="solid"/>
          </a:ln>
        </p:spPr>
      </p:sp>
      <p:sp>
        <p:nvSpPr>
          <p:cNvPr id="7" name="Text 4"/>
          <p:cNvSpPr/>
          <p:nvPr/>
        </p:nvSpPr>
        <p:spPr>
          <a:xfrm>
            <a:off x="6482060" y="1872377"/>
            <a:ext cx="118348" cy="316468"/>
          </a:xfrm>
          <a:prstGeom prst="rect">
            <a:avLst/>
          </a:prstGeom>
          <a:noFill/>
        </p:spPr>
        <p:txBody>
          <a:bodyPr wrap="none" lIns="0" tIns="0" rIns="0" bIns="0" rtlCol="0" anchor="t"/>
          <a:lstStyle/>
          <a:p>
            <a:pPr marL="0" indent="0" algn="ctr">
              <a:lnSpc>
                <a:spcPts val="2450"/>
              </a:lnSpc>
              <a:buNone/>
            </a:pPr>
            <a:r>
              <a:rPr lang="en-US" sz="2450" b="1" dirty="0">
                <a:solidFill>
                  <a:srgbClr val="443728"/>
                </a:solidFill>
                <a:latin typeface="Crimson Pro" pitchFamily="34" charset="0"/>
                <a:ea typeface="Crimson Pro" pitchFamily="34" charset="-122"/>
                <a:cs typeface="Crimson Pro" pitchFamily="34" charset="-120"/>
              </a:rPr>
              <a:t>1</a:t>
            </a:r>
            <a:endParaRPr lang="en-US" sz="2450" dirty="0"/>
          </a:p>
        </p:txBody>
      </p:sp>
      <p:sp>
        <p:nvSpPr>
          <p:cNvPr id="8" name="Text 5"/>
          <p:cNvSpPr/>
          <p:nvPr/>
        </p:nvSpPr>
        <p:spPr>
          <a:xfrm>
            <a:off x="7701796" y="1767007"/>
            <a:ext cx="2637473" cy="329565"/>
          </a:xfrm>
          <a:prstGeom prst="rect">
            <a:avLst/>
          </a:prstGeom>
          <a:noFill/>
        </p:spPr>
        <p:txBody>
          <a:bodyPr wrap="none" lIns="0" tIns="0" rIns="0" bIns="0" rtlCol="0" anchor="t"/>
          <a:lstStyle/>
          <a:p>
            <a:pPr marL="0" indent="0" algn="l">
              <a:lnSpc>
                <a:spcPts val="2550"/>
              </a:lnSpc>
              <a:buNone/>
            </a:pPr>
            <a:r>
              <a:rPr lang="en-US" sz="2050" b="1" dirty="0">
                <a:solidFill>
                  <a:srgbClr val="443728"/>
                </a:solidFill>
                <a:latin typeface="Crimson Pro" pitchFamily="34" charset="0"/>
                <a:ea typeface="Crimson Pro" pitchFamily="34" charset="-122"/>
                <a:cs typeface="Crimson Pro" pitchFamily="34" charset="-120"/>
              </a:rPr>
              <a:t>Growing Demand</a:t>
            </a:r>
            <a:endParaRPr lang="en-US" sz="2050" dirty="0"/>
          </a:p>
        </p:txBody>
      </p:sp>
      <p:sp>
        <p:nvSpPr>
          <p:cNvPr id="9" name="Text 6"/>
          <p:cNvSpPr/>
          <p:nvPr/>
        </p:nvSpPr>
        <p:spPr>
          <a:xfrm>
            <a:off x="7701796" y="2223135"/>
            <a:ext cx="6190178" cy="1012627"/>
          </a:xfrm>
          <a:prstGeom prst="rect">
            <a:avLst/>
          </a:prstGeom>
          <a:noFill/>
        </p:spPr>
        <p:txBody>
          <a:bodyPr wrap="square" lIns="0" tIns="0" rIns="0" bIns="0" rtlCol="0" anchor="t"/>
          <a:lstStyle/>
          <a:p>
            <a:pPr marL="0" indent="0" algn="l">
              <a:lnSpc>
                <a:spcPts val="2650"/>
              </a:lnSpc>
              <a:buNone/>
            </a:pPr>
            <a:r>
              <a:rPr lang="en-US" sz="1650" dirty="0">
                <a:solidFill>
                  <a:srgbClr val="443728"/>
                </a:solidFill>
                <a:latin typeface="Open Sans" pitchFamily="34" charset="0"/>
                <a:ea typeface="Open Sans" pitchFamily="34" charset="-122"/>
                <a:cs typeface="Open Sans" pitchFamily="34" charset="-120"/>
              </a:rPr>
              <a:t>The demand for direct-to-consumer agriculture is increasing as consumers seek fresh, locally sourced products and greater transparency in the food system.</a:t>
            </a:r>
            <a:endParaRPr lang="en-US" sz="1650" dirty="0"/>
          </a:p>
        </p:txBody>
      </p:sp>
      <p:sp>
        <p:nvSpPr>
          <p:cNvPr id="10" name="Shape 7"/>
          <p:cNvSpPr/>
          <p:nvPr/>
        </p:nvSpPr>
        <p:spPr>
          <a:xfrm>
            <a:off x="6755785" y="4120872"/>
            <a:ext cx="738426" cy="22860"/>
          </a:xfrm>
          <a:prstGeom prst="roundRect">
            <a:avLst>
              <a:gd name="adj" fmla="val 387669"/>
            </a:avLst>
          </a:prstGeom>
          <a:solidFill>
            <a:srgbClr val="D1C8C6"/>
          </a:solidFill>
        </p:spPr>
      </p:sp>
      <p:sp>
        <p:nvSpPr>
          <p:cNvPr id="11" name="Shape 8"/>
          <p:cNvSpPr/>
          <p:nvPr/>
        </p:nvSpPr>
        <p:spPr>
          <a:xfrm>
            <a:off x="6303943" y="3895011"/>
            <a:ext cx="474702" cy="474702"/>
          </a:xfrm>
          <a:prstGeom prst="roundRect">
            <a:avLst>
              <a:gd name="adj" fmla="val 18669"/>
            </a:avLst>
          </a:prstGeom>
          <a:solidFill>
            <a:srgbClr val="EBE2E0"/>
          </a:solidFill>
          <a:ln w="7620">
            <a:solidFill>
              <a:srgbClr val="D1C8C6"/>
            </a:solidFill>
            <a:prstDash val="solid"/>
          </a:ln>
        </p:spPr>
      </p:sp>
      <p:sp>
        <p:nvSpPr>
          <p:cNvPr id="12" name="Text 9"/>
          <p:cNvSpPr/>
          <p:nvPr/>
        </p:nvSpPr>
        <p:spPr>
          <a:xfrm>
            <a:off x="6460629" y="3974068"/>
            <a:ext cx="161330" cy="316468"/>
          </a:xfrm>
          <a:prstGeom prst="rect">
            <a:avLst/>
          </a:prstGeom>
          <a:noFill/>
        </p:spPr>
        <p:txBody>
          <a:bodyPr wrap="none" lIns="0" tIns="0" rIns="0" bIns="0" rtlCol="0" anchor="t"/>
          <a:lstStyle/>
          <a:p>
            <a:pPr marL="0" indent="0" algn="ctr">
              <a:lnSpc>
                <a:spcPts val="2450"/>
              </a:lnSpc>
              <a:buNone/>
            </a:pPr>
            <a:r>
              <a:rPr lang="en-US" sz="2450" b="1" dirty="0">
                <a:solidFill>
                  <a:srgbClr val="443728"/>
                </a:solidFill>
                <a:latin typeface="Crimson Pro" pitchFamily="34" charset="0"/>
                <a:ea typeface="Crimson Pro" pitchFamily="34" charset="-122"/>
                <a:cs typeface="Crimson Pro" pitchFamily="34" charset="-120"/>
              </a:rPr>
              <a:t>2</a:t>
            </a:r>
            <a:endParaRPr lang="en-US" sz="2450" dirty="0"/>
          </a:p>
        </p:txBody>
      </p:sp>
      <p:sp>
        <p:nvSpPr>
          <p:cNvPr id="13" name="Text 10"/>
          <p:cNvSpPr/>
          <p:nvPr/>
        </p:nvSpPr>
        <p:spPr>
          <a:xfrm>
            <a:off x="7701796" y="3868698"/>
            <a:ext cx="2637473" cy="329565"/>
          </a:xfrm>
          <a:prstGeom prst="rect">
            <a:avLst/>
          </a:prstGeom>
          <a:noFill/>
        </p:spPr>
        <p:txBody>
          <a:bodyPr wrap="none" lIns="0" tIns="0" rIns="0" bIns="0" rtlCol="0" anchor="t"/>
          <a:lstStyle/>
          <a:p>
            <a:pPr marL="0" indent="0" algn="l">
              <a:lnSpc>
                <a:spcPts val="2550"/>
              </a:lnSpc>
              <a:buNone/>
            </a:pPr>
            <a:r>
              <a:rPr lang="en-US" sz="2050" b="1" dirty="0">
                <a:solidFill>
                  <a:srgbClr val="443728"/>
                </a:solidFill>
                <a:latin typeface="Crimson Pro" pitchFamily="34" charset="0"/>
                <a:ea typeface="Crimson Pro" pitchFamily="34" charset="-122"/>
                <a:cs typeface="Crimson Pro" pitchFamily="34" charset="-120"/>
              </a:rPr>
              <a:t>Market Opportunity</a:t>
            </a:r>
            <a:endParaRPr lang="en-US" sz="2050" dirty="0"/>
          </a:p>
        </p:txBody>
      </p:sp>
      <p:sp>
        <p:nvSpPr>
          <p:cNvPr id="14" name="Text 11"/>
          <p:cNvSpPr/>
          <p:nvPr/>
        </p:nvSpPr>
        <p:spPr>
          <a:xfrm>
            <a:off x="7701796" y="4324826"/>
            <a:ext cx="6190178" cy="1012627"/>
          </a:xfrm>
          <a:prstGeom prst="rect">
            <a:avLst/>
          </a:prstGeom>
          <a:noFill/>
        </p:spPr>
        <p:txBody>
          <a:bodyPr wrap="square" lIns="0" tIns="0" rIns="0" bIns="0" rtlCol="0" anchor="t"/>
          <a:lstStyle/>
          <a:p>
            <a:pPr marL="0" indent="0" algn="l">
              <a:lnSpc>
                <a:spcPts val="2650"/>
              </a:lnSpc>
              <a:buNone/>
            </a:pPr>
            <a:r>
              <a:rPr lang="en-US" sz="1650" dirty="0">
                <a:solidFill>
                  <a:srgbClr val="443728"/>
                </a:solidFill>
                <a:latin typeface="Open Sans" pitchFamily="34" charset="0"/>
                <a:ea typeface="Open Sans" pitchFamily="34" charset="-122"/>
                <a:cs typeface="Open Sans" pitchFamily="34" charset="-120"/>
              </a:rPr>
              <a:t>Seed Sync can capitalize on this growing market by providing a user-friendly platform that connects farmers with a large customer base.</a:t>
            </a:r>
            <a:endParaRPr lang="en-US" sz="1650" dirty="0"/>
          </a:p>
        </p:txBody>
      </p:sp>
      <p:sp>
        <p:nvSpPr>
          <p:cNvPr id="15" name="Shape 12"/>
          <p:cNvSpPr/>
          <p:nvPr/>
        </p:nvSpPr>
        <p:spPr>
          <a:xfrm>
            <a:off x="6755785" y="6222563"/>
            <a:ext cx="738426" cy="22860"/>
          </a:xfrm>
          <a:prstGeom prst="roundRect">
            <a:avLst>
              <a:gd name="adj" fmla="val 387669"/>
            </a:avLst>
          </a:prstGeom>
          <a:solidFill>
            <a:srgbClr val="D1C8C6"/>
          </a:solidFill>
        </p:spPr>
      </p:sp>
      <p:sp>
        <p:nvSpPr>
          <p:cNvPr id="16" name="Shape 13"/>
          <p:cNvSpPr/>
          <p:nvPr/>
        </p:nvSpPr>
        <p:spPr>
          <a:xfrm>
            <a:off x="6303943" y="5996702"/>
            <a:ext cx="474702" cy="474702"/>
          </a:xfrm>
          <a:prstGeom prst="roundRect">
            <a:avLst>
              <a:gd name="adj" fmla="val 18669"/>
            </a:avLst>
          </a:prstGeom>
          <a:solidFill>
            <a:srgbClr val="EBE2E0"/>
          </a:solidFill>
          <a:ln w="7620">
            <a:solidFill>
              <a:srgbClr val="D1C8C6"/>
            </a:solidFill>
            <a:prstDash val="solid"/>
          </a:ln>
        </p:spPr>
      </p:sp>
      <p:sp>
        <p:nvSpPr>
          <p:cNvPr id="17" name="Text 14"/>
          <p:cNvSpPr/>
          <p:nvPr/>
        </p:nvSpPr>
        <p:spPr>
          <a:xfrm>
            <a:off x="6463963" y="6075759"/>
            <a:ext cx="154543" cy="316468"/>
          </a:xfrm>
          <a:prstGeom prst="rect">
            <a:avLst/>
          </a:prstGeom>
          <a:noFill/>
        </p:spPr>
        <p:txBody>
          <a:bodyPr wrap="none" lIns="0" tIns="0" rIns="0" bIns="0" rtlCol="0" anchor="t"/>
          <a:lstStyle/>
          <a:p>
            <a:pPr marL="0" indent="0" algn="ctr">
              <a:lnSpc>
                <a:spcPts val="2450"/>
              </a:lnSpc>
              <a:buNone/>
            </a:pPr>
            <a:r>
              <a:rPr lang="en-US" sz="2450" b="1" dirty="0">
                <a:solidFill>
                  <a:srgbClr val="443728"/>
                </a:solidFill>
                <a:latin typeface="Crimson Pro" pitchFamily="34" charset="0"/>
                <a:ea typeface="Crimson Pro" pitchFamily="34" charset="-122"/>
                <a:cs typeface="Crimson Pro" pitchFamily="34" charset="-120"/>
              </a:rPr>
              <a:t>3</a:t>
            </a:r>
            <a:endParaRPr lang="en-US" sz="2450" dirty="0"/>
          </a:p>
        </p:txBody>
      </p:sp>
      <p:sp>
        <p:nvSpPr>
          <p:cNvPr id="18" name="Text 15"/>
          <p:cNvSpPr/>
          <p:nvPr/>
        </p:nvSpPr>
        <p:spPr>
          <a:xfrm>
            <a:off x="7701796" y="5970389"/>
            <a:ext cx="2637473" cy="329565"/>
          </a:xfrm>
          <a:prstGeom prst="rect">
            <a:avLst/>
          </a:prstGeom>
          <a:noFill/>
        </p:spPr>
        <p:txBody>
          <a:bodyPr wrap="none" lIns="0" tIns="0" rIns="0" bIns="0" rtlCol="0" anchor="t"/>
          <a:lstStyle/>
          <a:p>
            <a:pPr marL="0" indent="0" algn="l">
              <a:lnSpc>
                <a:spcPts val="2550"/>
              </a:lnSpc>
              <a:buNone/>
            </a:pPr>
            <a:r>
              <a:rPr lang="en-US" sz="2050" b="1" dirty="0">
                <a:solidFill>
                  <a:srgbClr val="443728"/>
                </a:solidFill>
                <a:latin typeface="Crimson Pro" pitchFamily="34" charset="0"/>
                <a:ea typeface="Crimson Pro" pitchFamily="34" charset="-122"/>
                <a:cs typeface="Crimson Pro" pitchFamily="34" charset="-120"/>
              </a:rPr>
              <a:t>Economic Benefits</a:t>
            </a:r>
            <a:endParaRPr lang="en-US" sz="2050" dirty="0"/>
          </a:p>
        </p:txBody>
      </p:sp>
      <p:sp>
        <p:nvSpPr>
          <p:cNvPr id="19" name="Text 16"/>
          <p:cNvSpPr/>
          <p:nvPr/>
        </p:nvSpPr>
        <p:spPr>
          <a:xfrm>
            <a:off x="7701796" y="6426518"/>
            <a:ext cx="6190178" cy="1012627"/>
          </a:xfrm>
          <a:prstGeom prst="rect">
            <a:avLst/>
          </a:prstGeom>
          <a:noFill/>
        </p:spPr>
        <p:txBody>
          <a:bodyPr wrap="square" lIns="0" tIns="0" rIns="0" bIns="0" rtlCol="0" anchor="t"/>
          <a:lstStyle/>
          <a:p>
            <a:pPr marL="0" indent="0" algn="l">
              <a:lnSpc>
                <a:spcPts val="2650"/>
              </a:lnSpc>
              <a:buNone/>
            </a:pPr>
            <a:r>
              <a:rPr lang="en-US" sz="1650" dirty="0">
                <a:solidFill>
                  <a:srgbClr val="443728"/>
                </a:solidFill>
                <a:latin typeface="Open Sans" pitchFamily="34" charset="0"/>
                <a:ea typeface="Open Sans" pitchFamily="34" charset="-122"/>
                <a:cs typeface="Open Sans" pitchFamily="34" charset="-120"/>
              </a:rPr>
              <a:t>The platform can help farmers increase their income by eliminating intermediaries and accessing new markets, while also promoting sustainable practices.</a:t>
            </a:r>
            <a:endParaRPr lang="en-US" sz="1650" dirty="0"/>
          </a:p>
        </p:txBody>
      </p:sp>
      <p:sp>
        <p:nvSpPr>
          <p:cNvPr id="20" name="Text Box 19"/>
          <p:cNvSpPr txBox="1"/>
          <p:nvPr/>
        </p:nvSpPr>
        <p:spPr>
          <a:xfrm>
            <a:off x="12822555" y="7733665"/>
            <a:ext cx="1807845" cy="485775"/>
          </a:xfrm>
          <a:prstGeom prst="rect">
            <a:avLst/>
          </a:prstGeom>
          <a:solidFill>
            <a:schemeClr val="bg1"/>
          </a:solidFill>
        </p:spPr>
        <p:txBody>
          <a:bodyPr wrap="square" rtlCol="0">
            <a:noAutofit/>
          </a:bodyPr>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792718"/>
            <a:ext cx="5670590" cy="708779"/>
          </a:xfrm>
          <a:prstGeom prst="rect">
            <a:avLst/>
          </a:prstGeom>
          <a:noFill/>
        </p:spPr>
        <p:txBody>
          <a:bodyPr wrap="none" lIns="0" tIns="0" rIns="0" bIns="0" rtlCol="0" anchor="t"/>
          <a:lstStyle/>
          <a:p>
            <a:pPr marL="0" indent="0">
              <a:lnSpc>
                <a:spcPts val="5550"/>
              </a:lnSpc>
              <a:buNone/>
            </a:pPr>
            <a:r>
              <a:rPr lang="en-US" sz="4450" b="1" dirty="0">
                <a:solidFill>
                  <a:srgbClr val="443728"/>
                </a:solidFill>
                <a:latin typeface="Crimson Pro" pitchFamily="34" charset="0"/>
                <a:ea typeface="Crimson Pro" pitchFamily="34" charset="-122"/>
                <a:cs typeface="Crimson Pro" pitchFamily="34" charset="-120"/>
              </a:rPr>
              <a:t>Challenges</a:t>
            </a:r>
            <a:endParaRPr lang="en-US" sz="4450" dirty="0"/>
          </a:p>
        </p:txBody>
      </p:sp>
      <p:sp>
        <p:nvSpPr>
          <p:cNvPr id="4" name="Shape 1"/>
          <p:cNvSpPr/>
          <p:nvPr/>
        </p:nvSpPr>
        <p:spPr>
          <a:xfrm>
            <a:off x="6280190" y="1841659"/>
            <a:ext cx="7556421" cy="5595223"/>
          </a:xfrm>
          <a:prstGeom prst="roundRect">
            <a:avLst>
              <a:gd name="adj" fmla="val 1703"/>
            </a:avLst>
          </a:prstGeom>
          <a:noFill/>
          <a:ln w="7620">
            <a:solidFill>
              <a:srgbClr val="000000">
                <a:alpha val="8000"/>
              </a:srgbClr>
            </a:solidFill>
            <a:prstDash val="solid"/>
          </a:ln>
        </p:spPr>
      </p:sp>
      <p:sp>
        <p:nvSpPr>
          <p:cNvPr id="5" name="Shape 2"/>
          <p:cNvSpPr/>
          <p:nvPr/>
        </p:nvSpPr>
        <p:spPr>
          <a:xfrm>
            <a:off x="6287810" y="1849279"/>
            <a:ext cx="7541181" cy="1739027"/>
          </a:xfrm>
          <a:prstGeom prst="rect">
            <a:avLst/>
          </a:prstGeom>
          <a:solidFill>
            <a:srgbClr val="FFFFFF">
              <a:alpha val="4000"/>
            </a:srgbClr>
          </a:solidFill>
        </p:spPr>
      </p:sp>
      <p:sp>
        <p:nvSpPr>
          <p:cNvPr id="6" name="Text 3"/>
          <p:cNvSpPr/>
          <p:nvPr/>
        </p:nvSpPr>
        <p:spPr>
          <a:xfrm>
            <a:off x="6514624" y="1992987"/>
            <a:ext cx="3313152" cy="362903"/>
          </a:xfrm>
          <a:prstGeom prst="rect">
            <a:avLst/>
          </a:prstGeom>
          <a:noFill/>
        </p:spPr>
        <p:txBody>
          <a:bodyPr wrap="non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Farmer Onboarding</a:t>
            </a:r>
            <a:endParaRPr lang="en-US" sz="1750" dirty="0"/>
          </a:p>
        </p:txBody>
      </p:sp>
      <p:sp>
        <p:nvSpPr>
          <p:cNvPr id="7" name="Text 4"/>
          <p:cNvSpPr/>
          <p:nvPr/>
        </p:nvSpPr>
        <p:spPr>
          <a:xfrm>
            <a:off x="10289024" y="1992987"/>
            <a:ext cx="3313152" cy="1451610"/>
          </a:xfrm>
          <a:prstGeom prst="rect">
            <a:avLst/>
          </a:prstGeom>
          <a:noFill/>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Educating farmers about the platform and its benefits, ensuring ease of use and providing adequate support.</a:t>
            </a:r>
            <a:endParaRPr lang="en-US" sz="1750" dirty="0"/>
          </a:p>
        </p:txBody>
      </p:sp>
      <p:sp>
        <p:nvSpPr>
          <p:cNvPr id="8" name="Shape 5"/>
          <p:cNvSpPr/>
          <p:nvPr/>
        </p:nvSpPr>
        <p:spPr>
          <a:xfrm>
            <a:off x="6287810" y="3588306"/>
            <a:ext cx="7541181" cy="1739027"/>
          </a:xfrm>
          <a:prstGeom prst="rect">
            <a:avLst/>
          </a:prstGeom>
          <a:solidFill>
            <a:srgbClr val="000000">
              <a:alpha val="4000"/>
            </a:srgbClr>
          </a:solidFill>
        </p:spPr>
      </p:sp>
      <p:sp>
        <p:nvSpPr>
          <p:cNvPr id="9" name="Text 6"/>
          <p:cNvSpPr/>
          <p:nvPr/>
        </p:nvSpPr>
        <p:spPr>
          <a:xfrm>
            <a:off x="6514624" y="3732014"/>
            <a:ext cx="3313152" cy="362903"/>
          </a:xfrm>
          <a:prstGeom prst="rect">
            <a:avLst/>
          </a:prstGeom>
          <a:noFill/>
        </p:spPr>
        <p:txBody>
          <a:bodyPr wrap="non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User Acquisition</a:t>
            </a:r>
            <a:endParaRPr lang="en-US" sz="1750" dirty="0"/>
          </a:p>
        </p:txBody>
      </p:sp>
      <p:sp>
        <p:nvSpPr>
          <p:cNvPr id="10" name="Text 7"/>
          <p:cNvSpPr/>
          <p:nvPr/>
        </p:nvSpPr>
        <p:spPr>
          <a:xfrm>
            <a:off x="10289024" y="3732014"/>
            <a:ext cx="3313152" cy="1451610"/>
          </a:xfrm>
          <a:prstGeom prst="rect">
            <a:avLst/>
          </a:prstGeom>
          <a:noFill/>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Building a strong user base by effectively marketing the app to both farmers and consumers.</a:t>
            </a:r>
            <a:endParaRPr lang="en-US" sz="1750" dirty="0"/>
          </a:p>
        </p:txBody>
      </p:sp>
      <p:sp>
        <p:nvSpPr>
          <p:cNvPr id="11" name="Shape 8"/>
          <p:cNvSpPr/>
          <p:nvPr/>
        </p:nvSpPr>
        <p:spPr>
          <a:xfrm>
            <a:off x="6287810" y="5327332"/>
            <a:ext cx="7541181" cy="2101929"/>
          </a:xfrm>
          <a:prstGeom prst="rect">
            <a:avLst/>
          </a:prstGeom>
          <a:solidFill>
            <a:srgbClr val="FFFFFF">
              <a:alpha val="4000"/>
            </a:srgbClr>
          </a:solidFill>
        </p:spPr>
      </p:sp>
      <p:sp>
        <p:nvSpPr>
          <p:cNvPr id="12" name="Text 9"/>
          <p:cNvSpPr/>
          <p:nvPr/>
        </p:nvSpPr>
        <p:spPr>
          <a:xfrm>
            <a:off x="6514624" y="5471041"/>
            <a:ext cx="3313152" cy="362903"/>
          </a:xfrm>
          <a:prstGeom prst="rect">
            <a:avLst/>
          </a:prstGeom>
          <a:noFill/>
        </p:spPr>
        <p:txBody>
          <a:bodyPr wrap="non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Logistics and Distribution</a:t>
            </a:r>
            <a:endParaRPr lang="en-US" sz="1750" dirty="0"/>
          </a:p>
        </p:txBody>
      </p:sp>
      <p:sp>
        <p:nvSpPr>
          <p:cNvPr id="13" name="Text 10"/>
          <p:cNvSpPr/>
          <p:nvPr/>
        </p:nvSpPr>
        <p:spPr>
          <a:xfrm>
            <a:off x="10289024" y="5471041"/>
            <a:ext cx="3313152" cy="1814513"/>
          </a:xfrm>
          <a:prstGeom prst="rect">
            <a:avLst/>
          </a:prstGeom>
          <a:noFill/>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Managing the logistics of product delivery, ensuring timely and efficient distribution, and addressing potential logistical challenges.</a:t>
            </a:r>
            <a:endParaRPr lang="en-US" sz="1750" dirty="0"/>
          </a:p>
        </p:txBody>
      </p:sp>
      <p:sp>
        <p:nvSpPr>
          <p:cNvPr id="14" name="Text Box 13"/>
          <p:cNvSpPr txBox="1"/>
          <p:nvPr/>
        </p:nvSpPr>
        <p:spPr>
          <a:xfrm>
            <a:off x="12822555" y="7733665"/>
            <a:ext cx="1807845" cy="485775"/>
          </a:xfrm>
          <a:prstGeom prst="rect">
            <a:avLst/>
          </a:prstGeom>
          <a:solidFill>
            <a:schemeClr val="bg1"/>
          </a:solidFill>
        </p:spPr>
        <p:txBody>
          <a:bodyPr wrap="square" rtlCol="0">
            <a:noAutofit/>
          </a:bodyPr>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1994" y="559832"/>
            <a:ext cx="5085874" cy="635794"/>
          </a:xfrm>
          <a:prstGeom prst="rect">
            <a:avLst/>
          </a:prstGeom>
          <a:noFill/>
        </p:spPr>
        <p:txBody>
          <a:bodyPr wrap="none" lIns="0" tIns="0" rIns="0" bIns="0" rtlCol="0" anchor="t"/>
          <a:lstStyle/>
          <a:p>
            <a:pPr marL="0" indent="0">
              <a:lnSpc>
                <a:spcPts val="5000"/>
              </a:lnSpc>
              <a:buNone/>
            </a:pPr>
            <a:r>
              <a:rPr lang="en-US" sz="4000" b="1" dirty="0">
                <a:solidFill>
                  <a:srgbClr val="443728"/>
                </a:solidFill>
                <a:latin typeface="Crimson Pro" pitchFamily="34" charset="0"/>
                <a:ea typeface="Crimson Pro" pitchFamily="34" charset="-122"/>
                <a:cs typeface="Crimson Pro" pitchFamily="34" charset="-120"/>
              </a:rPr>
              <a:t>Impact and Benefits</a:t>
            </a:r>
            <a:endParaRPr lang="en-US" sz="4000" dirty="0"/>
          </a:p>
        </p:txBody>
      </p:sp>
      <p:pic>
        <p:nvPicPr>
          <p:cNvPr id="4" name="Image 1" descr="preencoded.png"/>
          <p:cNvPicPr>
            <a:picLocks noChangeAspect="1"/>
          </p:cNvPicPr>
          <p:nvPr/>
        </p:nvPicPr>
        <p:blipFill>
          <a:blip r:embed="rId2"/>
          <a:stretch>
            <a:fillRect/>
          </a:stretch>
        </p:blipFill>
        <p:spPr>
          <a:xfrm>
            <a:off x="711994" y="1500664"/>
            <a:ext cx="508516" cy="508516"/>
          </a:xfrm>
          <a:prstGeom prst="rect">
            <a:avLst/>
          </a:prstGeom>
        </p:spPr>
      </p:pic>
      <p:sp>
        <p:nvSpPr>
          <p:cNvPr id="5" name="Text 1"/>
          <p:cNvSpPr/>
          <p:nvPr/>
        </p:nvSpPr>
        <p:spPr>
          <a:xfrm>
            <a:off x="711994" y="2212538"/>
            <a:ext cx="2737366" cy="317897"/>
          </a:xfrm>
          <a:prstGeom prst="rect">
            <a:avLst/>
          </a:prstGeom>
          <a:noFill/>
        </p:spPr>
        <p:txBody>
          <a:bodyPr wrap="none" lIns="0" tIns="0" rIns="0" bIns="0" rtlCol="0" anchor="t"/>
          <a:lstStyle/>
          <a:p>
            <a:pPr marL="0" indent="0" algn="l">
              <a:lnSpc>
                <a:spcPts val="2500"/>
              </a:lnSpc>
              <a:buNone/>
            </a:pPr>
            <a:r>
              <a:rPr lang="en-US" sz="2000" b="1" dirty="0">
                <a:solidFill>
                  <a:srgbClr val="443728"/>
                </a:solidFill>
                <a:latin typeface="Crimson Pro" pitchFamily="34" charset="0"/>
                <a:ea typeface="Crimson Pro" pitchFamily="34" charset="-122"/>
                <a:cs typeface="Crimson Pro" pitchFamily="34" charset="-120"/>
              </a:rPr>
              <a:t>Increased Farmer Income</a:t>
            </a:r>
            <a:endParaRPr lang="en-US" sz="2000" dirty="0"/>
          </a:p>
        </p:txBody>
      </p:sp>
      <p:sp>
        <p:nvSpPr>
          <p:cNvPr id="6" name="Text 2"/>
          <p:cNvSpPr/>
          <p:nvPr/>
        </p:nvSpPr>
        <p:spPr>
          <a:xfrm>
            <a:off x="711994" y="2652474"/>
            <a:ext cx="3707487" cy="1302068"/>
          </a:xfrm>
          <a:prstGeom prst="rect">
            <a:avLst/>
          </a:prstGeom>
          <a:noFill/>
        </p:spPr>
        <p:txBody>
          <a:bodyPr wrap="squar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Farmers can earn more by selling their produce directly to consumers and retailers, eliminating intermediaries and receiving fair prices.</a:t>
            </a:r>
            <a:endParaRPr lang="en-US" sz="1600" dirty="0"/>
          </a:p>
        </p:txBody>
      </p:sp>
      <p:pic>
        <p:nvPicPr>
          <p:cNvPr id="7" name="Image 2" descr="preencoded.png"/>
          <p:cNvPicPr>
            <a:picLocks noChangeAspect="1"/>
          </p:cNvPicPr>
          <p:nvPr/>
        </p:nvPicPr>
        <p:blipFill>
          <a:blip r:embed="rId3"/>
          <a:stretch>
            <a:fillRect/>
          </a:stretch>
        </p:blipFill>
        <p:spPr>
          <a:xfrm>
            <a:off x="4724519" y="1500664"/>
            <a:ext cx="508516" cy="508516"/>
          </a:xfrm>
          <a:prstGeom prst="rect">
            <a:avLst/>
          </a:prstGeom>
        </p:spPr>
      </p:pic>
      <p:sp>
        <p:nvSpPr>
          <p:cNvPr id="8" name="Text 3"/>
          <p:cNvSpPr/>
          <p:nvPr/>
        </p:nvSpPr>
        <p:spPr>
          <a:xfrm>
            <a:off x="4724519" y="2212538"/>
            <a:ext cx="3451860" cy="317897"/>
          </a:xfrm>
          <a:prstGeom prst="rect">
            <a:avLst/>
          </a:prstGeom>
          <a:noFill/>
        </p:spPr>
        <p:txBody>
          <a:bodyPr wrap="none" lIns="0" tIns="0" rIns="0" bIns="0" rtlCol="0" anchor="t"/>
          <a:lstStyle/>
          <a:p>
            <a:pPr marL="0" indent="0" algn="l">
              <a:lnSpc>
                <a:spcPts val="2500"/>
              </a:lnSpc>
              <a:buNone/>
            </a:pPr>
            <a:r>
              <a:rPr lang="en-US" sz="2000" b="1" dirty="0">
                <a:solidFill>
                  <a:srgbClr val="443728"/>
                </a:solidFill>
                <a:latin typeface="Crimson Pro" pitchFamily="34" charset="0"/>
                <a:ea typeface="Crimson Pro" pitchFamily="34" charset="-122"/>
                <a:cs typeface="Crimson Pro" pitchFamily="34" charset="-120"/>
              </a:rPr>
              <a:t>Improved Consumer Experience</a:t>
            </a:r>
            <a:endParaRPr lang="en-US" sz="2000" dirty="0"/>
          </a:p>
        </p:txBody>
      </p:sp>
      <p:sp>
        <p:nvSpPr>
          <p:cNvPr id="9" name="Text 4"/>
          <p:cNvSpPr/>
          <p:nvPr/>
        </p:nvSpPr>
        <p:spPr>
          <a:xfrm>
            <a:off x="4724519" y="2652474"/>
            <a:ext cx="3707487" cy="1627584"/>
          </a:xfrm>
          <a:prstGeom prst="rect">
            <a:avLst/>
          </a:prstGeom>
          <a:noFill/>
        </p:spPr>
        <p:txBody>
          <a:bodyPr wrap="squar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Consumers can access fresh, high-quality produce from local farmers while supporting sustainable agriculture and community development.</a:t>
            </a:r>
            <a:endParaRPr lang="en-US" sz="1600" dirty="0"/>
          </a:p>
        </p:txBody>
      </p:sp>
      <p:pic>
        <p:nvPicPr>
          <p:cNvPr id="10" name="Image 3" descr="preencoded.png"/>
          <p:cNvPicPr>
            <a:picLocks noChangeAspect="1"/>
          </p:cNvPicPr>
          <p:nvPr/>
        </p:nvPicPr>
        <p:blipFill>
          <a:blip r:embed="rId4"/>
          <a:stretch>
            <a:fillRect/>
          </a:stretch>
        </p:blipFill>
        <p:spPr>
          <a:xfrm>
            <a:off x="711994" y="4890254"/>
            <a:ext cx="508516" cy="508516"/>
          </a:xfrm>
          <a:prstGeom prst="rect">
            <a:avLst/>
          </a:prstGeom>
        </p:spPr>
      </p:pic>
      <p:sp>
        <p:nvSpPr>
          <p:cNvPr id="11" name="Text 5"/>
          <p:cNvSpPr/>
          <p:nvPr/>
        </p:nvSpPr>
        <p:spPr>
          <a:xfrm>
            <a:off x="711994" y="5602129"/>
            <a:ext cx="3182303" cy="317897"/>
          </a:xfrm>
          <a:prstGeom prst="rect">
            <a:avLst/>
          </a:prstGeom>
          <a:noFill/>
        </p:spPr>
        <p:txBody>
          <a:bodyPr wrap="none" lIns="0" tIns="0" rIns="0" bIns="0" rtlCol="0" anchor="t"/>
          <a:lstStyle/>
          <a:p>
            <a:pPr marL="0" indent="0" algn="l">
              <a:lnSpc>
                <a:spcPts val="2500"/>
              </a:lnSpc>
              <a:buNone/>
            </a:pPr>
            <a:r>
              <a:rPr lang="en-US" sz="2000" b="1" dirty="0">
                <a:solidFill>
                  <a:srgbClr val="443728"/>
                </a:solidFill>
                <a:latin typeface="Crimson Pro" pitchFamily="34" charset="0"/>
                <a:ea typeface="Crimson Pro" pitchFamily="34" charset="-122"/>
                <a:cs typeface="Crimson Pro" pitchFamily="34" charset="-120"/>
              </a:rPr>
              <a:t>Environmental Sustainability</a:t>
            </a:r>
            <a:endParaRPr lang="en-US" sz="2000" dirty="0"/>
          </a:p>
        </p:txBody>
      </p:sp>
      <p:sp>
        <p:nvSpPr>
          <p:cNvPr id="12" name="Text 6"/>
          <p:cNvSpPr/>
          <p:nvPr/>
        </p:nvSpPr>
        <p:spPr>
          <a:xfrm>
            <a:off x="711994" y="6042065"/>
            <a:ext cx="3707487" cy="976551"/>
          </a:xfrm>
          <a:prstGeom prst="rect">
            <a:avLst/>
          </a:prstGeom>
          <a:noFill/>
        </p:spPr>
        <p:txBody>
          <a:bodyPr wrap="squar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The platform promotes local sourcing, reduces food waste, and encourages sustainable farming practices.</a:t>
            </a:r>
            <a:endParaRPr lang="en-US" sz="1600" dirty="0"/>
          </a:p>
        </p:txBody>
      </p:sp>
      <p:pic>
        <p:nvPicPr>
          <p:cNvPr id="13" name="Image 4" descr="preencoded.png"/>
          <p:cNvPicPr>
            <a:picLocks noChangeAspect="1"/>
          </p:cNvPicPr>
          <p:nvPr/>
        </p:nvPicPr>
        <p:blipFill>
          <a:blip r:embed="rId5"/>
          <a:stretch>
            <a:fillRect/>
          </a:stretch>
        </p:blipFill>
        <p:spPr>
          <a:xfrm>
            <a:off x="4724519" y="4890254"/>
            <a:ext cx="508516" cy="508516"/>
          </a:xfrm>
          <a:prstGeom prst="rect">
            <a:avLst/>
          </a:prstGeom>
        </p:spPr>
      </p:pic>
      <p:sp>
        <p:nvSpPr>
          <p:cNvPr id="14" name="Text 7"/>
          <p:cNvSpPr/>
          <p:nvPr/>
        </p:nvSpPr>
        <p:spPr>
          <a:xfrm>
            <a:off x="4724519" y="5602129"/>
            <a:ext cx="2960132" cy="317897"/>
          </a:xfrm>
          <a:prstGeom prst="rect">
            <a:avLst/>
          </a:prstGeom>
          <a:noFill/>
        </p:spPr>
        <p:txBody>
          <a:bodyPr wrap="none" lIns="0" tIns="0" rIns="0" bIns="0" rtlCol="0" anchor="t"/>
          <a:lstStyle/>
          <a:p>
            <a:pPr marL="0" indent="0" algn="l">
              <a:lnSpc>
                <a:spcPts val="2500"/>
              </a:lnSpc>
              <a:buNone/>
            </a:pPr>
            <a:r>
              <a:rPr lang="en-US" sz="2000" b="1" dirty="0">
                <a:solidFill>
                  <a:srgbClr val="443728"/>
                </a:solidFill>
                <a:latin typeface="Crimson Pro" pitchFamily="34" charset="0"/>
                <a:ea typeface="Crimson Pro" pitchFamily="34" charset="-122"/>
                <a:cs typeface="Crimson Pro" pitchFamily="34" charset="-120"/>
              </a:rPr>
              <a:t>Community Empowerment</a:t>
            </a:r>
            <a:endParaRPr lang="en-US" sz="2000" dirty="0"/>
          </a:p>
        </p:txBody>
      </p:sp>
      <p:sp>
        <p:nvSpPr>
          <p:cNvPr id="15" name="Text 8"/>
          <p:cNvSpPr/>
          <p:nvPr/>
        </p:nvSpPr>
        <p:spPr>
          <a:xfrm>
            <a:off x="4724519" y="6042065"/>
            <a:ext cx="3707487" cy="1627584"/>
          </a:xfrm>
          <a:prstGeom prst="rect">
            <a:avLst/>
          </a:prstGeom>
          <a:noFill/>
        </p:spPr>
        <p:txBody>
          <a:bodyPr wrap="square" lIns="0" tIns="0" rIns="0" bIns="0" rtlCol="0" anchor="t"/>
          <a:lstStyle/>
          <a:p>
            <a:pPr marL="0" indent="0" algn="l">
              <a:lnSpc>
                <a:spcPts val="2550"/>
              </a:lnSpc>
              <a:buNone/>
            </a:pPr>
            <a:r>
              <a:rPr lang="en-US" sz="1600" dirty="0">
                <a:solidFill>
                  <a:srgbClr val="443728"/>
                </a:solidFill>
                <a:latin typeface="Open Sans" pitchFamily="34" charset="0"/>
                <a:ea typeface="Open Sans" pitchFamily="34" charset="-122"/>
                <a:cs typeface="Open Sans" pitchFamily="34" charset="-120"/>
              </a:rPr>
              <a:t>Seed Sync fosters a sense of community by connecting farmers, consumers, and retailers, promoting collaboration and supporting local economies.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045976"/>
            <a:ext cx="5670590" cy="708779"/>
          </a:xfrm>
          <a:prstGeom prst="rect">
            <a:avLst/>
          </a:prstGeom>
          <a:noFill/>
        </p:spPr>
        <p:txBody>
          <a:bodyPr wrap="none" lIns="0" tIns="0" rIns="0" bIns="0" rtlCol="0" anchor="t"/>
          <a:lstStyle/>
          <a:p>
            <a:pPr marL="0" indent="0">
              <a:lnSpc>
                <a:spcPts val="5550"/>
              </a:lnSpc>
              <a:buNone/>
            </a:pPr>
            <a:r>
              <a:rPr lang="en-US" sz="4450" b="1" dirty="0">
                <a:solidFill>
                  <a:srgbClr val="443728"/>
                </a:solidFill>
                <a:latin typeface="Crimson Pro" pitchFamily="34" charset="0"/>
                <a:ea typeface="Crimson Pro" pitchFamily="34" charset="-122"/>
                <a:cs typeface="Crimson Pro" pitchFamily="34" charset="-120"/>
              </a:rPr>
              <a:t>Next Steps</a:t>
            </a:r>
            <a:endParaRPr lang="en-US" sz="4450" dirty="0"/>
          </a:p>
        </p:txBody>
      </p:sp>
      <p:sp>
        <p:nvSpPr>
          <p:cNvPr id="4" name="Text 1"/>
          <p:cNvSpPr/>
          <p:nvPr/>
        </p:nvSpPr>
        <p:spPr>
          <a:xfrm>
            <a:off x="6280190" y="4094917"/>
            <a:ext cx="7556421" cy="1088708"/>
          </a:xfrm>
          <a:prstGeom prst="rect">
            <a:avLst/>
          </a:prstGeom>
          <a:noFill/>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The next steps include developing a comprehensive marketing strategy, establishing partnerships with local farmers and retailers, and launching a pilot program to test and refine the platform.</a:t>
            </a:r>
            <a:endParaRPr lang="en-US" sz="1750" dirty="0"/>
          </a:p>
        </p:txBody>
      </p:sp>
      <p:sp>
        <p:nvSpPr>
          <p:cNvPr id="13" name="Text Box 12"/>
          <p:cNvSpPr txBox="1"/>
          <p:nvPr/>
        </p:nvSpPr>
        <p:spPr>
          <a:xfrm>
            <a:off x="12822555" y="7733665"/>
            <a:ext cx="1807845" cy="485775"/>
          </a:xfrm>
          <a:prstGeom prst="rect">
            <a:avLst/>
          </a:prstGeom>
          <a:solidFill>
            <a:schemeClr val="bg1"/>
          </a:solidFill>
        </p:spPr>
        <p:txBody>
          <a:bodyPr wrap="square" rtlCol="0">
            <a:noAutofit/>
          </a:bodyPr>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4465</Words>
  <Application>WPS Presentation</Application>
  <PresentationFormat>On-screen Show (16:9)</PresentationFormat>
  <Paragraphs>142</Paragraphs>
  <Slides>9</Slides>
  <Notes>9</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vt:i4>
      </vt:variant>
    </vt:vector>
  </HeadingPairs>
  <TitlesOfParts>
    <vt:vector size="22" baseType="lpstr">
      <vt:lpstr>Arial</vt:lpstr>
      <vt:lpstr>SimSun</vt:lpstr>
      <vt:lpstr>Wingdings</vt:lpstr>
      <vt:lpstr>Crimson Pro</vt:lpstr>
      <vt:lpstr>Crimson Pro</vt:lpstr>
      <vt:lpstr>Crimson Pro</vt:lpstr>
      <vt:lpstr>Open Sans</vt:lpstr>
      <vt:lpstr>Open Sans</vt:lpstr>
      <vt:lpstr>Open Sans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HARI RAJA PRABHU</cp:lastModifiedBy>
  <cp:revision>2</cp:revision>
  <dcterms:created xsi:type="dcterms:W3CDTF">2024-09-08T19:16:00Z</dcterms:created>
  <dcterms:modified xsi:type="dcterms:W3CDTF">2024-09-09T05:22:42Z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B3D9B465CC30464EA12B0C58536A9B1E_12</vt:lpwstr>
  </property>
  <property fmtid="{D5CDD505-2E9C-101B-9397-08002B2CF9AE}" pid="3" name="KSOProductBuildVer">
    <vt:lpwstr>1033-12.2.0.13472</vt:lpwstr>
  </property>
</Properties>
</file>