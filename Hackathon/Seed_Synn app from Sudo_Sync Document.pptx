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6" r:id="rId10"/>
    <p:sldId id="264" r:id="rId11"/>
    <p:sldId id="265" r:id="rId12"/>
  </p:sldIdLst>
  <p:sldSz cx="14630400" cy="8229600"/>
  <p:notesSz cx="8229600" cy="14630400"/>
  <p:embeddedFontLst>
    <p:embeddedFont>
      <p:font typeface="Bitter" panose="020B0604020202020204" charset="0"/>
      <p:regular r:id="rId14"/>
    </p:embeddedFont>
    <p:embeddedFont>
      <p:font typeface="Constantia" panose="02030602050306030303" pitchFamily="18" charset="0"/>
      <p:regular r:id="rId15"/>
      <p:bold r:id="rId16"/>
      <p:italic r:id="rId17"/>
      <p:boldItalic r:id="rId18"/>
    </p:embeddedFont>
    <p:embeddedFont>
      <p:font typeface="Open Sans" panose="020B0606030504020204" pitchFamily="34" charset="0"/>
      <p:regular r:id="rId19"/>
      <p:bold r:id="rId20"/>
      <p:italic r:id="rId21"/>
      <p:bold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8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6" d="100"/>
          <a:sy n="76" d="100"/>
        </p:scale>
        <p:origin x="33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6935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8625639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3.jp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24.jp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1.xml"/><Relationship Id="rId5" Type="http://schemas.openxmlformats.org/officeDocument/2006/relationships/image" Target="../media/image2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4" name="Text 0"/>
          <p:cNvSpPr/>
          <p:nvPr/>
        </p:nvSpPr>
        <p:spPr>
          <a:xfrm>
            <a:off x="673209" y="2671610"/>
            <a:ext cx="7556421" cy="978218"/>
          </a:xfrm>
          <a:prstGeom prst="rect">
            <a:avLst/>
          </a:prstGeom>
          <a:noFill/>
          <a:ln/>
        </p:spPr>
        <p:txBody>
          <a:bodyPr wrap="none" lIns="0" tIns="0" rIns="0" bIns="0" rtlCol="0" anchor="t"/>
          <a:lstStyle/>
          <a:p>
            <a:pPr marL="0" indent="0">
              <a:lnSpc>
                <a:spcPts val="7700"/>
              </a:lnSpc>
              <a:buNone/>
            </a:pPr>
            <a:r>
              <a:rPr lang="en-US" sz="7200" kern="0" spc="-185" dirty="0">
                <a:solidFill>
                  <a:srgbClr val="2C3F42"/>
                </a:solidFill>
                <a:latin typeface="Bitter" pitchFamily="34" charset="0"/>
                <a:ea typeface="Bitter" pitchFamily="34" charset="-122"/>
                <a:cs typeface="Bitter" pitchFamily="34" charset="-120"/>
              </a:rPr>
              <a:t>Seed Sync </a:t>
            </a:r>
            <a:endParaRPr lang="en-US" sz="7200" dirty="0"/>
          </a:p>
        </p:txBody>
      </p:sp>
      <p:sp>
        <p:nvSpPr>
          <p:cNvPr id="5" name="Text 1"/>
          <p:cNvSpPr/>
          <p:nvPr/>
        </p:nvSpPr>
        <p:spPr>
          <a:xfrm>
            <a:off x="673210" y="3938174"/>
            <a:ext cx="7556421" cy="1088708"/>
          </a:xfrm>
          <a:prstGeom prst="rect">
            <a:avLst/>
          </a:prstGeom>
          <a:noFill/>
          <a:ln/>
        </p:spPr>
        <p:txBody>
          <a:bodyPr wrap="square" lIns="0" tIns="0" rIns="0" bIns="0" rtlCol="0" anchor="t"/>
          <a:lstStyle/>
          <a:p>
            <a:pPr marL="0" indent="0">
              <a:lnSpc>
                <a:spcPts val="2850"/>
              </a:lnSpc>
              <a:buNone/>
            </a:pPr>
            <a:r>
              <a:rPr lang="en-US" sz="2000" kern="0" spc="-36" dirty="0">
                <a:solidFill>
                  <a:srgbClr val="2B2E3C"/>
                </a:solidFill>
                <a:latin typeface="Open Sans" pitchFamily="34" charset="0"/>
                <a:ea typeface="Open Sans" pitchFamily="34" charset="-122"/>
                <a:cs typeface="Open Sans" pitchFamily="34" charset="-120"/>
              </a:rPr>
              <a:t>Welcome to the Seed Sync project. This presentation outlines our vision for a mobile application that empowers farmers by connecting them directly to consumers.</a:t>
            </a:r>
            <a:endParaRPr lang="en-US" sz="2000" dirty="0"/>
          </a:p>
        </p:txBody>
      </p:sp>
      <p:pic>
        <p:nvPicPr>
          <p:cNvPr id="7" name="Picture 6">
            <a:extLst>
              <a:ext uri="{FF2B5EF4-FFF2-40B4-BE49-F238E27FC236}">
                <a16:creationId xmlns:a16="http://schemas.microsoft.com/office/drawing/2014/main" id="{0338B561-3B1D-3326-7160-4BEBDE46A38F}"/>
              </a:ext>
            </a:extLst>
          </p:cNvPr>
          <p:cNvPicPr>
            <a:picLocks noChangeAspect="1"/>
          </p:cNvPicPr>
          <p:nvPr/>
        </p:nvPicPr>
        <p:blipFill>
          <a:blip r:embed="rId4"/>
          <a:stretch>
            <a:fillRect/>
          </a:stretch>
        </p:blipFill>
        <p:spPr>
          <a:xfrm>
            <a:off x="9632600" y="1840732"/>
            <a:ext cx="4548135" cy="4548135"/>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72726" y="1191531"/>
            <a:ext cx="5670590" cy="708779"/>
          </a:xfrm>
          <a:prstGeom prst="rect">
            <a:avLst/>
          </a:prstGeom>
          <a:noFill/>
          <a:ln/>
        </p:spPr>
        <p:txBody>
          <a:bodyPr wrap="none" lIns="0" tIns="0" rIns="0" bIns="0" rtlCol="0" anchor="t"/>
          <a:lstStyle/>
          <a:p>
            <a:pPr marL="0" indent="0">
              <a:lnSpc>
                <a:spcPts val="5550"/>
              </a:lnSpc>
              <a:buNone/>
            </a:pPr>
            <a:r>
              <a:rPr lang="en-US" sz="4450" b="1" kern="0" spc="-134" dirty="0" err="1">
                <a:solidFill>
                  <a:srgbClr val="2C3F42"/>
                </a:solidFill>
                <a:latin typeface="Bitter" pitchFamily="34" charset="0"/>
                <a:ea typeface="Bitter" pitchFamily="34" charset="-122"/>
                <a:cs typeface="Bitter" pitchFamily="34" charset="-120"/>
              </a:rPr>
              <a:t>Sudo_Sync</a:t>
            </a:r>
            <a:r>
              <a:rPr lang="en-US" sz="4450" b="1" kern="0" spc="-134" dirty="0">
                <a:solidFill>
                  <a:srgbClr val="2C3F42"/>
                </a:solidFill>
                <a:latin typeface="Bitter" pitchFamily="34" charset="0"/>
                <a:ea typeface="Bitter" pitchFamily="34" charset="-122"/>
                <a:cs typeface="Bitter" pitchFamily="34" charset="-120"/>
              </a:rPr>
              <a:t> Family:</a:t>
            </a:r>
            <a:endParaRPr lang="en-US" sz="4450" b="1" dirty="0"/>
          </a:p>
        </p:txBody>
      </p:sp>
      <p:graphicFrame>
        <p:nvGraphicFramePr>
          <p:cNvPr id="8" name="Table 7">
            <a:extLst>
              <a:ext uri="{FF2B5EF4-FFF2-40B4-BE49-F238E27FC236}">
                <a16:creationId xmlns:a16="http://schemas.microsoft.com/office/drawing/2014/main" id="{7F2769A9-15CB-AA06-045E-0EAB34609FAD}"/>
              </a:ext>
            </a:extLst>
          </p:cNvPr>
          <p:cNvGraphicFramePr>
            <a:graphicFrameLocks noGrp="1"/>
          </p:cNvGraphicFramePr>
          <p:nvPr>
            <p:extLst>
              <p:ext uri="{D42A27DB-BD31-4B8C-83A1-F6EECF244321}">
                <p14:modId xmlns:p14="http://schemas.microsoft.com/office/powerpoint/2010/main" val="1195997677"/>
              </p:ext>
            </p:extLst>
          </p:nvPr>
        </p:nvGraphicFramePr>
        <p:xfrm>
          <a:off x="462987" y="2338090"/>
          <a:ext cx="13472931" cy="4723129"/>
        </p:xfrm>
        <a:graphic>
          <a:graphicData uri="http://schemas.openxmlformats.org/drawingml/2006/table">
            <a:tbl>
              <a:tblPr firstRow="1" bandRow="1">
                <a:tableStyleId>{5C22544A-7EE6-4342-B048-85BDC9FD1C3A}</a:tableStyleId>
              </a:tblPr>
              <a:tblGrid>
                <a:gridCol w="2706677">
                  <a:extLst>
                    <a:ext uri="{9D8B030D-6E8A-4147-A177-3AD203B41FA5}">
                      <a16:colId xmlns:a16="http://schemas.microsoft.com/office/drawing/2014/main" val="4032273223"/>
                    </a:ext>
                  </a:extLst>
                </a:gridCol>
                <a:gridCol w="2868126">
                  <a:extLst>
                    <a:ext uri="{9D8B030D-6E8A-4147-A177-3AD203B41FA5}">
                      <a16:colId xmlns:a16="http://schemas.microsoft.com/office/drawing/2014/main" val="2913777665"/>
                    </a:ext>
                  </a:extLst>
                </a:gridCol>
                <a:gridCol w="1102178">
                  <a:extLst>
                    <a:ext uri="{9D8B030D-6E8A-4147-A177-3AD203B41FA5}">
                      <a16:colId xmlns:a16="http://schemas.microsoft.com/office/drawing/2014/main" val="559662843"/>
                    </a:ext>
                  </a:extLst>
                </a:gridCol>
                <a:gridCol w="1654765">
                  <a:extLst>
                    <a:ext uri="{9D8B030D-6E8A-4147-A177-3AD203B41FA5}">
                      <a16:colId xmlns:a16="http://schemas.microsoft.com/office/drawing/2014/main" val="2723744892"/>
                    </a:ext>
                  </a:extLst>
                </a:gridCol>
                <a:gridCol w="5141185">
                  <a:extLst>
                    <a:ext uri="{9D8B030D-6E8A-4147-A177-3AD203B41FA5}">
                      <a16:colId xmlns:a16="http://schemas.microsoft.com/office/drawing/2014/main" val="1822160381"/>
                    </a:ext>
                  </a:extLst>
                </a:gridCol>
              </a:tblGrid>
              <a:tr h="455845">
                <a:tc>
                  <a:txBody>
                    <a:bodyPr/>
                    <a:lstStyle/>
                    <a:p>
                      <a:r>
                        <a:rPr lang="en-US" dirty="0">
                          <a:solidFill>
                            <a:schemeClr val="tx1"/>
                          </a:solidFill>
                          <a:latin typeface="Bitter" panose="020B0604020202020204" charset="0"/>
                        </a:rPr>
                        <a:t>NAME</a:t>
                      </a:r>
                      <a:endParaRPr lang="en-IN" dirty="0">
                        <a:solidFill>
                          <a:schemeClr val="tx1"/>
                        </a:solidFill>
                        <a:latin typeface="Bitter"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US" dirty="0">
                          <a:solidFill>
                            <a:schemeClr val="tx1"/>
                          </a:solidFill>
                          <a:latin typeface="Bitter" panose="020B0604020202020204" charset="0"/>
                        </a:rPr>
                        <a:t>UNIVERSITY- ROLL NO</a:t>
                      </a:r>
                      <a:endParaRPr lang="en-IN" dirty="0">
                        <a:solidFill>
                          <a:schemeClr val="tx1"/>
                        </a:solidFill>
                        <a:latin typeface="Bitter"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US" dirty="0">
                          <a:solidFill>
                            <a:schemeClr val="tx1"/>
                          </a:solidFill>
                          <a:latin typeface="Bitter" panose="020B0604020202020204" charset="0"/>
                        </a:rPr>
                        <a:t>DEPT </a:t>
                      </a:r>
                      <a:endParaRPr lang="en-IN" dirty="0">
                        <a:solidFill>
                          <a:schemeClr val="tx1"/>
                        </a:solidFill>
                        <a:latin typeface="Bitter"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US" dirty="0">
                          <a:solidFill>
                            <a:schemeClr val="tx1"/>
                          </a:solidFill>
                          <a:latin typeface="Bitter" panose="020B0604020202020204" charset="0"/>
                        </a:rPr>
                        <a:t>PHONE NO </a:t>
                      </a:r>
                      <a:endParaRPr lang="en-IN" dirty="0">
                        <a:solidFill>
                          <a:schemeClr val="tx1"/>
                        </a:solidFill>
                        <a:latin typeface="Bitter"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US" dirty="0">
                          <a:solidFill>
                            <a:schemeClr val="tx1"/>
                          </a:solidFill>
                          <a:latin typeface="Bitter" panose="020B0604020202020204" charset="0"/>
                        </a:rPr>
                        <a:t>COLLEGE MAIL</a:t>
                      </a:r>
                      <a:endParaRPr lang="en-IN" dirty="0">
                        <a:solidFill>
                          <a:schemeClr val="tx1"/>
                        </a:solidFill>
                        <a:latin typeface="Bitter"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extLst>
                  <a:ext uri="{0D108BD9-81ED-4DB2-BD59-A6C34878D82A}">
                    <a16:rowId xmlns:a16="http://schemas.microsoft.com/office/drawing/2014/main" val="2742043398"/>
                  </a:ext>
                </a:extLst>
              </a:tr>
              <a:tr h="7112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i="0" dirty="0">
                          <a:solidFill>
                            <a:schemeClr val="tx1"/>
                          </a:solidFill>
                          <a:effectLst/>
                          <a:latin typeface="Bitter" panose="020B0604020202020204" charset="0"/>
                        </a:rPr>
                        <a:t>BHARATHWAJ</a:t>
                      </a:r>
                      <a:r>
                        <a:rPr lang="en-US" b="0" i="0" dirty="0">
                          <a:solidFill>
                            <a:schemeClr val="tx1"/>
                          </a:solidFill>
                          <a:effectLst/>
                          <a:latin typeface="Bitter" panose="020B0604020202020204" charset="0"/>
                        </a:rPr>
                        <a:t> </a:t>
                      </a:r>
                      <a:r>
                        <a:rPr lang="en-US" dirty="0">
                          <a:solidFill>
                            <a:schemeClr val="tx1"/>
                          </a:solidFill>
                          <a:latin typeface="Bitter" panose="020B0604020202020204" charset="0"/>
                        </a:rPr>
                        <a:t>K S</a:t>
                      </a:r>
                    </a:p>
                    <a:p>
                      <a:endParaRPr lang="en-IN" dirty="0">
                        <a:solidFill>
                          <a:schemeClr val="tx1"/>
                        </a:solidFill>
                        <a:latin typeface="Bitter"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US" dirty="0">
                          <a:solidFill>
                            <a:schemeClr val="tx1"/>
                          </a:solidFill>
                          <a:latin typeface="Bitter" panose="020B0604020202020204" charset="0"/>
                        </a:rPr>
                        <a:t>192124033</a:t>
                      </a:r>
                    </a:p>
                    <a:p>
                      <a:endParaRPr lang="en-IN" dirty="0">
                        <a:solidFill>
                          <a:schemeClr val="tx1"/>
                        </a:solidFill>
                        <a:latin typeface="Bitter"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US" dirty="0">
                          <a:solidFill>
                            <a:schemeClr val="tx1"/>
                          </a:solidFill>
                          <a:latin typeface="Bitter" panose="020B0604020202020204" charset="0"/>
                        </a:rPr>
                        <a:t>AI &amp; DS</a:t>
                      </a:r>
                    </a:p>
                    <a:p>
                      <a:endParaRPr lang="en-IN" dirty="0">
                        <a:solidFill>
                          <a:schemeClr val="tx1"/>
                        </a:solidFill>
                        <a:latin typeface="Bitter"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IN" dirty="0">
                          <a:solidFill>
                            <a:schemeClr val="tx1"/>
                          </a:solidFill>
                          <a:latin typeface="Bitter" panose="020B0604020202020204" charset="0"/>
                        </a:rPr>
                        <a:t>9840075725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IN" dirty="0">
                          <a:solidFill>
                            <a:schemeClr val="tx1"/>
                          </a:solidFill>
                          <a:latin typeface="Bitter" panose="020B0604020202020204" charset="0"/>
                        </a:rPr>
                        <a:t>192124033.sse@saveetha.com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extLst>
                  <a:ext uri="{0D108BD9-81ED-4DB2-BD59-A6C34878D82A}">
                    <a16:rowId xmlns:a16="http://schemas.microsoft.com/office/drawing/2014/main" val="2504010877"/>
                  </a:ext>
                </a:extLst>
              </a:tr>
              <a:tr h="7112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i="0" dirty="0">
                          <a:solidFill>
                            <a:schemeClr val="tx1"/>
                          </a:solidFill>
                          <a:effectLst/>
                          <a:latin typeface="Bitter" panose="020B0604020202020204" charset="0"/>
                        </a:rPr>
                        <a:t>MANIK RAKSHAN </a:t>
                      </a:r>
                      <a:r>
                        <a:rPr lang="en-US" b="0" i="0" dirty="0">
                          <a:solidFill>
                            <a:schemeClr val="tx1"/>
                          </a:solidFill>
                          <a:effectLst/>
                          <a:latin typeface="Bitter" panose="020B0604020202020204" charset="0"/>
                        </a:rPr>
                        <a:t>I</a:t>
                      </a:r>
                    </a:p>
                    <a:p>
                      <a:endParaRPr lang="en-IN" dirty="0">
                        <a:solidFill>
                          <a:schemeClr val="tx1"/>
                        </a:solidFill>
                        <a:latin typeface="Bitter"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US" dirty="0">
                          <a:solidFill>
                            <a:schemeClr val="tx1"/>
                          </a:solidFill>
                          <a:latin typeface="Bitter" panose="020B0604020202020204" charset="0"/>
                        </a:rPr>
                        <a:t>192110070</a:t>
                      </a:r>
                      <a:endParaRPr lang="en-IN" dirty="0">
                        <a:solidFill>
                          <a:schemeClr val="tx1"/>
                        </a:solidFill>
                        <a:latin typeface="Bitter"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US" dirty="0">
                          <a:solidFill>
                            <a:schemeClr val="tx1"/>
                          </a:solidFill>
                          <a:latin typeface="Bitter" panose="020B0604020202020204" charset="0"/>
                        </a:rPr>
                        <a:t>CSE</a:t>
                      </a:r>
                      <a:endParaRPr lang="en-IN" dirty="0">
                        <a:solidFill>
                          <a:schemeClr val="tx1"/>
                        </a:solidFill>
                        <a:latin typeface="Bitter"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IN" dirty="0">
                          <a:solidFill>
                            <a:schemeClr val="tx1"/>
                          </a:solidFill>
                          <a:latin typeface="Bitter" panose="020B0604020202020204" charset="0"/>
                        </a:rPr>
                        <a:t>9342699432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IN" dirty="0">
                          <a:solidFill>
                            <a:schemeClr val="tx1"/>
                          </a:solidFill>
                          <a:latin typeface="Bitter" panose="020B0604020202020204" charset="0"/>
                        </a:rPr>
                        <a:t>manikrakshan0070.sse@saveetha.com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extLst>
                  <a:ext uri="{0D108BD9-81ED-4DB2-BD59-A6C34878D82A}">
                    <a16:rowId xmlns:a16="http://schemas.microsoft.com/office/drawing/2014/main" val="2890922169"/>
                  </a:ext>
                </a:extLst>
              </a:tr>
              <a:tr h="7112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i="0" dirty="0">
                          <a:solidFill>
                            <a:schemeClr val="tx1"/>
                          </a:solidFill>
                          <a:effectLst/>
                          <a:latin typeface="Bitter" panose="020B0604020202020204" charset="0"/>
                        </a:rPr>
                        <a:t>ILARIO KAGOO</a:t>
                      </a:r>
                      <a:r>
                        <a:rPr lang="en-US" dirty="0">
                          <a:solidFill>
                            <a:schemeClr val="tx1"/>
                          </a:solidFill>
                          <a:latin typeface="Bitter" panose="020B0604020202020204" charset="0"/>
                        </a:rPr>
                        <a:t> S</a:t>
                      </a:r>
                    </a:p>
                    <a:p>
                      <a:endParaRPr lang="en-IN" dirty="0">
                        <a:solidFill>
                          <a:schemeClr val="tx1"/>
                        </a:solidFill>
                        <a:latin typeface="Bitter"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IN" sz="1800" b="0" i="0" kern="1200" dirty="0">
                          <a:solidFill>
                            <a:schemeClr val="dk1"/>
                          </a:solidFill>
                          <a:effectLst/>
                          <a:latin typeface="Bitter" panose="020B0604020202020204" charset="0"/>
                          <a:ea typeface="+mn-ea"/>
                          <a:cs typeface="+mn-cs"/>
                        </a:rPr>
                        <a:t>192125047</a:t>
                      </a:r>
                      <a:endParaRPr lang="en-IN" dirty="0">
                        <a:solidFill>
                          <a:schemeClr val="tx1"/>
                        </a:solidFill>
                        <a:latin typeface="Bitter"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US" dirty="0">
                          <a:solidFill>
                            <a:schemeClr val="tx1"/>
                          </a:solidFill>
                          <a:latin typeface="Bitter" panose="020B0604020202020204" charset="0"/>
                        </a:rPr>
                        <a:t>AI &amp; ML</a:t>
                      </a:r>
                      <a:endParaRPr lang="en-IN" dirty="0">
                        <a:solidFill>
                          <a:schemeClr val="tx1"/>
                        </a:solidFill>
                        <a:latin typeface="Bitter"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IN" dirty="0">
                          <a:solidFill>
                            <a:schemeClr val="tx1"/>
                          </a:solidFill>
                          <a:latin typeface="Bitter" panose="020B0604020202020204" charset="0"/>
                        </a:rPr>
                        <a:t>9025481102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IN" dirty="0">
                          <a:solidFill>
                            <a:schemeClr val="tx1"/>
                          </a:solidFill>
                          <a:latin typeface="Bitter" panose="020B0604020202020204" charset="0"/>
                        </a:rPr>
                        <a:t>ilariokagoo5047.sse@saveetha.com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extLst>
                  <a:ext uri="{0D108BD9-81ED-4DB2-BD59-A6C34878D82A}">
                    <a16:rowId xmlns:a16="http://schemas.microsoft.com/office/drawing/2014/main" val="1399940175"/>
                  </a:ext>
                </a:extLst>
              </a:tr>
              <a:tr h="7112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i="0" dirty="0">
                          <a:solidFill>
                            <a:schemeClr val="tx1"/>
                          </a:solidFill>
                          <a:effectLst/>
                          <a:latin typeface="Bitter" panose="020B0604020202020204" charset="0"/>
                        </a:rPr>
                        <a:t>HARI RAJA PRABHU</a:t>
                      </a:r>
                      <a:r>
                        <a:rPr lang="en-US" b="0" i="0" dirty="0">
                          <a:solidFill>
                            <a:schemeClr val="tx1"/>
                          </a:solidFill>
                          <a:effectLst/>
                          <a:latin typeface="Bitter" panose="020B0604020202020204" charset="0"/>
                        </a:rPr>
                        <a:t> P</a:t>
                      </a:r>
                    </a:p>
                    <a:p>
                      <a:endParaRPr lang="en-IN" dirty="0">
                        <a:solidFill>
                          <a:schemeClr val="tx1"/>
                        </a:solidFill>
                        <a:latin typeface="Bitter"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IN" sz="1800" b="0" i="0" kern="1200" dirty="0">
                          <a:solidFill>
                            <a:schemeClr val="dk1"/>
                          </a:solidFill>
                          <a:effectLst/>
                          <a:latin typeface="Bitter" panose="020B0604020202020204" charset="0"/>
                          <a:ea typeface="+mn-ea"/>
                          <a:cs typeface="+mn-cs"/>
                        </a:rPr>
                        <a:t>192110091</a:t>
                      </a:r>
                      <a:endParaRPr lang="en-IN" dirty="0">
                        <a:solidFill>
                          <a:schemeClr val="tx1"/>
                        </a:solidFill>
                        <a:latin typeface="Bitter"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US" dirty="0">
                          <a:solidFill>
                            <a:schemeClr val="tx1"/>
                          </a:solidFill>
                          <a:latin typeface="Bitter" panose="020B0604020202020204" charset="0"/>
                        </a:rPr>
                        <a:t>CSE</a:t>
                      </a:r>
                      <a:endParaRPr lang="en-IN" dirty="0">
                        <a:solidFill>
                          <a:schemeClr val="tx1"/>
                        </a:solidFill>
                        <a:latin typeface="Bitter"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IN" dirty="0">
                          <a:solidFill>
                            <a:schemeClr val="tx1"/>
                          </a:solidFill>
                          <a:latin typeface="Bitter" panose="020B0604020202020204" charset="0"/>
                        </a:rPr>
                        <a:t>8940645820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IN" dirty="0">
                          <a:solidFill>
                            <a:schemeClr val="tx1"/>
                          </a:solidFill>
                          <a:latin typeface="Bitter" panose="020B0604020202020204" charset="0"/>
                        </a:rPr>
                        <a:t>hariprabhu0091.sse@saveetha.com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extLst>
                  <a:ext uri="{0D108BD9-81ED-4DB2-BD59-A6C34878D82A}">
                    <a16:rowId xmlns:a16="http://schemas.microsoft.com/office/drawing/2014/main" val="465273553"/>
                  </a:ext>
                </a:extLst>
              </a:tr>
              <a:tr h="7112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i="0" dirty="0">
                          <a:solidFill>
                            <a:schemeClr val="tx1"/>
                          </a:solidFill>
                          <a:effectLst/>
                          <a:latin typeface="Bitter" panose="020B0604020202020204" charset="0"/>
                        </a:rPr>
                        <a:t>ANJANA E</a:t>
                      </a:r>
                      <a:endParaRPr lang="en-US" dirty="0">
                        <a:solidFill>
                          <a:schemeClr val="tx1"/>
                        </a:solidFill>
                        <a:latin typeface="Bitter" panose="020B0604020202020204" charset="0"/>
                      </a:endParaRPr>
                    </a:p>
                    <a:p>
                      <a:endParaRPr lang="en-IN" dirty="0">
                        <a:solidFill>
                          <a:schemeClr val="tx1"/>
                        </a:solidFill>
                        <a:latin typeface="Bitter"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IN" sz="1800" b="0" i="0" kern="1200" dirty="0">
                          <a:solidFill>
                            <a:schemeClr val="dk1"/>
                          </a:solidFill>
                          <a:effectLst/>
                          <a:latin typeface="Bitter" panose="020B0604020202020204" charset="0"/>
                          <a:ea typeface="+mn-ea"/>
                          <a:cs typeface="+mn-cs"/>
                        </a:rPr>
                        <a:t>192121017</a:t>
                      </a:r>
                      <a:endParaRPr lang="en-IN" dirty="0">
                        <a:solidFill>
                          <a:schemeClr val="tx1"/>
                        </a:solidFill>
                        <a:latin typeface="Bitter"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US" dirty="0">
                          <a:solidFill>
                            <a:schemeClr val="tx1"/>
                          </a:solidFill>
                          <a:latin typeface="Bitter" panose="020B0604020202020204" charset="0"/>
                        </a:rPr>
                        <a:t>IT</a:t>
                      </a:r>
                      <a:endParaRPr lang="en-IN" dirty="0">
                        <a:solidFill>
                          <a:schemeClr val="tx1"/>
                        </a:solidFill>
                        <a:latin typeface="Bitter"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IN" dirty="0">
                          <a:solidFill>
                            <a:schemeClr val="tx1"/>
                          </a:solidFill>
                          <a:latin typeface="Bitter" panose="020B0604020202020204" charset="0"/>
                        </a:rPr>
                        <a:t>7904342001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IN" dirty="0">
                          <a:solidFill>
                            <a:schemeClr val="tx1"/>
                          </a:solidFill>
                          <a:latin typeface="Bitter" panose="020B0604020202020204" charset="0"/>
                        </a:rPr>
                        <a:t>192121017.sse@saveetha.com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extLst>
                  <a:ext uri="{0D108BD9-81ED-4DB2-BD59-A6C34878D82A}">
                    <a16:rowId xmlns:a16="http://schemas.microsoft.com/office/drawing/2014/main" val="4059008348"/>
                  </a:ext>
                </a:extLst>
              </a:tr>
              <a:tr h="7112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i="0" dirty="0">
                          <a:solidFill>
                            <a:schemeClr val="tx1"/>
                          </a:solidFill>
                          <a:effectLst/>
                          <a:latin typeface="Bitter" panose="020B0604020202020204" charset="0"/>
                        </a:rPr>
                        <a:t>HARIHARAN </a:t>
                      </a:r>
                      <a:r>
                        <a:rPr lang="en-US" b="0" i="0" dirty="0">
                          <a:solidFill>
                            <a:schemeClr val="tx1"/>
                          </a:solidFill>
                          <a:effectLst/>
                          <a:latin typeface="Bitter" panose="020B0604020202020204" charset="0"/>
                        </a:rPr>
                        <a:t>K</a:t>
                      </a:r>
                      <a:endParaRPr lang="en-US" dirty="0">
                        <a:solidFill>
                          <a:schemeClr val="tx1"/>
                        </a:solidFill>
                        <a:latin typeface="Bitter" panose="020B0604020202020204" charset="0"/>
                      </a:endParaRPr>
                    </a:p>
                    <a:p>
                      <a:endParaRPr lang="en-IN" dirty="0">
                        <a:solidFill>
                          <a:schemeClr val="tx1"/>
                        </a:solidFill>
                        <a:latin typeface="Bitter"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US" dirty="0">
                          <a:solidFill>
                            <a:schemeClr val="tx1"/>
                          </a:solidFill>
                          <a:latin typeface="Bitter" panose="020B0604020202020204" charset="0"/>
                        </a:rPr>
                        <a:t>192111708</a:t>
                      </a:r>
                      <a:endParaRPr lang="en-IN" dirty="0">
                        <a:solidFill>
                          <a:schemeClr val="tx1"/>
                        </a:solidFill>
                        <a:latin typeface="Bitter"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US" dirty="0">
                          <a:solidFill>
                            <a:schemeClr val="tx1"/>
                          </a:solidFill>
                          <a:latin typeface="Bitter" panose="020B0604020202020204" charset="0"/>
                        </a:rPr>
                        <a:t>CSE</a:t>
                      </a:r>
                      <a:endParaRPr lang="en-IN" dirty="0">
                        <a:solidFill>
                          <a:schemeClr val="tx1"/>
                        </a:solidFill>
                        <a:latin typeface="Bitter" panose="020B06040202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IN" dirty="0">
                          <a:solidFill>
                            <a:schemeClr val="tx1"/>
                          </a:solidFill>
                          <a:latin typeface="Bitter" panose="020B0604020202020204" charset="0"/>
                        </a:rPr>
                        <a:t>7338848510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tc>
                  <a:txBody>
                    <a:bodyPr/>
                    <a:lstStyle/>
                    <a:p>
                      <a:r>
                        <a:rPr lang="en-IN" dirty="0">
                          <a:solidFill>
                            <a:schemeClr val="tx1"/>
                          </a:solidFill>
                          <a:latin typeface="Bitter" panose="020B0604020202020204" charset="0"/>
                        </a:rPr>
                        <a:t>hariharanhariharan1708.sse@saveetha.com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tile tx="0" ty="0" sx="100000" sy="100000" flip="none" algn="tl"/>
                    </a:blipFill>
                  </a:tcPr>
                </a:tc>
                <a:extLst>
                  <a:ext uri="{0D108BD9-81ED-4DB2-BD59-A6C34878D82A}">
                    <a16:rowId xmlns:a16="http://schemas.microsoft.com/office/drawing/2014/main" val="4039190516"/>
                  </a:ext>
                </a:extLst>
              </a:tr>
            </a:tbl>
          </a:graphicData>
        </a:graphic>
      </p:graphicFrame>
      <p:sp>
        <p:nvSpPr>
          <p:cNvPr id="11" name="Rectangle 10">
            <a:extLst>
              <a:ext uri="{FF2B5EF4-FFF2-40B4-BE49-F238E27FC236}">
                <a16:creationId xmlns:a16="http://schemas.microsoft.com/office/drawing/2014/main" id="{BF6D8A89-D0D1-8E63-EFCD-7F64B43AEF67}"/>
              </a:ext>
            </a:extLst>
          </p:cNvPr>
          <p:cNvSpPr/>
          <p:nvPr/>
        </p:nvSpPr>
        <p:spPr>
          <a:xfrm>
            <a:off x="12841794" y="7707085"/>
            <a:ext cx="1788606" cy="522515"/>
          </a:xfrm>
          <a:prstGeom prst="rect">
            <a:avLst/>
          </a:prstGeom>
          <a:solidFill>
            <a:srgbClr val="FFF8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8F0">
              <a:alpha val="85000"/>
            </a:srgbClr>
          </a:solidFill>
          <a:ln/>
        </p:spPr>
      </p:sp>
      <p:sp>
        <p:nvSpPr>
          <p:cNvPr id="4" name="Text 1"/>
          <p:cNvSpPr/>
          <p:nvPr/>
        </p:nvSpPr>
        <p:spPr>
          <a:xfrm>
            <a:off x="595431" y="673057"/>
            <a:ext cx="5670590" cy="708779"/>
          </a:xfrm>
          <a:prstGeom prst="rect">
            <a:avLst/>
          </a:prstGeom>
          <a:noFill/>
          <a:ln/>
        </p:spPr>
        <p:txBody>
          <a:bodyPr wrap="none" lIns="0" tIns="0" rIns="0" bIns="0" rtlCol="0" anchor="t"/>
          <a:lstStyle/>
          <a:p>
            <a:pPr marL="0" indent="0">
              <a:lnSpc>
                <a:spcPts val="5550"/>
              </a:lnSpc>
              <a:buNone/>
            </a:pPr>
            <a:r>
              <a:rPr lang="en-US" sz="4800" u="sng" kern="0" spc="-134" dirty="0">
                <a:solidFill>
                  <a:srgbClr val="2C3F42"/>
                </a:solidFill>
                <a:latin typeface="Bitter" pitchFamily="34" charset="0"/>
                <a:ea typeface="Bitter" pitchFamily="34" charset="-122"/>
                <a:cs typeface="Bitter" pitchFamily="34" charset="-120"/>
              </a:rPr>
              <a:t>Problem Statement</a:t>
            </a:r>
            <a:endParaRPr lang="en-US" sz="4800" u="sng" dirty="0"/>
          </a:p>
        </p:txBody>
      </p:sp>
      <p:sp>
        <p:nvSpPr>
          <p:cNvPr id="5" name="Shape 2"/>
          <p:cNvSpPr/>
          <p:nvPr/>
        </p:nvSpPr>
        <p:spPr>
          <a:xfrm>
            <a:off x="7299960" y="1819037"/>
            <a:ext cx="30480" cy="4296608"/>
          </a:xfrm>
          <a:prstGeom prst="roundRect">
            <a:avLst>
              <a:gd name="adj" fmla="val 312558"/>
            </a:avLst>
          </a:prstGeom>
          <a:solidFill>
            <a:srgbClr val="E2C8B5"/>
          </a:solidFill>
          <a:ln/>
        </p:spPr>
      </p:sp>
      <p:sp>
        <p:nvSpPr>
          <p:cNvPr id="6" name="Shape 3"/>
          <p:cNvSpPr/>
          <p:nvPr/>
        </p:nvSpPr>
        <p:spPr>
          <a:xfrm>
            <a:off x="6296739" y="2314099"/>
            <a:ext cx="793790" cy="30480"/>
          </a:xfrm>
          <a:prstGeom prst="roundRect">
            <a:avLst>
              <a:gd name="adj" fmla="val 312558"/>
            </a:avLst>
          </a:prstGeom>
          <a:solidFill>
            <a:srgbClr val="E2C8B5"/>
          </a:solidFill>
          <a:ln/>
        </p:spPr>
      </p:sp>
      <p:sp>
        <p:nvSpPr>
          <p:cNvPr id="7" name="Shape 4"/>
          <p:cNvSpPr/>
          <p:nvPr/>
        </p:nvSpPr>
        <p:spPr>
          <a:xfrm>
            <a:off x="7060049" y="2074188"/>
            <a:ext cx="510302" cy="510302"/>
          </a:xfrm>
          <a:prstGeom prst="roundRect">
            <a:avLst>
              <a:gd name="adj" fmla="val 18669"/>
            </a:avLst>
          </a:prstGeom>
          <a:solidFill>
            <a:srgbClr val="FCE2CF"/>
          </a:solidFill>
          <a:ln w="7620">
            <a:solidFill>
              <a:srgbClr val="E2C8B5"/>
            </a:solidFill>
            <a:prstDash val="solid"/>
          </a:ln>
        </p:spPr>
      </p:sp>
      <p:sp>
        <p:nvSpPr>
          <p:cNvPr id="8" name="Text 5"/>
          <p:cNvSpPr/>
          <p:nvPr/>
        </p:nvSpPr>
        <p:spPr>
          <a:xfrm>
            <a:off x="7249716" y="2159198"/>
            <a:ext cx="130969" cy="340281"/>
          </a:xfrm>
          <a:prstGeom prst="rect">
            <a:avLst/>
          </a:prstGeom>
          <a:noFill/>
          <a:ln/>
        </p:spPr>
        <p:txBody>
          <a:bodyPr wrap="none" lIns="0" tIns="0" rIns="0" bIns="0" rtlCol="0" anchor="t"/>
          <a:lstStyle/>
          <a:p>
            <a:pPr marL="0" indent="0" algn="ctr">
              <a:lnSpc>
                <a:spcPts val="2650"/>
              </a:lnSpc>
              <a:buNone/>
            </a:pPr>
            <a:r>
              <a:rPr lang="en-US" sz="2650" kern="0" spc="-80" dirty="0">
                <a:solidFill>
                  <a:srgbClr val="2B2E3C"/>
                </a:solidFill>
                <a:latin typeface="Bitter" pitchFamily="34" charset="0"/>
                <a:ea typeface="Bitter" pitchFamily="34" charset="-122"/>
                <a:cs typeface="Bitter" pitchFamily="34" charset="-120"/>
              </a:rPr>
              <a:t>1</a:t>
            </a:r>
            <a:endParaRPr lang="en-US" sz="2650" dirty="0"/>
          </a:p>
        </p:txBody>
      </p:sp>
      <p:sp>
        <p:nvSpPr>
          <p:cNvPr id="9" name="Text 6"/>
          <p:cNvSpPr/>
          <p:nvPr/>
        </p:nvSpPr>
        <p:spPr>
          <a:xfrm>
            <a:off x="2338626" y="2045851"/>
            <a:ext cx="3729037" cy="354330"/>
          </a:xfrm>
          <a:prstGeom prst="rect">
            <a:avLst/>
          </a:prstGeom>
          <a:noFill/>
          <a:ln/>
        </p:spPr>
        <p:txBody>
          <a:bodyPr wrap="none" lIns="0" tIns="0" rIns="0" bIns="0" rtlCol="0" anchor="t"/>
          <a:lstStyle/>
          <a:p>
            <a:pPr marL="0" indent="0" algn="r">
              <a:lnSpc>
                <a:spcPts val="2750"/>
              </a:lnSpc>
              <a:buNone/>
            </a:pPr>
            <a:r>
              <a:rPr lang="en-US" sz="2800" b="1" u="sng" kern="0" spc="-67" dirty="0">
                <a:solidFill>
                  <a:srgbClr val="2B2E3C"/>
                </a:solidFill>
                <a:latin typeface="Bitter" pitchFamily="34" charset="0"/>
                <a:ea typeface="Bitter" pitchFamily="34" charset="-122"/>
                <a:cs typeface="Bitter" pitchFamily="34" charset="-120"/>
              </a:rPr>
              <a:t>Limited Market Access</a:t>
            </a:r>
            <a:endParaRPr lang="en-US" sz="2800" b="1" u="sng" dirty="0"/>
          </a:p>
        </p:txBody>
      </p:sp>
      <p:sp>
        <p:nvSpPr>
          <p:cNvPr id="10" name="Text 7"/>
          <p:cNvSpPr/>
          <p:nvPr/>
        </p:nvSpPr>
        <p:spPr>
          <a:xfrm>
            <a:off x="793790" y="2536269"/>
            <a:ext cx="5273873" cy="725805"/>
          </a:xfrm>
          <a:prstGeom prst="rect">
            <a:avLst/>
          </a:prstGeom>
          <a:noFill/>
          <a:ln/>
        </p:spPr>
        <p:txBody>
          <a:bodyPr wrap="square" lIns="0" tIns="0" rIns="0" bIns="0" rtlCol="0" anchor="t"/>
          <a:lstStyle/>
          <a:p>
            <a:pPr marL="0" indent="0" algn="r">
              <a:lnSpc>
                <a:spcPts val="2850"/>
              </a:lnSpc>
              <a:buNone/>
            </a:pPr>
            <a:r>
              <a:rPr lang="en-US" sz="1750" b="1" kern="0" spc="-36" dirty="0">
                <a:solidFill>
                  <a:srgbClr val="2B2E3C"/>
                </a:solidFill>
                <a:latin typeface="Open Sans" pitchFamily="34" charset="0"/>
                <a:ea typeface="Open Sans" pitchFamily="34" charset="-122"/>
                <a:cs typeface="Open Sans" pitchFamily="34" charset="-120"/>
              </a:rPr>
              <a:t>Farmers often struggle to find reliable buyers for their produce, leading to limited income and waste.</a:t>
            </a:r>
            <a:endParaRPr lang="en-US" sz="1750" b="1" dirty="0"/>
          </a:p>
        </p:txBody>
      </p:sp>
      <p:sp>
        <p:nvSpPr>
          <p:cNvPr id="11" name="Shape 8"/>
          <p:cNvSpPr/>
          <p:nvPr/>
        </p:nvSpPr>
        <p:spPr>
          <a:xfrm>
            <a:off x="7539871" y="3448169"/>
            <a:ext cx="793790" cy="30480"/>
          </a:xfrm>
          <a:prstGeom prst="roundRect">
            <a:avLst>
              <a:gd name="adj" fmla="val 312558"/>
            </a:avLst>
          </a:prstGeom>
          <a:solidFill>
            <a:srgbClr val="E2C8B5"/>
          </a:solidFill>
          <a:ln/>
        </p:spPr>
      </p:sp>
      <p:sp>
        <p:nvSpPr>
          <p:cNvPr id="12" name="Shape 9"/>
          <p:cNvSpPr/>
          <p:nvPr/>
        </p:nvSpPr>
        <p:spPr>
          <a:xfrm>
            <a:off x="7060049" y="3208258"/>
            <a:ext cx="510302" cy="510302"/>
          </a:xfrm>
          <a:prstGeom prst="roundRect">
            <a:avLst>
              <a:gd name="adj" fmla="val 18669"/>
            </a:avLst>
          </a:prstGeom>
          <a:solidFill>
            <a:srgbClr val="FCE2CF"/>
          </a:solidFill>
          <a:ln w="7620">
            <a:solidFill>
              <a:srgbClr val="E2C8B5"/>
            </a:solidFill>
            <a:prstDash val="solid"/>
          </a:ln>
        </p:spPr>
      </p:sp>
      <p:sp>
        <p:nvSpPr>
          <p:cNvPr id="13" name="Text 10"/>
          <p:cNvSpPr/>
          <p:nvPr/>
        </p:nvSpPr>
        <p:spPr>
          <a:xfrm>
            <a:off x="7226737" y="3293269"/>
            <a:ext cx="176927" cy="340281"/>
          </a:xfrm>
          <a:prstGeom prst="rect">
            <a:avLst/>
          </a:prstGeom>
          <a:noFill/>
          <a:ln/>
        </p:spPr>
        <p:txBody>
          <a:bodyPr wrap="none" lIns="0" tIns="0" rIns="0" bIns="0" rtlCol="0" anchor="t"/>
          <a:lstStyle/>
          <a:p>
            <a:pPr marL="0" indent="0" algn="ctr">
              <a:lnSpc>
                <a:spcPts val="2650"/>
              </a:lnSpc>
              <a:buNone/>
            </a:pPr>
            <a:r>
              <a:rPr lang="en-US" sz="2650" kern="0" spc="-80" dirty="0">
                <a:solidFill>
                  <a:srgbClr val="2B2E3C"/>
                </a:solidFill>
                <a:latin typeface="Bitter" pitchFamily="34" charset="0"/>
                <a:ea typeface="Bitter" pitchFamily="34" charset="-122"/>
                <a:cs typeface="Bitter" pitchFamily="34" charset="-120"/>
              </a:rPr>
              <a:t>2</a:t>
            </a:r>
            <a:endParaRPr lang="en-US" sz="2650" dirty="0"/>
          </a:p>
        </p:txBody>
      </p:sp>
      <p:sp>
        <p:nvSpPr>
          <p:cNvPr id="14" name="Text 11"/>
          <p:cNvSpPr/>
          <p:nvPr/>
        </p:nvSpPr>
        <p:spPr>
          <a:xfrm>
            <a:off x="8562737" y="3179921"/>
            <a:ext cx="2835235" cy="354330"/>
          </a:xfrm>
          <a:prstGeom prst="rect">
            <a:avLst/>
          </a:prstGeom>
          <a:noFill/>
          <a:ln/>
        </p:spPr>
        <p:txBody>
          <a:bodyPr wrap="none" lIns="0" tIns="0" rIns="0" bIns="0" rtlCol="0" anchor="t"/>
          <a:lstStyle/>
          <a:p>
            <a:pPr marL="0" indent="0" algn="l">
              <a:lnSpc>
                <a:spcPts val="2750"/>
              </a:lnSpc>
              <a:buNone/>
            </a:pPr>
            <a:r>
              <a:rPr lang="en-US" sz="2800" b="1" u="sng" kern="0" spc="-67" dirty="0">
                <a:solidFill>
                  <a:srgbClr val="2B2E3C"/>
                </a:solidFill>
                <a:latin typeface="Bitter" pitchFamily="34" charset="0"/>
                <a:ea typeface="Bitter" pitchFamily="34" charset="-122"/>
                <a:cs typeface="Bitter" pitchFamily="34" charset="-120"/>
              </a:rPr>
              <a:t>Price Volatility</a:t>
            </a:r>
            <a:endParaRPr lang="en-US" sz="2800" b="1" u="sng" dirty="0"/>
          </a:p>
        </p:txBody>
      </p:sp>
      <p:sp>
        <p:nvSpPr>
          <p:cNvPr id="15" name="Text 12"/>
          <p:cNvSpPr/>
          <p:nvPr/>
        </p:nvSpPr>
        <p:spPr>
          <a:xfrm>
            <a:off x="8562737" y="3670340"/>
            <a:ext cx="5273873" cy="1088708"/>
          </a:xfrm>
          <a:prstGeom prst="rect">
            <a:avLst/>
          </a:prstGeom>
          <a:noFill/>
          <a:ln/>
        </p:spPr>
        <p:txBody>
          <a:bodyPr wrap="square" lIns="0" tIns="0" rIns="0" bIns="0" rtlCol="0" anchor="t"/>
          <a:lstStyle/>
          <a:p>
            <a:pPr marL="0" indent="0" algn="l">
              <a:lnSpc>
                <a:spcPts val="2850"/>
              </a:lnSpc>
              <a:buNone/>
            </a:pPr>
            <a:r>
              <a:rPr lang="en-US" sz="1750" b="1" kern="0" spc="-36" dirty="0">
                <a:solidFill>
                  <a:srgbClr val="2B2E3C"/>
                </a:solidFill>
                <a:latin typeface="Open Sans" pitchFamily="34" charset="0"/>
                <a:ea typeface="Open Sans" pitchFamily="34" charset="-122"/>
                <a:cs typeface="Open Sans" pitchFamily="34" charset="-120"/>
              </a:rPr>
              <a:t>Fluctuating prices in traditional markets can make it difficult for farmers to plan and earn a stable income.</a:t>
            </a:r>
            <a:endParaRPr lang="en-US" sz="1750" b="1" dirty="0"/>
          </a:p>
        </p:txBody>
      </p:sp>
      <p:sp>
        <p:nvSpPr>
          <p:cNvPr id="16" name="Shape 13"/>
          <p:cNvSpPr/>
          <p:nvPr/>
        </p:nvSpPr>
        <p:spPr>
          <a:xfrm>
            <a:off x="6296739" y="4577953"/>
            <a:ext cx="793790" cy="30480"/>
          </a:xfrm>
          <a:prstGeom prst="roundRect">
            <a:avLst>
              <a:gd name="adj" fmla="val 312558"/>
            </a:avLst>
          </a:prstGeom>
          <a:solidFill>
            <a:srgbClr val="E2C8B5"/>
          </a:solidFill>
          <a:ln/>
        </p:spPr>
      </p:sp>
      <p:sp>
        <p:nvSpPr>
          <p:cNvPr id="17" name="Shape 14"/>
          <p:cNvSpPr/>
          <p:nvPr/>
        </p:nvSpPr>
        <p:spPr>
          <a:xfrm>
            <a:off x="7060049" y="4338042"/>
            <a:ext cx="510302" cy="510302"/>
          </a:xfrm>
          <a:prstGeom prst="roundRect">
            <a:avLst>
              <a:gd name="adj" fmla="val 18669"/>
            </a:avLst>
          </a:prstGeom>
          <a:solidFill>
            <a:srgbClr val="FCE2CF"/>
          </a:solidFill>
          <a:ln w="7620">
            <a:solidFill>
              <a:srgbClr val="E2C8B5"/>
            </a:solidFill>
            <a:prstDash val="solid"/>
          </a:ln>
        </p:spPr>
      </p:sp>
      <p:sp>
        <p:nvSpPr>
          <p:cNvPr id="18" name="Text 15"/>
          <p:cNvSpPr/>
          <p:nvPr/>
        </p:nvSpPr>
        <p:spPr>
          <a:xfrm>
            <a:off x="7222927" y="4423053"/>
            <a:ext cx="184428" cy="340281"/>
          </a:xfrm>
          <a:prstGeom prst="rect">
            <a:avLst/>
          </a:prstGeom>
          <a:noFill/>
          <a:ln/>
        </p:spPr>
        <p:txBody>
          <a:bodyPr wrap="none" lIns="0" tIns="0" rIns="0" bIns="0" rtlCol="0" anchor="t"/>
          <a:lstStyle/>
          <a:p>
            <a:pPr marL="0" indent="0" algn="ctr">
              <a:lnSpc>
                <a:spcPts val="2650"/>
              </a:lnSpc>
              <a:buNone/>
            </a:pPr>
            <a:r>
              <a:rPr lang="en-US" sz="2650" kern="0" spc="-80" dirty="0">
                <a:solidFill>
                  <a:srgbClr val="2B2E3C"/>
                </a:solidFill>
                <a:latin typeface="Bitter" pitchFamily="34" charset="0"/>
                <a:ea typeface="Bitter" pitchFamily="34" charset="-122"/>
                <a:cs typeface="Bitter" pitchFamily="34" charset="-120"/>
              </a:rPr>
              <a:t>3</a:t>
            </a:r>
            <a:endParaRPr lang="en-US" sz="2650" dirty="0"/>
          </a:p>
        </p:txBody>
      </p:sp>
      <p:sp>
        <p:nvSpPr>
          <p:cNvPr id="19" name="Text 16"/>
          <p:cNvSpPr/>
          <p:nvPr/>
        </p:nvSpPr>
        <p:spPr>
          <a:xfrm>
            <a:off x="2338626" y="4309705"/>
            <a:ext cx="3729038" cy="354330"/>
          </a:xfrm>
          <a:prstGeom prst="rect">
            <a:avLst/>
          </a:prstGeom>
          <a:noFill/>
          <a:ln/>
        </p:spPr>
        <p:txBody>
          <a:bodyPr wrap="none" lIns="0" tIns="0" rIns="0" bIns="0" rtlCol="0" anchor="t"/>
          <a:lstStyle/>
          <a:p>
            <a:pPr marL="0" indent="0" algn="r">
              <a:lnSpc>
                <a:spcPts val="2750"/>
              </a:lnSpc>
              <a:buNone/>
            </a:pPr>
            <a:r>
              <a:rPr lang="en-US" sz="2800" b="1" u="sng" kern="0" spc="-67" dirty="0">
                <a:solidFill>
                  <a:srgbClr val="2B2E3C"/>
                </a:solidFill>
                <a:latin typeface="Bitter" pitchFamily="34" charset="0"/>
                <a:ea typeface="Bitter" pitchFamily="34" charset="-122"/>
                <a:cs typeface="Bitter" pitchFamily="34" charset="-120"/>
              </a:rPr>
              <a:t>Lack of Consumer Connection</a:t>
            </a:r>
            <a:endParaRPr lang="en-US" sz="2800" b="1" u="sng" dirty="0"/>
          </a:p>
        </p:txBody>
      </p:sp>
      <p:sp>
        <p:nvSpPr>
          <p:cNvPr id="20" name="Text 17"/>
          <p:cNvSpPr/>
          <p:nvPr/>
        </p:nvSpPr>
        <p:spPr>
          <a:xfrm>
            <a:off x="793790" y="4800124"/>
            <a:ext cx="5273873" cy="1088708"/>
          </a:xfrm>
          <a:prstGeom prst="rect">
            <a:avLst/>
          </a:prstGeom>
          <a:noFill/>
          <a:ln/>
        </p:spPr>
        <p:txBody>
          <a:bodyPr wrap="square" lIns="0" tIns="0" rIns="0" bIns="0" rtlCol="0" anchor="t"/>
          <a:lstStyle/>
          <a:p>
            <a:pPr marL="0" indent="0" algn="r">
              <a:lnSpc>
                <a:spcPts val="2850"/>
              </a:lnSpc>
              <a:buNone/>
            </a:pPr>
            <a:r>
              <a:rPr lang="en-US" sz="1750" b="1" kern="0" spc="-36" dirty="0">
                <a:solidFill>
                  <a:srgbClr val="2B2E3C"/>
                </a:solidFill>
                <a:latin typeface="Open Sans" pitchFamily="34" charset="0"/>
                <a:ea typeface="Open Sans" pitchFamily="34" charset="-122"/>
                <a:cs typeface="Open Sans" pitchFamily="34" charset="-120"/>
              </a:rPr>
              <a:t>Consumers often lack awareness of the challenges farmers face, leading to a disconnect between production and consumption.</a:t>
            </a:r>
            <a:endParaRPr lang="en-US" sz="1750" b="1" dirty="0"/>
          </a:p>
        </p:txBody>
      </p:sp>
      <p:sp>
        <p:nvSpPr>
          <p:cNvPr id="21" name="Text 18"/>
          <p:cNvSpPr/>
          <p:nvPr/>
        </p:nvSpPr>
        <p:spPr>
          <a:xfrm>
            <a:off x="701516" y="6612085"/>
            <a:ext cx="13042821" cy="1088708"/>
          </a:xfrm>
          <a:prstGeom prst="rect">
            <a:avLst/>
          </a:prstGeom>
          <a:noFill/>
          <a:ln/>
        </p:spPr>
        <p:txBody>
          <a:bodyPr wrap="square" lIns="0" tIns="0" rIns="0" bIns="0" rtlCol="0" anchor="t"/>
          <a:lstStyle/>
          <a:p>
            <a:pPr marL="0" indent="0">
              <a:lnSpc>
                <a:spcPts val="2850"/>
              </a:lnSpc>
              <a:buNone/>
            </a:pPr>
            <a:r>
              <a:rPr lang="en-US" sz="1750" b="1" kern="0" spc="-36" dirty="0">
                <a:solidFill>
                  <a:srgbClr val="2B2E3C"/>
                </a:solidFill>
                <a:latin typeface="Open Sans" pitchFamily="34" charset="0"/>
                <a:ea typeface="Open Sans" pitchFamily="34" charset="-122"/>
                <a:cs typeface="Open Sans" pitchFamily="34" charset="-120"/>
              </a:rPr>
              <a:t>Farmers face challenges in accessing fair markets and reaching consumers directly. Traditional supply chains often lead to price fluctuations and unfair profits for middlemen. This creates a disconnect between farmers and consumers, hindering economic growth for both parties.</a:t>
            </a:r>
            <a:endParaRPr lang="en-US" sz="175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77878" y="191095"/>
            <a:ext cx="4024908" cy="503158"/>
          </a:xfrm>
          <a:prstGeom prst="rect">
            <a:avLst/>
          </a:prstGeom>
          <a:noFill/>
          <a:ln/>
        </p:spPr>
        <p:txBody>
          <a:bodyPr wrap="none" lIns="0" tIns="0" rIns="0" bIns="0" rtlCol="0" anchor="t"/>
          <a:lstStyle/>
          <a:p>
            <a:pPr marL="0" indent="0">
              <a:lnSpc>
                <a:spcPts val="3950"/>
              </a:lnSpc>
              <a:buNone/>
            </a:pPr>
            <a:r>
              <a:rPr lang="en-US" sz="3150" b="1" u="sng" kern="0" spc="-95" dirty="0">
                <a:solidFill>
                  <a:srgbClr val="2C3F42"/>
                </a:solidFill>
                <a:latin typeface="Bitter" pitchFamily="34" charset="0"/>
                <a:ea typeface="Bitter" pitchFamily="34" charset="-122"/>
                <a:cs typeface="Bitter" pitchFamily="34" charset="-120"/>
              </a:rPr>
              <a:t>App Over View/ Flowchart</a:t>
            </a:r>
            <a:endParaRPr lang="en-US" sz="3150" b="1" u="sng" dirty="0"/>
          </a:p>
        </p:txBody>
      </p:sp>
      <p:pic>
        <p:nvPicPr>
          <p:cNvPr id="3" name="Image 0" descr="preencoded.png"/>
          <p:cNvPicPr>
            <a:picLocks noChangeAspect="1"/>
          </p:cNvPicPr>
          <p:nvPr/>
        </p:nvPicPr>
        <p:blipFill>
          <a:blip r:embed="rId3"/>
          <a:stretch>
            <a:fillRect/>
          </a:stretch>
        </p:blipFill>
        <p:spPr>
          <a:xfrm>
            <a:off x="3896074" y="778811"/>
            <a:ext cx="6838251" cy="7340717"/>
          </a:xfrm>
          <a:prstGeom prst="rect">
            <a:avLst/>
          </a:prstGeom>
          <a:ln>
            <a:noFill/>
          </a:ln>
          <a:effectLst>
            <a:outerShdw blurRad="292100" dist="139700" dir="2700000" algn="tl" rotWithShape="0">
              <a:srgbClr val="333333">
                <a:alpha val="38000"/>
              </a:srgbClr>
            </a:outerShdw>
          </a:effectLst>
        </p:spPr>
      </p:pic>
      <p:sp>
        <p:nvSpPr>
          <p:cNvPr id="4" name="Rectangle 3">
            <a:extLst>
              <a:ext uri="{FF2B5EF4-FFF2-40B4-BE49-F238E27FC236}">
                <a16:creationId xmlns:a16="http://schemas.microsoft.com/office/drawing/2014/main" id="{AA22B02C-9014-3C45-9539-8B3B6E3E4021}"/>
              </a:ext>
            </a:extLst>
          </p:cNvPr>
          <p:cNvSpPr/>
          <p:nvPr/>
        </p:nvSpPr>
        <p:spPr>
          <a:xfrm>
            <a:off x="12841794" y="7707085"/>
            <a:ext cx="1788606" cy="522515"/>
          </a:xfrm>
          <a:prstGeom prst="rect">
            <a:avLst/>
          </a:prstGeom>
          <a:solidFill>
            <a:srgbClr val="FFF8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555480" y="2533650"/>
            <a:ext cx="4663440" cy="3162300"/>
          </a:xfrm>
          <a:prstGeom prst="rect">
            <a:avLst/>
          </a:prstGeom>
        </p:spPr>
      </p:pic>
      <p:sp>
        <p:nvSpPr>
          <p:cNvPr id="4" name="Text 0"/>
          <p:cNvSpPr/>
          <p:nvPr/>
        </p:nvSpPr>
        <p:spPr>
          <a:xfrm>
            <a:off x="793790" y="554341"/>
            <a:ext cx="5670590" cy="708779"/>
          </a:xfrm>
          <a:prstGeom prst="rect">
            <a:avLst/>
          </a:prstGeom>
          <a:noFill/>
          <a:ln/>
        </p:spPr>
        <p:txBody>
          <a:bodyPr wrap="none" lIns="0" tIns="0" rIns="0" bIns="0" rtlCol="0" anchor="t"/>
          <a:lstStyle/>
          <a:p>
            <a:pPr marL="0" indent="0">
              <a:lnSpc>
                <a:spcPts val="5550"/>
              </a:lnSpc>
              <a:buNone/>
            </a:pPr>
            <a:r>
              <a:rPr lang="en-US" sz="4450" b="1" u="sng" kern="0" spc="-134" dirty="0">
                <a:solidFill>
                  <a:srgbClr val="2C3F42"/>
                </a:solidFill>
                <a:latin typeface="Bitter" pitchFamily="34" charset="0"/>
                <a:ea typeface="Bitter" pitchFamily="34" charset="-122"/>
                <a:cs typeface="Bitter" pitchFamily="34" charset="-120"/>
              </a:rPr>
              <a:t>Proposed Solution</a:t>
            </a:r>
            <a:endParaRPr lang="en-US" sz="4450" b="1" u="sng" dirty="0"/>
          </a:p>
        </p:txBody>
      </p:sp>
      <p:sp>
        <p:nvSpPr>
          <p:cNvPr id="5" name="Text 1"/>
          <p:cNvSpPr/>
          <p:nvPr/>
        </p:nvSpPr>
        <p:spPr>
          <a:xfrm>
            <a:off x="793670" y="1531137"/>
            <a:ext cx="7556421" cy="1451610"/>
          </a:xfrm>
          <a:prstGeom prst="rect">
            <a:avLst/>
          </a:prstGeom>
          <a:noFill/>
          <a:ln/>
        </p:spPr>
        <p:txBody>
          <a:bodyPr wrap="square" lIns="0" tIns="0" rIns="0" bIns="0" rtlCol="0" anchor="t"/>
          <a:lstStyle/>
          <a:p>
            <a:pPr marL="0" indent="0">
              <a:lnSpc>
                <a:spcPts val="2850"/>
              </a:lnSpc>
              <a:buNone/>
            </a:pPr>
            <a:r>
              <a:rPr lang="en-US" kern="0" spc="-36" dirty="0">
                <a:solidFill>
                  <a:srgbClr val="2B2E3C"/>
                </a:solidFill>
                <a:latin typeface="Open Sans" pitchFamily="34" charset="0"/>
                <a:ea typeface="Open Sans" pitchFamily="34" charset="-122"/>
                <a:cs typeface="Open Sans" pitchFamily="34" charset="-120"/>
              </a:rPr>
              <a:t>We propose a mobile application that connects farmers directly to consumers, eliminating middlemen and empowering both parties. The app will allow farmers to showcase their produce, manage inventory, and engage with potential customers.</a:t>
            </a:r>
            <a:endParaRPr lang="en-US" dirty="0"/>
          </a:p>
        </p:txBody>
      </p:sp>
      <p:pic>
        <p:nvPicPr>
          <p:cNvPr id="6" name="Image 2" descr="preencoded.png"/>
          <p:cNvPicPr>
            <a:picLocks noChangeAspect="1"/>
          </p:cNvPicPr>
          <p:nvPr/>
        </p:nvPicPr>
        <p:blipFill>
          <a:blip r:embed="rId5"/>
          <a:stretch>
            <a:fillRect/>
          </a:stretch>
        </p:blipFill>
        <p:spPr>
          <a:xfrm>
            <a:off x="793790" y="3403163"/>
            <a:ext cx="566976" cy="566976"/>
          </a:xfrm>
          <a:prstGeom prst="rect">
            <a:avLst/>
          </a:prstGeom>
        </p:spPr>
      </p:pic>
      <p:sp>
        <p:nvSpPr>
          <p:cNvPr id="7" name="Text 2"/>
          <p:cNvSpPr/>
          <p:nvPr/>
        </p:nvSpPr>
        <p:spPr>
          <a:xfrm>
            <a:off x="793790" y="4196953"/>
            <a:ext cx="2291953" cy="708660"/>
          </a:xfrm>
          <a:prstGeom prst="rect">
            <a:avLst/>
          </a:prstGeom>
          <a:noFill/>
          <a:ln/>
        </p:spPr>
        <p:txBody>
          <a:bodyPr wrap="square" lIns="0" tIns="0" rIns="0" bIns="0" rtlCol="0" anchor="t"/>
          <a:lstStyle/>
          <a:p>
            <a:pPr marL="0" indent="0" algn="l">
              <a:lnSpc>
                <a:spcPts val="2750"/>
              </a:lnSpc>
              <a:buNone/>
            </a:pPr>
            <a:r>
              <a:rPr lang="en-US" sz="2200" b="1" kern="0" spc="-67" dirty="0">
                <a:solidFill>
                  <a:srgbClr val="2B2E3C"/>
                </a:solidFill>
                <a:latin typeface="Bitter" pitchFamily="34" charset="0"/>
                <a:ea typeface="Bitter" pitchFamily="34" charset="-122"/>
                <a:cs typeface="Bitter" pitchFamily="34" charset="-120"/>
              </a:rPr>
              <a:t>Direct Market Access</a:t>
            </a:r>
            <a:endParaRPr lang="en-US" sz="2200" b="1" dirty="0"/>
          </a:p>
        </p:txBody>
      </p:sp>
      <p:sp>
        <p:nvSpPr>
          <p:cNvPr id="8" name="Text 3"/>
          <p:cNvSpPr/>
          <p:nvPr/>
        </p:nvSpPr>
        <p:spPr>
          <a:xfrm>
            <a:off x="793790" y="5041702"/>
            <a:ext cx="2291953" cy="1814513"/>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Farmers can list their produce directly on the app, reaching a wider audience of consumers.</a:t>
            </a:r>
            <a:endParaRPr lang="en-US" sz="1750" dirty="0"/>
          </a:p>
        </p:txBody>
      </p:sp>
      <p:pic>
        <p:nvPicPr>
          <p:cNvPr id="9" name="Image 3" descr="preencoded.png"/>
          <p:cNvPicPr>
            <a:picLocks noChangeAspect="1"/>
          </p:cNvPicPr>
          <p:nvPr/>
        </p:nvPicPr>
        <p:blipFill>
          <a:blip r:embed="rId6"/>
          <a:stretch>
            <a:fillRect/>
          </a:stretch>
        </p:blipFill>
        <p:spPr>
          <a:xfrm>
            <a:off x="3425904" y="3403163"/>
            <a:ext cx="566976" cy="566976"/>
          </a:xfrm>
          <a:prstGeom prst="rect">
            <a:avLst/>
          </a:prstGeom>
        </p:spPr>
      </p:pic>
      <p:sp>
        <p:nvSpPr>
          <p:cNvPr id="10" name="Text 4"/>
          <p:cNvSpPr/>
          <p:nvPr/>
        </p:nvSpPr>
        <p:spPr>
          <a:xfrm>
            <a:off x="3425904" y="4196953"/>
            <a:ext cx="2292072" cy="708660"/>
          </a:xfrm>
          <a:prstGeom prst="rect">
            <a:avLst/>
          </a:prstGeom>
          <a:noFill/>
          <a:ln/>
        </p:spPr>
        <p:txBody>
          <a:bodyPr wrap="square" lIns="0" tIns="0" rIns="0" bIns="0" rtlCol="0" anchor="t"/>
          <a:lstStyle/>
          <a:p>
            <a:pPr marL="0" indent="0" algn="l">
              <a:lnSpc>
                <a:spcPts val="2750"/>
              </a:lnSpc>
              <a:buNone/>
            </a:pPr>
            <a:r>
              <a:rPr lang="en-US" sz="2200" b="1" kern="0" spc="-67" dirty="0">
                <a:solidFill>
                  <a:srgbClr val="2B2E3C"/>
                </a:solidFill>
                <a:latin typeface="Bitter" pitchFamily="34" charset="0"/>
                <a:ea typeface="Bitter" pitchFamily="34" charset="-122"/>
                <a:cs typeface="Bitter" pitchFamily="34" charset="-120"/>
              </a:rPr>
              <a:t>Transparent Pricing</a:t>
            </a:r>
            <a:endParaRPr lang="en-US" sz="2200" b="1" dirty="0"/>
          </a:p>
        </p:txBody>
      </p:sp>
      <p:sp>
        <p:nvSpPr>
          <p:cNvPr id="11" name="Text 5"/>
          <p:cNvSpPr/>
          <p:nvPr/>
        </p:nvSpPr>
        <p:spPr>
          <a:xfrm>
            <a:off x="3425904" y="5041702"/>
            <a:ext cx="2292072" cy="1814513"/>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Consumers can see the actual cost of produce, understanding the value farmers bring.</a:t>
            </a:r>
            <a:endParaRPr lang="en-US" sz="1750" dirty="0"/>
          </a:p>
        </p:txBody>
      </p:sp>
      <p:pic>
        <p:nvPicPr>
          <p:cNvPr id="12" name="Image 4" descr="preencoded.png"/>
          <p:cNvPicPr>
            <a:picLocks noChangeAspect="1"/>
          </p:cNvPicPr>
          <p:nvPr/>
        </p:nvPicPr>
        <p:blipFill>
          <a:blip r:embed="rId7"/>
          <a:stretch>
            <a:fillRect/>
          </a:stretch>
        </p:blipFill>
        <p:spPr>
          <a:xfrm>
            <a:off x="6058138" y="3403163"/>
            <a:ext cx="566976" cy="566976"/>
          </a:xfrm>
          <a:prstGeom prst="rect">
            <a:avLst/>
          </a:prstGeom>
        </p:spPr>
      </p:pic>
      <p:sp>
        <p:nvSpPr>
          <p:cNvPr id="13" name="Text 6"/>
          <p:cNvSpPr/>
          <p:nvPr/>
        </p:nvSpPr>
        <p:spPr>
          <a:xfrm>
            <a:off x="6058138" y="4196953"/>
            <a:ext cx="2291953" cy="708660"/>
          </a:xfrm>
          <a:prstGeom prst="rect">
            <a:avLst/>
          </a:prstGeom>
          <a:noFill/>
          <a:ln/>
        </p:spPr>
        <p:txBody>
          <a:bodyPr wrap="square" lIns="0" tIns="0" rIns="0" bIns="0" rtlCol="0" anchor="t"/>
          <a:lstStyle/>
          <a:p>
            <a:pPr marL="0" indent="0" algn="l">
              <a:lnSpc>
                <a:spcPts val="2750"/>
              </a:lnSpc>
              <a:buNone/>
            </a:pPr>
            <a:r>
              <a:rPr lang="en-US" sz="2200" b="1" kern="0" spc="-67" dirty="0">
                <a:solidFill>
                  <a:srgbClr val="2B2E3C"/>
                </a:solidFill>
                <a:latin typeface="Bitter" pitchFamily="34" charset="0"/>
                <a:ea typeface="Bitter" pitchFamily="34" charset="-122"/>
                <a:cs typeface="Bitter" pitchFamily="34" charset="-120"/>
              </a:rPr>
              <a:t>Community Building</a:t>
            </a:r>
            <a:endParaRPr lang="en-US" sz="2200" b="1" dirty="0"/>
          </a:p>
        </p:txBody>
      </p:sp>
      <p:sp>
        <p:nvSpPr>
          <p:cNvPr id="14" name="Text 7"/>
          <p:cNvSpPr/>
          <p:nvPr/>
        </p:nvSpPr>
        <p:spPr>
          <a:xfrm>
            <a:off x="6058138" y="5041702"/>
            <a:ext cx="2291953" cy="2540318"/>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The app fosters a community where farmers and consumers can connect, share information, and build relationships.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273788" y="163328"/>
            <a:ext cx="3915847" cy="489466"/>
          </a:xfrm>
          <a:prstGeom prst="rect">
            <a:avLst/>
          </a:prstGeom>
          <a:noFill/>
          <a:ln/>
        </p:spPr>
        <p:txBody>
          <a:bodyPr wrap="none" lIns="0" tIns="0" rIns="0" bIns="0" rtlCol="0" anchor="t"/>
          <a:lstStyle/>
          <a:p>
            <a:pPr marL="0" indent="0">
              <a:lnSpc>
                <a:spcPts val="3850"/>
              </a:lnSpc>
              <a:buNone/>
            </a:pPr>
            <a:r>
              <a:rPr lang="en-US" sz="3600" b="1" u="sng" kern="0" spc="-93" dirty="0">
                <a:solidFill>
                  <a:srgbClr val="2C3F42"/>
                </a:solidFill>
                <a:latin typeface="Bitter" pitchFamily="34" charset="0"/>
                <a:ea typeface="Bitter" pitchFamily="34" charset="-122"/>
                <a:cs typeface="Bitter" pitchFamily="34" charset="-120"/>
              </a:rPr>
              <a:t>Technology Stack</a:t>
            </a:r>
            <a:endParaRPr lang="en-US" sz="3600" b="1" u="sng" dirty="0"/>
          </a:p>
        </p:txBody>
      </p:sp>
      <p:grpSp>
        <p:nvGrpSpPr>
          <p:cNvPr id="21" name="Group 20">
            <a:extLst>
              <a:ext uri="{FF2B5EF4-FFF2-40B4-BE49-F238E27FC236}">
                <a16:creationId xmlns:a16="http://schemas.microsoft.com/office/drawing/2014/main" id="{F3F66203-994A-5AF3-5737-957195AB6158}"/>
              </a:ext>
            </a:extLst>
          </p:cNvPr>
          <p:cNvGrpSpPr/>
          <p:nvPr/>
        </p:nvGrpSpPr>
        <p:grpSpPr>
          <a:xfrm>
            <a:off x="1530457" y="818885"/>
            <a:ext cx="13007345" cy="6881237"/>
            <a:chOff x="1693470" y="1070599"/>
            <a:chExt cx="12551778" cy="6881237"/>
          </a:xfrm>
        </p:grpSpPr>
        <p:sp>
          <p:nvSpPr>
            <p:cNvPr id="4" name="Text 1"/>
            <p:cNvSpPr/>
            <p:nvPr/>
          </p:nvSpPr>
          <p:spPr>
            <a:xfrm>
              <a:off x="1693470" y="1070599"/>
              <a:ext cx="1988344" cy="244673"/>
            </a:xfrm>
            <a:prstGeom prst="rect">
              <a:avLst/>
            </a:prstGeom>
            <a:noFill/>
            <a:ln/>
          </p:spPr>
          <p:txBody>
            <a:bodyPr wrap="none" lIns="0" tIns="0" rIns="0" bIns="0" rtlCol="0" anchor="t"/>
            <a:lstStyle/>
            <a:p>
              <a:pPr marL="0" indent="0">
                <a:lnSpc>
                  <a:spcPts val="1900"/>
                </a:lnSpc>
                <a:buNone/>
              </a:pPr>
              <a:r>
                <a:rPr lang="en-US" sz="2000" b="1" u="sng" kern="0" spc="-46" dirty="0">
                  <a:solidFill>
                    <a:srgbClr val="2B2E3C"/>
                  </a:solidFill>
                  <a:latin typeface="Constantia" panose="02030602050306030303" pitchFamily="18" charset="0"/>
                  <a:ea typeface="Bitter" pitchFamily="34" charset="-122"/>
                  <a:cs typeface="Bitter" pitchFamily="34" charset="-120"/>
                </a:rPr>
                <a:t>Database Management</a:t>
              </a:r>
              <a:endParaRPr lang="en-US" sz="2000" b="1" u="sng" dirty="0">
                <a:latin typeface="Constantia" panose="02030602050306030303" pitchFamily="18" charset="0"/>
              </a:endParaRPr>
            </a:p>
          </p:txBody>
        </p:sp>
        <p:sp>
          <p:nvSpPr>
            <p:cNvPr id="5" name="Text 2"/>
            <p:cNvSpPr/>
            <p:nvPr/>
          </p:nvSpPr>
          <p:spPr>
            <a:xfrm>
              <a:off x="1693470" y="1409431"/>
              <a:ext cx="12516088" cy="501253"/>
            </a:xfrm>
            <a:prstGeom prst="rect">
              <a:avLst/>
            </a:prstGeom>
            <a:noFill/>
            <a:ln/>
          </p:spPr>
          <p:txBody>
            <a:bodyPr wrap="square" lIns="0" tIns="0" rIns="0" bIns="0" rtlCol="0" anchor="t"/>
            <a:lstStyle/>
            <a:p>
              <a:pPr marL="0" indent="0">
                <a:lnSpc>
                  <a:spcPts val="1950"/>
                </a:lnSpc>
                <a:buNone/>
              </a:pPr>
              <a:r>
                <a:rPr lang="en-US" b="1" kern="0" spc="-25" dirty="0">
                  <a:solidFill>
                    <a:srgbClr val="2B2E3C"/>
                  </a:solidFill>
                  <a:latin typeface="Constantia" panose="02030602050306030303" pitchFamily="18" charset="0"/>
                  <a:ea typeface="Open Sans" pitchFamily="34" charset="-122"/>
                  <a:cs typeface="Open Sans" pitchFamily="34" charset="-120"/>
                </a:rPr>
                <a:t>MySQL serves as the primary database management system, allowing for structured data storage and retrieval, while XAMPP provides a local development environment that facilitates testing and debugging before deployment.</a:t>
              </a:r>
              <a:endParaRPr lang="en-US" b="1" dirty="0">
                <a:latin typeface="Constantia" panose="02030602050306030303" pitchFamily="18" charset="0"/>
              </a:endParaRPr>
            </a:p>
          </p:txBody>
        </p:sp>
        <p:sp>
          <p:nvSpPr>
            <p:cNvPr id="7" name="Text 3"/>
            <p:cNvSpPr/>
            <p:nvPr/>
          </p:nvSpPr>
          <p:spPr>
            <a:xfrm>
              <a:off x="1711315" y="2383352"/>
              <a:ext cx="3184776" cy="202606"/>
            </a:xfrm>
            <a:prstGeom prst="rect">
              <a:avLst/>
            </a:prstGeom>
            <a:noFill/>
            <a:ln/>
          </p:spPr>
          <p:txBody>
            <a:bodyPr wrap="none" lIns="0" tIns="0" rIns="0" bIns="0" rtlCol="0" anchor="t"/>
            <a:lstStyle/>
            <a:p>
              <a:pPr marL="0" indent="0">
                <a:lnSpc>
                  <a:spcPts val="1900"/>
                </a:lnSpc>
                <a:buNone/>
              </a:pPr>
              <a:r>
                <a:rPr lang="en-US" sz="2000" b="1" u="sng" kern="0" spc="-46" dirty="0">
                  <a:solidFill>
                    <a:srgbClr val="2B2E3C"/>
                  </a:solidFill>
                  <a:latin typeface="Constantia" panose="02030602050306030303" pitchFamily="18" charset="0"/>
                  <a:ea typeface="Bitter" pitchFamily="34" charset="-122"/>
                  <a:cs typeface="Bitter" pitchFamily="34" charset="-120"/>
                </a:rPr>
                <a:t>Robust Backend Infrastructure</a:t>
              </a:r>
              <a:endParaRPr lang="en-US" sz="2000" b="1" u="sng" dirty="0">
                <a:latin typeface="Constantia" panose="02030602050306030303" pitchFamily="18" charset="0"/>
              </a:endParaRPr>
            </a:p>
          </p:txBody>
        </p:sp>
        <p:sp>
          <p:nvSpPr>
            <p:cNvPr id="8" name="Text 4"/>
            <p:cNvSpPr/>
            <p:nvPr/>
          </p:nvSpPr>
          <p:spPr>
            <a:xfrm>
              <a:off x="1693470" y="2697931"/>
              <a:ext cx="12327629" cy="810044"/>
            </a:xfrm>
            <a:prstGeom prst="rect">
              <a:avLst/>
            </a:prstGeom>
            <a:noFill/>
            <a:ln/>
          </p:spPr>
          <p:txBody>
            <a:bodyPr wrap="square" lIns="0" tIns="0" rIns="0" bIns="0" rtlCol="0" anchor="t"/>
            <a:lstStyle/>
            <a:p>
              <a:pPr marL="0" indent="0">
                <a:lnSpc>
                  <a:spcPts val="1950"/>
                </a:lnSpc>
                <a:buNone/>
              </a:pPr>
              <a:r>
                <a:rPr lang="en-US" b="1" kern="0" spc="-25" dirty="0">
                  <a:solidFill>
                    <a:srgbClr val="2B2E3C"/>
                  </a:solidFill>
                  <a:latin typeface="Constantia" panose="02030602050306030303" pitchFamily="18" charset="0"/>
                  <a:ea typeface="Open Sans" pitchFamily="34" charset="-122"/>
                  <a:cs typeface="Open Sans" pitchFamily="34" charset="-120"/>
                </a:rPr>
                <a:t>The backend is powered by PHP, providing a reliable server-side functionality that supports complex business logic. PHP is widely used for generating dynamic content by interacting with databases, such as MySQL, which allows web applications to serve personalized user data and content efficiently.</a:t>
              </a:r>
              <a:endParaRPr lang="en-US" b="1" dirty="0">
                <a:latin typeface="Constantia" panose="02030602050306030303" pitchFamily="18" charset="0"/>
              </a:endParaRPr>
            </a:p>
          </p:txBody>
        </p:sp>
        <p:sp>
          <p:nvSpPr>
            <p:cNvPr id="10" name="Text 5"/>
            <p:cNvSpPr/>
            <p:nvPr/>
          </p:nvSpPr>
          <p:spPr>
            <a:xfrm>
              <a:off x="1729160" y="3849715"/>
              <a:ext cx="1957864" cy="244673"/>
            </a:xfrm>
            <a:prstGeom prst="rect">
              <a:avLst/>
            </a:prstGeom>
            <a:noFill/>
            <a:ln/>
          </p:spPr>
          <p:txBody>
            <a:bodyPr wrap="none" lIns="0" tIns="0" rIns="0" bIns="0" rtlCol="0" anchor="t"/>
            <a:lstStyle/>
            <a:p>
              <a:pPr marL="0" indent="0">
                <a:lnSpc>
                  <a:spcPts val="1900"/>
                </a:lnSpc>
                <a:buNone/>
              </a:pPr>
              <a:r>
                <a:rPr lang="en-US" sz="2000" b="1" u="sng" kern="0" spc="-46" dirty="0">
                  <a:solidFill>
                    <a:srgbClr val="2B2E3C"/>
                  </a:solidFill>
                  <a:latin typeface="Constantia" panose="02030602050306030303" pitchFamily="18" charset="0"/>
                  <a:ea typeface="Bitter" pitchFamily="34" charset="-122"/>
                  <a:cs typeface="Bitter" pitchFamily="34" charset="-120"/>
                </a:rPr>
                <a:t>Server &amp; Hosting:</a:t>
              </a:r>
              <a:endParaRPr lang="en-US" sz="2000" b="1" u="sng" dirty="0">
                <a:latin typeface="Constantia" panose="02030602050306030303" pitchFamily="18" charset="0"/>
              </a:endParaRPr>
            </a:p>
          </p:txBody>
        </p:sp>
        <p:sp>
          <p:nvSpPr>
            <p:cNvPr id="11" name="Text 6"/>
            <p:cNvSpPr/>
            <p:nvPr/>
          </p:nvSpPr>
          <p:spPr>
            <a:xfrm>
              <a:off x="1711315" y="4212826"/>
              <a:ext cx="12516088" cy="820459"/>
            </a:xfrm>
            <a:prstGeom prst="rect">
              <a:avLst/>
            </a:prstGeom>
            <a:noFill/>
            <a:ln/>
          </p:spPr>
          <p:txBody>
            <a:bodyPr wrap="square" lIns="0" tIns="0" rIns="0" bIns="0" rtlCol="0" anchor="t"/>
            <a:lstStyle/>
            <a:p>
              <a:pPr marL="0" indent="0">
                <a:lnSpc>
                  <a:spcPts val="1950"/>
                </a:lnSpc>
                <a:buNone/>
              </a:pPr>
              <a:r>
                <a:rPr lang="en-US" b="1" kern="0" spc="-25" dirty="0">
                  <a:solidFill>
                    <a:srgbClr val="2B2E3C"/>
                  </a:solidFill>
                  <a:latin typeface="Constantia" panose="02030602050306030303" pitchFamily="18" charset="0"/>
                  <a:ea typeface="Open Sans" pitchFamily="34" charset="-122"/>
                  <a:cs typeface="Open Sans" pitchFamily="34" charset="-120"/>
                </a:rPr>
                <a:t>XAMPP: Local server environment for development and testing. XAMPP is an open-source local server environment used for developing, testing, and deploying web applications on a local machine. It packages together essential components like Apache (the web server), MySQL (database), PHP, and Perl, making it a convenient tool for web developers.</a:t>
              </a:r>
              <a:endParaRPr lang="en-US" b="1" dirty="0">
                <a:latin typeface="Constantia" panose="02030602050306030303" pitchFamily="18" charset="0"/>
              </a:endParaRPr>
            </a:p>
          </p:txBody>
        </p:sp>
        <p:sp>
          <p:nvSpPr>
            <p:cNvPr id="13" name="Text 7"/>
            <p:cNvSpPr/>
            <p:nvPr/>
          </p:nvSpPr>
          <p:spPr>
            <a:xfrm>
              <a:off x="1693470" y="5408444"/>
              <a:ext cx="2516043" cy="329345"/>
            </a:xfrm>
            <a:prstGeom prst="rect">
              <a:avLst/>
            </a:prstGeom>
            <a:noFill/>
            <a:ln/>
          </p:spPr>
          <p:txBody>
            <a:bodyPr wrap="none" lIns="0" tIns="0" rIns="0" bIns="0" rtlCol="0" anchor="t"/>
            <a:lstStyle/>
            <a:p>
              <a:pPr marL="0" indent="0">
                <a:lnSpc>
                  <a:spcPts val="1900"/>
                </a:lnSpc>
                <a:buNone/>
              </a:pPr>
              <a:r>
                <a:rPr lang="en-US" sz="2000" b="1" u="sng" kern="0" spc="-46" dirty="0">
                  <a:solidFill>
                    <a:srgbClr val="2B2E3C"/>
                  </a:solidFill>
                  <a:latin typeface="Constantia" panose="02030602050306030303" pitchFamily="18" charset="0"/>
                  <a:ea typeface="Bitter" pitchFamily="34" charset="-122"/>
                  <a:cs typeface="Bitter" pitchFamily="34" charset="-120"/>
                </a:rPr>
                <a:t>Fronted Infrastructure</a:t>
              </a:r>
              <a:endParaRPr lang="en-US" sz="2000" b="1" u="sng" dirty="0">
                <a:latin typeface="Constantia" panose="02030602050306030303" pitchFamily="18" charset="0"/>
              </a:endParaRPr>
            </a:p>
          </p:txBody>
        </p:sp>
        <p:sp>
          <p:nvSpPr>
            <p:cNvPr id="14" name="Text 8"/>
            <p:cNvSpPr/>
            <p:nvPr/>
          </p:nvSpPr>
          <p:spPr>
            <a:xfrm>
              <a:off x="1711315" y="5820345"/>
              <a:ext cx="12516088" cy="756881"/>
            </a:xfrm>
            <a:prstGeom prst="rect">
              <a:avLst/>
            </a:prstGeom>
            <a:noFill/>
            <a:ln/>
          </p:spPr>
          <p:txBody>
            <a:bodyPr wrap="square" lIns="0" tIns="0" rIns="0" bIns="0" rtlCol="0" anchor="t"/>
            <a:lstStyle/>
            <a:p>
              <a:pPr marL="0" indent="0">
                <a:lnSpc>
                  <a:spcPts val="1950"/>
                </a:lnSpc>
                <a:buNone/>
              </a:pPr>
              <a:r>
                <a:rPr lang="en-US" b="1" kern="0" spc="-25" dirty="0">
                  <a:solidFill>
                    <a:srgbClr val="2B2E3C"/>
                  </a:solidFill>
                  <a:latin typeface="Constantia" panose="02030602050306030303" pitchFamily="18" charset="0"/>
                  <a:ea typeface="Open Sans" pitchFamily="34" charset="-122"/>
                  <a:cs typeface="Open Sans" pitchFamily="34" charset="-120"/>
                </a:rPr>
                <a:t>Flutter: Cross-platform framework for building natively compiled applications for mobile, web, and desktop from a single codebase. Flutter is a popular cross-platform framework developed by Google that enables developers to build natively compiled applications for mobile (iOS &amp; Android), web, and desktop from a single codebase</a:t>
              </a:r>
              <a:endParaRPr lang="en-US" b="1" dirty="0">
                <a:latin typeface="Constantia" panose="02030602050306030303" pitchFamily="18" charset="0"/>
              </a:endParaRPr>
            </a:p>
          </p:txBody>
        </p:sp>
        <p:sp>
          <p:nvSpPr>
            <p:cNvPr id="16" name="Text 9"/>
            <p:cNvSpPr/>
            <p:nvPr/>
          </p:nvSpPr>
          <p:spPr>
            <a:xfrm>
              <a:off x="1729159" y="7026834"/>
              <a:ext cx="2988681" cy="244673"/>
            </a:xfrm>
            <a:prstGeom prst="rect">
              <a:avLst/>
            </a:prstGeom>
            <a:noFill/>
            <a:ln/>
          </p:spPr>
          <p:txBody>
            <a:bodyPr wrap="none" lIns="0" tIns="0" rIns="0" bIns="0" rtlCol="0" anchor="t"/>
            <a:lstStyle/>
            <a:p>
              <a:pPr marL="0" indent="0">
                <a:lnSpc>
                  <a:spcPts val="1900"/>
                </a:lnSpc>
                <a:buNone/>
              </a:pPr>
              <a:r>
                <a:rPr lang="en-US" sz="2000" b="1" u="sng" kern="0" spc="-46" dirty="0">
                  <a:solidFill>
                    <a:srgbClr val="2B2E3C"/>
                  </a:solidFill>
                  <a:latin typeface="Constantia" panose="02030602050306030303" pitchFamily="18" charset="0"/>
                  <a:ea typeface="Bitter" pitchFamily="34" charset="-122"/>
                  <a:cs typeface="Bitter" pitchFamily="34" charset="-120"/>
                </a:rPr>
                <a:t>Real-time Data and Inventory</a:t>
              </a:r>
              <a:endParaRPr lang="en-US" sz="2000" b="1" u="sng" dirty="0">
                <a:latin typeface="Constantia" panose="02030602050306030303" pitchFamily="18" charset="0"/>
              </a:endParaRPr>
            </a:p>
          </p:txBody>
        </p:sp>
        <p:sp>
          <p:nvSpPr>
            <p:cNvPr id="17" name="Text 10"/>
            <p:cNvSpPr/>
            <p:nvPr/>
          </p:nvSpPr>
          <p:spPr>
            <a:xfrm>
              <a:off x="1729160" y="7450583"/>
              <a:ext cx="12516088" cy="501253"/>
            </a:xfrm>
            <a:prstGeom prst="rect">
              <a:avLst/>
            </a:prstGeom>
            <a:noFill/>
            <a:ln/>
          </p:spPr>
          <p:txBody>
            <a:bodyPr wrap="square" lIns="0" tIns="0" rIns="0" bIns="0" rtlCol="0" anchor="t"/>
            <a:lstStyle/>
            <a:p>
              <a:pPr marL="0" indent="0">
                <a:lnSpc>
                  <a:spcPts val="1950"/>
                </a:lnSpc>
                <a:buNone/>
              </a:pPr>
              <a:r>
                <a:rPr lang="en-US" b="1" kern="0" spc="-25" dirty="0">
                  <a:solidFill>
                    <a:srgbClr val="2B2E3C"/>
                  </a:solidFill>
                  <a:latin typeface="Constantia" panose="02030602050306030303" pitchFamily="18" charset="0"/>
                  <a:ea typeface="Open Sans" pitchFamily="34" charset="-122"/>
                  <a:cs typeface="Open Sans" pitchFamily="34" charset="-120"/>
                </a:rPr>
                <a:t>Firebase: Platform for building mobile and web applications, providing services like real-time database, authentication, and cloud messaging. Firebase enhances real-time data synchronization and user authentication, ensuring a secure and responsive user experience.</a:t>
              </a:r>
              <a:endParaRPr lang="en-US" b="1" dirty="0">
                <a:latin typeface="Constantia" panose="02030602050306030303" pitchFamily="18" charset="0"/>
              </a:endParaRPr>
            </a:p>
          </p:txBody>
        </p:sp>
      </p:grpSp>
      <p:sp>
        <p:nvSpPr>
          <p:cNvPr id="18" name="Rectangle 17">
            <a:extLst>
              <a:ext uri="{FF2B5EF4-FFF2-40B4-BE49-F238E27FC236}">
                <a16:creationId xmlns:a16="http://schemas.microsoft.com/office/drawing/2014/main" id="{5C3BCBF8-578B-CE5A-A7CB-CAE37FB0E72A}"/>
              </a:ext>
            </a:extLst>
          </p:cNvPr>
          <p:cNvSpPr/>
          <p:nvPr/>
        </p:nvSpPr>
        <p:spPr>
          <a:xfrm>
            <a:off x="12841794" y="7707085"/>
            <a:ext cx="1788606" cy="522515"/>
          </a:xfrm>
          <a:prstGeom prst="rect">
            <a:avLst/>
          </a:prstGeom>
          <a:solidFill>
            <a:srgbClr val="FFF8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ardrop 18">
            <a:extLst>
              <a:ext uri="{FF2B5EF4-FFF2-40B4-BE49-F238E27FC236}">
                <a16:creationId xmlns:a16="http://schemas.microsoft.com/office/drawing/2014/main" id="{93B3CFC2-94B0-B179-4E13-385F4036547B}"/>
              </a:ext>
            </a:extLst>
          </p:cNvPr>
          <p:cNvSpPr/>
          <p:nvPr/>
        </p:nvSpPr>
        <p:spPr>
          <a:xfrm>
            <a:off x="35684" y="795781"/>
            <a:ext cx="1317434" cy="1300208"/>
          </a:xfrm>
          <a:prstGeom prst="teardrop">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6" name="Teardrop 25">
            <a:extLst>
              <a:ext uri="{FF2B5EF4-FFF2-40B4-BE49-F238E27FC236}">
                <a16:creationId xmlns:a16="http://schemas.microsoft.com/office/drawing/2014/main" id="{EAFEB7C0-9444-6468-9E82-B7356575C38B}"/>
              </a:ext>
            </a:extLst>
          </p:cNvPr>
          <p:cNvSpPr/>
          <p:nvPr/>
        </p:nvSpPr>
        <p:spPr>
          <a:xfrm>
            <a:off x="35684" y="2201135"/>
            <a:ext cx="1317434" cy="1300208"/>
          </a:xfrm>
          <a:prstGeom prst="teardrop">
            <a:avLst/>
          </a:prstGeom>
          <a:blipFill>
            <a:blip r:embed="rId4"/>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7" name="Teardrop 26">
            <a:extLst>
              <a:ext uri="{FF2B5EF4-FFF2-40B4-BE49-F238E27FC236}">
                <a16:creationId xmlns:a16="http://schemas.microsoft.com/office/drawing/2014/main" id="{E5CF5817-5CDD-6522-321A-46B896EF121A}"/>
              </a:ext>
            </a:extLst>
          </p:cNvPr>
          <p:cNvSpPr/>
          <p:nvPr/>
        </p:nvSpPr>
        <p:spPr>
          <a:xfrm>
            <a:off x="68728" y="3627304"/>
            <a:ext cx="1317434" cy="1300208"/>
          </a:xfrm>
          <a:prstGeom prst="teardrop">
            <a:avLst/>
          </a:prstGeom>
          <a:blipFill>
            <a:blip r:embed="rId5"/>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8" name="Teardrop 27">
            <a:extLst>
              <a:ext uri="{FF2B5EF4-FFF2-40B4-BE49-F238E27FC236}">
                <a16:creationId xmlns:a16="http://schemas.microsoft.com/office/drawing/2014/main" id="{F89F6A1B-CF24-F8B2-0D4F-07A095665EAD}"/>
              </a:ext>
            </a:extLst>
          </p:cNvPr>
          <p:cNvSpPr/>
          <p:nvPr/>
        </p:nvSpPr>
        <p:spPr>
          <a:xfrm>
            <a:off x="35664" y="5175645"/>
            <a:ext cx="1317434" cy="1300208"/>
          </a:xfrm>
          <a:prstGeom prst="teardrop">
            <a:avLst/>
          </a:prstGeom>
          <a:blipFill>
            <a:blip r:embed="rId6"/>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9" name="Teardrop 28">
            <a:extLst>
              <a:ext uri="{FF2B5EF4-FFF2-40B4-BE49-F238E27FC236}">
                <a16:creationId xmlns:a16="http://schemas.microsoft.com/office/drawing/2014/main" id="{8B6E20F6-360B-8CFB-4FB8-9B7EE76FEBDA}"/>
              </a:ext>
            </a:extLst>
          </p:cNvPr>
          <p:cNvSpPr/>
          <p:nvPr/>
        </p:nvSpPr>
        <p:spPr>
          <a:xfrm>
            <a:off x="68728" y="6723986"/>
            <a:ext cx="1317434" cy="1300208"/>
          </a:xfrm>
          <a:prstGeom prst="teardrop">
            <a:avLst/>
          </a:prstGeom>
          <a:blipFill>
            <a:blip r:embed="rId7"/>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77101" y="232725"/>
            <a:ext cx="5730359" cy="708779"/>
          </a:xfrm>
          <a:prstGeom prst="rect">
            <a:avLst/>
          </a:prstGeom>
          <a:noFill/>
          <a:ln/>
        </p:spPr>
        <p:txBody>
          <a:bodyPr wrap="none" lIns="0" tIns="0" rIns="0" bIns="0" rtlCol="0" anchor="t"/>
          <a:lstStyle/>
          <a:p>
            <a:pPr marL="0" indent="0">
              <a:lnSpc>
                <a:spcPts val="5550"/>
              </a:lnSpc>
              <a:buNone/>
            </a:pPr>
            <a:r>
              <a:rPr lang="en-US" sz="4450" b="1" u="sng" kern="0" spc="-134" dirty="0">
                <a:solidFill>
                  <a:srgbClr val="2C3F42"/>
                </a:solidFill>
                <a:latin typeface="Bitter" pitchFamily="34" charset="0"/>
                <a:ea typeface="Bitter" pitchFamily="34" charset="-122"/>
                <a:cs typeface="Bitter" pitchFamily="34" charset="-120"/>
              </a:rPr>
              <a:t>Feasibility and Viability</a:t>
            </a:r>
            <a:endParaRPr lang="en-US" sz="4450" b="1" u="sng" dirty="0"/>
          </a:p>
        </p:txBody>
      </p:sp>
      <p:pic>
        <p:nvPicPr>
          <p:cNvPr id="3" name="Image 0" descr="preencoded.png"/>
          <p:cNvPicPr>
            <a:picLocks noChangeAspect="1"/>
          </p:cNvPicPr>
          <p:nvPr/>
        </p:nvPicPr>
        <p:blipFill>
          <a:blip r:embed="rId3"/>
          <a:stretch>
            <a:fillRect/>
          </a:stretch>
        </p:blipFill>
        <p:spPr>
          <a:xfrm>
            <a:off x="793790" y="1393809"/>
            <a:ext cx="4120753" cy="2546747"/>
          </a:xfrm>
          <a:prstGeom prst="rect">
            <a:avLst/>
          </a:prstGeom>
          <a:effectLst>
            <a:outerShdw blurRad="63500" sx="102000" sy="102000" algn="ctr" rotWithShape="0">
              <a:prstClr val="black">
                <a:alpha val="40000"/>
              </a:prstClr>
            </a:outerShdw>
          </a:effectLst>
        </p:spPr>
      </p:pic>
      <p:sp>
        <p:nvSpPr>
          <p:cNvPr id="4" name="Text 1"/>
          <p:cNvSpPr/>
          <p:nvPr/>
        </p:nvSpPr>
        <p:spPr>
          <a:xfrm>
            <a:off x="793790" y="4224044"/>
            <a:ext cx="2835235" cy="354330"/>
          </a:xfrm>
          <a:prstGeom prst="rect">
            <a:avLst/>
          </a:prstGeom>
          <a:noFill/>
          <a:ln/>
        </p:spPr>
        <p:txBody>
          <a:bodyPr wrap="none" lIns="0" tIns="0" rIns="0" bIns="0" rtlCol="0" anchor="t"/>
          <a:lstStyle/>
          <a:p>
            <a:pPr marL="0" indent="0" algn="l">
              <a:lnSpc>
                <a:spcPts val="2750"/>
              </a:lnSpc>
              <a:buNone/>
            </a:pPr>
            <a:r>
              <a:rPr lang="en-US" sz="2400" b="1" u="sng" kern="0" spc="-67" dirty="0">
                <a:solidFill>
                  <a:srgbClr val="2B2E3C"/>
                </a:solidFill>
                <a:latin typeface="Bitter" pitchFamily="34" charset="0"/>
                <a:ea typeface="Bitter" pitchFamily="34" charset="-122"/>
                <a:cs typeface="Bitter" pitchFamily="34" charset="-120"/>
              </a:rPr>
              <a:t>Market Analysis</a:t>
            </a:r>
            <a:endParaRPr lang="en-US" sz="2400" b="1" u="sng" dirty="0"/>
          </a:p>
        </p:txBody>
      </p:sp>
      <p:sp>
        <p:nvSpPr>
          <p:cNvPr id="5" name="Text 2"/>
          <p:cNvSpPr/>
          <p:nvPr/>
        </p:nvSpPr>
        <p:spPr>
          <a:xfrm>
            <a:off x="793790" y="4714462"/>
            <a:ext cx="4120753" cy="1451610"/>
          </a:xfrm>
          <a:prstGeom prst="rect">
            <a:avLst/>
          </a:prstGeom>
          <a:noFill/>
          <a:ln/>
        </p:spPr>
        <p:txBody>
          <a:bodyPr wrap="square" lIns="0" tIns="0" rIns="0" bIns="0" rtlCol="0" anchor="t"/>
          <a:lstStyle/>
          <a:p>
            <a:pPr marL="0" indent="0" algn="l">
              <a:lnSpc>
                <a:spcPts val="2850"/>
              </a:lnSpc>
              <a:buNone/>
            </a:pPr>
            <a:r>
              <a:rPr lang="en-US" b="1" kern="0" spc="-36" dirty="0">
                <a:solidFill>
                  <a:srgbClr val="2B2E3C"/>
                </a:solidFill>
                <a:latin typeface="Open Sans" pitchFamily="34" charset="0"/>
                <a:ea typeface="Open Sans" pitchFamily="34" charset="-122"/>
                <a:cs typeface="Open Sans" pitchFamily="34" charset="-120"/>
              </a:rPr>
              <a:t>We conducted comprehensive market research to identify potential users and understand the existing challenges they face.</a:t>
            </a:r>
            <a:endParaRPr lang="en-US" b="1" dirty="0"/>
          </a:p>
        </p:txBody>
      </p:sp>
      <p:pic>
        <p:nvPicPr>
          <p:cNvPr id="6" name="Image 1" descr="preencoded.png"/>
          <p:cNvPicPr>
            <a:picLocks noChangeAspect="1"/>
          </p:cNvPicPr>
          <p:nvPr/>
        </p:nvPicPr>
        <p:blipFill>
          <a:blip r:embed="rId4"/>
          <a:stretch>
            <a:fillRect/>
          </a:stretch>
        </p:blipFill>
        <p:spPr>
          <a:xfrm>
            <a:off x="5254704" y="1393809"/>
            <a:ext cx="4120872" cy="2546866"/>
          </a:xfrm>
          <a:prstGeom prst="rect">
            <a:avLst/>
          </a:prstGeom>
          <a:effectLst>
            <a:outerShdw blurRad="63500" sx="102000" sy="102000" algn="ctr" rotWithShape="0">
              <a:prstClr val="black">
                <a:alpha val="40000"/>
              </a:prstClr>
            </a:outerShdw>
          </a:effectLst>
        </p:spPr>
      </p:pic>
      <p:sp>
        <p:nvSpPr>
          <p:cNvPr id="7" name="Text 3"/>
          <p:cNvSpPr/>
          <p:nvPr/>
        </p:nvSpPr>
        <p:spPr>
          <a:xfrm>
            <a:off x="5254704" y="4224163"/>
            <a:ext cx="2835235" cy="354330"/>
          </a:xfrm>
          <a:prstGeom prst="rect">
            <a:avLst/>
          </a:prstGeom>
          <a:noFill/>
          <a:ln/>
        </p:spPr>
        <p:txBody>
          <a:bodyPr wrap="none" lIns="0" tIns="0" rIns="0" bIns="0" rtlCol="0" anchor="t"/>
          <a:lstStyle/>
          <a:p>
            <a:pPr marL="0" indent="0" algn="l">
              <a:lnSpc>
                <a:spcPts val="2750"/>
              </a:lnSpc>
              <a:buNone/>
            </a:pPr>
            <a:r>
              <a:rPr lang="en-US" sz="2400" b="1" u="sng" kern="0" spc="-67" dirty="0">
                <a:solidFill>
                  <a:srgbClr val="2B2E3C"/>
                </a:solidFill>
                <a:latin typeface="Bitter" pitchFamily="34" charset="0"/>
                <a:ea typeface="Bitter" pitchFamily="34" charset="-122"/>
                <a:cs typeface="Bitter" pitchFamily="34" charset="-120"/>
              </a:rPr>
              <a:t>User Feedback</a:t>
            </a:r>
            <a:endParaRPr lang="en-US" sz="2400" b="1" u="sng" dirty="0"/>
          </a:p>
        </p:txBody>
      </p:sp>
      <p:sp>
        <p:nvSpPr>
          <p:cNvPr id="8" name="Text 4"/>
          <p:cNvSpPr/>
          <p:nvPr/>
        </p:nvSpPr>
        <p:spPr>
          <a:xfrm>
            <a:off x="5254704" y="4714581"/>
            <a:ext cx="4120872" cy="1088708"/>
          </a:xfrm>
          <a:prstGeom prst="rect">
            <a:avLst/>
          </a:prstGeom>
          <a:noFill/>
          <a:ln/>
        </p:spPr>
        <p:txBody>
          <a:bodyPr wrap="square" lIns="0" tIns="0" rIns="0" bIns="0" rtlCol="0" anchor="t"/>
          <a:lstStyle/>
          <a:p>
            <a:pPr marL="0" indent="0" algn="l">
              <a:lnSpc>
                <a:spcPts val="2850"/>
              </a:lnSpc>
              <a:buNone/>
            </a:pPr>
            <a:r>
              <a:rPr lang="en-US" b="1" kern="0" spc="-36" dirty="0">
                <a:solidFill>
                  <a:srgbClr val="2B2E3C"/>
                </a:solidFill>
                <a:latin typeface="Open Sans" pitchFamily="34" charset="0"/>
                <a:ea typeface="Open Sans" pitchFamily="34" charset="-122"/>
                <a:cs typeface="Open Sans" pitchFamily="34" charset="-120"/>
              </a:rPr>
              <a:t>We gathered valuable insights through user testing and interviews to refine the app's features and functionalities.</a:t>
            </a:r>
            <a:endParaRPr lang="en-US" b="1" dirty="0"/>
          </a:p>
        </p:txBody>
      </p:sp>
      <p:pic>
        <p:nvPicPr>
          <p:cNvPr id="9" name="Image 2" descr="preencoded.png"/>
          <p:cNvPicPr>
            <a:picLocks noChangeAspect="1"/>
          </p:cNvPicPr>
          <p:nvPr/>
        </p:nvPicPr>
        <p:blipFill>
          <a:blip r:embed="rId5"/>
          <a:stretch>
            <a:fillRect/>
          </a:stretch>
        </p:blipFill>
        <p:spPr>
          <a:xfrm>
            <a:off x="9715738" y="1393809"/>
            <a:ext cx="4120753" cy="2546747"/>
          </a:xfrm>
          <a:prstGeom prst="rect">
            <a:avLst/>
          </a:prstGeom>
          <a:effectLst>
            <a:outerShdw blurRad="63500" sx="102000" sy="102000" algn="ctr" rotWithShape="0">
              <a:prstClr val="black">
                <a:alpha val="40000"/>
              </a:prstClr>
            </a:outerShdw>
          </a:effectLst>
        </p:spPr>
      </p:pic>
      <p:sp>
        <p:nvSpPr>
          <p:cNvPr id="10" name="Text 5"/>
          <p:cNvSpPr/>
          <p:nvPr/>
        </p:nvSpPr>
        <p:spPr>
          <a:xfrm>
            <a:off x="9715738" y="4224044"/>
            <a:ext cx="2835235" cy="354330"/>
          </a:xfrm>
          <a:prstGeom prst="rect">
            <a:avLst/>
          </a:prstGeom>
          <a:noFill/>
          <a:ln/>
        </p:spPr>
        <p:txBody>
          <a:bodyPr wrap="none" lIns="0" tIns="0" rIns="0" bIns="0" rtlCol="0" anchor="t"/>
          <a:lstStyle/>
          <a:p>
            <a:pPr marL="0" indent="0" algn="l">
              <a:lnSpc>
                <a:spcPts val="2750"/>
              </a:lnSpc>
              <a:buNone/>
            </a:pPr>
            <a:r>
              <a:rPr lang="en-US" sz="2400" b="1" u="sng" kern="0" spc="-67" dirty="0">
                <a:solidFill>
                  <a:srgbClr val="2B2E3C"/>
                </a:solidFill>
                <a:latin typeface="Bitter" pitchFamily="34" charset="0"/>
                <a:ea typeface="Bitter" pitchFamily="34" charset="-122"/>
                <a:cs typeface="Bitter" pitchFamily="34" charset="-120"/>
              </a:rPr>
              <a:t>Business Model</a:t>
            </a:r>
            <a:endParaRPr lang="en-US" sz="2400" b="1" u="sng" dirty="0"/>
          </a:p>
        </p:txBody>
      </p:sp>
      <p:sp>
        <p:nvSpPr>
          <p:cNvPr id="11" name="Text 6"/>
          <p:cNvSpPr/>
          <p:nvPr/>
        </p:nvSpPr>
        <p:spPr>
          <a:xfrm>
            <a:off x="9715738" y="4714462"/>
            <a:ext cx="4120753" cy="1088708"/>
          </a:xfrm>
          <a:prstGeom prst="rect">
            <a:avLst/>
          </a:prstGeom>
          <a:noFill/>
          <a:ln/>
        </p:spPr>
        <p:txBody>
          <a:bodyPr wrap="square" lIns="0" tIns="0" rIns="0" bIns="0" rtlCol="0" anchor="t"/>
          <a:lstStyle/>
          <a:p>
            <a:pPr marL="0" indent="0" algn="l">
              <a:lnSpc>
                <a:spcPts val="2850"/>
              </a:lnSpc>
              <a:buNone/>
            </a:pPr>
            <a:r>
              <a:rPr lang="en-US" b="1" kern="0" spc="-36" dirty="0">
                <a:solidFill>
                  <a:srgbClr val="2B2E3C"/>
                </a:solidFill>
                <a:latin typeface="Open Sans" pitchFamily="34" charset="0"/>
                <a:ea typeface="Open Sans" pitchFamily="34" charset="-122"/>
                <a:cs typeface="Open Sans" pitchFamily="34" charset="-120"/>
              </a:rPr>
              <a:t>We developed a sustainable business model that benefits both farmers and consumers, ensuring long-term viability.</a:t>
            </a:r>
            <a:endParaRPr lang="en-US" b="1" dirty="0"/>
          </a:p>
        </p:txBody>
      </p:sp>
      <p:sp>
        <p:nvSpPr>
          <p:cNvPr id="12" name="Text 7"/>
          <p:cNvSpPr/>
          <p:nvPr/>
        </p:nvSpPr>
        <p:spPr>
          <a:xfrm>
            <a:off x="793670" y="6618377"/>
            <a:ext cx="13042821" cy="1088708"/>
          </a:xfrm>
          <a:prstGeom prst="rect">
            <a:avLst/>
          </a:prstGeom>
          <a:noFill/>
          <a:ln/>
        </p:spPr>
        <p:txBody>
          <a:bodyPr wrap="square" lIns="0" tIns="0" rIns="0" bIns="0" rtlCol="0" anchor="t"/>
          <a:lstStyle/>
          <a:p>
            <a:pPr marL="0" indent="0">
              <a:lnSpc>
                <a:spcPts val="2850"/>
              </a:lnSpc>
              <a:buNone/>
            </a:pPr>
            <a:r>
              <a:rPr lang="en-US" sz="2000" b="1" kern="0" spc="-36" dirty="0">
                <a:solidFill>
                  <a:srgbClr val="2B2E3C"/>
                </a:solidFill>
                <a:latin typeface="Open Sans" pitchFamily="34" charset="0"/>
                <a:ea typeface="Open Sans" pitchFamily="34" charset="-122"/>
                <a:cs typeface="Open Sans" pitchFamily="34" charset="-120"/>
              </a:rPr>
              <a:t> Seed Sync has high feasibility and viability. The growing demand for local and sustainable produce, coupled with the increasing adoption of mobile technologies among farmers and consumers, creates a favorable market environment.</a:t>
            </a:r>
            <a:endParaRPr lang="en-US" sz="2000" b="1" dirty="0"/>
          </a:p>
        </p:txBody>
      </p:sp>
      <p:sp>
        <p:nvSpPr>
          <p:cNvPr id="13" name="Rectangle 12">
            <a:extLst>
              <a:ext uri="{FF2B5EF4-FFF2-40B4-BE49-F238E27FC236}">
                <a16:creationId xmlns:a16="http://schemas.microsoft.com/office/drawing/2014/main" id="{A0749F66-741B-DD09-F89A-4675AEF0EB65}"/>
              </a:ext>
            </a:extLst>
          </p:cNvPr>
          <p:cNvSpPr/>
          <p:nvPr/>
        </p:nvSpPr>
        <p:spPr>
          <a:xfrm>
            <a:off x="12841794" y="7707085"/>
            <a:ext cx="1788606" cy="522515"/>
          </a:xfrm>
          <a:prstGeom prst="rect">
            <a:avLst/>
          </a:prstGeom>
          <a:solidFill>
            <a:srgbClr val="FFF8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4" name="Text 0"/>
          <p:cNvSpPr/>
          <p:nvPr/>
        </p:nvSpPr>
        <p:spPr>
          <a:xfrm>
            <a:off x="711875" y="560812"/>
            <a:ext cx="5084921" cy="635556"/>
          </a:xfrm>
          <a:prstGeom prst="rect">
            <a:avLst/>
          </a:prstGeom>
          <a:noFill/>
          <a:ln/>
        </p:spPr>
        <p:txBody>
          <a:bodyPr wrap="none" lIns="0" tIns="0" rIns="0" bIns="0" rtlCol="0" anchor="t"/>
          <a:lstStyle/>
          <a:p>
            <a:pPr marL="0" indent="0">
              <a:lnSpc>
                <a:spcPts val="5000"/>
              </a:lnSpc>
              <a:buNone/>
            </a:pPr>
            <a:r>
              <a:rPr lang="en-US" sz="4400" b="1" u="sng" kern="0" spc="-120" dirty="0">
                <a:solidFill>
                  <a:srgbClr val="2C3F42"/>
                </a:solidFill>
                <a:latin typeface="Bitter" pitchFamily="34" charset="0"/>
                <a:ea typeface="Bitter" pitchFamily="34" charset="-122"/>
                <a:cs typeface="Bitter" pitchFamily="34" charset="-120"/>
              </a:rPr>
              <a:t>Challenges</a:t>
            </a:r>
            <a:endParaRPr lang="en-US" sz="4400" b="1" u="sng" dirty="0"/>
          </a:p>
        </p:txBody>
      </p:sp>
      <p:sp>
        <p:nvSpPr>
          <p:cNvPr id="5" name="Text 1"/>
          <p:cNvSpPr/>
          <p:nvPr/>
        </p:nvSpPr>
        <p:spPr>
          <a:xfrm>
            <a:off x="711875" y="1377240"/>
            <a:ext cx="7720251" cy="989202"/>
          </a:xfrm>
          <a:prstGeom prst="rect">
            <a:avLst/>
          </a:prstGeom>
          <a:noFill/>
          <a:ln/>
        </p:spPr>
        <p:txBody>
          <a:bodyPr wrap="square" lIns="0" tIns="0" rIns="0" bIns="0" rtlCol="0" anchor="t"/>
          <a:lstStyle/>
          <a:p>
            <a:pPr marL="0" indent="0">
              <a:lnSpc>
                <a:spcPts val="2550"/>
              </a:lnSpc>
              <a:buNone/>
            </a:pPr>
            <a:r>
              <a:rPr lang="en-US" b="1" kern="0" spc="-32" dirty="0">
                <a:solidFill>
                  <a:srgbClr val="2B2E3C"/>
                </a:solidFill>
                <a:latin typeface="Open Sans" pitchFamily="34" charset="0"/>
                <a:ea typeface="Open Sans" pitchFamily="34" charset="-122"/>
                <a:cs typeface="Open Sans" pitchFamily="34" charset="-120"/>
              </a:rPr>
              <a:t>While the  Seed Sync app offers a promising solution, it's essential to acknowledge potential challenges and develop strategies to address them effectively.</a:t>
            </a:r>
            <a:endParaRPr lang="en-US" b="1" dirty="0"/>
          </a:p>
        </p:txBody>
      </p:sp>
      <p:pic>
        <p:nvPicPr>
          <p:cNvPr id="6" name="Image 2" descr="preencoded.png"/>
          <p:cNvPicPr>
            <a:picLocks noChangeAspect="1"/>
          </p:cNvPicPr>
          <p:nvPr/>
        </p:nvPicPr>
        <p:blipFill>
          <a:blip r:embed="rId3"/>
          <a:stretch>
            <a:fillRect/>
          </a:stretch>
        </p:blipFill>
        <p:spPr>
          <a:xfrm>
            <a:off x="711875" y="2584013"/>
            <a:ext cx="1016913" cy="1627108"/>
          </a:xfrm>
          <a:prstGeom prst="rect">
            <a:avLst/>
          </a:prstGeom>
        </p:spPr>
      </p:pic>
      <p:sp>
        <p:nvSpPr>
          <p:cNvPr id="7" name="Text 2"/>
          <p:cNvSpPr/>
          <p:nvPr/>
        </p:nvSpPr>
        <p:spPr>
          <a:xfrm>
            <a:off x="2033826" y="2848391"/>
            <a:ext cx="2542461" cy="317659"/>
          </a:xfrm>
          <a:prstGeom prst="rect">
            <a:avLst/>
          </a:prstGeom>
          <a:noFill/>
          <a:ln/>
        </p:spPr>
        <p:txBody>
          <a:bodyPr wrap="none" lIns="0" tIns="0" rIns="0" bIns="0" rtlCol="0" anchor="t"/>
          <a:lstStyle/>
          <a:p>
            <a:pPr marL="0" indent="0" algn="l">
              <a:lnSpc>
                <a:spcPts val="2500"/>
              </a:lnSpc>
              <a:buNone/>
            </a:pPr>
            <a:r>
              <a:rPr lang="en-US" sz="2400" b="1" u="sng" kern="0" spc="-60" dirty="0">
                <a:solidFill>
                  <a:srgbClr val="2B2E3C"/>
                </a:solidFill>
                <a:latin typeface="Bitter" pitchFamily="34" charset="0"/>
                <a:ea typeface="Bitter" pitchFamily="34" charset="-122"/>
                <a:cs typeface="Bitter" pitchFamily="34" charset="-120"/>
              </a:rPr>
              <a:t>Technical Challenges</a:t>
            </a:r>
            <a:endParaRPr lang="en-US" sz="2400" b="1" u="sng" dirty="0"/>
          </a:p>
        </p:txBody>
      </p:sp>
      <p:sp>
        <p:nvSpPr>
          <p:cNvPr id="8" name="Text 3"/>
          <p:cNvSpPr/>
          <p:nvPr/>
        </p:nvSpPr>
        <p:spPr>
          <a:xfrm>
            <a:off x="2033826" y="3227070"/>
            <a:ext cx="6398300" cy="650558"/>
          </a:xfrm>
          <a:prstGeom prst="rect">
            <a:avLst/>
          </a:prstGeom>
          <a:noFill/>
          <a:ln/>
        </p:spPr>
        <p:txBody>
          <a:bodyPr wrap="square" lIns="0" tIns="0" rIns="0" bIns="0" rtlCol="0" anchor="t"/>
          <a:lstStyle/>
          <a:p>
            <a:pPr marL="0" indent="0" algn="l">
              <a:lnSpc>
                <a:spcPts val="2550"/>
              </a:lnSpc>
              <a:buNone/>
            </a:pPr>
            <a:r>
              <a:rPr lang="en-US" b="1" kern="0" spc="-32" dirty="0">
                <a:solidFill>
                  <a:srgbClr val="2B2E3C"/>
                </a:solidFill>
                <a:latin typeface="Open Sans" pitchFamily="34" charset="0"/>
                <a:ea typeface="Open Sans" pitchFamily="34" charset="-122"/>
                <a:cs typeface="Open Sans" pitchFamily="34" charset="-120"/>
              </a:rPr>
              <a:t>Integrating with existing agricultural systems and ensuring seamless data transfer requires careful planning and technical expertise.</a:t>
            </a:r>
            <a:endParaRPr lang="en-US" b="1" dirty="0"/>
          </a:p>
        </p:txBody>
      </p:sp>
      <p:pic>
        <p:nvPicPr>
          <p:cNvPr id="9" name="Image 3" descr="preencoded.png"/>
          <p:cNvPicPr>
            <a:picLocks noChangeAspect="1"/>
          </p:cNvPicPr>
          <p:nvPr/>
        </p:nvPicPr>
        <p:blipFill>
          <a:blip r:embed="rId4"/>
          <a:stretch>
            <a:fillRect/>
          </a:stretch>
        </p:blipFill>
        <p:spPr>
          <a:xfrm>
            <a:off x="711875" y="4211122"/>
            <a:ext cx="1016913" cy="1627108"/>
          </a:xfrm>
          <a:prstGeom prst="rect">
            <a:avLst/>
          </a:prstGeom>
        </p:spPr>
      </p:pic>
      <p:sp>
        <p:nvSpPr>
          <p:cNvPr id="10" name="Text 4"/>
          <p:cNvSpPr/>
          <p:nvPr/>
        </p:nvSpPr>
        <p:spPr>
          <a:xfrm>
            <a:off x="2033826" y="4475499"/>
            <a:ext cx="2542461" cy="317659"/>
          </a:xfrm>
          <a:prstGeom prst="rect">
            <a:avLst/>
          </a:prstGeom>
          <a:noFill/>
          <a:ln/>
        </p:spPr>
        <p:txBody>
          <a:bodyPr wrap="none" lIns="0" tIns="0" rIns="0" bIns="0" rtlCol="0" anchor="t"/>
          <a:lstStyle/>
          <a:p>
            <a:pPr marL="0" indent="0" algn="l">
              <a:lnSpc>
                <a:spcPts val="2500"/>
              </a:lnSpc>
              <a:buNone/>
            </a:pPr>
            <a:r>
              <a:rPr lang="en-US" sz="2400" b="1" u="sng" kern="0" spc="-60" dirty="0">
                <a:solidFill>
                  <a:srgbClr val="2B2E3C"/>
                </a:solidFill>
                <a:latin typeface="Bitter" pitchFamily="34" charset="0"/>
                <a:ea typeface="Bitter" pitchFamily="34" charset="-122"/>
                <a:cs typeface="Bitter" pitchFamily="34" charset="-120"/>
              </a:rPr>
              <a:t>User Adoption</a:t>
            </a:r>
            <a:endParaRPr lang="en-US" sz="2400" b="1" u="sng" dirty="0"/>
          </a:p>
        </p:txBody>
      </p:sp>
      <p:sp>
        <p:nvSpPr>
          <p:cNvPr id="11" name="Text 5"/>
          <p:cNvSpPr/>
          <p:nvPr/>
        </p:nvSpPr>
        <p:spPr>
          <a:xfrm>
            <a:off x="2033826" y="4854178"/>
            <a:ext cx="6398300" cy="650558"/>
          </a:xfrm>
          <a:prstGeom prst="rect">
            <a:avLst/>
          </a:prstGeom>
          <a:noFill/>
          <a:ln/>
        </p:spPr>
        <p:txBody>
          <a:bodyPr wrap="square" lIns="0" tIns="0" rIns="0" bIns="0" rtlCol="0" anchor="t"/>
          <a:lstStyle/>
          <a:p>
            <a:pPr marL="0" indent="0" algn="l">
              <a:lnSpc>
                <a:spcPts val="2550"/>
              </a:lnSpc>
              <a:buNone/>
            </a:pPr>
            <a:r>
              <a:rPr lang="en-US" b="1" kern="0" spc="-32" dirty="0">
                <a:solidFill>
                  <a:srgbClr val="2B2E3C"/>
                </a:solidFill>
                <a:latin typeface="Open Sans" pitchFamily="34" charset="0"/>
                <a:ea typeface="Open Sans" pitchFamily="34" charset="-122"/>
                <a:cs typeface="Open Sans" pitchFamily="34" charset="-120"/>
              </a:rPr>
              <a:t>Encouraging farmers and consumers to adopt the new app requires effective marketing strategies and educational initiatives.</a:t>
            </a:r>
            <a:endParaRPr lang="en-US" b="1" dirty="0"/>
          </a:p>
        </p:txBody>
      </p:sp>
      <p:pic>
        <p:nvPicPr>
          <p:cNvPr id="12" name="Image 4" descr="preencoded.png"/>
          <p:cNvPicPr>
            <a:picLocks noChangeAspect="1"/>
          </p:cNvPicPr>
          <p:nvPr/>
        </p:nvPicPr>
        <p:blipFill>
          <a:blip r:embed="rId5"/>
          <a:stretch>
            <a:fillRect/>
          </a:stretch>
        </p:blipFill>
        <p:spPr>
          <a:xfrm>
            <a:off x="711875" y="5838230"/>
            <a:ext cx="1016913" cy="1627108"/>
          </a:xfrm>
          <a:prstGeom prst="rect">
            <a:avLst/>
          </a:prstGeom>
        </p:spPr>
      </p:pic>
      <p:sp>
        <p:nvSpPr>
          <p:cNvPr id="13" name="Text 6"/>
          <p:cNvSpPr/>
          <p:nvPr/>
        </p:nvSpPr>
        <p:spPr>
          <a:xfrm>
            <a:off x="2033826" y="6122214"/>
            <a:ext cx="2542461" cy="317659"/>
          </a:xfrm>
          <a:prstGeom prst="rect">
            <a:avLst/>
          </a:prstGeom>
          <a:noFill/>
          <a:ln/>
        </p:spPr>
        <p:txBody>
          <a:bodyPr wrap="none" lIns="0" tIns="0" rIns="0" bIns="0" rtlCol="0" anchor="t"/>
          <a:lstStyle/>
          <a:p>
            <a:pPr marL="0" indent="0" algn="l">
              <a:lnSpc>
                <a:spcPts val="2500"/>
              </a:lnSpc>
              <a:buNone/>
            </a:pPr>
            <a:r>
              <a:rPr lang="en-US" sz="2400" b="1" u="sng" kern="0" spc="-60" dirty="0">
                <a:solidFill>
                  <a:srgbClr val="2B2E3C"/>
                </a:solidFill>
                <a:latin typeface="Bitter" pitchFamily="34" charset="0"/>
                <a:ea typeface="Bitter" pitchFamily="34" charset="-122"/>
                <a:cs typeface="Bitter" pitchFamily="34" charset="-120"/>
              </a:rPr>
              <a:t>Security and Privacy</a:t>
            </a:r>
            <a:endParaRPr lang="en-US" sz="2400" b="1" u="sng" dirty="0"/>
          </a:p>
        </p:txBody>
      </p:sp>
      <p:sp>
        <p:nvSpPr>
          <p:cNvPr id="14" name="Text 7"/>
          <p:cNvSpPr/>
          <p:nvPr/>
        </p:nvSpPr>
        <p:spPr>
          <a:xfrm>
            <a:off x="2033826" y="6481286"/>
            <a:ext cx="6398300" cy="650558"/>
          </a:xfrm>
          <a:prstGeom prst="rect">
            <a:avLst/>
          </a:prstGeom>
          <a:noFill/>
          <a:ln/>
        </p:spPr>
        <p:txBody>
          <a:bodyPr wrap="square" lIns="0" tIns="0" rIns="0" bIns="0" rtlCol="0" anchor="t"/>
          <a:lstStyle/>
          <a:p>
            <a:pPr marL="0" indent="0" algn="l">
              <a:lnSpc>
                <a:spcPts val="2550"/>
              </a:lnSpc>
              <a:buNone/>
            </a:pPr>
            <a:r>
              <a:rPr lang="en-US" b="1" kern="0" spc="-32" dirty="0">
                <a:solidFill>
                  <a:srgbClr val="2B2E3C"/>
                </a:solidFill>
                <a:latin typeface="Open Sans" pitchFamily="34" charset="0"/>
                <a:ea typeface="Open Sans" pitchFamily="34" charset="-122"/>
                <a:cs typeface="Open Sans" pitchFamily="34" charset="-120"/>
              </a:rPr>
              <a:t>Protecting user data and ensuring secure transactions is paramount for building trust and confidence in the platform.</a:t>
            </a:r>
            <a:endParaRPr lang="en-US" b="1" dirty="0"/>
          </a:p>
        </p:txBody>
      </p:sp>
      <p:sp>
        <p:nvSpPr>
          <p:cNvPr id="15" name="Rectangle 14">
            <a:extLst>
              <a:ext uri="{FF2B5EF4-FFF2-40B4-BE49-F238E27FC236}">
                <a16:creationId xmlns:a16="http://schemas.microsoft.com/office/drawing/2014/main" id="{58BAE581-38AA-3750-75A5-76B75F158D6D}"/>
              </a:ext>
            </a:extLst>
          </p:cNvPr>
          <p:cNvSpPr/>
          <p:nvPr/>
        </p:nvSpPr>
        <p:spPr>
          <a:xfrm>
            <a:off x="12841794" y="7707085"/>
            <a:ext cx="1788606" cy="522515"/>
          </a:xfrm>
          <a:prstGeom prst="rect">
            <a:avLst/>
          </a:prstGeom>
          <a:solidFill>
            <a:srgbClr val="FFF8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Picture 16">
            <a:extLst>
              <a:ext uri="{FF2B5EF4-FFF2-40B4-BE49-F238E27FC236}">
                <a16:creationId xmlns:a16="http://schemas.microsoft.com/office/drawing/2014/main" id="{A68E646E-FDE1-A55A-3C8D-BBFDE4B2A8CC}"/>
              </a:ext>
            </a:extLst>
          </p:cNvPr>
          <p:cNvPicPr>
            <a:picLocks noChangeAspect="1"/>
          </p:cNvPicPr>
          <p:nvPr/>
        </p:nvPicPr>
        <p:blipFill>
          <a:blip r:embed="rId6"/>
          <a:stretch>
            <a:fillRect/>
          </a:stretch>
        </p:blipFill>
        <p:spPr>
          <a:xfrm>
            <a:off x="8737164" y="0"/>
            <a:ext cx="5936482" cy="82296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6191747" y="98388"/>
            <a:ext cx="5084921" cy="635556"/>
          </a:xfrm>
          <a:prstGeom prst="rect">
            <a:avLst/>
          </a:prstGeom>
          <a:noFill/>
          <a:ln/>
        </p:spPr>
        <p:txBody>
          <a:bodyPr wrap="none" lIns="0" tIns="0" rIns="0" bIns="0" rtlCol="0" anchor="t"/>
          <a:lstStyle/>
          <a:p>
            <a:pPr marL="0" indent="0">
              <a:lnSpc>
                <a:spcPts val="5000"/>
              </a:lnSpc>
              <a:buNone/>
            </a:pPr>
            <a:r>
              <a:rPr lang="en-US" sz="4400" b="1" u="sng" kern="0" spc="-120" dirty="0">
                <a:solidFill>
                  <a:srgbClr val="2C3F42"/>
                </a:solidFill>
                <a:latin typeface="Bitter" pitchFamily="34" charset="0"/>
                <a:ea typeface="Bitter" pitchFamily="34" charset="-122"/>
                <a:cs typeface="Bitter" pitchFamily="34" charset="-120"/>
              </a:rPr>
              <a:t>Mitigation Strategies</a:t>
            </a:r>
            <a:endParaRPr lang="en-US" sz="4400" b="1" u="sng" dirty="0"/>
          </a:p>
        </p:txBody>
      </p:sp>
      <p:sp>
        <p:nvSpPr>
          <p:cNvPr id="5" name="Text 1"/>
          <p:cNvSpPr/>
          <p:nvPr/>
        </p:nvSpPr>
        <p:spPr>
          <a:xfrm>
            <a:off x="6191747" y="864601"/>
            <a:ext cx="7815499" cy="774221"/>
          </a:xfrm>
          <a:prstGeom prst="rect">
            <a:avLst/>
          </a:prstGeom>
          <a:noFill/>
          <a:ln/>
        </p:spPr>
        <p:txBody>
          <a:bodyPr wrap="square" lIns="0" tIns="0" rIns="0" bIns="0" rtlCol="0" anchor="t"/>
          <a:lstStyle/>
          <a:p>
            <a:pPr marL="0" indent="0">
              <a:lnSpc>
                <a:spcPts val="2550"/>
              </a:lnSpc>
              <a:buNone/>
            </a:pPr>
            <a:r>
              <a:rPr lang="en-US" b="1" kern="0" spc="-32" dirty="0">
                <a:solidFill>
                  <a:srgbClr val="2B2E3C"/>
                </a:solidFill>
                <a:latin typeface="Open Sans" pitchFamily="34" charset="0"/>
                <a:ea typeface="Open Sans" pitchFamily="34" charset="-122"/>
                <a:cs typeface="Open Sans" pitchFamily="34" charset="-120"/>
              </a:rPr>
              <a:t>While challenges exist, the Seed Sync app is designed with several strategies to effectively address and overcome them.</a:t>
            </a:r>
            <a:endParaRPr lang="en-US" b="1" dirty="0"/>
          </a:p>
        </p:txBody>
      </p:sp>
      <p:pic>
        <p:nvPicPr>
          <p:cNvPr id="6" name="Image 2" descr="preencoded.png"/>
          <p:cNvPicPr>
            <a:picLocks noChangeAspect="1"/>
          </p:cNvPicPr>
          <p:nvPr/>
        </p:nvPicPr>
        <p:blipFill>
          <a:blip r:embed="rId3"/>
          <a:stretch>
            <a:fillRect/>
          </a:stretch>
        </p:blipFill>
        <p:spPr>
          <a:xfrm>
            <a:off x="6057708" y="1820411"/>
            <a:ext cx="1016913" cy="1627108"/>
          </a:xfrm>
          <a:prstGeom prst="rect">
            <a:avLst/>
          </a:prstGeom>
        </p:spPr>
      </p:pic>
      <p:sp>
        <p:nvSpPr>
          <p:cNvPr id="7" name="Text 2"/>
          <p:cNvSpPr/>
          <p:nvPr/>
        </p:nvSpPr>
        <p:spPr>
          <a:xfrm>
            <a:off x="7222600" y="1762419"/>
            <a:ext cx="2876897" cy="317659"/>
          </a:xfrm>
          <a:prstGeom prst="rect">
            <a:avLst/>
          </a:prstGeom>
          <a:noFill/>
          <a:ln/>
        </p:spPr>
        <p:txBody>
          <a:bodyPr wrap="none" lIns="0" tIns="0" rIns="0" bIns="0" rtlCol="0" anchor="t"/>
          <a:lstStyle/>
          <a:p>
            <a:pPr marL="0" indent="0" algn="l">
              <a:lnSpc>
                <a:spcPts val="2500"/>
              </a:lnSpc>
              <a:buNone/>
            </a:pPr>
            <a:r>
              <a:rPr lang="en-US" sz="2400" b="1" u="sng" kern="0" spc="-60" dirty="0">
                <a:solidFill>
                  <a:srgbClr val="2B2E3C"/>
                </a:solidFill>
                <a:latin typeface="Bitter" pitchFamily="34" charset="0"/>
                <a:ea typeface="Bitter" pitchFamily="34" charset="-122"/>
                <a:cs typeface="Bitter" pitchFamily="34" charset="-120"/>
              </a:rPr>
              <a:t>Technical Solutions</a:t>
            </a:r>
            <a:endParaRPr lang="en-US" sz="2400" b="1" u="sng" dirty="0"/>
          </a:p>
        </p:txBody>
      </p:sp>
      <p:sp>
        <p:nvSpPr>
          <p:cNvPr id="8" name="Text 3"/>
          <p:cNvSpPr/>
          <p:nvPr/>
        </p:nvSpPr>
        <p:spPr>
          <a:xfrm>
            <a:off x="7222600" y="2096846"/>
            <a:ext cx="7239933" cy="1316660"/>
          </a:xfrm>
          <a:prstGeom prst="rect">
            <a:avLst/>
          </a:prstGeom>
          <a:noFill/>
          <a:ln/>
        </p:spPr>
        <p:txBody>
          <a:bodyPr wrap="square" lIns="0" tIns="0" rIns="0" bIns="0" rtlCol="0" anchor="t"/>
          <a:lstStyle/>
          <a:p>
            <a:pPr marL="0" indent="0" algn="l">
              <a:lnSpc>
                <a:spcPts val="2550"/>
              </a:lnSpc>
              <a:buNone/>
            </a:pPr>
            <a:r>
              <a:rPr lang="en-US" b="1" kern="0" spc="-32" dirty="0">
                <a:solidFill>
                  <a:srgbClr val="2B2E3C"/>
                </a:solidFill>
                <a:latin typeface="Open Sans" pitchFamily="34" charset="0"/>
                <a:ea typeface="Open Sans" pitchFamily="34" charset="-122"/>
                <a:cs typeface="Open Sans" pitchFamily="34" charset="-120"/>
              </a:rPr>
              <a:t>Partnering with agricultural tech experts and leveraging modern tech ensures seamless integration with existing agricultural systems, allowing smooth data transfer and consistent performance.</a:t>
            </a:r>
            <a:endParaRPr lang="en-US" b="1" dirty="0"/>
          </a:p>
        </p:txBody>
      </p:sp>
      <p:pic>
        <p:nvPicPr>
          <p:cNvPr id="9" name="Image 3" descr="preencoded.png"/>
          <p:cNvPicPr>
            <a:picLocks noChangeAspect="1"/>
          </p:cNvPicPr>
          <p:nvPr/>
        </p:nvPicPr>
        <p:blipFill>
          <a:blip r:embed="rId4"/>
          <a:stretch>
            <a:fillRect/>
          </a:stretch>
        </p:blipFill>
        <p:spPr>
          <a:xfrm>
            <a:off x="6057705" y="4016218"/>
            <a:ext cx="1016913" cy="1627108"/>
          </a:xfrm>
          <a:prstGeom prst="rect">
            <a:avLst/>
          </a:prstGeom>
        </p:spPr>
      </p:pic>
      <p:sp>
        <p:nvSpPr>
          <p:cNvPr id="10" name="Text 4"/>
          <p:cNvSpPr/>
          <p:nvPr/>
        </p:nvSpPr>
        <p:spPr>
          <a:xfrm>
            <a:off x="7222601" y="3892442"/>
            <a:ext cx="3533597" cy="317659"/>
          </a:xfrm>
          <a:prstGeom prst="rect">
            <a:avLst/>
          </a:prstGeom>
          <a:noFill/>
          <a:ln/>
        </p:spPr>
        <p:txBody>
          <a:bodyPr wrap="none" lIns="0" tIns="0" rIns="0" bIns="0" rtlCol="0" anchor="t"/>
          <a:lstStyle/>
          <a:p>
            <a:pPr marL="0" indent="0" algn="l">
              <a:lnSpc>
                <a:spcPts val="2500"/>
              </a:lnSpc>
              <a:buNone/>
            </a:pPr>
            <a:r>
              <a:rPr lang="en-US" sz="2400" b="1" u="sng" kern="0" spc="-60" dirty="0">
                <a:solidFill>
                  <a:srgbClr val="2B2E3C"/>
                </a:solidFill>
                <a:latin typeface="Bitter" pitchFamily="34" charset="0"/>
                <a:ea typeface="Bitter" pitchFamily="34" charset="-122"/>
                <a:cs typeface="Bitter" pitchFamily="34" charset="-120"/>
              </a:rPr>
              <a:t>User Adoption Initiatives</a:t>
            </a:r>
            <a:endParaRPr lang="en-US" sz="2400" b="1" u="sng" dirty="0"/>
          </a:p>
        </p:txBody>
      </p:sp>
      <p:sp>
        <p:nvSpPr>
          <p:cNvPr id="11" name="Text 5"/>
          <p:cNvSpPr/>
          <p:nvPr/>
        </p:nvSpPr>
        <p:spPr>
          <a:xfrm>
            <a:off x="7222601" y="4243636"/>
            <a:ext cx="7239933" cy="1316659"/>
          </a:xfrm>
          <a:prstGeom prst="rect">
            <a:avLst/>
          </a:prstGeom>
          <a:noFill/>
          <a:ln/>
        </p:spPr>
        <p:txBody>
          <a:bodyPr wrap="square" lIns="0" tIns="0" rIns="0" bIns="0" rtlCol="0" anchor="t"/>
          <a:lstStyle/>
          <a:p>
            <a:pPr marL="0" indent="0" algn="l">
              <a:lnSpc>
                <a:spcPts val="2550"/>
              </a:lnSpc>
              <a:buNone/>
            </a:pPr>
            <a:r>
              <a:rPr lang="en-US" b="1" kern="0" spc="-32" dirty="0">
                <a:solidFill>
                  <a:srgbClr val="2B2E3C"/>
                </a:solidFill>
                <a:latin typeface="Open Sans" pitchFamily="34" charset="0"/>
                <a:ea typeface="Open Sans" pitchFamily="34" charset="-122"/>
                <a:cs typeface="Open Sans" pitchFamily="34" charset="-120"/>
              </a:rPr>
              <a:t>Through targeted marketing campaigns and farmer training programs, we will educate and encourage farmers and consumers to adopt Seed Sync. Simple interfaces and multi-language support make the app accessible to all users.</a:t>
            </a:r>
            <a:endParaRPr lang="en-US" b="1" dirty="0"/>
          </a:p>
        </p:txBody>
      </p:sp>
      <p:pic>
        <p:nvPicPr>
          <p:cNvPr id="12" name="Image 4" descr="preencoded.png"/>
          <p:cNvPicPr>
            <a:picLocks noChangeAspect="1"/>
          </p:cNvPicPr>
          <p:nvPr/>
        </p:nvPicPr>
        <p:blipFill>
          <a:blip r:embed="rId5"/>
          <a:stretch>
            <a:fillRect/>
          </a:stretch>
        </p:blipFill>
        <p:spPr>
          <a:xfrm>
            <a:off x="6057706" y="6212025"/>
            <a:ext cx="1016913" cy="1627108"/>
          </a:xfrm>
          <a:prstGeom prst="rect">
            <a:avLst/>
          </a:prstGeom>
        </p:spPr>
      </p:pic>
      <p:sp>
        <p:nvSpPr>
          <p:cNvPr id="13" name="Text 6"/>
          <p:cNvSpPr/>
          <p:nvPr/>
        </p:nvSpPr>
        <p:spPr>
          <a:xfrm>
            <a:off x="7222601" y="6231595"/>
            <a:ext cx="2542461" cy="317659"/>
          </a:xfrm>
          <a:prstGeom prst="rect">
            <a:avLst/>
          </a:prstGeom>
          <a:noFill/>
          <a:ln/>
        </p:spPr>
        <p:txBody>
          <a:bodyPr wrap="none" lIns="0" tIns="0" rIns="0" bIns="0" rtlCol="0" anchor="t"/>
          <a:lstStyle/>
          <a:p>
            <a:pPr marL="0" indent="0" algn="l">
              <a:lnSpc>
                <a:spcPts val="2500"/>
              </a:lnSpc>
              <a:buNone/>
            </a:pPr>
            <a:r>
              <a:rPr lang="en-US" sz="2400" b="1" u="sng" kern="0" spc="-60" dirty="0">
                <a:solidFill>
                  <a:srgbClr val="2B2E3C"/>
                </a:solidFill>
                <a:latin typeface="Bitter" pitchFamily="34" charset="0"/>
                <a:ea typeface="Bitter" pitchFamily="34" charset="-122"/>
                <a:cs typeface="Bitter" pitchFamily="34" charset="-120"/>
              </a:rPr>
              <a:t>Security and Privacy Measures</a:t>
            </a:r>
            <a:endParaRPr lang="en-US" sz="2400" b="1" u="sng" dirty="0"/>
          </a:p>
        </p:txBody>
      </p:sp>
      <p:sp>
        <p:nvSpPr>
          <p:cNvPr id="14" name="Text 7"/>
          <p:cNvSpPr/>
          <p:nvPr/>
        </p:nvSpPr>
        <p:spPr>
          <a:xfrm>
            <a:off x="7222602" y="6700300"/>
            <a:ext cx="7239933" cy="650558"/>
          </a:xfrm>
          <a:prstGeom prst="rect">
            <a:avLst/>
          </a:prstGeom>
          <a:noFill/>
          <a:ln/>
        </p:spPr>
        <p:txBody>
          <a:bodyPr wrap="square" lIns="0" tIns="0" rIns="0" bIns="0" rtlCol="0" anchor="t"/>
          <a:lstStyle/>
          <a:p>
            <a:pPr marL="0" indent="0" algn="l">
              <a:lnSpc>
                <a:spcPts val="2550"/>
              </a:lnSpc>
              <a:buNone/>
            </a:pPr>
            <a:r>
              <a:rPr lang="en-US" b="1" kern="0" spc="-32" dirty="0">
                <a:solidFill>
                  <a:srgbClr val="2B2E3C"/>
                </a:solidFill>
                <a:latin typeface="Open Sans" pitchFamily="34" charset="0"/>
                <a:ea typeface="Open Sans" pitchFamily="34" charset="-122"/>
                <a:cs typeface="Open Sans" pitchFamily="34" charset="-120"/>
              </a:rPr>
              <a:t>To build trust and confidence, we prioritize data security by implementing end-to-end encryption and robust authentication methods, ensuring safe and secure transactions for all users.</a:t>
            </a:r>
            <a:endParaRPr lang="en-US" b="1" dirty="0"/>
          </a:p>
        </p:txBody>
      </p:sp>
      <p:sp>
        <p:nvSpPr>
          <p:cNvPr id="15" name="Rectangle 14">
            <a:extLst>
              <a:ext uri="{FF2B5EF4-FFF2-40B4-BE49-F238E27FC236}">
                <a16:creationId xmlns:a16="http://schemas.microsoft.com/office/drawing/2014/main" id="{58BAE581-38AA-3750-75A5-76B75F158D6D}"/>
              </a:ext>
            </a:extLst>
          </p:cNvPr>
          <p:cNvSpPr/>
          <p:nvPr/>
        </p:nvSpPr>
        <p:spPr>
          <a:xfrm>
            <a:off x="12841794" y="7707085"/>
            <a:ext cx="1788606" cy="522515"/>
          </a:xfrm>
          <a:prstGeom prst="rect">
            <a:avLst/>
          </a:prstGeom>
          <a:solidFill>
            <a:srgbClr val="FFF8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Picture 16">
            <a:extLst>
              <a:ext uri="{FF2B5EF4-FFF2-40B4-BE49-F238E27FC236}">
                <a16:creationId xmlns:a16="http://schemas.microsoft.com/office/drawing/2014/main" id="{588E4630-34AD-94FB-5C0E-56D2B4E6A6EA}"/>
              </a:ext>
            </a:extLst>
          </p:cNvPr>
          <p:cNvPicPr>
            <a:picLocks noChangeAspect="1"/>
          </p:cNvPicPr>
          <p:nvPr/>
        </p:nvPicPr>
        <p:blipFill>
          <a:blip r:embed="rId6"/>
          <a:stretch>
            <a:fillRect/>
          </a:stretch>
        </p:blipFill>
        <p:spPr>
          <a:xfrm>
            <a:off x="-4464" y="0"/>
            <a:ext cx="5791806" cy="8229600"/>
          </a:xfrm>
          <a:prstGeom prst="rect">
            <a:avLst/>
          </a:prstGeom>
        </p:spPr>
      </p:pic>
    </p:spTree>
    <p:extLst>
      <p:ext uri="{BB962C8B-B14F-4D97-AF65-F5344CB8AC3E}">
        <p14:creationId xmlns:p14="http://schemas.microsoft.com/office/powerpoint/2010/main" val="581920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10" name="Shape 6"/>
          <p:cNvSpPr/>
          <p:nvPr/>
        </p:nvSpPr>
        <p:spPr>
          <a:xfrm>
            <a:off x="563165" y="4939329"/>
            <a:ext cx="7556421" cy="1058584"/>
          </a:xfrm>
          <a:prstGeom prst="rect">
            <a:avLst/>
          </a:prstGeom>
          <a:solidFill>
            <a:srgbClr val="000000">
              <a:alpha val="4000"/>
            </a:srgbClr>
          </a:solidFill>
          <a:ln/>
        </p:spPr>
      </p:sp>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427607" y="2472928"/>
            <a:ext cx="4919186" cy="3283625"/>
          </a:xfrm>
          <a:prstGeom prst="rect">
            <a:avLst/>
          </a:prstGeom>
        </p:spPr>
      </p:pic>
      <p:sp>
        <p:nvSpPr>
          <p:cNvPr id="4" name="Text 0"/>
          <p:cNvSpPr/>
          <p:nvPr/>
        </p:nvSpPr>
        <p:spPr>
          <a:xfrm>
            <a:off x="563164" y="972659"/>
            <a:ext cx="5670590" cy="708779"/>
          </a:xfrm>
          <a:prstGeom prst="rect">
            <a:avLst/>
          </a:prstGeom>
          <a:noFill/>
          <a:ln/>
        </p:spPr>
        <p:txBody>
          <a:bodyPr wrap="none" lIns="0" tIns="0" rIns="0" bIns="0" rtlCol="0" anchor="t"/>
          <a:lstStyle/>
          <a:p>
            <a:pPr marL="0" indent="0">
              <a:lnSpc>
                <a:spcPts val="5550"/>
              </a:lnSpc>
              <a:buNone/>
            </a:pPr>
            <a:r>
              <a:rPr lang="en-US" sz="4800" b="1" kern="0" spc="-134" dirty="0">
                <a:solidFill>
                  <a:srgbClr val="2C3F42"/>
                </a:solidFill>
                <a:latin typeface="Bitter" pitchFamily="34" charset="0"/>
                <a:ea typeface="Bitter" pitchFamily="34" charset="-122"/>
                <a:cs typeface="Bitter" pitchFamily="34" charset="-120"/>
              </a:rPr>
              <a:t>Impact and Benefits</a:t>
            </a:r>
            <a:endParaRPr lang="en-US" sz="4800" b="1" dirty="0"/>
          </a:p>
        </p:txBody>
      </p:sp>
      <p:sp>
        <p:nvSpPr>
          <p:cNvPr id="5" name="Text 1"/>
          <p:cNvSpPr/>
          <p:nvPr/>
        </p:nvSpPr>
        <p:spPr>
          <a:xfrm>
            <a:off x="563165" y="2201563"/>
            <a:ext cx="7556421" cy="1088708"/>
          </a:xfrm>
          <a:prstGeom prst="rect">
            <a:avLst/>
          </a:prstGeom>
          <a:noFill/>
          <a:ln/>
        </p:spPr>
        <p:txBody>
          <a:bodyPr wrap="square" lIns="0" tIns="0" rIns="0" bIns="0" rtlCol="0" anchor="t"/>
          <a:lstStyle/>
          <a:p>
            <a:pPr marL="0" indent="0">
              <a:lnSpc>
                <a:spcPts val="2850"/>
              </a:lnSpc>
              <a:buNone/>
            </a:pPr>
            <a:r>
              <a:rPr lang="en-US" b="1" kern="0" spc="-36" dirty="0">
                <a:solidFill>
                  <a:srgbClr val="2B2E3C"/>
                </a:solidFill>
                <a:latin typeface="Open Sans" pitchFamily="34" charset="0"/>
                <a:ea typeface="Open Sans" pitchFamily="34" charset="-122"/>
                <a:cs typeface="Open Sans" pitchFamily="34" charset="-120"/>
              </a:rPr>
              <a:t>The Seed Sync app has the potential to create a positive impact on both farmers and consumers. By addressing existing challenges and providing a user-friendly platform, it fosters a sustainable and equitable food system.</a:t>
            </a:r>
            <a:endParaRPr lang="en-US" b="1" dirty="0"/>
          </a:p>
        </p:txBody>
      </p:sp>
      <p:sp>
        <p:nvSpPr>
          <p:cNvPr id="6" name="Shape 2"/>
          <p:cNvSpPr/>
          <p:nvPr/>
        </p:nvSpPr>
        <p:spPr>
          <a:xfrm>
            <a:off x="563164" y="4552058"/>
            <a:ext cx="7556421" cy="1847789"/>
          </a:xfrm>
          <a:prstGeom prst="roundRect">
            <a:avLst>
              <a:gd name="adj" fmla="val 5675"/>
            </a:avLst>
          </a:prstGeom>
          <a:noFill/>
          <a:ln w="7620">
            <a:solidFill>
              <a:schemeClr val="bg1">
                <a:lumMod val="75000"/>
                <a:alpha val="8000"/>
              </a:schemeClr>
            </a:solidFill>
            <a:prstDash val="solid"/>
          </a:ln>
        </p:spPr>
      </p:sp>
      <p:sp>
        <p:nvSpPr>
          <p:cNvPr id="8" name="Text 4"/>
          <p:cNvSpPr/>
          <p:nvPr/>
        </p:nvSpPr>
        <p:spPr>
          <a:xfrm>
            <a:off x="658927" y="4409256"/>
            <a:ext cx="3451823" cy="545134"/>
          </a:xfrm>
          <a:prstGeom prst="rect">
            <a:avLst/>
          </a:prstGeom>
          <a:noFill/>
          <a:ln/>
        </p:spPr>
        <p:txBody>
          <a:bodyPr wrap="none" lIns="0" tIns="0" rIns="0" bIns="0" rtlCol="0" anchor="t"/>
          <a:lstStyle/>
          <a:p>
            <a:pPr marL="0" indent="0">
              <a:lnSpc>
                <a:spcPts val="2850"/>
              </a:lnSpc>
              <a:buNone/>
            </a:pPr>
            <a:r>
              <a:rPr lang="en-US" b="1" kern="0" spc="-36" dirty="0">
                <a:solidFill>
                  <a:srgbClr val="2B2E3C"/>
                </a:solidFill>
                <a:latin typeface="Open Sans" pitchFamily="34" charset="0"/>
                <a:ea typeface="Open Sans" pitchFamily="34" charset="-122"/>
                <a:cs typeface="Open Sans" pitchFamily="34" charset="-120"/>
              </a:rPr>
              <a:t>Increased Farmer Income</a:t>
            </a:r>
          </a:p>
          <a:p>
            <a:pPr marL="0" indent="0">
              <a:lnSpc>
                <a:spcPts val="2850"/>
              </a:lnSpc>
              <a:buNone/>
            </a:pPr>
            <a:endParaRPr lang="en-US" b="1" dirty="0"/>
          </a:p>
        </p:txBody>
      </p:sp>
      <p:sp>
        <p:nvSpPr>
          <p:cNvPr id="9" name="Text 5"/>
          <p:cNvSpPr/>
          <p:nvPr/>
        </p:nvSpPr>
        <p:spPr>
          <a:xfrm>
            <a:off x="4437138" y="4394195"/>
            <a:ext cx="3451823" cy="545134"/>
          </a:xfrm>
          <a:prstGeom prst="rect">
            <a:avLst/>
          </a:prstGeom>
          <a:noFill/>
          <a:ln/>
        </p:spPr>
        <p:txBody>
          <a:bodyPr wrap="none" lIns="0" tIns="0" rIns="0" bIns="0" rtlCol="0" anchor="t"/>
          <a:lstStyle/>
          <a:p>
            <a:pPr marL="0" indent="0">
              <a:lnSpc>
                <a:spcPts val="2850"/>
              </a:lnSpc>
              <a:buNone/>
            </a:pPr>
            <a:r>
              <a:rPr lang="en-US" b="1" kern="0" spc="-36" dirty="0">
                <a:solidFill>
                  <a:srgbClr val="2B2E3C"/>
                </a:solidFill>
                <a:latin typeface="Open Sans" pitchFamily="34" charset="0"/>
                <a:ea typeface="Open Sans" pitchFamily="34" charset="-122"/>
                <a:cs typeface="Open Sans" pitchFamily="34" charset="-120"/>
              </a:rPr>
              <a:t>Empowered Consumers</a:t>
            </a:r>
            <a:endParaRPr lang="en-US" b="1" dirty="0"/>
          </a:p>
        </p:txBody>
      </p:sp>
      <p:sp>
        <p:nvSpPr>
          <p:cNvPr id="11" name="Text 7"/>
          <p:cNvSpPr/>
          <p:nvPr/>
        </p:nvSpPr>
        <p:spPr>
          <a:xfrm>
            <a:off x="662738" y="5044513"/>
            <a:ext cx="3451823" cy="545134"/>
          </a:xfrm>
          <a:prstGeom prst="rect">
            <a:avLst/>
          </a:prstGeom>
          <a:noFill/>
          <a:ln/>
        </p:spPr>
        <p:txBody>
          <a:bodyPr wrap="none" lIns="0" tIns="0" rIns="0" bIns="0" rtlCol="0" anchor="t"/>
          <a:lstStyle/>
          <a:p>
            <a:pPr marL="0" indent="0">
              <a:lnSpc>
                <a:spcPts val="2850"/>
              </a:lnSpc>
              <a:buNone/>
            </a:pPr>
            <a:r>
              <a:rPr lang="en-US" b="1" kern="0" spc="-36" dirty="0">
                <a:solidFill>
                  <a:srgbClr val="2B2E3C"/>
                </a:solidFill>
                <a:latin typeface="Open Sans" pitchFamily="34" charset="0"/>
                <a:ea typeface="Open Sans" pitchFamily="34" charset="-122"/>
                <a:cs typeface="Open Sans" pitchFamily="34" charset="-120"/>
              </a:rPr>
              <a:t>Reduced Food Waste</a:t>
            </a:r>
            <a:endParaRPr lang="en-US" b="1" dirty="0"/>
          </a:p>
        </p:txBody>
      </p:sp>
      <p:sp>
        <p:nvSpPr>
          <p:cNvPr id="12" name="Text 8"/>
          <p:cNvSpPr/>
          <p:nvPr/>
        </p:nvSpPr>
        <p:spPr>
          <a:xfrm>
            <a:off x="4437138" y="4971232"/>
            <a:ext cx="3451823" cy="1090267"/>
          </a:xfrm>
          <a:prstGeom prst="rect">
            <a:avLst/>
          </a:prstGeom>
          <a:noFill/>
          <a:ln/>
        </p:spPr>
        <p:txBody>
          <a:bodyPr wrap="square" lIns="0" tIns="0" rIns="0" bIns="0" rtlCol="0" anchor="t"/>
          <a:lstStyle/>
          <a:p>
            <a:pPr marL="0" indent="0">
              <a:lnSpc>
                <a:spcPts val="2850"/>
              </a:lnSpc>
              <a:buNone/>
            </a:pPr>
            <a:r>
              <a:rPr lang="en-US" b="1" kern="0" spc="-36" dirty="0">
                <a:solidFill>
                  <a:srgbClr val="2B2E3C"/>
                </a:solidFill>
                <a:latin typeface="Open Sans" pitchFamily="34" charset="0"/>
                <a:ea typeface="Open Sans" pitchFamily="34" charset="-122"/>
                <a:cs typeface="Open Sans" pitchFamily="34" charset="-120"/>
              </a:rPr>
              <a:t>Strengthened Local Communities</a:t>
            </a:r>
            <a:endParaRPr lang="en-US" b="1" dirty="0"/>
          </a:p>
        </p:txBody>
      </p:sp>
      <p:sp>
        <p:nvSpPr>
          <p:cNvPr id="7" name="Text 1">
            <a:extLst>
              <a:ext uri="{FF2B5EF4-FFF2-40B4-BE49-F238E27FC236}">
                <a16:creationId xmlns:a16="http://schemas.microsoft.com/office/drawing/2014/main" id="{FDCDEEC4-F415-60A0-508C-5506ABBB88CC}"/>
              </a:ext>
            </a:extLst>
          </p:cNvPr>
          <p:cNvSpPr/>
          <p:nvPr/>
        </p:nvSpPr>
        <p:spPr>
          <a:xfrm>
            <a:off x="563165" y="6385184"/>
            <a:ext cx="7556421" cy="1088708"/>
          </a:xfrm>
          <a:prstGeom prst="rect">
            <a:avLst/>
          </a:prstGeom>
          <a:noFill/>
          <a:ln/>
        </p:spPr>
        <p:txBody>
          <a:bodyPr wrap="square" lIns="0" tIns="0" rIns="0" bIns="0" rtlCol="0" anchor="t"/>
          <a:lstStyle/>
          <a:p>
            <a:pPr marL="0" indent="0">
              <a:lnSpc>
                <a:spcPts val="2850"/>
              </a:lnSpc>
              <a:buNone/>
            </a:pPr>
            <a:r>
              <a:rPr lang="en-US" b="1" kern="0" spc="-36" dirty="0">
                <a:solidFill>
                  <a:srgbClr val="2B2E3C"/>
                </a:solidFill>
                <a:latin typeface="Open Sans" pitchFamily="34" charset="0"/>
                <a:ea typeface="Open Sans" pitchFamily="34" charset="-122"/>
                <a:cs typeface="Open Sans" pitchFamily="34" charset="-120"/>
              </a:rPr>
              <a:t>The Seed Sync app also offers a efficient Bidding system which helps the retailer and user to negotiate for higher purchase stock and helps both to receive best offer possible.</a:t>
            </a:r>
            <a:endParaRPr lang="en-US"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34556" y="332506"/>
            <a:ext cx="5247918" cy="656034"/>
          </a:xfrm>
          <a:prstGeom prst="rect">
            <a:avLst/>
          </a:prstGeom>
          <a:noFill/>
          <a:ln/>
        </p:spPr>
        <p:txBody>
          <a:bodyPr wrap="none" lIns="0" tIns="0" rIns="0" bIns="0" rtlCol="0" anchor="t"/>
          <a:lstStyle/>
          <a:p>
            <a:pPr marL="0" indent="0">
              <a:lnSpc>
                <a:spcPts val="5150"/>
              </a:lnSpc>
              <a:buNone/>
            </a:pPr>
            <a:r>
              <a:rPr lang="en-US" sz="4100" b="1" u="sng" kern="0" spc="-124" dirty="0">
                <a:solidFill>
                  <a:srgbClr val="2C3F42"/>
                </a:solidFill>
                <a:latin typeface="Bitter" pitchFamily="34" charset="0"/>
                <a:ea typeface="Bitter" pitchFamily="34" charset="-122"/>
                <a:cs typeface="Bitter" pitchFamily="34" charset="-120"/>
              </a:rPr>
              <a:t>Conclusion</a:t>
            </a:r>
            <a:endParaRPr lang="en-US" sz="4100" b="1" u="sng" dirty="0"/>
          </a:p>
        </p:txBody>
      </p:sp>
      <p:pic>
        <p:nvPicPr>
          <p:cNvPr id="3" name="Image 0" descr="preencoded.png"/>
          <p:cNvPicPr>
            <a:picLocks noChangeAspect="1"/>
          </p:cNvPicPr>
          <p:nvPr/>
        </p:nvPicPr>
        <p:blipFill>
          <a:blip r:embed="rId3"/>
          <a:stretch>
            <a:fillRect/>
          </a:stretch>
        </p:blipFill>
        <p:spPr>
          <a:xfrm>
            <a:off x="734556" y="1349687"/>
            <a:ext cx="4177189" cy="2581632"/>
          </a:xfrm>
          <a:prstGeom prst="rect">
            <a:avLst/>
          </a:prstGeom>
          <a:ln>
            <a:noFill/>
          </a:ln>
          <a:effectLst>
            <a:outerShdw blurRad="292100" dist="139700" dir="2700000" algn="tl" rotWithShape="0">
              <a:srgbClr val="333333">
                <a:alpha val="65000"/>
              </a:srgbClr>
            </a:outerShdw>
          </a:effectLst>
        </p:spPr>
      </p:pic>
      <p:sp>
        <p:nvSpPr>
          <p:cNvPr id="4" name="Text 1"/>
          <p:cNvSpPr/>
          <p:nvPr/>
        </p:nvSpPr>
        <p:spPr>
          <a:xfrm>
            <a:off x="734616" y="4394359"/>
            <a:ext cx="2623899" cy="328017"/>
          </a:xfrm>
          <a:prstGeom prst="rect">
            <a:avLst/>
          </a:prstGeom>
          <a:noFill/>
          <a:ln/>
        </p:spPr>
        <p:txBody>
          <a:bodyPr wrap="none" lIns="0" tIns="0" rIns="0" bIns="0" rtlCol="0" anchor="t"/>
          <a:lstStyle/>
          <a:p>
            <a:pPr marL="0" indent="0" algn="l">
              <a:lnSpc>
                <a:spcPts val="2550"/>
              </a:lnSpc>
              <a:buNone/>
            </a:pPr>
            <a:r>
              <a:rPr lang="en-US" sz="2050" b="1" u="sng" kern="0" spc="-62" dirty="0">
                <a:solidFill>
                  <a:srgbClr val="2B2E3C"/>
                </a:solidFill>
                <a:latin typeface="Bitter" pitchFamily="34" charset="0"/>
                <a:ea typeface="Bitter" pitchFamily="34" charset="-122"/>
                <a:cs typeface="Bitter" pitchFamily="34" charset="-120"/>
              </a:rPr>
              <a:t>Growth</a:t>
            </a:r>
            <a:endParaRPr lang="en-US" sz="2050" b="1" u="sng" dirty="0"/>
          </a:p>
        </p:txBody>
      </p:sp>
      <p:sp>
        <p:nvSpPr>
          <p:cNvPr id="5" name="Text 2"/>
          <p:cNvSpPr/>
          <p:nvPr/>
        </p:nvSpPr>
        <p:spPr>
          <a:xfrm>
            <a:off x="734616" y="4848225"/>
            <a:ext cx="4177189" cy="1343025"/>
          </a:xfrm>
          <a:prstGeom prst="rect">
            <a:avLst/>
          </a:prstGeom>
          <a:noFill/>
          <a:ln/>
        </p:spPr>
        <p:txBody>
          <a:bodyPr wrap="square" lIns="0" tIns="0" rIns="0" bIns="0" rtlCol="0" anchor="t"/>
          <a:lstStyle/>
          <a:p>
            <a:pPr marL="0" indent="0" algn="l">
              <a:lnSpc>
                <a:spcPts val="2600"/>
              </a:lnSpc>
              <a:buNone/>
            </a:pPr>
            <a:r>
              <a:rPr lang="en-US" sz="1650" b="1" kern="0" spc="-33" dirty="0">
                <a:solidFill>
                  <a:srgbClr val="2B2E3C"/>
                </a:solidFill>
                <a:latin typeface="Open Sans" pitchFamily="34" charset="0"/>
                <a:ea typeface="Open Sans" pitchFamily="34" charset="-122"/>
                <a:cs typeface="Open Sans" pitchFamily="34" charset="-120"/>
              </a:rPr>
              <a:t>Seed Sync can foster growth for both farmers and consumers by connecting them directly and promoting sustainable practices.</a:t>
            </a:r>
            <a:endParaRPr lang="en-US" sz="1650" b="1" dirty="0"/>
          </a:p>
        </p:txBody>
      </p:sp>
      <p:pic>
        <p:nvPicPr>
          <p:cNvPr id="6" name="Image 1" descr="preencoded.png"/>
          <p:cNvPicPr>
            <a:picLocks noChangeAspect="1"/>
          </p:cNvPicPr>
          <p:nvPr/>
        </p:nvPicPr>
        <p:blipFill>
          <a:blip r:embed="rId4"/>
          <a:stretch>
            <a:fillRect/>
          </a:stretch>
        </p:blipFill>
        <p:spPr>
          <a:xfrm>
            <a:off x="5226546" y="1349687"/>
            <a:ext cx="4177189" cy="2581632"/>
          </a:xfrm>
          <a:prstGeom prst="rect">
            <a:avLst/>
          </a:prstGeom>
          <a:ln>
            <a:noFill/>
          </a:ln>
          <a:effectLst>
            <a:outerShdw blurRad="292100" dist="139700" dir="2700000" algn="tl" rotWithShape="0">
              <a:srgbClr val="333333">
                <a:alpha val="65000"/>
              </a:srgbClr>
            </a:outerShdw>
          </a:effectLst>
        </p:spPr>
      </p:pic>
      <p:sp>
        <p:nvSpPr>
          <p:cNvPr id="7" name="Text 3"/>
          <p:cNvSpPr/>
          <p:nvPr/>
        </p:nvSpPr>
        <p:spPr>
          <a:xfrm>
            <a:off x="5226606" y="4394359"/>
            <a:ext cx="2623899" cy="328017"/>
          </a:xfrm>
          <a:prstGeom prst="rect">
            <a:avLst/>
          </a:prstGeom>
          <a:noFill/>
          <a:ln/>
        </p:spPr>
        <p:txBody>
          <a:bodyPr wrap="none" lIns="0" tIns="0" rIns="0" bIns="0" rtlCol="0" anchor="t"/>
          <a:lstStyle/>
          <a:p>
            <a:pPr marL="0" indent="0" algn="l">
              <a:lnSpc>
                <a:spcPts val="2550"/>
              </a:lnSpc>
              <a:buNone/>
            </a:pPr>
            <a:r>
              <a:rPr lang="en-US" sz="2050" b="1" u="sng" kern="0" spc="-62" dirty="0">
                <a:solidFill>
                  <a:srgbClr val="2B2E3C"/>
                </a:solidFill>
                <a:latin typeface="Bitter" pitchFamily="34" charset="0"/>
                <a:ea typeface="Bitter" pitchFamily="34" charset="-122"/>
                <a:cs typeface="Bitter" pitchFamily="34" charset="-120"/>
              </a:rPr>
              <a:t>Partnership</a:t>
            </a:r>
            <a:endParaRPr lang="en-US" sz="2050" b="1" u="sng" dirty="0"/>
          </a:p>
        </p:txBody>
      </p:sp>
      <p:sp>
        <p:nvSpPr>
          <p:cNvPr id="8" name="Text 4"/>
          <p:cNvSpPr/>
          <p:nvPr/>
        </p:nvSpPr>
        <p:spPr>
          <a:xfrm>
            <a:off x="5226606" y="4848225"/>
            <a:ext cx="4177189" cy="1343025"/>
          </a:xfrm>
          <a:prstGeom prst="rect">
            <a:avLst/>
          </a:prstGeom>
          <a:noFill/>
          <a:ln/>
        </p:spPr>
        <p:txBody>
          <a:bodyPr wrap="square" lIns="0" tIns="0" rIns="0" bIns="0" rtlCol="0" anchor="t"/>
          <a:lstStyle/>
          <a:p>
            <a:pPr marL="0" indent="0" algn="l">
              <a:lnSpc>
                <a:spcPts val="2600"/>
              </a:lnSpc>
              <a:buNone/>
            </a:pPr>
            <a:r>
              <a:rPr lang="en-US" sz="1650" b="1" kern="0" spc="-33" dirty="0">
                <a:solidFill>
                  <a:srgbClr val="2B2E3C"/>
                </a:solidFill>
                <a:latin typeface="Open Sans" pitchFamily="34" charset="0"/>
                <a:ea typeface="Open Sans" pitchFamily="34" charset="-122"/>
                <a:cs typeface="Open Sans" pitchFamily="34" charset="-120"/>
              </a:rPr>
              <a:t>Collaborating with stakeholders, including farmers, consumers, and local organizations, is crucial for the successful implementation of the Seed Sync app.</a:t>
            </a:r>
            <a:endParaRPr lang="en-US" sz="1650" b="1" dirty="0"/>
          </a:p>
        </p:txBody>
      </p:sp>
      <p:pic>
        <p:nvPicPr>
          <p:cNvPr id="9" name="Image 2" descr="preencoded.png"/>
          <p:cNvPicPr>
            <a:picLocks noChangeAspect="1"/>
          </p:cNvPicPr>
          <p:nvPr/>
        </p:nvPicPr>
        <p:blipFill>
          <a:blip r:embed="rId5"/>
          <a:stretch>
            <a:fillRect/>
          </a:stretch>
        </p:blipFill>
        <p:spPr>
          <a:xfrm>
            <a:off x="9718536" y="1349687"/>
            <a:ext cx="4177189" cy="2581632"/>
          </a:xfrm>
          <a:prstGeom prst="rect">
            <a:avLst/>
          </a:prstGeom>
          <a:ln>
            <a:noFill/>
          </a:ln>
          <a:effectLst>
            <a:outerShdw blurRad="292100" dist="139700" dir="2700000" algn="tl" rotWithShape="0">
              <a:srgbClr val="333333">
                <a:alpha val="65000"/>
              </a:srgbClr>
            </a:outerShdw>
          </a:effectLst>
        </p:spPr>
      </p:pic>
      <p:sp>
        <p:nvSpPr>
          <p:cNvPr id="10" name="Text 5"/>
          <p:cNvSpPr/>
          <p:nvPr/>
        </p:nvSpPr>
        <p:spPr>
          <a:xfrm>
            <a:off x="9718596" y="4394359"/>
            <a:ext cx="2623899" cy="328017"/>
          </a:xfrm>
          <a:prstGeom prst="rect">
            <a:avLst/>
          </a:prstGeom>
          <a:noFill/>
          <a:ln/>
        </p:spPr>
        <p:txBody>
          <a:bodyPr wrap="none" lIns="0" tIns="0" rIns="0" bIns="0" rtlCol="0" anchor="t"/>
          <a:lstStyle/>
          <a:p>
            <a:pPr marL="0" indent="0" algn="l">
              <a:lnSpc>
                <a:spcPts val="2550"/>
              </a:lnSpc>
              <a:buNone/>
            </a:pPr>
            <a:r>
              <a:rPr lang="en-US" sz="2050" b="1" u="sng" kern="0" spc="-62" dirty="0">
                <a:solidFill>
                  <a:srgbClr val="2B2E3C"/>
                </a:solidFill>
                <a:latin typeface="Bitter" pitchFamily="34" charset="0"/>
                <a:ea typeface="Bitter" pitchFamily="34" charset="-122"/>
                <a:cs typeface="Bitter" pitchFamily="34" charset="-120"/>
              </a:rPr>
              <a:t>Innovation</a:t>
            </a:r>
            <a:endParaRPr lang="en-US" sz="2050" b="1" u="sng" dirty="0"/>
          </a:p>
        </p:txBody>
      </p:sp>
      <p:sp>
        <p:nvSpPr>
          <p:cNvPr id="11" name="Text 6"/>
          <p:cNvSpPr/>
          <p:nvPr/>
        </p:nvSpPr>
        <p:spPr>
          <a:xfrm>
            <a:off x="9718596" y="4848225"/>
            <a:ext cx="4177189" cy="1343025"/>
          </a:xfrm>
          <a:prstGeom prst="rect">
            <a:avLst/>
          </a:prstGeom>
          <a:noFill/>
          <a:ln/>
        </p:spPr>
        <p:txBody>
          <a:bodyPr wrap="square" lIns="0" tIns="0" rIns="0" bIns="0" rtlCol="0" anchor="t"/>
          <a:lstStyle/>
          <a:p>
            <a:pPr marL="0" indent="0" algn="l">
              <a:lnSpc>
                <a:spcPts val="2600"/>
              </a:lnSpc>
              <a:buNone/>
            </a:pPr>
            <a:r>
              <a:rPr lang="en-US" sz="1650" b="1" kern="0" spc="-33" dirty="0">
                <a:solidFill>
                  <a:srgbClr val="2B2E3C"/>
                </a:solidFill>
                <a:latin typeface="Open Sans" pitchFamily="34" charset="0"/>
                <a:ea typeface="Open Sans" pitchFamily="34" charset="-122"/>
                <a:cs typeface="Open Sans" pitchFamily="34" charset="-120"/>
              </a:rPr>
              <a:t>We are committed to continuous innovation and improvement, ensuring that the Seed Sync app remains relevant and effective in the future.</a:t>
            </a:r>
            <a:endParaRPr lang="en-US" sz="1650" b="1" dirty="0"/>
          </a:p>
        </p:txBody>
      </p:sp>
      <p:sp>
        <p:nvSpPr>
          <p:cNvPr id="12" name="Text 7"/>
          <p:cNvSpPr/>
          <p:nvPr/>
        </p:nvSpPr>
        <p:spPr>
          <a:xfrm>
            <a:off x="734616" y="6772400"/>
            <a:ext cx="13161169" cy="671512"/>
          </a:xfrm>
          <a:prstGeom prst="rect">
            <a:avLst/>
          </a:prstGeom>
          <a:noFill/>
          <a:ln/>
        </p:spPr>
        <p:txBody>
          <a:bodyPr wrap="square" lIns="0" tIns="0" rIns="0" bIns="0" rtlCol="0" anchor="t"/>
          <a:lstStyle/>
          <a:p>
            <a:pPr marL="0" indent="0">
              <a:lnSpc>
                <a:spcPts val="2600"/>
              </a:lnSpc>
              <a:buNone/>
            </a:pPr>
            <a:r>
              <a:rPr lang="en-US" sz="1650" b="1" kern="0" spc="-33" dirty="0">
                <a:solidFill>
                  <a:srgbClr val="2B2E3C"/>
                </a:solidFill>
                <a:latin typeface="Open Sans" pitchFamily="34" charset="0"/>
                <a:ea typeface="Open Sans" pitchFamily="34" charset="-122"/>
                <a:cs typeface="Open Sans" pitchFamily="34" charset="-120"/>
              </a:rPr>
              <a:t>The Seed Sync app presents a powerful opportunity to revolutionize the way farmers connect with consumers. By overcoming challenges and leveraging technological advancements, we can create a more sustainable and equitable food system that benefits all stakeholders.</a:t>
            </a:r>
            <a:endParaRPr lang="en-US" sz="1650" b="1" dirty="0"/>
          </a:p>
        </p:txBody>
      </p:sp>
      <p:sp>
        <p:nvSpPr>
          <p:cNvPr id="13" name="Rectangle 12">
            <a:extLst>
              <a:ext uri="{FF2B5EF4-FFF2-40B4-BE49-F238E27FC236}">
                <a16:creationId xmlns:a16="http://schemas.microsoft.com/office/drawing/2014/main" id="{299DE5A2-AAF0-45D2-61CC-F6CF3233D580}"/>
              </a:ext>
            </a:extLst>
          </p:cNvPr>
          <p:cNvSpPr/>
          <p:nvPr/>
        </p:nvSpPr>
        <p:spPr>
          <a:xfrm>
            <a:off x="12841794" y="7707085"/>
            <a:ext cx="1788606" cy="522515"/>
          </a:xfrm>
          <a:prstGeom prst="rect">
            <a:avLst/>
          </a:prstGeom>
          <a:solidFill>
            <a:srgbClr val="FFF8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TotalTime>
  <Words>1093</Words>
  <Application>Microsoft Office PowerPoint</Application>
  <PresentationFormat>Custom</PresentationFormat>
  <Paragraphs>119</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Bitter</vt:lpstr>
      <vt:lpstr>Open Sans</vt:lpstr>
      <vt:lpstr>Constantia</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Bharathwaj Ryder</cp:lastModifiedBy>
  <cp:revision>18</cp:revision>
  <dcterms:created xsi:type="dcterms:W3CDTF">2024-09-15T15:53:35Z</dcterms:created>
  <dcterms:modified xsi:type="dcterms:W3CDTF">2024-09-17T04:23:30Z</dcterms:modified>
</cp:coreProperties>
</file>