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80" r:id="rId5"/>
    <p:sldId id="259" r:id="rId6"/>
    <p:sldId id="260" r:id="rId7"/>
    <p:sldId id="261" r:id="rId8"/>
    <p:sldId id="281" r:id="rId9"/>
    <p:sldId id="262" r:id="rId10"/>
    <p:sldId id="282" r:id="rId11"/>
    <p:sldId id="263" r:id="rId12"/>
    <p:sldId id="283" r:id="rId13"/>
    <p:sldId id="264" r:id="rId14"/>
    <p:sldId id="265" r:id="rId15"/>
    <p:sldId id="266" r:id="rId16"/>
    <p:sldId id="267" r:id="rId17"/>
    <p:sldId id="268" r:id="rId18"/>
    <p:sldId id="269" r:id="rId19"/>
    <p:sldId id="284" r:id="rId20"/>
    <p:sldId id="270" r:id="rId21"/>
    <p:sldId id="271" r:id="rId22"/>
    <p:sldId id="272" r:id="rId23"/>
    <p:sldId id="273" r:id="rId24"/>
    <p:sldId id="285" r:id="rId25"/>
    <p:sldId id="274" r:id="rId26"/>
    <p:sldId id="275" r:id="rId27"/>
    <p:sldId id="276" r:id="rId28"/>
    <p:sldId id="277" r:id="rId29"/>
    <p:sldId id="278" r:id="rId30"/>
    <p:sldId id="279" r:id="rId31"/>
    <p:sldId id="286" r:id="rId32"/>
    <p:sldId id="287" r:id="rId33"/>
    <p:sldId id="288" r:id="rId34"/>
    <p:sldId id="289" r:id="rId35"/>
    <p:sldId id="290" r:id="rId36"/>
    <p:sldId id="291"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10" r:id="rId52"/>
    <p:sldId id="307" r:id="rId53"/>
    <p:sldId id="308" r:id="rId54"/>
    <p:sldId id="311" r:id="rId55"/>
    <p:sldId id="309" r:id="rId56"/>
    <p:sldId id="312"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3EC67C8-A674-465B-BA21-182F690F8D3F}" type="datetimeFigureOut">
              <a:rPr lang="en-US" smtClean="0"/>
              <a:t>3/30/2023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1986983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EC67C8-A674-465B-BA21-182F690F8D3F}" type="datetimeFigureOut">
              <a:rPr lang="en-US" smtClean="0"/>
              <a:t>3/30/2023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3883636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3EC67C8-A674-465B-BA21-182F690F8D3F}" type="datetimeFigureOut">
              <a:rPr lang="en-US" smtClean="0"/>
              <a:t>3/30/2023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3651502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3EC67C8-A674-465B-BA21-182F690F8D3F}" type="datetimeFigureOut">
              <a:rPr lang="en-US" smtClean="0"/>
              <a:t>3/30/2023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4263573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3EC67C8-A674-465B-BA21-182F690F8D3F}" type="datetimeFigureOut">
              <a:rPr lang="en-US" smtClean="0"/>
              <a:t>3/30/2023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2827216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3EC67C8-A674-465B-BA21-182F690F8D3F}" type="datetimeFigureOut">
              <a:rPr lang="en-US" smtClean="0"/>
              <a:t>3/30/2023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991962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C67C8-A674-465B-BA21-182F690F8D3F}" type="datetimeFigureOut">
              <a:rPr lang="en-US" smtClean="0"/>
              <a:t>3/30/2023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2497652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EC67C8-A674-465B-BA21-182F690F8D3F}" type="datetimeFigureOut">
              <a:rPr lang="en-US" smtClean="0"/>
              <a:t>3/30/2023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2515691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EC67C8-A674-465B-BA21-182F690F8D3F}" type="datetimeFigureOut">
              <a:rPr lang="en-US" smtClean="0"/>
              <a:t>3/30/2023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1241050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EC67C8-A674-465B-BA21-182F690F8D3F}" type="datetimeFigureOut">
              <a:rPr lang="en-US" smtClean="0"/>
              <a:t>3/30/2023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1994658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EC67C8-A674-465B-BA21-182F690F8D3F}" type="datetimeFigureOut">
              <a:rPr lang="en-US" smtClean="0"/>
              <a:t>3/30/2023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EBCDA2-8B98-4097-8CA9-80C21282395A}" type="slidenum">
              <a:rPr lang="en-US" smtClean="0"/>
              <a:t>‹#›</a:t>
            </a:fld>
            <a:endParaRPr lang="en-US"/>
          </a:p>
        </p:txBody>
      </p:sp>
    </p:spTree>
    <p:extLst>
      <p:ext uri="{BB962C8B-B14F-4D97-AF65-F5344CB8AC3E}">
        <p14:creationId xmlns:p14="http://schemas.microsoft.com/office/powerpoint/2010/main" val="1965407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C67C8-A674-465B-BA21-182F690F8D3F}" type="datetimeFigureOut">
              <a:rPr lang="en-US" smtClean="0"/>
              <a:t>3/30/2023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EBCDA2-8B98-4097-8CA9-80C21282395A}" type="slidenum">
              <a:rPr lang="en-US" smtClean="0"/>
              <a:t>‹#›</a:t>
            </a:fld>
            <a:endParaRPr lang="en-US"/>
          </a:p>
        </p:txBody>
      </p:sp>
    </p:spTree>
    <p:extLst>
      <p:ext uri="{BB962C8B-B14F-4D97-AF65-F5344CB8AC3E}">
        <p14:creationId xmlns:p14="http://schemas.microsoft.com/office/powerpoint/2010/main" val="14989447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geeksforgeeks.org/s3-class-in-r-programming/"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096685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762000"/>
          </a:xfrm>
        </p:spPr>
        <p:txBody>
          <a:bodyPr/>
          <a:lstStyle/>
          <a:p>
            <a:r>
              <a:rPr lang="en-US" dirty="0" smtClean="0"/>
              <a:t>Data Structures</a:t>
            </a:r>
            <a:endParaRPr lang="en-US" dirty="0"/>
          </a:p>
        </p:txBody>
      </p:sp>
      <p:sp>
        <p:nvSpPr>
          <p:cNvPr id="3" name="Content Placeholder 2"/>
          <p:cNvSpPr>
            <a:spLocks noGrp="1"/>
          </p:cNvSpPr>
          <p:nvPr>
            <p:ph idx="1"/>
          </p:nvPr>
        </p:nvSpPr>
        <p:spPr>
          <a:xfrm>
            <a:off x="381000" y="1143000"/>
            <a:ext cx="8229600" cy="4525963"/>
          </a:xfrm>
        </p:spPr>
        <p:txBody>
          <a:bodyPr>
            <a:normAutofit lnSpcReduction="10000"/>
          </a:bodyPr>
          <a:lstStyle/>
          <a:p>
            <a:r>
              <a:rPr lang="en-US" dirty="0"/>
              <a:t>Vectors</a:t>
            </a:r>
          </a:p>
          <a:p>
            <a:pPr lvl="1"/>
            <a:r>
              <a:rPr lang="en-US" dirty="0"/>
              <a:t>A vector is simply a list of items that are of the same type.</a:t>
            </a:r>
          </a:p>
          <a:p>
            <a:pPr lvl="1"/>
            <a:r>
              <a:rPr lang="en-US" dirty="0"/>
              <a:t>To combine the list of items to a vector, use the c() function and separate the items by a comma.</a:t>
            </a:r>
          </a:p>
          <a:p>
            <a:pPr lvl="1"/>
            <a:r>
              <a:rPr lang="en-US" dirty="0"/>
              <a:t>In the example below, we create a vector variable called </a:t>
            </a:r>
            <a:r>
              <a:rPr lang="en-US" b="1" dirty="0"/>
              <a:t>fruits</a:t>
            </a:r>
            <a:r>
              <a:rPr lang="en-US" dirty="0"/>
              <a:t>, that combine strings</a:t>
            </a:r>
            <a:r>
              <a:rPr lang="en-US" dirty="0" smtClean="0"/>
              <a:t>:</a:t>
            </a:r>
          </a:p>
          <a:p>
            <a:pPr marL="457200" lvl="1" indent="0">
              <a:buNone/>
            </a:pPr>
            <a:r>
              <a:rPr lang="en-US" dirty="0">
                <a:solidFill>
                  <a:srgbClr val="FF0000"/>
                </a:solidFill>
              </a:rPr>
              <a:t>fruits &lt;- c("banana", "apple", "orange</a:t>
            </a:r>
            <a:r>
              <a:rPr lang="en-US" dirty="0" smtClean="0">
                <a:solidFill>
                  <a:srgbClr val="FF0000"/>
                </a:solidFill>
              </a:rPr>
              <a:t>")</a:t>
            </a:r>
          </a:p>
          <a:p>
            <a:pPr marL="457200" lvl="1" indent="0">
              <a:buNone/>
            </a:pPr>
            <a:r>
              <a:rPr lang="en-US" dirty="0" smtClean="0">
                <a:solidFill>
                  <a:srgbClr val="FF0000"/>
                </a:solidFill>
              </a:rPr>
              <a:t>fruits</a:t>
            </a:r>
            <a:endParaRPr lang="en-US" dirty="0">
              <a:solidFill>
                <a:srgbClr val="FF0000"/>
              </a:solidFill>
            </a:endParaRPr>
          </a:p>
          <a:p>
            <a:endParaRPr lang="en-US" dirty="0"/>
          </a:p>
        </p:txBody>
      </p:sp>
    </p:spTree>
    <p:extLst>
      <p:ext uri="{BB962C8B-B14F-4D97-AF65-F5344CB8AC3E}">
        <p14:creationId xmlns:p14="http://schemas.microsoft.com/office/powerpoint/2010/main" val="33003393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458200" cy="6400800"/>
          </a:xfrm>
        </p:spPr>
        <p:txBody>
          <a:bodyPr>
            <a:noAutofit/>
          </a:bodyPr>
          <a:lstStyle/>
          <a:p>
            <a:r>
              <a:rPr lang="en-US" sz="1800" b="1" dirty="0">
                <a:latin typeface="Tahoma" pitchFamily="34" charset="0"/>
                <a:ea typeface="Tahoma" pitchFamily="34" charset="0"/>
                <a:cs typeface="Tahoma" pitchFamily="34" charset="0"/>
              </a:rPr>
              <a:t>Vector Length</a:t>
            </a:r>
          </a:p>
          <a:p>
            <a:pPr lvl="1"/>
            <a:r>
              <a:rPr lang="en-US" sz="1400" dirty="0" smtClean="0">
                <a:latin typeface="Tahoma" pitchFamily="34" charset="0"/>
                <a:ea typeface="Tahoma" pitchFamily="34" charset="0"/>
                <a:cs typeface="Tahoma" pitchFamily="34" charset="0"/>
              </a:rPr>
              <a:t>length(fruits)</a:t>
            </a:r>
          </a:p>
          <a:p>
            <a:r>
              <a:rPr lang="en-US" sz="1800" b="1" dirty="0">
                <a:latin typeface="Tahoma" pitchFamily="34" charset="0"/>
                <a:ea typeface="Tahoma" pitchFamily="34" charset="0"/>
                <a:cs typeface="Tahoma" pitchFamily="34" charset="0"/>
              </a:rPr>
              <a:t>Sort a Vector</a:t>
            </a:r>
          </a:p>
          <a:p>
            <a:pPr lvl="1"/>
            <a:r>
              <a:rPr lang="en-US" sz="1400" dirty="0">
                <a:latin typeface="Tahoma" pitchFamily="34" charset="0"/>
                <a:ea typeface="Tahoma" pitchFamily="34" charset="0"/>
                <a:cs typeface="Tahoma" pitchFamily="34" charset="0"/>
              </a:rPr>
              <a:t>To sort items in a vector alphabetically or numerically, use the sort() function:</a:t>
            </a:r>
          </a:p>
          <a:p>
            <a:pPr lvl="1"/>
            <a:r>
              <a:rPr lang="en-US" sz="1400" dirty="0">
                <a:latin typeface="Tahoma" pitchFamily="34" charset="0"/>
                <a:ea typeface="Tahoma" pitchFamily="34" charset="0"/>
                <a:cs typeface="Tahoma" pitchFamily="34" charset="0"/>
              </a:rPr>
              <a:t>sort(fruits) </a:t>
            </a:r>
            <a:endParaRPr lang="en-US" sz="1400" dirty="0" smtClean="0">
              <a:latin typeface="Tahoma" pitchFamily="34" charset="0"/>
              <a:ea typeface="Tahoma" pitchFamily="34" charset="0"/>
              <a:cs typeface="Tahoma" pitchFamily="34" charset="0"/>
            </a:endParaRPr>
          </a:p>
          <a:p>
            <a:r>
              <a:rPr lang="en-US" sz="1800" b="1" dirty="0">
                <a:latin typeface="Tahoma" pitchFamily="34" charset="0"/>
                <a:ea typeface="Tahoma" pitchFamily="34" charset="0"/>
                <a:cs typeface="Tahoma" pitchFamily="34" charset="0"/>
              </a:rPr>
              <a:t>Access Vectors</a:t>
            </a:r>
          </a:p>
          <a:p>
            <a:pPr lvl="1"/>
            <a:r>
              <a:rPr lang="en-US" sz="1400" dirty="0">
                <a:latin typeface="Tahoma" pitchFamily="34" charset="0"/>
                <a:ea typeface="Tahoma" pitchFamily="34" charset="0"/>
                <a:cs typeface="Tahoma" pitchFamily="34" charset="0"/>
              </a:rPr>
              <a:t>fruits[1</a:t>
            </a:r>
            <a:r>
              <a:rPr lang="en-US" sz="1400" dirty="0" smtClean="0">
                <a:latin typeface="Tahoma" pitchFamily="34" charset="0"/>
                <a:ea typeface="Tahoma" pitchFamily="34" charset="0"/>
                <a:cs typeface="Tahoma" pitchFamily="34" charset="0"/>
              </a:rPr>
              <a:t>]</a:t>
            </a:r>
          </a:p>
          <a:p>
            <a:r>
              <a:rPr lang="en-US" sz="1800" b="1" dirty="0">
                <a:latin typeface="Tahoma" pitchFamily="34" charset="0"/>
                <a:ea typeface="Tahoma" pitchFamily="34" charset="0"/>
                <a:cs typeface="Tahoma" pitchFamily="34" charset="0"/>
              </a:rPr>
              <a:t>Change an Item</a:t>
            </a:r>
          </a:p>
          <a:p>
            <a:pPr lvl="1"/>
            <a:r>
              <a:rPr lang="en-US" sz="1400" dirty="0">
                <a:latin typeface="Tahoma" pitchFamily="34" charset="0"/>
                <a:ea typeface="Tahoma" pitchFamily="34" charset="0"/>
                <a:cs typeface="Tahoma" pitchFamily="34" charset="0"/>
              </a:rPr>
              <a:t>To change the value of a specific item, refer to the index number:</a:t>
            </a:r>
          </a:p>
          <a:p>
            <a:pPr lvl="1"/>
            <a:r>
              <a:rPr lang="en-US" sz="1400" dirty="0">
                <a:latin typeface="Tahoma" pitchFamily="34" charset="0"/>
                <a:ea typeface="Tahoma" pitchFamily="34" charset="0"/>
                <a:cs typeface="Tahoma" pitchFamily="34" charset="0"/>
              </a:rPr>
              <a:t>fruits[1] &lt;- "</a:t>
            </a:r>
            <a:r>
              <a:rPr lang="en-US" sz="1400" dirty="0" smtClean="0">
                <a:latin typeface="Tahoma" pitchFamily="34" charset="0"/>
                <a:ea typeface="Tahoma" pitchFamily="34" charset="0"/>
                <a:cs typeface="Tahoma" pitchFamily="34" charset="0"/>
              </a:rPr>
              <a:t>pear“</a:t>
            </a:r>
          </a:p>
          <a:p>
            <a:r>
              <a:rPr lang="en-US" sz="1800" b="1" dirty="0">
                <a:latin typeface="Tahoma" pitchFamily="34" charset="0"/>
                <a:ea typeface="Tahoma" pitchFamily="34" charset="0"/>
                <a:cs typeface="Tahoma" pitchFamily="34" charset="0"/>
              </a:rPr>
              <a:t>Repeat Vectors</a:t>
            </a:r>
          </a:p>
          <a:p>
            <a:pPr lvl="1"/>
            <a:r>
              <a:rPr lang="en-US" sz="1400" dirty="0">
                <a:latin typeface="Tahoma" pitchFamily="34" charset="0"/>
                <a:ea typeface="Tahoma" pitchFamily="34" charset="0"/>
                <a:cs typeface="Tahoma" pitchFamily="34" charset="0"/>
              </a:rPr>
              <a:t>To repeat vectors, use the rep() function</a:t>
            </a:r>
            <a:r>
              <a:rPr lang="en-US" sz="1400" dirty="0" smtClean="0">
                <a:latin typeface="Tahoma" pitchFamily="34" charset="0"/>
                <a:ea typeface="Tahoma" pitchFamily="34" charset="0"/>
                <a:cs typeface="Tahoma" pitchFamily="34" charset="0"/>
              </a:rPr>
              <a:t>:</a:t>
            </a:r>
          </a:p>
          <a:p>
            <a:r>
              <a:rPr lang="en-US" sz="1800" b="1" dirty="0">
                <a:latin typeface="Tahoma" pitchFamily="34" charset="0"/>
                <a:ea typeface="Tahoma" pitchFamily="34" charset="0"/>
                <a:cs typeface="Tahoma" pitchFamily="34" charset="0"/>
              </a:rPr>
              <a:t>Repeat each value:</a:t>
            </a:r>
          </a:p>
          <a:p>
            <a:pPr lvl="1"/>
            <a:r>
              <a:rPr lang="en-US" sz="1400" dirty="0" err="1">
                <a:latin typeface="Tahoma" pitchFamily="34" charset="0"/>
                <a:ea typeface="Tahoma" pitchFamily="34" charset="0"/>
                <a:cs typeface="Tahoma" pitchFamily="34" charset="0"/>
              </a:rPr>
              <a:t>repeat_each</a:t>
            </a:r>
            <a:r>
              <a:rPr lang="en-US" sz="1400" dirty="0">
                <a:latin typeface="Tahoma" pitchFamily="34" charset="0"/>
                <a:ea typeface="Tahoma" pitchFamily="34" charset="0"/>
                <a:cs typeface="Tahoma" pitchFamily="34" charset="0"/>
              </a:rPr>
              <a:t> &lt;- rep(c(1,2,3), each = 3)</a:t>
            </a:r>
            <a:r>
              <a:rPr lang="en-US" sz="1400" dirty="0" smtClean="0">
                <a:latin typeface="Tahoma" pitchFamily="34" charset="0"/>
                <a:ea typeface="Tahoma" pitchFamily="34" charset="0"/>
                <a:cs typeface="Tahoma" pitchFamily="34" charset="0"/>
              </a:rPr>
              <a:t/>
            </a:r>
            <a:br>
              <a:rPr lang="en-US" sz="1400" dirty="0" smtClean="0">
                <a:latin typeface="Tahoma" pitchFamily="34" charset="0"/>
                <a:ea typeface="Tahoma" pitchFamily="34" charset="0"/>
                <a:cs typeface="Tahoma" pitchFamily="34" charset="0"/>
              </a:rPr>
            </a:br>
            <a:r>
              <a:rPr lang="en-US" sz="1400" dirty="0" err="1" smtClean="0">
                <a:latin typeface="Tahoma" pitchFamily="34" charset="0"/>
                <a:ea typeface="Tahoma" pitchFamily="34" charset="0"/>
                <a:cs typeface="Tahoma" pitchFamily="34" charset="0"/>
              </a:rPr>
              <a:t>repeat_each</a:t>
            </a:r>
            <a:endParaRPr lang="en-US" sz="1400" dirty="0" smtClean="0">
              <a:latin typeface="Tahoma" pitchFamily="34" charset="0"/>
              <a:ea typeface="Tahoma" pitchFamily="34" charset="0"/>
              <a:cs typeface="Tahoma" pitchFamily="34" charset="0"/>
            </a:endParaRPr>
          </a:p>
          <a:p>
            <a:r>
              <a:rPr lang="en-US" sz="1800" b="1" dirty="0">
                <a:latin typeface="Tahoma" pitchFamily="34" charset="0"/>
                <a:ea typeface="Tahoma" pitchFamily="34" charset="0"/>
                <a:cs typeface="Tahoma" pitchFamily="34" charset="0"/>
              </a:rPr>
              <a:t>Repeat the sequence of the vector:</a:t>
            </a:r>
          </a:p>
          <a:p>
            <a:pPr lvl="1"/>
            <a:r>
              <a:rPr lang="en-US" sz="1400" dirty="0" err="1">
                <a:latin typeface="Tahoma" pitchFamily="34" charset="0"/>
                <a:ea typeface="Tahoma" pitchFamily="34" charset="0"/>
                <a:cs typeface="Tahoma" pitchFamily="34" charset="0"/>
              </a:rPr>
              <a:t>repeat_times</a:t>
            </a:r>
            <a:r>
              <a:rPr lang="en-US" sz="1400" dirty="0">
                <a:latin typeface="Tahoma" pitchFamily="34" charset="0"/>
                <a:ea typeface="Tahoma" pitchFamily="34" charset="0"/>
                <a:cs typeface="Tahoma" pitchFamily="34" charset="0"/>
              </a:rPr>
              <a:t> &lt;- rep(c(1,2,3), times = 3)</a:t>
            </a:r>
            <a:br>
              <a:rPr lang="en-US" sz="1400" dirty="0">
                <a:latin typeface="Tahoma" pitchFamily="34" charset="0"/>
                <a:ea typeface="Tahoma" pitchFamily="34" charset="0"/>
                <a:cs typeface="Tahoma" pitchFamily="34" charset="0"/>
              </a:rPr>
            </a:br>
            <a:r>
              <a:rPr lang="en-US" sz="1400" dirty="0" err="1" smtClean="0">
                <a:latin typeface="Tahoma" pitchFamily="34" charset="0"/>
                <a:ea typeface="Tahoma" pitchFamily="34" charset="0"/>
                <a:cs typeface="Tahoma" pitchFamily="34" charset="0"/>
              </a:rPr>
              <a:t>repeat_times</a:t>
            </a:r>
            <a:endParaRPr lang="en-US" sz="1400" dirty="0">
              <a:latin typeface="Tahoma" pitchFamily="34" charset="0"/>
              <a:ea typeface="Tahoma" pitchFamily="34" charset="0"/>
              <a:cs typeface="Tahoma" pitchFamily="34" charset="0"/>
            </a:endParaRPr>
          </a:p>
          <a:p>
            <a:r>
              <a:rPr lang="en-US" sz="1800" b="1" dirty="0">
                <a:latin typeface="Tahoma" pitchFamily="34" charset="0"/>
                <a:ea typeface="Tahoma" pitchFamily="34" charset="0"/>
                <a:cs typeface="Tahoma" pitchFamily="34" charset="0"/>
              </a:rPr>
              <a:t>Repeat each value independently:</a:t>
            </a:r>
          </a:p>
          <a:p>
            <a:pPr lvl="1"/>
            <a:r>
              <a:rPr lang="en-US" sz="1400" dirty="0" err="1">
                <a:latin typeface="Tahoma" pitchFamily="34" charset="0"/>
                <a:ea typeface="Tahoma" pitchFamily="34" charset="0"/>
                <a:cs typeface="Tahoma" pitchFamily="34" charset="0"/>
              </a:rPr>
              <a:t>repeat_indepent</a:t>
            </a:r>
            <a:r>
              <a:rPr lang="en-US" sz="1400" dirty="0">
                <a:latin typeface="Tahoma" pitchFamily="34" charset="0"/>
                <a:ea typeface="Tahoma" pitchFamily="34" charset="0"/>
                <a:cs typeface="Tahoma" pitchFamily="34" charset="0"/>
              </a:rPr>
              <a:t> &lt;- rep(c(1,2,3), times = c(5,2,1))</a:t>
            </a:r>
            <a:br>
              <a:rPr lang="en-US" sz="1400" dirty="0">
                <a:latin typeface="Tahoma" pitchFamily="34" charset="0"/>
                <a:ea typeface="Tahoma" pitchFamily="34" charset="0"/>
                <a:cs typeface="Tahoma" pitchFamily="34" charset="0"/>
              </a:rPr>
            </a:br>
            <a:r>
              <a:rPr lang="en-US" sz="1400" dirty="0" err="1" smtClean="0">
                <a:latin typeface="Tahoma" pitchFamily="34" charset="0"/>
                <a:ea typeface="Tahoma" pitchFamily="34" charset="0"/>
                <a:cs typeface="Tahoma" pitchFamily="34" charset="0"/>
              </a:rPr>
              <a:t>repeat_indepent</a:t>
            </a:r>
            <a:endParaRPr lang="en-US" sz="1400" dirty="0">
              <a:latin typeface="Tahoma" pitchFamily="34" charset="0"/>
              <a:ea typeface="Tahoma" pitchFamily="34" charset="0"/>
              <a:cs typeface="Tahoma" pitchFamily="34" charset="0"/>
            </a:endParaRPr>
          </a:p>
          <a:p>
            <a:endParaRPr lang="en-US" sz="1800" dirty="0">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30297390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fontScale="92500" lnSpcReduction="20000"/>
          </a:bodyPr>
          <a:lstStyle/>
          <a:p>
            <a:r>
              <a:rPr lang="en-US" dirty="0">
                <a:latin typeface="Tahoma" pitchFamily="34" charset="0"/>
                <a:ea typeface="Tahoma" pitchFamily="34" charset="0"/>
                <a:cs typeface="Tahoma" pitchFamily="34" charset="0"/>
              </a:rPr>
              <a:t>Generating Sequenced Vectors</a:t>
            </a:r>
          </a:p>
          <a:p>
            <a:pPr lvl="1"/>
            <a:r>
              <a:rPr lang="en-US" dirty="0">
                <a:latin typeface="Tahoma" pitchFamily="34" charset="0"/>
                <a:ea typeface="Tahoma" pitchFamily="34" charset="0"/>
                <a:cs typeface="Tahoma" pitchFamily="34" charset="0"/>
              </a:rPr>
              <a:t>One of the examples on top, showed you how to create a vector with numerical values in a sequence with the : operator:</a:t>
            </a:r>
          </a:p>
          <a:p>
            <a:r>
              <a:rPr lang="en-US" dirty="0">
                <a:latin typeface="Tahoma" pitchFamily="34" charset="0"/>
                <a:ea typeface="Tahoma" pitchFamily="34" charset="0"/>
                <a:cs typeface="Tahoma" pitchFamily="34" charset="0"/>
              </a:rPr>
              <a:t>Example</a:t>
            </a:r>
          </a:p>
          <a:p>
            <a:pPr lvl="1"/>
            <a:r>
              <a:rPr lang="en-US" dirty="0">
                <a:latin typeface="Tahoma" pitchFamily="34" charset="0"/>
                <a:ea typeface="Tahoma" pitchFamily="34" charset="0"/>
                <a:cs typeface="Tahoma" pitchFamily="34" charset="0"/>
              </a:rPr>
              <a:t>numbers &lt;- 1:10</a:t>
            </a:r>
            <a:br>
              <a:rPr lang="en-US" dirty="0">
                <a:latin typeface="Tahoma" pitchFamily="34" charset="0"/>
                <a:ea typeface="Tahoma" pitchFamily="34" charset="0"/>
                <a:cs typeface="Tahoma" pitchFamily="34" charset="0"/>
              </a:rPr>
            </a:br>
            <a:r>
              <a:rPr lang="en-US" dirty="0">
                <a:latin typeface="Tahoma" pitchFamily="34" charset="0"/>
                <a:ea typeface="Tahoma" pitchFamily="34" charset="0"/>
                <a:cs typeface="Tahoma" pitchFamily="34" charset="0"/>
              </a:rPr>
              <a:t/>
            </a:r>
            <a:br>
              <a:rPr lang="en-US" dirty="0">
                <a:latin typeface="Tahoma" pitchFamily="34" charset="0"/>
                <a:ea typeface="Tahoma" pitchFamily="34" charset="0"/>
                <a:cs typeface="Tahoma" pitchFamily="34" charset="0"/>
              </a:rPr>
            </a:br>
            <a:r>
              <a:rPr lang="en-US" dirty="0">
                <a:latin typeface="Tahoma" pitchFamily="34" charset="0"/>
                <a:ea typeface="Tahoma" pitchFamily="34" charset="0"/>
                <a:cs typeface="Tahoma" pitchFamily="34" charset="0"/>
              </a:rPr>
              <a:t>numbers</a:t>
            </a:r>
          </a:p>
          <a:p>
            <a:r>
              <a:rPr lang="en-US" dirty="0">
                <a:latin typeface="Tahoma" pitchFamily="34" charset="0"/>
                <a:ea typeface="Tahoma" pitchFamily="34" charset="0"/>
                <a:cs typeface="Tahoma" pitchFamily="34" charset="0"/>
              </a:rPr>
              <a:t>To make bigger or smaller steps in a sequence, use the </a:t>
            </a:r>
            <a:r>
              <a:rPr lang="en-US" dirty="0" err="1">
                <a:latin typeface="Tahoma" pitchFamily="34" charset="0"/>
                <a:ea typeface="Tahoma" pitchFamily="34" charset="0"/>
                <a:cs typeface="Tahoma" pitchFamily="34" charset="0"/>
              </a:rPr>
              <a:t>seq</a:t>
            </a:r>
            <a:r>
              <a:rPr lang="en-US" dirty="0">
                <a:latin typeface="Tahoma" pitchFamily="34" charset="0"/>
                <a:ea typeface="Tahoma" pitchFamily="34" charset="0"/>
                <a:cs typeface="Tahoma" pitchFamily="34" charset="0"/>
              </a:rPr>
              <a:t>() function:</a:t>
            </a:r>
          </a:p>
          <a:p>
            <a:r>
              <a:rPr lang="en-US" dirty="0">
                <a:latin typeface="Tahoma" pitchFamily="34" charset="0"/>
                <a:ea typeface="Tahoma" pitchFamily="34" charset="0"/>
                <a:cs typeface="Tahoma" pitchFamily="34" charset="0"/>
              </a:rPr>
              <a:t>Example</a:t>
            </a:r>
          </a:p>
          <a:p>
            <a:pPr lvl="1"/>
            <a:r>
              <a:rPr lang="en-US" dirty="0">
                <a:latin typeface="Tahoma" pitchFamily="34" charset="0"/>
                <a:ea typeface="Tahoma" pitchFamily="34" charset="0"/>
                <a:cs typeface="Tahoma" pitchFamily="34" charset="0"/>
              </a:rPr>
              <a:t>numbers &lt;- </a:t>
            </a:r>
            <a:r>
              <a:rPr lang="en-US" dirty="0" err="1">
                <a:latin typeface="Tahoma" pitchFamily="34" charset="0"/>
                <a:ea typeface="Tahoma" pitchFamily="34" charset="0"/>
                <a:cs typeface="Tahoma" pitchFamily="34" charset="0"/>
              </a:rPr>
              <a:t>seq</a:t>
            </a:r>
            <a:r>
              <a:rPr lang="en-US" dirty="0">
                <a:latin typeface="Tahoma" pitchFamily="34" charset="0"/>
                <a:ea typeface="Tahoma" pitchFamily="34" charset="0"/>
                <a:cs typeface="Tahoma" pitchFamily="34" charset="0"/>
              </a:rPr>
              <a:t>(from = 0, to = 100, by = 20)</a:t>
            </a:r>
            <a:br>
              <a:rPr lang="en-US" dirty="0">
                <a:latin typeface="Tahoma" pitchFamily="34" charset="0"/>
                <a:ea typeface="Tahoma" pitchFamily="34" charset="0"/>
                <a:cs typeface="Tahoma" pitchFamily="34" charset="0"/>
              </a:rPr>
            </a:br>
            <a:r>
              <a:rPr lang="en-US" dirty="0">
                <a:latin typeface="Tahoma" pitchFamily="34" charset="0"/>
                <a:ea typeface="Tahoma" pitchFamily="34" charset="0"/>
                <a:cs typeface="Tahoma" pitchFamily="34" charset="0"/>
              </a:rPr>
              <a:t/>
            </a:r>
            <a:br>
              <a:rPr lang="en-US" dirty="0">
                <a:latin typeface="Tahoma" pitchFamily="34" charset="0"/>
                <a:ea typeface="Tahoma" pitchFamily="34" charset="0"/>
                <a:cs typeface="Tahoma" pitchFamily="34" charset="0"/>
              </a:rPr>
            </a:br>
            <a:r>
              <a:rPr lang="en-US" dirty="0">
                <a:latin typeface="Tahoma" pitchFamily="34" charset="0"/>
                <a:ea typeface="Tahoma" pitchFamily="34" charset="0"/>
                <a:cs typeface="Tahoma" pitchFamily="34" charset="0"/>
              </a:rPr>
              <a:t>numbers</a:t>
            </a:r>
          </a:p>
          <a:p>
            <a:endParaRPr lang="en-US" dirty="0"/>
          </a:p>
        </p:txBody>
      </p:sp>
    </p:spTree>
    <p:extLst>
      <p:ext uri="{BB962C8B-B14F-4D97-AF65-F5344CB8AC3E}">
        <p14:creationId xmlns:p14="http://schemas.microsoft.com/office/powerpoint/2010/main" val="16609155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09"/>
            <a:ext cx="8229600" cy="658091"/>
          </a:xfrm>
        </p:spPr>
        <p:txBody>
          <a:bodyPr>
            <a:normAutofit fontScale="90000"/>
          </a:bodyPr>
          <a:lstStyle/>
          <a:p>
            <a:r>
              <a:rPr lang="en-US" dirty="0" smtClean="0"/>
              <a:t>Lists</a:t>
            </a:r>
            <a:endParaRPr lang="en-US" dirty="0"/>
          </a:p>
        </p:txBody>
      </p:sp>
      <p:sp>
        <p:nvSpPr>
          <p:cNvPr id="3" name="Content Placeholder 2"/>
          <p:cNvSpPr>
            <a:spLocks noGrp="1"/>
          </p:cNvSpPr>
          <p:nvPr>
            <p:ph idx="1"/>
          </p:nvPr>
        </p:nvSpPr>
        <p:spPr>
          <a:xfrm>
            <a:off x="457200" y="685800"/>
            <a:ext cx="8229600" cy="5440363"/>
          </a:xfrm>
        </p:spPr>
        <p:txBody>
          <a:bodyPr>
            <a:noAutofit/>
          </a:bodyPr>
          <a:lstStyle/>
          <a:p>
            <a:r>
              <a:rPr lang="en-US" sz="1800" dirty="0" smtClean="0"/>
              <a:t>A </a:t>
            </a:r>
            <a:r>
              <a:rPr lang="en-US" sz="1800" dirty="0"/>
              <a:t>list in R can contain many different data types inside it. A list is a collection of data which is ordered and changeable.</a:t>
            </a:r>
          </a:p>
          <a:p>
            <a:r>
              <a:rPr lang="en-US" sz="1800" b="1" dirty="0"/>
              <a:t>To create a list, use the list() function:</a:t>
            </a:r>
          </a:p>
          <a:p>
            <a:pPr lvl="1"/>
            <a:r>
              <a:rPr lang="en-US" sz="1400" dirty="0" err="1" smtClean="0"/>
              <a:t>thislist</a:t>
            </a:r>
            <a:r>
              <a:rPr lang="en-US" sz="1400" dirty="0" smtClean="0"/>
              <a:t> </a:t>
            </a:r>
            <a:r>
              <a:rPr lang="en-US" sz="1400" dirty="0"/>
              <a:t>&lt;- list("apple", "banana", "cherry")</a:t>
            </a:r>
            <a:br>
              <a:rPr lang="en-US" sz="1400" dirty="0"/>
            </a:br>
            <a:r>
              <a:rPr lang="en-US" sz="1400" dirty="0" err="1" smtClean="0"/>
              <a:t>thislist</a:t>
            </a:r>
            <a:endParaRPr lang="en-US" sz="1400" dirty="0" smtClean="0"/>
          </a:p>
          <a:p>
            <a:r>
              <a:rPr lang="en-US" sz="1800" b="1" dirty="0"/>
              <a:t>Check if Item Exists</a:t>
            </a:r>
          </a:p>
          <a:p>
            <a:pPr lvl="1"/>
            <a:r>
              <a:rPr lang="en-US" sz="1400" dirty="0" smtClean="0"/>
              <a:t>Check </a:t>
            </a:r>
            <a:r>
              <a:rPr lang="en-US" sz="1400" dirty="0"/>
              <a:t>if "apple" is present in the list:</a:t>
            </a:r>
          </a:p>
          <a:p>
            <a:pPr lvl="1"/>
            <a:r>
              <a:rPr lang="en-US" sz="1400" dirty="0" err="1"/>
              <a:t>thislist</a:t>
            </a:r>
            <a:r>
              <a:rPr lang="en-US" sz="1400" dirty="0"/>
              <a:t> &lt;- list("apple", "banana", "cherry")</a:t>
            </a:r>
            <a:br>
              <a:rPr lang="en-US" sz="1400" dirty="0"/>
            </a:br>
            <a:r>
              <a:rPr lang="en-US" sz="1400" dirty="0"/>
              <a:t/>
            </a:r>
            <a:br>
              <a:rPr lang="en-US" sz="1400" dirty="0"/>
            </a:br>
            <a:r>
              <a:rPr lang="en-US" sz="1400" dirty="0"/>
              <a:t>"apple" %in% </a:t>
            </a:r>
            <a:r>
              <a:rPr lang="en-US" sz="1400" dirty="0" err="1"/>
              <a:t>thislist</a:t>
            </a:r>
            <a:endParaRPr lang="en-US" sz="1400" dirty="0"/>
          </a:p>
          <a:p>
            <a:r>
              <a:rPr lang="en-US" sz="1800" b="1" dirty="0"/>
              <a:t>Add List Items</a:t>
            </a:r>
          </a:p>
          <a:p>
            <a:pPr lvl="1"/>
            <a:r>
              <a:rPr lang="en-US" sz="1400" dirty="0"/>
              <a:t>To add an item to the end of the list, use the append() function:</a:t>
            </a:r>
          </a:p>
          <a:p>
            <a:pPr lvl="1"/>
            <a:r>
              <a:rPr lang="en-US" sz="1400" dirty="0" smtClean="0"/>
              <a:t>Add </a:t>
            </a:r>
            <a:r>
              <a:rPr lang="en-US" sz="1400" dirty="0"/>
              <a:t>"orange" to the list:</a:t>
            </a:r>
          </a:p>
          <a:p>
            <a:pPr lvl="1"/>
            <a:r>
              <a:rPr lang="en-US" sz="1400" dirty="0" err="1"/>
              <a:t>thislist</a:t>
            </a:r>
            <a:r>
              <a:rPr lang="en-US" sz="1400" dirty="0"/>
              <a:t> &lt;- list("apple", "banana", "cherry")</a:t>
            </a:r>
            <a:br>
              <a:rPr lang="en-US" sz="1400" dirty="0"/>
            </a:br>
            <a:r>
              <a:rPr lang="en-US" sz="1400" dirty="0" smtClean="0"/>
              <a:t>append(</a:t>
            </a:r>
            <a:r>
              <a:rPr lang="en-US" sz="1400" dirty="0" err="1" smtClean="0"/>
              <a:t>thislist</a:t>
            </a:r>
            <a:r>
              <a:rPr lang="en-US" sz="1400" dirty="0"/>
              <a:t>, "orange")</a:t>
            </a:r>
          </a:p>
          <a:p>
            <a:pPr marL="0" indent="0">
              <a:buNone/>
            </a:pPr>
            <a:endParaRPr lang="en-US" sz="1800" dirty="0"/>
          </a:p>
          <a:p>
            <a:endParaRPr lang="en-US" sz="1800" dirty="0"/>
          </a:p>
        </p:txBody>
      </p:sp>
    </p:spTree>
    <p:extLst>
      <p:ext uri="{BB962C8B-B14F-4D97-AF65-F5344CB8AC3E}">
        <p14:creationId xmlns:p14="http://schemas.microsoft.com/office/powerpoint/2010/main" val="38968745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fontScale="62500" lnSpcReduction="20000"/>
          </a:bodyPr>
          <a:lstStyle/>
          <a:p>
            <a:r>
              <a:rPr lang="en-US" b="1" dirty="0"/>
              <a:t>Remove List Items</a:t>
            </a:r>
          </a:p>
          <a:p>
            <a:r>
              <a:rPr lang="en-US" dirty="0"/>
              <a:t>Remove "apple" from the list:</a:t>
            </a:r>
          </a:p>
          <a:p>
            <a:r>
              <a:rPr lang="en-US" dirty="0" err="1"/>
              <a:t>thislist</a:t>
            </a:r>
            <a:r>
              <a:rPr lang="en-US" dirty="0"/>
              <a:t> &lt;- list("apple", "banana", "cherry")</a:t>
            </a:r>
            <a:br>
              <a:rPr lang="en-US" dirty="0"/>
            </a:br>
            <a:r>
              <a:rPr lang="en-US" dirty="0" err="1"/>
              <a:t>newlist</a:t>
            </a:r>
            <a:r>
              <a:rPr lang="en-US" dirty="0"/>
              <a:t> &lt;- </a:t>
            </a:r>
            <a:r>
              <a:rPr lang="en-US" dirty="0" err="1"/>
              <a:t>thislist</a:t>
            </a:r>
            <a:r>
              <a:rPr lang="en-US" dirty="0"/>
              <a:t>[-1]</a:t>
            </a:r>
            <a:br>
              <a:rPr lang="en-US" dirty="0"/>
            </a:br>
            <a:r>
              <a:rPr lang="en-US" dirty="0"/>
              <a:t># Print the new list</a:t>
            </a:r>
            <a:br>
              <a:rPr lang="en-US" dirty="0"/>
            </a:br>
            <a:r>
              <a:rPr lang="en-US" dirty="0" err="1"/>
              <a:t>newlist</a:t>
            </a:r>
            <a:endParaRPr lang="en-US" dirty="0"/>
          </a:p>
          <a:p>
            <a:endParaRPr lang="en-US" dirty="0" smtClean="0"/>
          </a:p>
          <a:p>
            <a:r>
              <a:rPr lang="en-US" b="1" dirty="0" smtClean="0"/>
              <a:t>Join </a:t>
            </a:r>
            <a:r>
              <a:rPr lang="en-US" b="1" dirty="0"/>
              <a:t>Two Lists</a:t>
            </a:r>
          </a:p>
          <a:p>
            <a:r>
              <a:rPr lang="en-US" dirty="0"/>
              <a:t>There are several ways to join, or concatenate, two or more lists in R.</a:t>
            </a:r>
          </a:p>
          <a:p>
            <a:r>
              <a:rPr lang="en-US" dirty="0"/>
              <a:t>The most common way is to use the c() function, which combines two elements together:</a:t>
            </a:r>
          </a:p>
          <a:p>
            <a:r>
              <a:rPr lang="en-US" dirty="0"/>
              <a:t>Example</a:t>
            </a:r>
          </a:p>
          <a:p>
            <a:r>
              <a:rPr lang="en-US" dirty="0"/>
              <a:t>list1 &lt;- list("a", "b", "c")</a:t>
            </a:r>
            <a:br>
              <a:rPr lang="en-US" dirty="0"/>
            </a:br>
            <a:r>
              <a:rPr lang="en-US" dirty="0"/>
              <a:t>list2 &lt;- list(1,2,3)</a:t>
            </a:r>
            <a:br>
              <a:rPr lang="en-US" dirty="0"/>
            </a:br>
            <a:r>
              <a:rPr lang="en-US" dirty="0"/>
              <a:t>list3 &lt;- c(list1,list2)</a:t>
            </a:r>
            <a:br>
              <a:rPr lang="en-US" dirty="0"/>
            </a:br>
            <a:r>
              <a:rPr lang="en-US" dirty="0"/>
              <a:t/>
            </a:r>
            <a:br>
              <a:rPr lang="en-US" dirty="0"/>
            </a:br>
            <a:r>
              <a:rPr lang="en-US" dirty="0"/>
              <a:t>list3</a:t>
            </a:r>
          </a:p>
          <a:p>
            <a:endParaRPr lang="en-US" dirty="0"/>
          </a:p>
        </p:txBody>
      </p:sp>
    </p:spTree>
    <p:extLst>
      <p:ext uri="{BB962C8B-B14F-4D97-AF65-F5344CB8AC3E}">
        <p14:creationId xmlns:p14="http://schemas.microsoft.com/office/powerpoint/2010/main" val="65626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685800"/>
          </a:xfrm>
        </p:spPr>
        <p:txBody>
          <a:bodyPr>
            <a:normAutofit fontScale="90000"/>
          </a:bodyPr>
          <a:lstStyle/>
          <a:p>
            <a:r>
              <a:rPr lang="en-US" dirty="0" smtClean="0"/>
              <a:t>Matrices</a:t>
            </a:r>
            <a:endParaRPr lang="en-US" dirty="0"/>
          </a:p>
        </p:txBody>
      </p:sp>
      <p:sp>
        <p:nvSpPr>
          <p:cNvPr id="3" name="Content Placeholder 2"/>
          <p:cNvSpPr>
            <a:spLocks noGrp="1"/>
          </p:cNvSpPr>
          <p:nvPr>
            <p:ph idx="1"/>
          </p:nvPr>
        </p:nvSpPr>
        <p:spPr>
          <a:xfrm>
            <a:off x="228600" y="838200"/>
            <a:ext cx="8534400" cy="5715000"/>
          </a:xfrm>
        </p:spPr>
        <p:txBody>
          <a:bodyPr>
            <a:noAutofit/>
          </a:bodyPr>
          <a:lstStyle/>
          <a:p>
            <a:r>
              <a:rPr lang="en-US" sz="2000" dirty="0" smtClean="0"/>
              <a:t>A </a:t>
            </a:r>
            <a:r>
              <a:rPr lang="en-US" sz="2000" dirty="0"/>
              <a:t>matrix is a two dimensional data set with columns and </a:t>
            </a:r>
            <a:r>
              <a:rPr lang="en-US" sz="2000" dirty="0" smtClean="0"/>
              <a:t>rows. A </a:t>
            </a:r>
            <a:r>
              <a:rPr lang="en-US" sz="2000" dirty="0"/>
              <a:t>column is a vertical representation of data, while a row is a horizontal representation of data</a:t>
            </a:r>
            <a:r>
              <a:rPr lang="en-US" sz="2000" dirty="0" smtClean="0"/>
              <a:t>. A </a:t>
            </a:r>
            <a:r>
              <a:rPr lang="en-US" sz="2000" dirty="0"/>
              <a:t>matrix can be created with the matrix() function. </a:t>
            </a:r>
            <a:r>
              <a:rPr lang="en-US" sz="2000" dirty="0" smtClean="0"/>
              <a:t>Specify the</a:t>
            </a:r>
            <a:r>
              <a:rPr lang="en-US" sz="2000" dirty="0"/>
              <a:t> </a:t>
            </a:r>
            <a:r>
              <a:rPr lang="en-US" sz="2000" dirty="0" err="1"/>
              <a:t>nrow</a:t>
            </a:r>
            <a:r>
              <a:rPr lang="en-US" sz="2000" dirty="0"/>
              <a:t> and </a:t>
            </a:r>
            <a:r>
              <a:rPr lang="en-US" sz="2000" dirty="0" err="1"/>
              <a:t>ncol</a:t>
            </a:r>
            <a:r>
              <a:rPr lang="en-US" sz="2000" dirty="0"/>
              <a:t> parameters to get the amount of rows and columns:</a:t>
            </a:r>
          </a:p>
          <a:p>
            <a:r>
              <a:rPr lang="en-US" sz="2000" b="1" dirty="0"/>
              <a:t>Example</a:t>
            </a:r>
          </a:p>
          <a:p>
            <a:pPr lvl="1"/>
            <a:r>
              <a:rPr lang="en-US" sz="2000" dirty="0"/>
              <a:t># Create a matrix</a:t>
            </a:r>
            <a:br>
              <a:rPr lang="en-US" sz="2000" dirty="0"/>
            </a:br>
            <a:r>
              <a:rPr lang="en-US" sz="2000" dirty="0" err="1"/>
              <a:t>thismatrix</a:t>
            </a:r>
            <a:r>
              <a:rPr lang="en-US" sz="2000" dirty="0"/>
              <a:t> &lt;- matrix(c(1,2,3,4,5,6), </a:t>
            </a:r>
            <a:r>
              <a:rPr lang="en-US" sz="2000" dirty="0" err="1"/>
              <a:t>nrow</a:t>
            </a:r>
            <a:r>
              <a:rPr lang="en-US" sz="2000" dirty="0"/>
              <a:t> = 3, </a:t>
            </a:r>
            <a:r>
              <a:rPr lang="en-US" sz="2000" dirty="0" err="1"/>
              <a:t>ncol</a:t>
            </a:r>
            <a:r>
              <a:rPr lang="en-US" sz="2000" dirty="0"/>
              <a:t> = 2)</a:t>
            </a:r>
            <a:br>
              <a:rPr lang="en-US" sz="2000" dirty="0"/>
            </a:br>
            <a:r>
              <a:rPr lang="en-US" sz="2000" dirty="0" smtClean="0"/>
              <a:t># </a:t>
            </a:r>
            <a:r>
              <a:rPr lang="en-US" sz="2000" dirty="0"/>
              <a:t>Print the matrix</a:t>
            </a:r>
            <a:br>
              <a:rPr lang="en-US" sz="2000" dirty="0"/>
            </a:br>
            <a:r>
              <a:rPr lang="en-US" sz="2000" dirty="0" err="1" smtClean="0"/>
              <a:t>thismatrix</a:t>
            </a:r>
            <a:endParaRPr lang="en-US" sz="2000" dirty="0" smtClean="0"/>
          </a:p>
          <a:p>
            <a:r>
              <a:rPr lang="en-US" sz="2000" b="1" dirty="0"/>
              <a:t>Access Matrix Items</a:t>
            </a:r>
          </a:p>
          <a:p>
            <a:r>
              <a:rPr lang="en-US" sz="2000" dirty="0"/>
              <a:t>You can access the items by using [ ] brackets. The first number "1" in the bracket specifies the row-position, while the second number "2" specifies the column-position:</a:t>
            </a:r>
          </a:p>
          <a:p>
            <a:pPr lvl="1"/>
            <a:r>
              <a:rPr lang="en-US" sz="2000" dirty="0"/>
              <a:t>Example</a:t>
            </a:r>
          </a:p>
          <a:p>
            <a:pPr lvl="1"/>
            <a:r>
              <a:rPr lang="en-US" sz="2000" dirty="0" err="1"/>
              <a:t>thismatrix</a:t>
            </a:r>
            <a:r>
              <a:rPr lang="en-US" sz="2000" dirty="0"/>
              <a:t> &lt;- matrix(c("apple", "banana", "cherry", "orange"), </a:t>
            </a:r>
            <a:r>
              <a:rPr lang="en-US" sz="2000" dirty="0" err="1"/>
              <a:t>nrow</a:t>
            </a:r>
            <a:r>
              <a:rPr lang="en-US" sz="2000" dirty="0"/>
              <a:t> = 2, </a:t>
            </a:r>
            <a:r>
              <a:rPr lang="en-US" sz="2000" dirty="0" err="1"/>
              <a:t>ncol</a:t>
            </a:r>
            <a:r>
              <a:rPr lang="en-US" sz="2000" dirty="0"/>
              <a:t> = 2)</a:t>
            </a:r>
            <a:br>
              <a:rPr lang="en-US" sz="2000" dirty="0"/>
            </a:br>
            <a:r>
              <a:rPr lang="en-US" sz="2000" b="1" dirty="0" err="1" smtClean="0"/>
              <a:t>thismatrix</a:t>
            </a:r>
            <a:r>
              <a:rPr lang="en-US" sz="2000" b="1" dirty="0" smtClean="0"/>
              <a:t>[1</a:t>
            </a:r>
            <a:r>
              <a:rPr lang="en-US" sz="2000" b="1" dirty="0"/>
              <a:t>, 2]</a:t>
            </a:r>
            <a:endParaRPr lang="en-US" sz="2000" dirty="0"/>
          </a:p>
          <a:p>
            <a:r>
              <a:rPr lang="en-US" sz="2000" dirty="0" smtClean="0"/>
              <a:t/>
            </a:r>
            <a:br>
              <a:rPr lang="en-US" sz="2000" dirty="0" smtClean="0"/>
            </a:br>
            <a:endParaRPr lang="en-US" sz="2000" dirty="0"/>
          </a:p>
        </p:txBody>
      </p:sp>
    </p:spTree>
    <p:extLst>
      <p:ext uri="{BB962C8B-B14F-4D97-AF65-F5344CB8AC3E}">
        <p14:creationId xmlns:p14="http://schemas.microsoft.com/office/powerpoint/2010/main" val="20995982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763000" cy="6172200"/>
          </a:xfrm>
        </p:spPr>
        <p:txBody>
          <a:bodyPr>
            <a:noAutofit/>
          </a:bodyPr>
          <a:lstStyle/>
          <a:p>
            <a:r>
              <a:rPr lang="en-US" sz="2000" b="1" dirty="0"/>
              <a:t>Access More Than One Column</a:t>
            </a:r>
          </a:p>
          <a:p>
            <a:pPr lvl="1"/>
            <a:r>
              <a:rPr lang="en-US" sz="2000" dirty="0"/>
              <a:t>More than one column can be accessed if you use the c() function:</a:t>
            </a:r>
          </a:p>
          <a:p>
            <a:pPr lvl="1"/>
            <a:r>
              <a:rPr lang="en-US" sz="2000" dirty="0"/>
              <a:t>Example</a:t>
            </a:r>
          </a:p>
          <a:p>
            <a:pPr lvl="1"/>
            <a:r>
              <a:rPr lang="en-US" sz="2000" dirty="0" err="1"/>
              <a:t>thismatrix</a:t>
            </a:r>
            <a:r>
              <a:rPr lang="en-US" sz="2000" dirty="0"/>
              <a:t> &lt;- matrix(c("apple", "banana", "cherry", "</a:t>
            </a:r>
            <a:r>
              <a:rPr lang="en-US" sz="2000" dirty="0" err="1"/>
              <a:t>orange","grape</a:t>
            </a:r>
            <a:r>
              <a:rPr lang="en-US" sz="2000" dirty="0"/>
              <a:t>", "pineapple", "pear", "melon", "fig"), </a:t>
            </a:r>
            <a:r>
              <a:rPr lang="en-US" sz="2000" dirty="0" err="1"/>
              <a:t>nrow</a:t>
            </a:r>
            <a:r>
              <a:rPr lang="en-US" sz="2000" dirty="0"/>
              <a:t> = 3, </a:t>
            </a:r>
            <a:r>
              <a:rPr lang="en-US" sz="2000" dirty="0" err="1"/>
              <a:t>ncol</a:t>
            </a:r>
            <a:r>
              <a:rPr lang="en-US" sz="2000" dirty="0"/>
              <a:t> = 3)</a:t>
            </a:r>
            <a:br>
              <a:rPr lang="en-US" sz="2000" dirty="0"/>
            </a:br>
            <a:r>
              <a:rPr lang="en-US" sz="2000" dirty="0" err="1" smtClean="0"/>
              <a:t>thismatrix</a:t>
            </a:r>
            <a:r>
              <a:rPr lang="en-US" sz="2000" dirty="0"/>
              <a:t>[, c(1,2)]</a:t>
            </a:r>
          </a:p>
          <a:p>
            <a:r>
              <a:rPr lang="en-US" sz="2000" b="1" dirty="0"/>
              <a:t>Add Rows and Columns</a:t>
            </a:r>
          </a:p>
          <a:p>
            <a:pPr lvl="1"/>
            <a:r>
              <a:rPr lang="en-US" sz="2000" dirty="0"/>
              <a:t>Use the </a:t>
            </a:r>
            <a:r>
              <a:rPr lang="en-US" sz="2000" dirty="0" err="1"/>
              <a:t>cbind</a:t>
            </a:r>
            <a:r>
              <a:rPr lang="en-US" sz="2000" dirty="0"/>
              <a:t>() function to add additional columns in a Matrix:</a:t>
            </a:r>
          </a:p>
          <a:p>
            <a:pPr lvl="1"/>
            <a:r>
              <a:rPr lang="en-US" sz="2000" dirty="0"/>
              <a:t>Example</a:t>
            </a:r>
          </a:p>
          <a:p>
            <a:pPr lvl="1"/>
            <a:r>
              <a:rPr lang="en-US" sz="2000" dirty="0" err="1"/>
              <a:t>thismatrix</a:t>
            </a:r>
            <a:r>
              <a:rPr lang="en-US" sz="2000" dirty="0"/>
              <a:t> &lt;- matrix(c("apple", "banana", "cherry", "</a:t>
            </a:r>
            <a:r>
              <a:rPr lang="en-US" sz="2000" dirty="0" err="1"/>
              <a:t>orange","grape</a:t>
            </a:r>
            <a:r>
              <a:rPr lang="en-US" sz="2000" dirty="0"/>
              <a:t>", "pineapple", "pear", "melon", "fig"), </a:t>
            </a:r>
            <a:r>
              <a:rPr lang="en-US" sz="2000" dirty="0" err="1"/>
              <a:t>nrow</a:t>
            </a:r>
            <a:r>
              <a:rPr lang="en-US" sz="2000" dirty="0"/>
              <a:t> = 3, </a:t>
            </a:r>
            <a:r>
              <a:rPr lang="en-US" sz="2000" dirty="0" err="1"/>
              <a:t>ncol</a:t>
            </a:r>
            <a:r>
              <a:rPr lang="en-US" sz="2000" dirty="0"/>
              <a:t> = 3)</a:t>
            </a:r>
            <a:br>
              <a:rPr lang="en-US" sz="2000" dirty="0"/>
            </a:br>
            <a:r>
              <a:rPr lang="en-US" sz="2000" dirty="0" err="1" smtClean="0"/>
              <a:t>newmatrix</a:t>
            </a:r>
            <a:r>
              <a:rPr lang="en-US" sz="2000" dirty="0" smtClean="0"/>
              <a:t> </a:t>
            </a:r>
            <a:r>
              <a:rPr lang="en-US" sz="2000" dirty="0"/>
              <a:t>&lt;- </a:t>
            </a:r>
            <a:r>
              <a:rPr lang="en-US" sz="2000" dirty="0" err="1"/>
              <a:t>cbind</a:t>
            </a:r>
            <a:r>
              <a:rPr lang="en-US" sz="2000" dirty="0"/>
              <a:t>(</a:t>
            </a:r>
            <a:r>
              <a:rPr lang="en-US" sz="2000" dirty="0" err="1"/>
              <a:t>thismatrix</a:t>
            </a:r>
            <a:r>
              <a:rPr lang="en-US" sz="2000" dirty="0"/>
              <a:t>, c("strawberry", "blueberry", "raspberry"))</a:t>
            </a:r>
            <a:br>
              <a:rPr lang="en-US" sz="2000" dirty="0"/>
            </a:br>
            <a:r>
              <a:rPr lang="en-US" sz="2000" dirty="0" smtClean="0"/>
              <a:t># </a:t>
            </a:r>
            <a:r>
              <a:rPr lang="en-US" sz="2000" dirty="0"/>
              <a:t>Print the new matrix</a:t>
            </a:r>
            <a:br>
              <a:rPr lang="en-US" sz="2000" dirty="0"/>
            </a:br>
            <a:r>
              <a:rPr lang="en-US" sz="2000" dirty="0" err="1"/>
              <a:t>newmatrix</a:t>
            </a:r>
            <a:endParaRPr lang="en-US" sz="2000" dirty="0"/>
          </a:p>
          <a:p>
            <a:endParaRPr lang="en-US" sz="2000" dirty="0"/>
          </a:p>
          <a:p>
            <a:endParaRPr lang="en-US" sz="2000" dirty="0"/>
          </a:p>
        </p:txBody>
      </p:sp>
    </p:spTree>
    <p:extLst>
      <p:ext uri="{BB962C8B-B14F-4D97-AF65-F5344CB8AC3E}">
        <p14:creationId xmlns:p14="http://schemas.microsoft.com/office/powerpoint/2010/main" val="1469485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400800"/>
          </a:xfrm>
        </p:spPr>
        <p:txBody>
          <a:bodyPr>
            <a:normAutofit fontScale="85000" lnSpcReduction="10000"/>
          </a:bodyPr>
          <a:lstStyle/>
          <a:p>
            <a:r>
              <a:rPr lang="en-US" b="1" dirty="0"/>
              <a:t>Remove Rows and Columns</a:t>
            </a:r>
          </a:p>
          <a:p>
            <a:pPr lvl="1"/>
            <a:r>
              <a:rPr lang="en-US" dirty="0"/>
              <a:t>Use the c() function to remove rows and columns in a Matrix:</a:t>
            </a:r>
          </a:p>
          <a:p>
            <a:pPr lvl="1"/>
            <a:r>
              <a:rPr lang="en-US" dirty="0"/>
              <a:t>Example</a:t>
            </a:r>
          </a:p>
          <a:p>
            <a:pPr lvl="1"/>
            <a:r>
              <a:rPr lang="en-US" dirty="0" err="1"/>
              <a:t>thismatrix</a:t>
            </a:r>
            <a:r>
              <a:rPr lang="en-US" dirty="0"/>
              <a:t> &lt;- matrix(c("apple", "banana", "cherry", "orange", "mango", "pineapple"), </a:t>
            </a:r>
            <a:r>
              <a:rPr lang="en-US" dirty="0" err="1"/>
              <a:t>nrow</a:t>
            </a:r>
            <a:r>
              <a:rPr lang="en-US" dirty="0"/>
              <a:t> = 3, </a:t>
            </a:r>
            <a:r>
              <a:rPr lang="en-US" dirty="0" err="1"/>
              <a:t>ncol</a:t>
            </a:r>
            <a:r>
              <a:rPr lang="en-US" dirty="0"/>
              <a:t> =2)</a:t>
            </a:r>
            <a:br>
              <a:rPr lang="en-US" dirty="0"/>
            </a:br>
            <a:r>
              <a:rPr lang="en-US" dirty="0" smtClean="0"/>
              <a:t>#</a:t>
            </a:r>
            <a:r>
              <a:rPr lang="en-US" dirty="0"/>
              <a:t>Remove the first row and the first column</a:t>
            </a:r>
            <a:br>
              <a:rPr lang="en-US" dirty="0"/>
            </a:br>
            <a:r>
              <a:rPr lang="en-US" dirty="0" err="1"/>
              <a:t>thismatrix</a:t>
            </a:r>
            <a:r>
              <a:rPr lang="en-US" dirty="0"/>
              <a:t> &lt;- </a:t>
            </a:r>
            <a:r>
              <a:rPr lang="en-US" dirty="0" err="1"/>
              <a:t>thismatrix</a:t>
            </a:r>
            <a:r>
              <a:rPr lang="en-US" dirty="0"/>
              <a:t>[-c(1), -c(1)]</a:t>
            </a:r>
            <a:br>
              <a:rPr lang="en-US" dirty="0"/>
            </a:br>
            <a:r>
              <a:rPr lang="en-US" dirty="0" err="1" smtClean="0"/>
              <a:t>thismatrix</a:t>
            </a:r>
            <a:endParaRPr lang="en-US" dirty="0"/>
          </a:p>
          <a:p>
            <a:r>
              <a:rPr lang="en-US" dirty="0"/>
              <a:t>Check if an Item Exists</a:t>
            </a:r>
          </a:p>
          <a:p>
            <a:pPr lvl="1"/>
            <a:r>
              <a:rPr lang="en-US" dirty="0"/>
              <a:t>To find out if a specified item is present in a matrix, use the %in% operator:</a:t>
            </a:r>
          </a:p>
          <a:p>
            <a:pPr lvl="1"/>
            <a:r>
              <a:rPr lang="en-US" dirty="0"/>
              <a:t>Example</a:t>
            </a:r>
          </a:p>
          <a:p>
            <a:pPr lvl="1"/>
            <a:r>
              <a:rPr lang="en-US" dirty="0"/>
              <a:t>Check if "apple" is present in the matrix:</a:t>
            </a:r>
          </a:p>
          <a:p>
            <a:pPr lvl="1"/>
            <a:r>
              <a:rPr lang="en-US" dirty="0" err="1"/>
              <a:t>thismatrix</a:t>
            </a:r>
            <a:r>
              <a:rPr lang="en-US" dirty="0"/>
              <a:t> &lt;- matrix(c("apple", "banana", "cherry", "orange"), </a:t>
            </a:r>
            <a:r>
              <a:rPr lang="en-US" dirty="0" err="1"/>
              <a:t>nrow</a:t>
            </a:r>
            <a:r>
              <a:rPr lang="en-US" dirty="0"/>
              <a:t> = 2, </a:t>
            </a:r>
            <a:r>
              <a:rPr lang="en-US" dirty="0" err="1"/>
              <a:t>ncol</a:t>
            </a:r>
            <a:r>
              <a:rPr lang="en-US" dirty="0"/>
              <a:t> = 2)</a:t>
            </a:r>
            <a:br>
              <a:rPr lang="en-US" dirty="0"/>
            </a:br>
            <a:r>
              <a:rPr lang="en-US" dirty="0" smtClean="0"/>
              <a:t>"</a:t>
            </a:r>
            <a:r>
              <a:rPr lang="en-US" dirty="0"/>
              <a:t>apple" %in% </a:t>
            </a:r>
            <a:r>
              <a:rPr lang="en-US" dirty="0" err="1" smtClean="0"/>
              <a:t>thismatrix</a:t>
            </a:r>
            <a:endParaRPr lang="en-US" dirty="0"/>
          </a:p>
        </p:txBody>
      </p:sp>
    </p:spTree>
    <p:extLst>
      <p:ext uri="{BB962C8B-B14F-4D97-AF65-F5344CB8AC3E}">
        <p14:creationId xmlns:p14="http://schemas.microsoft.com/office/powerpoint/2010/main" val="221908006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096000"/>
          </a:xfrm>
        </p:spPr>
        <p:txBody>
          <a:bodyPr>
            <a:noAutofit/>
          </a:bodyPr>
          <a:lstStyle/>
          <a:p>
            <a:r>
              <a:rPr lang="en-US" sz="2400" b="1" dirty="0"/>
              <a:t>Number of Rows and Columns</a:t>
            </a:r>
          </a:p>
          <a:p>
            <a:pPr lvl="1"/>
            <a:r>
              <a:rPr lang="en-US" sz="2000" dirty="0"/>
              <a:t>Use the dim() function to find the number of rows and columns in a Matrix:</a:t>
            </a:r>
          </a:p>
          <a:p>
            <a:pPr lvl="1"/>
            <a:r>
              <a:rPr lang="en-US" sz="2000" dirty="0"/>
              <a:t>Example</a:t>
            </a:r>
          </a:p>
          <a:p>
            <a:pPr lvl="1"/>
            <a:r>
              <a:rPr lang="en-US" sz="2000" dirty="0" err="1"/>
              <a:t>thismatrix</a:t>
            </a:r>
            <a:r>
              <a:rPr lang="en-US" sz="2000" dirty="0"/>
              <a:t> &lt;- matrix(c("apple", "banana", "cherry", "orange"), </a:t>
            </a:r>
            <a:r>
              <a:rPr lang="en-US" sz="2000" dirty="0" err="1"/>
              <a:t>nrow</a:t>
            </a:r>
            <a:r>
              <a:rPr lang="en-US" sz="2000" dirty="0"/>
              <a:t> = 2, </a:t>
            </a:r>
            <a:r>
              <a:rPr lang="en-US" sz="2000" dirty="0" err="1"/>
              <a:t>ncol</a:t>
            </a:r>
            <a:r>
              <a:rPr lang="en-US" sz="2000" dirty="0"/>
              <a:t> = 2)</a:t>
            </a:r>
            <a:br>
              <a:rPr lang="en-US" sz="2000" dirty="0"/>
            </a:br>
            <a:r>
              <a:rPr lang="en-US" sz="2000" dirty="0" smtClean="0"/>
              <a:t>dim(</a:t>
            </a:r>
            <a:r>
              <a:rPr lang="en-US" sz="2000" dirty="0" err="1" smtClean="0"/>
              <a:t>thismatrix</a:t>
            </a:r>
            <a:r>
              <a:rPr lang="en-US" sz="2000" dirty="0"/>
              <a:t>)</a:t>
            </a:r>
          </a:p>
          <a:p>
            <a:r>
              <a:rPr lang="en-US" sz="2400" b="1" dirty="0"/>
              <a:t>Matrix Length</a:t>
            </a:r>
          </a:p>
          <a:p>
            <a:pPr lvl="1"/>
            <a:r>
              <a:rPr lang="en-US" sz="2000" dirty="0"/>
              <a:t>Use the length() function to find the dimension of a Matrix:</a:t>
            </a:r>
          </a:p>
          <a:p>
            <a:pPr lvl="1"/>
            <a:r>
              <a:rPr lang="en-US" sz="2000" dirty="0"/>
              <a:t>Example</a:t>
            </a:r>
          </a:p>
          <a:p>
            <a:pPr lvl="1"/>
            <a:r>
              <a:rPr lang="en-US" sz="2000" dirty="0" err="1"/>
              <a:t>thismatrix</a:t>
            </a:r>
            <a:r>
              <a:rPr lang="en-US" sz="2000" dirty="0"/>
              <a:t> &lt;- matrix(c("apple", "banana", "cherry", "orange"), </a:t>
            </a:r>
            <a:r>
              <a:rPr lang="en-US" sz="2000" dirty="0" err="1"/>
              <a:t>nrow</a:t>
            </a:r>
            <a:r>
              <a:rPr lang="en-US" sz="2000" dirty="0"/>
              <a:t> = 2, </a:t>
            </a:r>
            <a:r>
              <a:rPr lang="en-US" sz="2000" dirty="0" err="1"/>
              <a:t>ncol</a:t>
            </a:r>
            <a:r>
              <a:rPr lang="en-US" sz="2000" dirty="0"/>
              <a:t> = 2)</a:t>
            </a:r>
            <a:br>
              <a:rPr lang="en-US" sz="2000" dirty="0"/>
            </a:br>
            <a:r>
              <a:rPr lang="en-US" sz="2000" dirty="0" smtClean="0"/>
              <a:t>length(</a:t>
            </a:r>
            <a:r>
              <a:rPr lang="en-US" sz="2000" dirty="0" err="1" smtClean="0"/>
              <a:t>thismatrix</a:t>
            </a:r>
            <a:r>
              <a:rPr lang="en-US" sz="2000" dirty="0"/>
              <a:t>)</a:t>
            </a:r>
          </a:p>
          <a:p>
            <a:endParaRPr lang="en-US" sz="2400" dirty="0"/>
          </a:p>
          <a:p>
            <a:endParaRPr lang="en-US" sz="2400" dirty="0"/>
          </a:p>
        </p:txBody>
      </p:sp>
    </p:spTree>
    <p:extLst>
      <p:ext uri="{BB962C8B-B14F-4D97-AF65-F5344CB8AC3E}">
        <p14:creationId xmlns:p14="http://schemas.microsoft.com/office/powerpoint/2010/main" val="5136536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r>
              <a:rPr lang="en-US" dirty="0" smtClean="0"/>
              <a:t>Arrays</a:t>
            </a:r>
            <a:endParaRPr lang="en-US" dirty="0"/>
          </a:p>
        </p:txBody>
      </p:sp>
      <p:sp>
        <p:nvSpPr>
          <p:cNvPr id="3" name="Content Placeholder 2"/>
          <p:cNvSpPr>
            <a:spLocks noGrp="1"/>
          </p:cNvSpPr>
          <p:nvPr>
            <p:ph idx="1"/>
          </p:nvPr>
        </p:nvSpPr>
        <p:spPr>
          <a:xfrm>
            <a:off x="228600" y="914400"/>
            <a:ext cx="8763000" cy="4525963"/>
          </a:xfrm>
        </p:spPr>
        <p:txBody>
          <a:bodyPr>
            <a:noAutofit/>
          </a:bodyPr>
          <a:lstStyle/>
          <a:p>
            <a:r>
              <a:rPr lang="en-US" sz="2800" dirty="0" smtClean="0"/>
              <a:t>Compared </a:t>
            </a:r>
            <a:r>
              <a:rPr lang="en-US" sz="2800" dirty="0"/>
              <a:t>to matrices, arrays can have more than two dimensions</a:t>
            </a:r>
            <a:r>
              <a:rPr lang="en-US" sz="2800" dirty="0" smtClean="0"/>
              <a:t>. We </a:t>
            </a:r>
            <a:r>
              <a:rPr lang="en-US" sz="2800" dirty="0"/>
              <a:t>can use the array() function to create an array, and the dim parameter to specify the dimensions:</a:t>
            </a:r>
          </a:p>
          <a:p>
            <a:r>
              <a:rPr lang="en-US" sz="2800" dirty="0"/>
              <a:t># An array with one dimension with values ranging from 1 to 24</a:t>
            </a:r>
            <a:br>
              <a:rPr lang="en-US" sz="2800" dirty="0"/>
            </a:br>
            <a:r>
              <a:rPr lang="en-US" sz="2800" dirty="0" err="1"/>
              <a:t>thisarray</a:t>
            </a:r>
            <a:r>
              <a:rPr lang="en-US" sz="2800" dirty="0"/>
              <a:t> &lt;- c(1:24)</a:t>
            </a:r>
            <a:r>
              <a:rPr lang="en-US" sz="2800" dirty="0" smtClean="0"/>
              <a:t/>
            </a:r>
            <a:br>
              <a:rPr lang="en-US" sz="2800" dirty="0" smtClean="0"/>
            </a:br>
            <a:r>
              <a:rPr lang="en-US" sz="2800" dirty="0" err="1"/>
              <a:t>thisarray</a:t>
            </a:r>
            <a:r>
              <a:rPr lang="en-US" sz="2800" dirty="0" smtClean="0"/>
              <a:t/>
            </a:r>
            <a:br>
              <a:rPr lang="en-US" sz="2800" dirty="0" smtClean="0"/>
            </a:br>
            <a:r>
              <a:rPr lang="en-US" sz="2800" dirty="0" smtClean="0"/>
              <a:t/>
            </a:r>
            <a:br>
              <a:rPr lang="en-US" sz="2800" dirty="0" smtClean="0"/>
            </a:br>
            <a:r>
              <a:rPr lang="en-US" sz="2800" b="1" dirty="0"/>
              <a:t># An array with more than one dimension</a:t>
            </a:r>
            <a:br>
              <a:rPr lang="en-US" sz="2800" b="1" dirty="0"/>
            </a:br>
            <a:r>
              <a:rPr lang="en-US" sz="2800" dirty="0" err="1"/>
              <a:t>multiarray</a:t>
            </a:r>
            <a:r>
              <a:rPr lang="en-US" sz="2800" dirty="0"/>
              <a:t> &lt;- array(</a:t>
            </a:r>
            <a:r>
              <a:rPr lang="en-US" sz="2800" dirty="0" err="1"/>
              <a:t>thisarray</a:t>
            </a:r>
            <a:r>
              <a:rPr lang="en-US" sz="2800" dirty="0"/>
              <a:t>, dim = c(4, 3, 2))</a:t>
            </a:r>
            <a:r>
              <a:rPr lang="en-US" sz="2800" dirty="0" smtClean="0"/>
              <a:t/>
            </a:r>
            <a:br>
              <a:rPr lang="en-US" sz="2800" dirty="0" smtClean="0"/>
            </a:br>
            <a:r>
              <a:rPr lang="en-US" sz="2800" dirty="0" err="1" smtClean="0"/>
              <a:t>multiarray</a:t>
            </a:r>
            <a:endParaRPr lang="en-US" sz="2800" dirty="0" smtClean="0"/>
          </a:p>
          <a:p>
            <a:endParaRPr lang="en-US" sz="2800" dirty="0"/>
          </a:p>
        </p:txBody>
      </p:sp>
    </p:spTree>
    <p:extLst>
      <p:ext uri="{BB962C8B-B14F-4D97-AF65-F5344CB8AC3E}">
        <p14:creationId xmlns:p14="http://schemas.microsoft.com/office/powerpoint/2010/main" val="4409450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85800"/>
            <a:ext cx="8229600" cy="4525963"/>
          </a:xfrm>
        </p:spPr>
        <p:txBody>
          <a:bodyPr>
            <a:normAutofit lnSpcReduction="10000"/>
          </a:bodyPr>
          <a:lstStyle/>
          <a:p>
            <a:r>
              <a:rPr lang="en-US" b="1" dirty="0"/>
              <a:t>Access Array Items</a:t>
            </a:r>
          </a:p>
          <a:p>
            <a:r>
              <a:rPr lang="en-US" dirty="0"/>
              <a:t>You can access the array elements by referring to the index position. </a:t>
            </a:r>
            <a:endParaRPr lang="en-US" dirty="0" smtClean="0"/>
          </a:p>
          <a:p>
            <a:r>
              <a:rPr lang="en-US" dirty="0" smtClean="0"/>
              <a:t>The</a:t>
            </a:r>
            <a:r>
              <a:rPr lang="en-US" dirty="0"/>
              <a:t> [] brackets to access the desired elements from an array:</a:t>
            </a:r>
          </a:p>
          <a:p>
            <a:r>
              <a:rPr lang="en-US" dirty="0"/>
              <a:t>Example</a:t>
            </a:r>
          </a:p>
          <a:p>
            <a:pPr lvl="1"/>
            <a:r>
              <a:rPr lang="en-US" dirty="0" err="1"/>
              <a:t>thisarray</a:t>
            </a:r>
            <a:r>
              <a:rPr lang="en-US" dirty="0"/>
              <a:t> &lt;- c(1:24)</a:t>
            </a:r>
            <a:br>
              <a:rPr lang="en-US" dirty="0"/>
            </a:br>
            <a:r>
              <a:rPr lang="en-US" dirty="0" err="1"/>
              <a:t>multiarray</a:t>
            </a:r>
            <a:r>
              <a:rPr lang="en-US" dirty="0"/>
              <a:t> &lt;- array(</a:t>
            </a:r>
            <a:r>
              <a:rPr lang="en-US" dirty="0" err="1"/>
              <a:t>thisarray</a:t>
            </a:r>
            <a:r>
              <a:rPr lang="en-US" dirty="0"/>
              <a:t>, dim = c(4, 3, 2))</a:t>
            </a:r>
            <a:br>
              <a:rPr lang="en-US" dirty="0"/>
            </a:br>
            <a:r>
              <a:rPr lang="en-US" dirty="0" err="1" smtClean="0"/>
              <a:t>multiarray</a:t>
            </a:r>
            <a:r>
              <a:rPr lang="en-US" dirty="0" smtClean="0"/>
              <a:t>[2</a:t>
            </a:r>
            <a:r>
              <a:rPr lang="en-US" dirty="0"/>
              <a:t>, 3, 2]</a:t>
            </a:r>
          </a:p>
          <a:p>
            <a:endParaRPr lang="en-US" dirty="0"/>
          </a:p>
        </p:txBody>
      </p:sp>
    </p:spTree>
    <p:extLst>
      <p:ext uri="{BB962C8B-B14F-4D97-AF65-F5344CB8AC3E}">
        <p14:creationId xmlns:p14="http://schemas.microsoft.com/office/powerpoint/2010/main" val="37195473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85000" lnSpcReduction="10000"/>
          </a:bodyPr>
          <a:lstStyle/>
          <a:p>
            <a:r>
              <a:rPr lang="en-US" dirty="0"/>
              <a:t>Amount of Rows and Columns</a:t>
            </a:r>
          </a:p>
          <a:p>
            <a:pPr lvl="1"/>
            <a:r>
              <a:rPr lang="en-US" dirty="0"/>
              <a:t>Use the dim() function to find the amount of rows and columns in an array:</a:t>
            </a:r>
          </a:p>
          <a:p>
            <a:pPr lvl="1"/>
            <a:r>
              <a:rPr lang="en-US" dirty="0"/>
              <a:t>Example</a:t>
            </a:r>
          </a:p>
          <a:p>
            <a:pPr lvl="1"/>
            <a:r>
              <a:rPr lang="en-US" dirty="0" err="1"/>
              <a:t>thisarray</a:t>
            </a:r>
            <a:r>
              <a:rPr lang="en-US" dirty="0"/>
              <a:t> &lt;- c(1:24)</a:t>
            </a:r>
            <a:br>
              <a:rPr lang="en-US" dirty="0"/>
            </a:br>
            <a:r>
              <a:rPr lang="en-US" dirty="0" err="1"/>
              <a:t>multiarray</a:t>
            </a:r>
            <a:r>
              <a:rPr lang="en-US" dirty="0"/>
              <a:t> &lt;- array(</a:t>
            </a:r>
            <a:r>
              <a:rPr lang="en-US" dirty="0" err="1"/>
              <a:t>thisarray</a:t>
            </a:r>
            <a:r>
              <a:rPr lang="en-US" dirty="0"/>
              <a:t>, dim = c(4, 3, 2))</a:t>
            </a:r>
            <a:br>
              <a:rPr lang="en-US" dirty="0"/>
            </a:br>
            <a:r>
              <a:rPr lang="en-US" dirty="0"/>
              <a:t/>
            </a:r>
            <a:br>
              <a:rPr lang="en-US" dirty="0"/>
            </a:br>
            <a:r>
              <a:rPr lang="en-US" dirty="0"/>
              <a:t>dim(</a:t>
            </a:r>
            <a:r>
              <a:rPr lang="en-US" dirty="0" err="1"/>
              <a:t>multiarray</a:t>
            </a:r>
            <a:r>
              <a:rPr lang="en-US" dirty="0"/>
              <a:t>)</a:t>
            </a:r>
          </a:p>
          <a:p>
            <a:r>
              <a:rPr lang="en-US" dirty="0"/>
              <a:t>Array Length</a:t>
            </a:r>
          </a:p>
          <a:p>
            <a:pPr lvl="1"/>
            <a:r>
              <a:rPr lang="en-US" dirty="0"/>
              <a:t>Use the length() function to find the dimension of an array:</a:t>
            </a:r>
          </a:p>
          <a:p>
            <a:pPr lvl="1"/>
            <a:r>
              <a:rPr lang="en-US" dirty="0"/>
              <a:t>Example</a:t>
            </a:r>
          </a:p>
          <a:p>
            <a:pPr lvl="1"/>
            <a:r>
              <a:rPr lang="en-US" dirty="0" err="1"/>
              <a:t>thisarray</a:t>
            </a:r>
            <a:r>
              <a:rPr lang="en-US" dirty="0"/>
              <a:t> &lt;- c(1:24)</a:t>
            </a:r>
            <a:br>
              <a:rPr lang="en-US" dirty="0"/>
            </a:br>
            <a:r>
              <a:rPr lang="en-US" dirty="0" err="1"/>
              <a:t>multiarray</a:t>
            </a:r>
            <a:r>
              <a:rPr lang="en-US" dirty="0"/>
              <a:t> &lt;- array(</a:t>
            </a:r>
            <a:r>
              <a:rPr lang="en-US" dirty="0" err="1"/>
              <a:t>thisarray</a:t>
            </a:r>
            <a:r>
              <a:rPr lang="en-US" dirty="0"/>
              <a:t>, dim = c(4, 3, 2))</a:t>
            </a:r>
            <a:br>
              <a:rPr lang="en-US" dirty="0"/>
            </a:br>
            <a:r>
              <a:rPr lang="en-US" dirty="0"/>
              <a:t/>
            </a:r>
            <a:br>
              <a:rPr lang="en-US" dirty="0"/>
            </a:br>
            <a:r>
              <a:rPr lang="en-US" dirty="0"/>
              <a:t>length(</a:t>
            </a:r>
            <a:r>
              <a:rPr lang="en-US" dirty="0" err="1"/>
              <a:t>multiarray</a:t>
            </a:r>
            <a:r>
              <a:rPr lang="en-US" dirty="0"/>
              <a:t>)</a:t>
            </a:r>
          </a:p>
          <a:p>
            <a:endParaRPr lang="en-US" dirty="0"/>
          </a:p>
        </p:txBody>
      </p:sp>
    </p:spTree>
    <p:extLst>
      <p:ext uri="{BB962C8B-B14F-4D97-AF65-F5344CB8AC3E}">
        <p14:creationId xmlns:p14="http://schemas.microsoft.com/office/powerpoint/2010/main" val="1802012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Data Frames</a:t>
            </a:r>
            <a:br>
              <a:rPr lang="en-US" dirty="0" smtClean="0"/>
            </a:br>
            <a:endParaRPr lang="en-US" dirty="0"/>
          </a:p>
        </p:txBody>
      </p:sp>
      <p:sp>
        <p:nvSpPr>
          <p:cNvPr id="3" name="Content Placeholder 2"/>
          <p:cNvSpPr>
            <a:spLocks noGrp="1"/>
          </p:cNvSpPr>
          <p:nvPr>
            <p:ph idx="1"/>
          </p:nvPr>
        </p:nvSpPr>
        <p:spPr>
          <a:xfrm>
            <a:off x="152400" y="838200"/>
            <a:ext cx="8839200" cy="5715000"/>
          </a:xfrm>
        </p:spPr>
        <p:txBody>
          <a:bodyPr>
            <a:normAutofit fontScale="55000" lnSpcReduction="20000"/>
          </a:bodyPr>
          <a:lstStyle/>
          <a:p>
            <a:r>
              <a:rPr lang="en-US" sz="5100" dirty="0" smtClean="0"/>
              <a:t>Data </a:t>
            </a:r>
            <a:r>
              <a:rPr lang="en-US" sz="5100" dirty="0"/>
              <a:t>Frames are data displayed in a format as a table.</a:t>
            </a:r>
          </a:p>
          <a:p>
            <a:r>
              <a:rPr lang="en-US" sz="5100" dirty="0"/>
              <a:t>Data Frames can have different types of data inside it. While the first column can be character, the second and third can be numeric or logical. However, each column should have the same type of data.</a:t>
            </a:r>
          </a:p>
          <a:p>
            <a:r>
              <a:rPr lang="en-US" sz="5100" dirty="0"/>
              <a:t>Use the </a:t>
            </a:r>
            <a:r>
              <a:rPr lang="en-US" sz="5100" dirty="0" err="1"/>
              <a:t>data.frame</a:t>
            </a:r>
            <a:r>
              <a:rPr lang="en-US" sz="5100" dirty="0"/>
              <a:t>() function to create a data frame:</a:t>
            </a:r>
          </a:p>
          <a:p>
            <a:pPr lvl="1"/>
            <a:r>
              <a:rPr lang="en-US" sz="4700" dirty="0"/>
              <a:t>Example</a:t>
            </a:r>
          </a:p>
          <a:p>
            <a:pPr lvl="1"/>
            <a:r>
              <a:rPr lang="en-US" sz="4700" dirty="0"/>
              <a:t># Create a data frame</a:t>
            </a:r>
            <a:br>
              <a:rPr lang="en-US" sz="4700" dirty="0"/>
            </a:br>
            <a:r>
              <a:rPr lang="en-US" sz="4700" dirty="0" err="1"/>
              <a:t>Data_Frame</a:t>
            </a:r>
            <a:r>
              <a:rPr lang="en-US" sz="4700" dirty="0"/>
              <a:t> &lt;- </a:t>
            </a:r>
            <a:r>
              <a:rPr lang="en-US" sz="4700" dirty="0" err="1"/>
              <a:t>data.frame</a:t>
            </a:r>
            <a:r>
              <a:rPr lang="en-US" sz="4700" dirty="0"/>
              <a:t> (</a:t>
            </a:r>
            <a:br>
              <a:rPr lang="en-US" sz="4700" dirty="0"/>
            </a:br>
            <a:r>
              <a:rPr lang="en-US" sz="4700" dirty="0"/>
              <a:t>  Training = c("Strength", "Stamina", "Other"),</a:t>
            </a:r>
            <a:br>
              <a:rPr lang="en-US" sz="4700" dirty="0"/>
            </a:br>
            <a:r>
              <a:rPr lang="en-US" sz="4700" dirty="0"/>
              <a:t>  Pulse = c(100, 150, 120),</a:t>
            </a:r>
            <a:br>
              <a:rPr lang="en-US" sz="4700" dirty="0"/>
            </a:br>
            <a:r>
              <a:rPr lang="en-US" sz="4700" dirty="0"/>
              <a:t>  Duration = c(60, 30, 45)</a:t>
            </a:r>
            <a:br>
              <a:rPr lang="en-US" sz="4700" dirty="0"/>
            </a:br>
            <a:r>
              <a:rPr lang="en-US" sz="4700" dirty="0"/>
              <a:t>)</a:t>
            </a:r>
            <a:br>
              <a:rPr lang="en-US" sz="4700" dirty="0"/>
            </a:br>
            <a:r>
              <a:rPr lang="en-US" sz="4700" dirty="0"/>
              <a:t/>
            </a:r>
            <a:br>
              <a:rPr lang="en-US" sz="4700" dirty="0"/>
            </a:br>
            <a:r>
              <a:rPr lang="en-US" sz="4700" dirty="0"/>
              <a:t># Print the data frame</a:t>
            </a:r>
            <a:br>
              <a:rPr lang="en-US" sz="4700" dirty="0"/>
            </a:br>
            <a:r>
              <a:rPr lang="en-US" sz="4700" dirty="0" err="1"/>
              <a:t>Data_Frame</a:t>
            </a:r>
            <a:endParaRPr lang="en-US" sz="4700" dirty="0"/>
          </a:p>
          <a:p>
            <a:endParaRPr lang="en-US" dirty="0"/>
          </a:p>
        </p:txBody>
      </p:sp>
    </p:spTree>
    <p:extLst>
      <p:ext uri="{BB962C8B-B14F-4D97-AF65-F5344CB8AC3E}">
        <p14:creationId xmlns:p14="http://schemas.microsoft.com/office/powerpoint/2010/main" val="21346921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229600" cy="4525963"/>
          </a:xfrm>
        </p:spPr>
        <p:txBody>
          <a:bodyPr>
            <a:noAutofit/>
          </a:bodyPr>
          <a:lstStyle/>
          <a:p>
            <a:r>
              <a:rPr lang="en-US" sz="2400" b="1" dirty="0"/>
              <a:t>Access Items</a:t>
            </a:r>
          </a:p>
          <a:p>
            <a:pPr lvl="1"/>
            <a:r>
              <a:rPr lang="en-US" sz="2000" dirty="0"/>
              <a:t>We can use single brackets [ ], double brackets [[ ]] or $ to access columns from a data frame:</a:t>
            </a:r>
          </a:p>
          <a:p>
            <a:pPr lvl="1"/>
            <a:r>
              <a:rPr lang="en-US" sz="2000" dirty="0"/>
              <a:t>Example</a:t>
            </a:r>
          </a:p>
          <a:p>
            <a:pPr lvl="1"/>
            <a:r>
              <a:rPr lang="en-US" sz="2000" dirty="0" err="1"/>
              <a:t>Data_Frame</a:t>
            </a:r>
            <a:r>
              <a:rPr lang="en-US" sz="2000" dirty="0"/>
              <a:t> &lt;- </a:t>
            </a:r>
            <a:r>
              <a:rPr lang="en-US" sz="2000" dirty="0" err="1"/>
              <a:t>data.frame</a:t>
            </a:r>
            <a:r>
              <a:rPr lang="en-US" sz="2000" dirty="0"/>
              <a:t> (</a:t>
            </a:r>
            <a:br>
              <a:rPr lang="en-US" sz="2000" dirty="0"/>
            </a:br>
            <a:r>
              <a:rPr lang="en-US" sz="2000" dirty="0"/>
              <a:t>  Training = c("Strength", "Stamina", "Other"),</a:t>
            </a:r>
            <a:br>
              <a:rPr lang="en-US" sz="2000" dirty="0"/>
            </a:br>
            <a:r>
              <a:rPr lang="en-US" sz="2000" dirty="0"/>
              <a:t>  Pulse = c(100, 150, 120),</a:t>
            </a:r>
            <a:br>
              <a:rPr lang="en-US" sz="2000" dirty="0"/>
            </a:br>
            <a:r>
              <a:rPr lang="en-US" sz="2000" dirty="0"/>
              <a:t>  Duration = c(60, 30, 45)</a:t>
            </a:r>
            <a:br>
              <a:rPr lang="en-US" sz="2000" dirty="0"/>
            </a:br>
            <a:r>
              <a:rPr lang="en-US" sz="2000" dirty="0"/>
              <a:t>)</a:t>
            </a:r>
            <a:br>
              <a:rPr lang="en-US" sz="2000" dirty="0"/>
            </a:br>
            <a:r>
              <a:rPr lang="en-US" sz="2000" dirty="0"/>
              <a:t/>
            </a:r>
            <a:br>
              <a:rPr lang="en-US" sz="2000" dirty="0"/>
            </a:br>
            <a:r>
              <a:rPr lang="en-US" sz="2000" dirty="0" err="1"/>
              <a:t>Data_Frame</a:t>
            </a:r>
            <a:r>
              <a:rPr lang="en-US" sz="2000" dirty="0"/>
              <a:t>[1]</a:t>
            </a:r>
            <a:br>
              <a:rPr lang="en-US" sz="2000" dirty="0"/>
            </a:br>
            <a:r>
              <a:rPr lang="en-US" sz="2000" dirty="0"/>
              <a:t/>
            </a:r>
            <a:br>
              <a:rPr lang="en-US" sz="2000" dirty="0"/>
            </a:br>
            <a:r>
              <a:rPr lang="en-US" sz="2000" dirty="0" err="1"/>
              <a:t>Data_Frame</a:t>
            </a:r>
            <a:r>
              <a:rPr lang="en-US" sz="2000" dirty="0"/>
              <a:t>[["Training"]]</a:t>
            </a:r>
            <a:br>
              <a:rPr lang="en-US" sz="2000" dirty="0"/>
            </a:br>
            <a:r>
              <a:rPr lang="en-US" sz="2000" dirty="0"/>
              <a:t/>
            </a:r>
            <a:br>
              <a:rPr lang="en-US" sz="2000" dirty="0"/>
            </a:br>
            <a:r>
              <a:rPr lang="en-US" sz="2000" dirty="0" err="1"/>
              <a:t>Data_Frame$Training</a:t>
            </a:r>
            <a:endParaRPr lang="en-US" sz="2000" dirty="0"/>
          </a:p>
          <a:p>
            <a:endParaRPr lang="en-US" sz="2400" dirty="0"/>
          </a:p>
        </p:txBody>
      </p:sp>
    </p:spTree>
    <p:extLst>
      <p:ext uri="{BB962C8B-B14F-4D97-AF65-F5344CB8AC3E}">
        <p14:creationId xmlns:p14="http://schemas.microsoft.com/office/powerpoint/2010/main" val="14734315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Factors</a:t>
            </a:r>
            <a:br>
              <a:rPr lang="en-US" dirty="0" smtClean="0"/>
            </a:br>
            <a:endParaRPr lang="en-US" dirty="0"/>
          </a:p>
        </p:txBody>
      </p:sp>
      <p:sp>
        <p:nvSpPr>
          <p:cNvPr id="3" name="Content Placeholder 2"/>
          <p:cNvSpPr>
            <a:spLocks noGrp="1"/>
          </p:cNvSpPr>
          <p:nvPr>
            <p:ph idx="1"/>
          </p:nvPr>
        </p:nvSpPr>
        <p:spPr>
          <a:xfrm>
            <a:off x="228600" y="914400"/>
            <a:ext cx="8229600" cy="5638800"/>
          </a:xfrm>
        </p:spPr>
        <p:txBody>
          <a:bodyPr>
            <a:noAutofit/>
          </a:bodyPr>
          <a:lstStyle/>
          <a:p>
            <a:r>
              <a:rPr lang="en-US" sz="2400" dirty="0" smtClean="0"/>
              <a:t>Factors </a:t>
            </a:r>
            <a:r>
              <a:rPr lang="en-US" sz="2400" dirty="0"/>
              <a:t>are used to categorize data. Examples of factors are:</a:t>
            </a:r>
          </a:p>
          <a:p>
            <a:pPr lvl="1"/>
            <a:r>
              <a:rPr lang="en-US" sz="2000" dirty="0"/>
              <a:t>Demography: Male/Female</a:t>
            </a:r>
          </a:p>
          <a:p>
            <a:pPr lvl="1"/>
            <a:r>
              <a:rPr lang="en-US" sz="2000" dirty="0"/>
              <a:t>Music: Rock, Pop, Classic, Jazz</a:t>
            </a:r>
          </a:p>
          <a:p>
            <a:pPr lvl="1"/>
            <a:r>
              <a:rPr lang="en-US" sz="2000" dirty="0"/>
              <a:t>Training: Strength, Stamina</a:t>
            </a:r>
          </a:p>
          <a:p>
            <a:r>
              <a:rPr lang="en-US" sz="2400" dirty="0"/>
              <a:t>To create a factor, use the factor() function and add a vector as argument:</a:t>
            </a:r>
          </a:p>
          <a:p>
            <a:pPr lvl="1"/>
            <a:r>
              <a:rPr lang="en-US" sz="2000" dirty="0"/>
              <a:t>Example</a:t>
            </a:r>
          </a:p>
          <a:p>
            <a:pPr lvl="1"/>
            <a:r>
              <a:rPr lang="en-US" sz="2000" dirty="0"/>
              <a:t># Create a factor</a:t>
            </a:r>
            <a:br>
              <a:rPr lang="en-US" sz="2000" dirty="0"/>
            </a:br>
            <a:r>
              <a:rPr lang="en-US" sz="2000" dirty="0" err="1"/>
              <a:t>music_genre</a:t>
            </a:r>
            <a:r>
              <a:rPr lang="en-US" sz="2000" dirty="0"/>
              <a:t> &lt;- factor(c("Jazz", "Rock", "Classic", "Classic", "Pop", "Jazz", "Rock", "Jazz"))</a:t>
            </a:r>
            <a:br>
              <a:rPr lang="en-US" sz="2000" dirty="0"/>
            </a:br>
            <a:r>
              <a:rPr lang="en-US" sz="2000" dirty="0"/>
              <a:t/>
            </a:r>
            <a:br>
              <a:rPr lang="en-US" sz="2000" dirty="0"/>
            </a:br>
            <a:r>
              <a:rPr lang="en-US" sz="2000" dirty="0"/>
              <a:t># Print the factor</a:t>
            </a:r>
            <a:br>
              <a:rPr lang="en-US" sz="2000" dirty="0"/>
            </a:br>
            <a:r>
              <a:rPr lang="en-US" sz="2000" dirty="0" err="1"/>
              <a:t>music_genre</a:t>
            </a:r>
            <a:endParaRPr lang="en-US" sz="2000" dirty="0"/>
          </a:p>
          <a:p>
            <a:pPr marL="0" indent="0">
              <a:buNone/>
            </a:pPr>
            <a:endParaRPr lang="en-US" sz="2400" dirty="0"/>
          </a:p>
        </p:txBody>
      </p:sp>
    </p:spTree>
    <p:extLst>
      <p:ext uri="{BB962C8B-B14F-4D97-AF65-F5344CB8AC3E}">
        <p14:creationId xmlns:p14="http://schemas.microsoft.com/office/powerpoint/2010/main" val="340368044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686800" cy="5821363"/>
          </a:xfrm>
        </p:spPr>
        <p:txBody>
          <a:bodyPr>
            <a:normAutofit/>
          </a:bodyPr>
          <a:lstStyle/>
          <a:p>
            <a:r>
              <a:rPr lang="en-US" dirty="0"/>
              <a:t>You can see from the example above that that the factor has four levels (categories): Classic, Jazz, Pop and Rock.</a:t>
            </a:r>
          </a:p>
          <a:p>
            <a:r>
              <a:rPr lang="en-US" dirty="0"/>
              <a:t>To only print the levels, use the levels() function:</a:t>
            </a:r>
          </a:p>
          <a:p>
            <a:r>
              <a:rPr lang="en-US" dirty="0"/>
              <a:t>Example</a:t>
            </a:r>
          </a:p>
          <a:p>
            <a:r>
              <a:rPr lang="en-US" dirty="0" err="1"/>
              <a:t>music_genre</a:t>
            </a:r>
            <a:r>
              <a:rPr lang="en-US" dirty="0"/>
              <a:t> &lt;- factor(c("Jazz", "Rock", "Classic", "Classic", "Pop", "Jazz", "Rock", "Jazz"))</a:t>
            </a:r>
            <a:br>
              <a:rPr lang="en-US" dirty="0"/>
            </a:br>
            <a:r>
              <a:rPr lang="en-US" dirty="0"/>
              <a:t/>
            </a:r>
            <a:br>
              <a:rPr lang="en-US" dirty="0"/>
            </a:br>
            <a:r>
              <a:rPr lang="en-US" dirty="0"/>
              <a:t>levels(</a:t>
            </a:r>
            <a:r>
              <a:rPr lang="en-US" dirty="0" err="1"/>
              <a:t>music_genre</a:t>
            </a:r>
            <a:r>
              <a:rPr lang="en-US" dirty="0"/>
              <a:t>)</a:t>
            </a:r>
          </a:p>
          <a:p>
            <a:endParaRPr lang="en-US" dirty="0"/>
          </a:p>
        </p:txBody>
      </p:sp>
    </p:spTree>
    <p:extLst>
      <p:ext uri="{BB962C8B-B14F-4D97-AF65-F5344CB8AC3E}">
        <p14:creationId xmlns:p14="http://schemas.microsoft.com/office/powerpoint/2010/main" val="27090230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92500" lnSpcReduction="20000"/>
          </a:bodyPr>
          <a:lstStyle/>
          <a:p>
            <a:pPr fontAlgn="base"/>
            <a:r>
              <a:rPr lang="en-US" b="1" dirty="0"/>
              <a:t>S3 Class</a:t>
            </a:r>
          </a:p>
          <a:p>
            <a:pPr lvl="1" fontAlgn="base"/>
            <a:r>
              <a:rPr lang="en-US" u="sng" dirty="0">
                <a:hlinkClick r:id="rId2"/>
              </a:rPr>
              <a:t>S3 class</a:t>
            </a:r>
            <a:r>
              <a:rPr lang="en-US" dirty="0"/>
              <a:t> does not have a predefined definition and is able to dispatch. In this class, the generic function makes a call to the method. Easy implementation of S3 is possible because it differs from the traditional programming language Java, C++, and C# which implements Object Oriented message passing.</a:t>
            </a:r>
          </a:p>
          <a:p>
            <a:pPr fontAlgn="base"/>
            <a:r>
              <a:rPr lang="en-US" b="1" dirty="0"/>
              <a:t>Creating S3 Class</a:t>
            </a:r>
          </a:p>
          <a:p>
            <a:pPr fontAlgn="base"/>
            <a:r>
              <a:rPr lang="en-US" dirty="0" smtClean="0"/>
              <a:t>T	o </a:t>
            </a:r>
            <a:r>
              <a:rPr lang="en-US" dirty="0"/>
              <a:t>create an object of this class we will create a list that will contain all the class members. Then this list is passed to the class() method as an argument.</a:t>
            </a:r>
          </a:p>
          <a:p>
            <a:pPr fontAlgn="base"/>
            <a:r>
              <a:rPr lang="en-US" b="1" dirty="0"/>
              <a:t>Syntax:</a:t>
            </a:r>
            <a:r>
              <a:rPr lang="en-US" dirty="0"/>
              <a:t> </a:t>
            </a:r>
          </a:p>
          <a:p>
            <a:pPr lvl="1" fontAlgn="base"/>
            <a:r>
              <a:rPr lang="en-US" dirty="0" err="1"/>
              <a:t>variable_name</a:t>
            </a:r>
            <a:r>
              <a:rPr lang="en-US" dirty="0"/>
              <a:t> &lt;- list(attribute1, attribute2, attribute3….</a:t>
            </a:r>
            <a:r>
              <a:rPr lang="en-US" dirty="0" err="1"/>
              <a:t>attributeN</a:t>
            </a:r>
            <a:r>
              <a:rPr lang="en-US" dirty="0"/>
              <a:t>)</a:t>
            </a:r>
          </a:p>
          <a:p>
            <a:endParaRPr lang="en-US" dirty="0"/>
          </a:p>
        </p:txBody>
      </p:sp>
    </p:spTree>
    <p:extLst>
      <p:ext uri="{BB962C8B-B14F-4D97-AF65-F5344CB8AC3E}">
        <p14:creationId xmlns:p14="http://schemas.microsoft.com/office/powerpoint/2010/main" val="353699888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fontAlgn="base"/>
            <a:r>
              <a:rPr lang="en-US" b="1" dirty="0"/>
              <a:t>Example:</a:t>
            </a:r>
            <a:r>
              <a:rPr lang="en-US" dirty="0"/>
              <a:t> </a:t>
            </a:r>
          </a:p>
          <a:p>
            <a:pPr marL="0" indent="0" fontAlgn="base">
              <a:buNone/>
            </a:pPr>
            <a:r>
              <a:rPr lang="en-US" dirty="0"/>
              <a:t># List creation with its attributes name</a:t>
            </a:r>
          </a:p>
          <a:p>
            <a:pPr marL="0" indent="0" fontAlgn="base">
              <a:buNone/>
            </a:pPr>
            <a:r>
              <a:rPr lang="en-US" dirty="0"/>
              <a:t># and roll no.</a:t>
            </a:r>
          </a:p>
          <a:p>
            <a:pPr marL="0" indent="0" fontAlgn="base">
              <a:buNone/>
            </a:pPr>
            <a:r>
              <a:rPr lang="en-US" dirty="0"/>
              <a:t>a &lt; - list(name="Adam", </a:t>
            </a:r>
            <a:r>
              <a:rPr lang="en-US" dirty="0" err="1"/>
              <a:t>Roll_No</a:t>
            </a:r>
            <a:r>
              <a:rPr lang="en-US" dirty="0"/>
              <a:t>=15)</a:t>
            </a:r>
          </a:p>
          <a:p>
            <a:pPr marL="0" indent="0" fontAlgn="base">
              <a:buNone/>
            </a:pPr>
            <a:r>
              <a:rPr lang="en-US" dirty="0"/>
              <a:t> </a:t>
            </a:r>
          </a:p>
          <a:p>
            <a:pPr marL="0" indent="0" fontAlgn="base">
              <a:buNone/>
            </a:pPr>
            <a:r>
              <a:rPr lang="en-US" dirty="0"/>
              <a:t># Defining a class "Student"</a:t>
            </a:r>
          </a:p>
          <a:p>
            <a:pPr marL="0" indent="0" fontAlgn="base">
              <a:buNone/>
            </a:pPr>
            <a:r>
              <a:rPr lang="en-US" dirty="0"/>
              <a:t>class(a) &lt; - "Student"</a:t>
            </a:r>
          </a:p>
          <a:p>
            <a:pPr marL="0" indent="0" fontAlgn="base">
              <a:buNone/>
            </a:pPr>
            <a:r>
              <a:rPr lang="en-US" dirty="0"/>
              <a:t> </a:t>
            </a:r>
          </a:p>
          <a:p>
            <a:pPr marL="0" indent="0" fontAlgn="base">
              <a:buNone/>
            </a:pPr>
            <a:r>
              <a:rPr lang="en-US" dirty="0"/>
              <a:t># Creation of object</a:t>
            </a:r>
          </a:p>
          <a:p>
            <a:pPr marL="0" indent="0" fontAlgn="base">
              <a:buNone/>
            </a:pPr>
            <a:r>
              <a:rPr lang="en-US" dirty="0"/>
              <a:t>a</a:t>
            </a:r>
          </a:p>
        </p:txBody>
      </p:sp>
    </p:spTree>
    <p:extLst>
      <p:ext uri="{BB962C8B-B14F-4D97-AF65-F5344CB8AC3E}">
        <p14:creationId xmlns:p14="http://schemas.microsoft.com/office/powerpoint/2010/main" val="259362232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0000" lnSpcReduction="20000"/>
          </a:bodyPr>
          <a:lstStyle/>
          <a:p>
            <a:pPr fontAlgn="base"/>
            <a:r>
              <a:rPr lang="en-US" b="1" dirty="0"/>
              <a:t>Generic Functions</a:t>
            </a:r>
          </a:p>
          <a:p>
            <a:pPr fontAlgn="base"/>
            <a:r>
              <a:rPr lang="en-US" dirty="0"/>
              <a:t>The generic functions are a good example of polymorphism. To understand the concept of generic functions consider the print() function. The print() function is a collection of various print functions that are created for different data types and data structures in the R Programming Language. It calls the appropriate function depending upon the type of object passed as an argument</a:t>
            </a:r>
            <a:r>
              <a:rPr lang="en-US" dirty="0" smtClean="0"/>
              <a:t>.</a:t>
            </a:r>
          </a:p>
          <a:p>
            <a:pPr fontAlgn="base"/>
            <a:r>
              <a:rPr lang="en-US" dirty="0" smtClean="0"/>
              <a:t>Example</a:t>
            </a:r>
            <a:endParaRPr lang="en-US" dirty="0"/>
          </a:p>
          <a:p>
            <a:pPr lvl="1"/>
            <a:r>
              <a:rPr lang="en-US" dirty="0"/>
              <a:t>methods(print</a:t>
            </a:r>
            <a:r>
              <a:rPr lang="en-US" dirty="0" smtClean="0"/>
              <a:t>)</a:t>
            </a:r>
          </a:p>
          <a:p>
            <a:pPr fontAlgn="base"/>
            <a:r>
              <a:rPr lang="en-US" dirty="0"/>
              <a:t># Creation of object</a:t>
            </a:r>
          </a:p>
          <a:p>
            <a:pPr marL="400050" lvl="1" indent="0" fontAlgn="base">
              <a:buNone/>
            </a:pPr>
            <a:r>
              <a:rPr lang="en-US" dirty="0"/>
              <a:t>print(a)</a:t>
            </a:r>
          </a:p>
          <a:p>
            <a:pPr marL="400050" lvl="1" indent="0" fontAlgn="base">
              <a:buNone/>
            </a:pPr>
            <a:r>
              <a:rPr lang="en-US" dirty="0" err="1"/>
              <a:t>print.Student</a:t>
            </a:r>
            <a:r>
              <a:rPr lang="en-US" dirty="0"/>
              <a:t> &lt;- function(</a:t>
            </a:r>
            <a:r>
              <a:rPr lang="en-US" dirty="0" err="1"/>
              <a:t>obj</a:t>
            </a:r>
            <a:r>
              <a:rPr lang="en-US" dirty="0"/>
              <a:t>){</a:t>
            </a:r>
          </a:p>
          <a:p>
            <a:pPr marL="400050" lvl="1" indent="0" fontAlgn="base">
              <a:buNone/>
            </a:pPr>
            <a:r>
              <a:rPr lang="en-US" dirty="0"/>
              <a:t>  cat("name: " ,</a:t>
            </a:r>
            <a:r>
              <a:rPr lang="en-US" dirty="0" err="1"/>
              <a:t>obj$name</a:t>
            </a:r>
            <a:r>
              <a:rPr lang="en-US" dirty="0"/>
              <a:t>, "\n")</a:t>
            </a:r>
          </a:p>
          <a:p>
            <a:pPr marL="400050" lvl="1" indent="0" fontAlgn="base">
              <a:buNone/>
            </a:pPr>
            <a:r>
              <a:rPr lang="en-US" dirty="0"/>
              <a:t>  cat("Roll No: ", </a:t>
            </a:r>
            <a:r>
              <a:rPr lang="en-US" dirty="0" err="1"/>
              <a:t>obj$Roll_No</a:t>
            </a:r>
            <a:r>
              <a:rPr lang="en-US" dirty="0"/>
              <a:t>, "\n")</a:t>
            </a:r>
          </a:p>
          <a:p>
            <a:pPr marL="400050" lvl="1" indent="0" fontAlgn="base">
              <a:buNone/>
            </a:pPr>
            <a:r>
              <a:rPr lang="en-US" dirty="0"/>
              <a:t>}</a:t>
            </a:r>
          </a:p>
          <a:p>
            <a:pPr marL="400050" lvl="1" indent="0" fontAlgn="base">
              <a:buNone/>
            </a:pPr>
            <a:r>
              <a:rPr lang="en-US" dirty="0"/>
              <a:t> </a:t>
            </a:r>
          </a:p>
          <a:p>
            <a:pPr marL="400050" lvl="1" indent="0" fontAlgn="base">
              <a:buNone/>
            </a:pPr>
            <a:r>
              <a:rPr lang="en-US" dirty="0"/>
              <a:t>print(a)</a:t>
            </a:r>
          </a:p>
          <a:p>
            <a:endParaRPr lang="en-US" dirty="0"/>
          </a:p>
        </p:txBody>
      </p:sp>
    </p:spTree>
    <p:extLst>
      <p:ext uri="{BB962C8B-B14F-4D97-AF65-F5344CB8AC3E}">
        <p14:creationId xmlns:p14="http://schemas.microsoft.com/office/powerpoint/2010/main" val="31600776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77500" lnSpcReduction="20000"/>
          </a:bodyPr>
          <a:lstStyle/>
          <a:p>
            <a:pPr fontAlgn="base"/>
            <a:r>
              <a:rPr lang="en-US" b="1" dirty="0"/>
              <a:t>Inheritance in S3 Class</a:t>
            </a:r>
          </a:p>
          <a:p>
            <a:pPr fontAlgn="base"/>
            <a:r>
              <a:rPr lang="en-US" dirty="0"/>
              <a:t>Inheritance is an important concept in </a:t>
            </a:r>
            <a:r>
              <a:rPr lang="en-US" dirty="0" smtClean="0"/>
              <a:t>which </a:t>
            </a:r>
            <a:r>
              <a:rPr lang="en-US" dirty="0"/>
              <a:t>allows one class to derive the features and functionalities of another class. This feature facilitates code-reusability.</a:t>
            </a:r>
          </a:p>
          <a:p>
            <a:pPr fontAlgn="base"/>
            <a:r>
              <a:rPr lang="en-US" dirty="0"/>
              <a:t>S3 class in R programming language has no formal and fixed definition. In an S3 object, a list with its class attribute is set to a class name. S3 class objects inherit only methods from their base class.</a:t>
            </a:r>
          </a:p>
          <a:p>
            <a:pPr fontAlgn="base"/>
            <a:r>
              <a:rPr lang="en-US" b="1" dirty="0"/>
              <a:t>Example:</a:t>
            </a:r>
            <a:r>
              <a:rPr lang="en-US" dirty="0"/>
              <a:t> </a:t>
            </a:r>
          </a:p>
          <a:p>
            <a:pPr fontAlgn="base"/>
            <a:r>
              <a:rPr lang="en-US" dirty="0"/>
              <a:t># student function with argument</a:t>
            </a:r>
          </a:p>
          <a:p>
            <a:pPr fontAlgn="base"/>
            <a:r>
              <a:rPr lang="en-US" dirty="0"/>
              <a:t># name(n) and </a:t>
            </a:r>
            <a:r>
              <a:rPr lang="en-US" dirty="0" err="1"/>
              <a:t>roll_no</a:t>
            </a:r>
            <a:r>
              <a:rPr lang="en-US" dirty="0"/>
              <a:t>(r)</a:t>
            </a:r>
          </a:p>
          <a:p>
            <a:pPr fontAlgn="base"/>
            <a:r>
              <a:rPr lang="en-US" dirty="0"/>
              <a:t>student &lt; - function(n, r) {</a:t>
            </a:r>
          </a:p>
          <a:p>
            <a:pPr fontAlgn="base"/>
            <a:r>
              <a:rPr lang="en-US" dirty="0"/>
              <a:t>    value &lt; - list(name=n, Roll=r)</a:t>
            </a:r>
          </a:p>
          <a:p>
            <a:pPr fontAlgn="base"/>
            <a:r>
              <a:rPr lang="en-US" dirty="0"/>
              <a:t>    </a:t>
            </a:r>
            <a:r>
              <a:rPr lang="en-US" dirty="0" err="1"/>
              <a:t>attr</a:t>
            </a:r>
            <a:r>
              <a:rPr lang="en-US" dirty="0"/>
              <a:t>(value, "class") &lt; - "student"</a:t>
            </a:r>
          </a:p>
          <a:p>
            <a:pPr fontAlgn="base"/>
            <a:r>
              <a:rPr lang="en-US" dirty="0"/>
              <a:t>    value</a:t>
            </a:r>
          </a:p>
          <a:p>
            <a:pPr fontAlgn="base"/>
            <a:r>
              <a:rPr lang="en-US" dirty="0"/>
              <a:t>}</a:t>
            </a:r>
          </a:p>
          <a:p>
            <a:endParaRPr lang="en-US" dirty="0"/>
          </a:p>
        </p:txBody>
      </p:sp>
    </p:spTree>
    <p:extLst>
      <p:ext uri="{BB962C8B-B14F-4D97-AF65-F5344CB8AC3E}">
        <p14:creationId xmlns:p14="http://schemas.microsoft.com/office/powerpoint/2010/main" val="28990362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0000" lnSpcReduction="20000"/>
          </a:bodyPr>
          <a:lstStyle/>
          <a:p>
            <a:r>
              <a:rPr lang="en-US" dirty="0"/>
              <a:t>Then, the method is defined to print the details of the student. </a:t>
            </a:r>
            <a:endParaRPr lang="en-US" dirty="0" smtClean="0"/>
          </a:p>
          <a:p>
            <a:pPr marL="457200" lvl="1" indent="0" fontAlgn="base">
              <a:buNone/>
            </a:pPr>
            <a:r>
              <a:rPr lang="en-US" dirty="0"/>
              <a:t># '</a:t>
            </a:r>
            <a:r>
              <a:rPr lang="en-US" dirty="0" err="1"/>
              <a:t>print.student</a:t>
            </a:r>
            <a:r>
              <a:rPr lang="en-US" dirty="0"/>
              <a:t>' method created</a:t>
            </a:r>
          </a:p>
          <a:p>
            <a:pPr marL="0" indent="0" fontAlgn="base">
              <a:buNone/>
            </a:pPr>
            <a:r>
              <a:rPr lang="en-US" dirty="0" err="1"/>
              <a:t>print.student</a:t>
            </a:r>
            <a:r>
              <a:rPr lang="en-US" dirty="0"/>
              <a:t> &lt; - function(</a:t>
            </a:r>
            <a:r>
              <a:rPr lang="en-US" dirty="0" err="1"/>
              <a:t>obj</a:t>
            </a:r>
            <a:r>
              <a:rPr lang="en-US" dirty="0"/>
              <a:t>) {</a:t>
            </a:r>
          </a:p>
          <a:p>
            <a:pPr marL="0" indent="0" fontAlgn="base">
              <a:buNone/>
            </a:pPr>
            <a:r>
              <a:rPr lang="en-US" dirty="0"/>
              <a:t> </a:t>
            </a:r>
          </a:p>
          <a:p>
            <a:pPr marL="0" indent="0" fontAlgn="base">
              <a:buNone/>
            </a:pPr>
            <a:r>
              <a:rPr lang="en-US" dirty="0"/>
              <a:t>    # 'cat' function is used to concatenate</a:t>
            </a:r>
          </a:p>
          <a:p>
            <a:pPr marL="0" indent="0" fontAlgn="base">
              <a:buNone/>
            </a:pPr>
            <a:r>
              <a:rPr lang="en-US" dirty="0"/>
              <a:t>    # strings</a:t>
            </a:r>
          </a:p>
          <a:p>
            <a:pPr marL="0" indent="0" fontAlgn="base">
              <a:buNone/>
            </a:pPr>
            <a:r>
              <a:rPr lang="en-US" dirty="0"/>
              <a:t>    cat("Name:", </a:t>
            </a:r>
            <a:r>
              <a:rPr lang="en-US" dirty="0" err="1"/>
              <a:t>obj$name</a:t>
            </a:r>
            <a:r>
              <a:rPr lang="en-US" dirty="0"/>
              <a:t>, "\n")</a:t>
            </a:r>
          </a:p>
          <a:p>
            <a:pPr marL="0" indent="0" fontAlgn="base">
              <a:buNone/>
            </a:pPr>
            <a:r>
              <a:rPr lang="en-US" dirty="0"/>
              <a:t>    cat("Roll", </a:t>
            </a:r>
            <a:r>
              <a:rPr lang="en-US" dirty="0" err="1"/>
              <a:t>obj$roll</a:t>
            </a:r>
            <a:r>
              <a:rPr lang="en-US" dirty="0"/>
              <a:t>, "\n</a:t>
            </a:r>
            <a:r>
              <a:rPr lang="en-US" dirty="0" smtClean="0"/>
              <a:t>")}</a:t>
            </a:r>
          </a:p>
          <a:p>
            <a:pPr fontAlgn="base"/>
            <a:r>
              <a:rPr lang="en-US" dirty="0"/>
              <a:t>Now, inheritance is done while creating another class by doing </a:t>
            </a:r>
            <a:r>
              <a:rPr lang="en-US" b="1" i="1" dirty="0"/>
              <a:t>class(</a:t>
            </a:r>
            <a:r>
              <a:rPr lang="en-US" b="1" i="1" dirty="0" err="1"/>
              <a:t>obj</a:t>
            </a:r>
            <a:r>
              <a:rPr lang="en-US" b="1" i="1" dirty="0"/>
              <a:t>) &lt;- c(child, parent</a:t>
            </a:r>
            <a:r>
              <a:rPr lang="en-US" b="1" i="1" dirty="0" smtClean="0"/>
              <a:t>)</a:t>
            </a:r>
            <a:r>
              <a:rPr lang="en-US" dirty="0" smtClean="0"/>
              <a:t>.</a:t>
            </a:r>
          </a:p>
          <a:p>
            <a:pPr marL="0" indent="0" fontAlgn="base">
              <a:buNone/>
            </a:pPr>
            <a:r>
              <a:rPr lang="en-US" dirty="0"/>
              <a:t>s &lt; - list(name="</a:t>
            </a:r>
            <a:r>
              <a:rPr lang="en-US" dirty="0" err="1"/>
              <a:t>Kesha</a:t>
            </a:r>
            <a:r>
              <a:rPr lang="en-US" dirty="0"/>
              <a:t>", Roll=21, country="India")</a:t>
            </a:r>
          </a:p>
          <a:p>
            <a:pPr marL="0" indent="0" fontAlgn="base">
              <a:buNone/>
            </a:pPr>
            <a:r>
              <a:rPr lang="en-US" dirty="0"/>
              <a:t> </a:t>
            </a:r>
          </a:p>
          <a:p>
            <a:pPr marL="0" indent="0" fontAlgn="base">
              <a:buNone/>
            </a:pPr>
            <a:r>
              <a:rPr lang="en-US" dirty="0"/>
              <a:t># child class 'Student' inherits</a:t>
            </a:r>
          </a:p>
          <a:p>
            <a:pPr marL="0" indent="0" fontAlgn="base">
              <a:buNone/>
            </a:pPr>
            <a:r>
              <a:rPr lang="en-US" dirty="0"/>
              <a:t># parent class 'student'</a:t>
            </a:r>
          </a:p>
          <a:p>
            <a:pPr marL="0" indent="0" fontAlgn="base">
              <a:buNone/>
            </a:pPr>
            <a:r>
              <a:rPr lang="en-US" dirty="0"/>
              <a:t>class(s) &lt; - c("Student", "student")</a:t>
            </a:r>
          </a:p>
          <a:p>
            <a:pPr marL="0" indent="0" fontAlgn="base">
              <a:buNone/>
            </a:pPr>
            <a:r>
              <a:rPr lang="en-US" dirty="0"/>
              <a:t>s</a:t>
            </a:r>
          </a:p>
          <a:p>
            <a:pPr fontAlgn="base"/>
            <a:endParaRPr lang="en-US" dirty="0"/>
          </a:p>
          <a:p>
            <a:endParaRPr lang="en-US" dirty="0"/>
          </a:p>
        </p:txBody>
      </p:sp>
    </p:spTree>
    <p:extLst>
      <p:ext uri="{BB962C8B-B14F-4D97-AF65-F5344CB8AC3E}">
        <p14:creationId xmlns:p14="http://schemas.microsoft.com/office/powerpoint/2010/main" val="15594726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Autofit/>
          </a:bodyPr>
          <a:lstStyle/>
          <a:p>
            <a:pPr fontAlgn="base"/>
            <a:r>
              <a:rPr lang="en-US" sz="2000" b="1" dirty="0"/>
              <a:t>S4 Class </a:t>
            </a:r>
          </a:p>
          <a:p>
            <a:pPr fontAlgn="base"/>
            <a:r>
              <a:rPr lang="en-US" sz="2000" dirty="0"/>
              <a:t>S4 class has a predefined definition. It contains functions for defining methods and generics. It makes multiple dispatches easy. This class contains auxiliary functions for defining methods and generics.</a:t>
            </a:r>
          </a:p>
          <a:p>
            <a:pPr fontAlgn="base"/>
            <a:r>
              <a:rPr lang="en-US" sz="2000" b="1" dirty="0"/>
              <a:t>Creating S4 class and object </a:t>
            </a:r>
          </a:p>
          <a:p>
            <a:pPr fontAlgn="base"/>
            <a:r>
              <a:rPr lang="en-US" sz="2000" b="1" dirty="0" err="1"/>
              <a:t>setClass</a:t>
            </a:r>
            <a:r>
              <a:rPr lang="en-US" sz="2000" b="1" dirty="0"/>
              <a:t>()</a:t>
            </a:r>
            <a:r>
              <a:rPr lang="en-US" sz="2000" dirty="0"/>
              <a:t> command is used to create S4 class. </a:t>
            </a:r>
            <a:endParaRPr lang="en-US" sz="2000" dirty="0" smtClean="0"/>
          </a:p>
          <a:p>
            <a:pPr fontAlgn="base"/>
            <a:r>
              <a:rPr lang="en-US" sz="2000" b="1" dirty="0" smtClean="0"/>
              <a:t>Syntax</a:t>
            </a:r>
            <a:r>
              <a:rPr lang="en-US" sz="2000" b="1" dirty="0"/>
              <a:t>:</a:t>
            </a:r>
            <a:r>
              <a:rPr lang="en-US" sz="2000" dirty="0"/>
              <a:t> </a:t>
            </a:r>
          </a:p>
          <a:p>
            <a:pPr fontAlgn="base"/>
            <a:r>
              <a:rPr lang="en-US" sz="2000" dirty="0"/>
              <a:t> </a:t>
            </a:r>
            <a:r>
              <a:rPr lang="en-US" sz="2000" dirty="0" err="1"/>
              <a:t>setClass</a:t>
            </a:r>
            <a:r>
              <a:rPr lang="en-US" sz="2000" dirty="0"/>
              <a:t>(“</a:t>
            </a:r>
            <a:r>
              <a:rPr lang="en-US" sz="2000" dirty="0" err="1"/>
              <a:t>myclass</a:t>
            </a:r>
            <a:r>
              <a:rPr lang="en-US" sz="2000" dirty="0"/>
              <a:t>”, slots=list(name=”character”, </a:t>
            </a:r>
            <a:r>
              <a:rPr lang="en-US" sz="2000" dirty="0" err="1"/>
              <a:t>Roll_No</a:t>
            </a:r>
            <a:r>
              <a:rPr lang="en-US" sz="2000" dirty="0"/>
              <a:t>=”numeric”))  </a:t>
            </a:r>
          </a:p>
          <a:p>
            <a:pPr fontAlgn="base"/>
            <a:r>
              <a:rPr lang="en-US" sz="2000" dirty="0"/>
              <a:t>The </a:t>
            </a:r>
            <a:r>
              <a:rPr lang="en-US" sz="2000" b="1" dirty="0"/>
              <a:t>new() </a:t>
            </a:r>
            <a:r>
              <a:rPr lang="en-US" sz="2000" dirty="0"/>
              <a:t>function is used to create an object of the S4 class. In this function, we will pass the class name as well as the value for the slots</a:t>
            </a:r>
            <a:r>
              <a:rPr lang="en-US" sz="2000" dirty="0" smtClean="0"/>
              <a:t>.</a:t>
            </a:r>
            <a:endParaRPr lang="en-US" sz="2000" dirty="0"/>
          </a:p>
        </p:txBody>
      </p:sp>
    </p:spTree>
    <p:extLst>
      <p:ext uri="{BB962C8B-B14F-4D97-AF65-F5344CB8AC3E}">
        <p14:creationId xmlns:p14="http://schemas.microsoft.com/office/powerpoint/2010/main" val="622857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fontAlgn="base"/>
            <a:r>
              <a:rPr lang="en-US" b="1" dirty="0"/>
              <a:t>Example:</a:t>
            </a:r>
            <a:r>
              <a:rPr lang="en-US" dirty="0"/>
              <a:t> </a:t>
            </a:r>
          </a:p>
          <a:p>
            <a:pPr marL="0" indent="0" fontAlgn="base">
              <a:buNone/>
            </a:pPr>
            <a:r>
              <a:rPr lang="en-US" dirty="0"/>
              <a:t># Function </a:t>
            </a:r>
            <a:r>
              <a:rPr lang="en-US" dirty="0" err="1"/>
              <a:t>setClass</a:t>
            </a:r>
            <a:r>
              <a:rPr lang="en-US" dirty="0"/>
              <a:t>() command used</a:t>
            </a:r>
          </a:p>
          <a:p>
            <a:pPr marL="0" indent="0" fontAlgn="base">
              <a:buNone/>
            </a:pPr>
            <a:r>
              <a:rPr lang="en-US" dirty="0"/>
              <a:t># to create S4 class containing list of slots.</a:t>
            </a:r>
          </a:p>
          <a:p>
            <a:pPr marL="0" indent="0" fontAlgn="base">
              <a:buNone/>
            </a:pPr>
            <a:r>
              <a:rPr lang="en-US" dirty="0" err="1"/>
              <a:t>setClass</a:t>
            </a:r>
            <a:r>
              <a:rPr lang="en-US" dirty="0"/>
              <a:t>("Student", slots=list(name="character",</a:t>
            </a:r>
          </a:p>
          <a:p>
            <a:pPr marL="0" indent="0" fontAlgn="base">
              <a:buNone/>
            </a:pPr>
            <a:r>
              <a:rPr lang="en-US" dirty="0"/>
              <a:t>                               </a:t>
            </a:r>
            <a:r>
              <a:rPr lang="en-US" dirty="0" err="1"/>
              <a:t>Roll_No</a:t>
            </a:r>
            <a:r>
              <a:rPr lang="en-US" dirty="0"/>
              <a:t>="numeric"))</a:t>
            </a:r>
          </a:p>
          <a:p>
            <a:pPr marL="0" indent="0" fontAlgn="base">
              <a:buNone/>
            </a:pPr>
            <a:r>
              <a:rPr lang="en-US" dirty="0"/>
              <a:t> </a:t>
            </a:r>
          </a:p>
          <a:p>
            <a:pPr marL="0" indent="0" fontAlgn="base">
              <a:buNone/>
            </a:pPr>
            <a:r>
              <a:rPr lang="en-US" dirty="0"/>
              <a:t># 'new' keyword used to create object of</a:t>
            </a:r>
          </a:p>
          <a:p>
            <a:pPr marL="0" indent="0" fontAlgn="base">
              <a:buNone/>
            </a:pPr>
            <a:r>
              <a:rPr lang="en-US" dirty="0"/>
              <a:t># class 'Student'</a:t>
            </a:r>
          </a:p>
          <a:p>
            <a:pPr marL="0" indent="0" fontAlgn="base">
              <a:buNone/>
            </a:pPr>
            <a:r>
              <a:rPr lang="en-US" dirty="0"/>
              <a:t>a &lt;- new("Student", name="Adam", </a:t>
            </a:r>
            <a:r>
              <a:rPr lang="en-US" dirty="0" err="1"/>
              <a:t>Roll_No</a:t>
            </a:r>
            <a:r>
              <a:rPr lang="en-US" dirty="0"/>
              <a:t>=20)</a:t>
            </a:r>
          </a:p>
          <a:p>
            <a:pPr marL="0" indent="0" fontAlgn="base">
              <a:buNone/>
            </a:pPr>
            <a:r>
              <a:rPr lang="en-US" dirty="0"/>
              <a:t> </a:t>
            </a:r>
          </a:p>
          <a:p>
            <a:pPr marL="0" indent="0" fontAlgn="base">
              <a:buNone/>
            </a:pPr>
            <a:r>
              <a:rPr lang="en-US" dirty="0"/>
              <a:t># Calling object</a:t>
            </a:r>
          </a:p>
          <a:p>
            <a:pPr marL="0" indent="0" fontAlgn="base">
              <a:buNone/>
            </a:pPr>
            <a:r>
              <a:rPr lang="en-US" dirty="0"/>
              <a:t>a</a:t>
            </a:r>
          </a:p>
          <a:p>
            <a:endParaRPr lang="en-US" dirty="0"/>
          </a:p>
        </p:txBody>
      </p:sp>
    </p:spTree>
    <p:extLst>
      <p:ext uri="{BB962C8B-B14F-4D97-AF65-F5344CB8AC3E}">
        <p14:creationId xmlns:p14="http://schemas.microsoft.com/office/powerpoint/2010/main" val="39292919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fontAlgn="base"/>
            <a:r>
              <a:rPr lang="en-US" b="1" dirty="0"/>
              <a:t>Create S4 objects from generator function</a:t>
            </a:r>
          </a:p>
          <a:p>
            <a:pPr fontAlgn="base"/>
            <a:r>
              <a:rPr lang="en-US" dirty="0" err="1"/>
              <a:t>setClass</a:t>
            </a:r>
            <a:r>
              <a:rPr lang="en-US" dirty="0"/>
              <a:t>() returns a generator function which helps in creating objects and it acts as a constructor.</a:t>
            </a:r>
          </a:p>
          <a:p>
            <a:pPr fontAlgn="base"/>
            <a:r>
              <a:rPr lang="en-US" b="1" dirty="0"/>
              <a:t>Example</a:t>
            </a:r>
            <a:r>
              <a:rPr lang="en-US" b="1" dirty="0" smtClean="0"/>
              <a:t>:</a:t>
            </a:r>
          </a:p>
          <a:p>
            <a:pPr marL="0" indent="0" fontAlgn="base">
              <a:buNone/>
            </a:pPr>
            <a:r>
              <a:rPr lang="en-US" dirty="0"/>
              <a:t>stud &lt;- </a:t>
            </a:r>
            <a:r>
              <a:rPr lang="en-US" dirty="0" err="1"/>
              <a:t>setClass</a:t>
            </a:r>
            <a:r>
              <a:rPr lang="en-US" dirty="0"/>
              <a:t>("Student", slots=list(name="character",</a:t>
            </a:r>
          </a:p>
          <a:p>
            <a:pPr marL="0" indent="0" fontAlgn="base">
              <a:buNone/>
            </a:pPr>
            <a:r>
              <a:rPr lang="en-US" dirty="0"/>
              <a:t>                               </a:t>
            </a:r>
            <a:r>
              <a:rPr lang="en-US" dirty="0" err="1"/>
              <a:t>Roll_No</a:t>
            </a:r>
            <a:r>
              <a:rPr lang="en-US" dirty="0"/>
              <a:t>="numeric"))</a:t>
            </a:r>
          </a:p>
          <a:p>
            <a:pPr marL="0" indent="0" fontAlgn="base">
              <a:buNone/>
            </a:pPr>
            <a:r>
              <a:rPr lang="en-US" dirty="0"/>
              <a:t> </a:t>
            </a:r>
          </a:p>
          <a:p>
            <a:pPr marL="0" indent="0" fontAlgn="base">
              <a:buNone/>
            </a:pPr>
            <a:r>
              <a:rPr lang="en-US" dirty="0"/>
              <a:t># Calling object</a:t>
            </a:r>
          </a:p>
          <a:p>
            <a:pPr marL="0" indent="0" fontAlgn="base">
              <a:buNone/>
            </a:pPr>
            <a:r>
              <a:rPr lang="en-US" dirty="0"/>
              <a:t>stud</a:t>
            </a:r>
          </a:p>
          <a:p>
            <a:pPr fontAlgn="base"/>
            <a:endParaRPr lang="en-US" dirty="0"/>
          </a:p>
        </p:txBody>
      </p:sp>
    </p:spTree>
    <p:extLst>
      <p:ext uri="{BB962C8B-B14F-4D97-AF65-F5344CB8AC3E}">
        <p14:creationId xmlns:p14="http://schemas.microsoft.com/office/powerpoint/2010/main" val="107151621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458200" cy="6553200"/>
          </a:xfrm>
        </p:spPr>
        <p:txBody>
          <a:bodyPr>
            <a:normAutofit fontScale="47500" lnSpcReduction="20000"/>
          </a:bodyPr>
          <a:lstStyle/>
          <a:p>
            <a:pPr fontAlgn="base"/>
            <a:r>
              <a:rPr lang="en-US" b="1" dirty="0"/>
              <a:t>Inheritance in S4 class</a:t>
            </a:r>
          </a:p>
          <a:p>
            <a:pPr fontAlgn="base"/>
            <a:r>
              <a:rPr lang="en-US" dirty="0"/>
              <a:t>S4 class in R programming have proper definition and derived classes will be able to inherit both attributes and methods from its base class. For this, we will first create a base class with appropriate slots and will create a generic function for that class. Then we will create a derived class that will inherit using the contains parameter. The derived class will inherit the members as well as functions from the base class.</a:t>
            </a:r>
          </a:p>
          <a:p>
            <a:pPr fontAlgn="base"/>
            <a:r>
              <a:rPr lang="en-US" b="1" dirty="0"/>
              <a:t>Example:</a:t>
            </a:r>
            <a:endParaRPr lang="en-US" dirty="0"/>
          </a:p>
          <a:p>
            <a:pPr marL="400050" lvl="1" indent="0" fontAlgn="base">
              <a:buNone/>
            </a:pPr>
            <a:r>
              <a:rPr lang="en-US" dirty="0"/>
              <a:t># Define S4 class</a:t>
            </a:r>
          </a:p>
          <a:p>
            <a:pPr marL="400050" lvl="1" indent="0" fontAlgn="base">
              <a:buNone/>
            </a:pPr>
            <a:r>
              <a:rPr lang="en-US" dirty="0" err="1"/>
              <a:t>setClass</a:t>
            </a:r>
            <a:r>
              <a:rPr lang="en-US" dirty="0"/>
              <a:t>("student",</a:t>
            </a:r>
          </a:p>
          <a:p>
            <a:pPr marL="400050" lvl="1" indent="0" fontAlgn="base">
              <a:buNone/>
            </a:pPr>
            <a:r>
              <a:rPr lang="en-US" dirty="0"/>
              <a:t>         slots=list(name="character",</a:t>
            </a:r>
          </a:p>
          <a:p>
            <a:pPr marL="400050" lvl="1" indent="0" fontAlgn="base">
              <a:buNone/>
            </a:pPr>
            <a:r>
              <a:rPr lang="en-US" dirty="0"/>
              <a:t>                    age="numeric", </a:t>
            </a:r>
            <a:r>
              <a:rPr lang="en-US" dirty="0" err="1"/>
              <a:t>rno</a:t>
            </a:r>
            <a:r>
              <a:rPr lang="en-US" dirty="0"/>
              <a:t>="numeric")</a:t>
            </a:r>
          </a:p>
          <a:p>
            <a:pPr marL="400050" lvl="1" indent="0" fontAlgn="base">
              <a:buNone/>
            </a:pPr>
            <a:r>
              <a:rPr lang="en-US" dirty="0"/>
              <a:t>         )</a:t>
            </a:r>
          </a:p>
          <a:p>
            <a:pPr marL="400050" lvl="1" indent="0" fontAlgn="base">
              <a:buNone/>
            </a:pPr>
            <a:r>
              <a:rPr lang="en-US" dirty="0"/>
              <a:t> </a:t>
            </a:r>
          </a:p>
          <a:p>
            <a:pPr marL="400050" lvl="1" indent="0" fontAlgn="base">
              <a:buNone/>
            </a:pPr>
            <a:r>
              <a:rPr lang="en-US" dirty="0"/>
              <a:t># Defining a function to display object details</a:t>
            </a:r>
          </a:p>
          <a:p>
            <a:pPr marL="400050" lvl="1" indent="0" fontAlgn="base">
              <a:buNone/>
            </a:pPr>
            <a:r>
              <a:rPr lang="en-US" dirty="0" err="1"/>
              <a:t>setMethod</a:t>
            </a:r>
            <a:r>
              <a:rPr lang="en-US" dirty="0"/>
              <a:t>("show", "student",</a:t>
            </a:r>
          </a:p>
          <a:p>
            <a:pPr marL="400050" lvl="1" indent="0" fontAlgn="base">
              <a:buNone/>
            </a:pPr>
            <a:r>
              <a:rPr lang="en-US" dirty="0"/>
              <a:t>          function(</a:t>
            </a:r>
            <a:r>
              <a:rPr lang="en-US" dirty="0" err="1"/>
              <a:t>obj</a:t>
            </a:r>
            <a:r>
              <a:rPr lang="en-US" dirty="0"/>
              <a:t>){</a:t>
            </a:r>
          </a:p>
          <a:p>
            <a:pPr marL="400050" lvl="1" indent="0" fontAlgn="base">
              <a:buNone/>
            </a:pPr>
            <a:r>
              <a:rPr lang="en-US" dirty="0"/>
              <a:t>              cat(</a:t>
            </a:r>
            <a:r>
              <a:rPr lang="en-US" dirty="0" err="1"/>
              <a:t>obj@name</a:t>
            </a:r>
            <a:r>
              <a:rPr lang="en-US" dirty="0"/>
              <a:t>, "\n")</a:t>
            </a:r>
          </a:p>
          <a:p>
            <a:pPr marL="400050" lvl="1" indent="0" fontAlgn="base">
              <a:buNone/>
            </a:pPr>
            <a:r>
              <a:rPr lang="en-US" dirty="0"/>
              <a:t>              cat(</a:t>
            </a:r>
            <a:r>
              <a:rPr lang="en-US" dirty="0" err="1"/>
              <a:t>obj@age</a:t>
            </a:r>
            <a:r>
              <a:rPr lang="en-US" dirty="0"/>
              <a:t>, "\n")</a:t>
            </a:r>
          </a:p>
          <a:p>
            <a:pPr marL="400050" lvl="1" indent="0" fontAlgn="base">
              <a:buNone/>
            </a:pPr>
            <a:r>
              <a:rPr lang="en-US" dirty="0"/>
              <a:t>              cat(</a:t>
            </a:r>
            <a:r>
              <a:rPr lang="en-US" dirty="0" err="1"/>
              <a:t>obj@rno</a:t>
            </a:r>
            <a:r>
              <a:rPr lang="en-US" dirty="0"/>
              <a:t>, "\n")</a:t>
            </a:r>
          </a:p>
          <a:p>
            <a:pPr marL="400050" lvl="1" indent="0" fontAlgn="base">
              <a:buNone/>
            </a:pPr>
            <a:r>
              <a:rPr lang="en-US" dirty="0"/>
              <a:t>          }</a:t>
            </a:r>
          </a:p>
          <a:p>
            <a:pPr marL="400050" lvl="1" indent="0" fontAlgn="base">
              <a:buNone/>
            </a:pPr>
            <a:r>
              <a:rPr lang="en-US" dirty="0"/>
              <a:t>          )</a:t>
            </a:r>
          </a:p>
          <a:p>
            <a:pPr marL="400050" lvl="1" indent="0" fontAlgn="base">
              <a:buNone/>
            </a:pPr>
            <a:r>
              <a:rPr lang="en-US" dirty="0"/>
              <a:t> </a:t>
            </a:r>
          </a:p>
          <a:p>
            <a:pPr marL="400050" lvl="1" indent="0" fontAlgn="base">
              <a:buNone/>
            </a:pPr>
            <a:r>
              <a:rPr lang="en-US" dirty="0"/>
              <a:t># Inherit from student</a:t>
            </a:r>
          </a:p>
          <a:p>
            <a:pPr marL="400050" lvl="1" indent="0" fontAlgn="base">
              <a:buNone/>
            </a:pPr>
            <a:r>
              <a:rPr lang="en-US" dirty="0" err="1"/>
              <a:t>setClass</a:t>
            </a:r>
            <a:r>
              <a:rPr lang="en-US" dirty="0"/>
              <a:t>("</a:t>
            </a:r>
            <a:r>
              <a:rPr lang="en-US" dirty="0" err="1"/>
              <a:t>InternationalStudent</a:t>
            </a:r>
            <a:r>
              <a:rPr lang="en-US" dirty="0"/>
              <a:t>",</a:t>
            </a:r>
          </a:p>
          <a:p>
            <a:pPr marL="400050" lvl="1" indent="0" fontAlgn="base">
              <a:buNone/>
            </a:pPr>
            <a:r>
              <a:rPr lang="en-US" dirty="0"/>
              <a:t>         slots=list(country="character"),</a:t>
            </a:r>
          </a:p>
          <a:p>
            <a:pPr marL="400050" lvl="1" indent="0" fontAlgn="base">
              <a:buNone/>
            </a:pPr>
            <a:r>
              <a:rPr lang="en-US" dirty="0"/>
              <a:t>         contains="student"</a:t>
            </a:r>
          </a:p>
          <a:p>
            <a:pPr marL="400050" lvl="1" indent="0" fontAlgn="base">
              <a:buNone/>
            </a:pPr>
            <a:r>
              <a:rPr lang="en-US" dirty="0"/>
              <a:t>         )</a:t>
            </a:r>
          </a:p>
          <a:p>
            <a:pPr marL="400050" lvl="1" indent="0" fontAlgn="base">
              <a:buNone/>
            </a:pPr>
            <a:r>
              <a:rPr lang="en-US" dirty="0"/>
              <a:t> </a:t>
            </a:r>
          </a:p>
          <a:p>
            <a:pPr marL="400050" lvl="1" indent="0" fontAlgn="base">
              <a:buNone/>
            </a:pPr>
            <a:r>
              <a:rPr lang="en-US" dirty="0"/>
              <a:t># Rest of the attributes will be inherited from student</a:t>
            </a:r>
          </a:p>
          <a:p>
            <a:pPr marL="400050" lvl="1" indent="0" fontAlgn="base">
              <a:buNone/>
            </a:pPr>
            <a:r>
              <a:rPr lang="en-US" dirty="0"/>
              <a:t>s &lt; - new("</a:t>
            </a:r>
            <a:r>
              <a:rPr lang="en-US" dirty="0" err="1"/>
              <a:t>InternationalStudent</a:t>
            </a:r>
            <a:r>
              <a:rPr lang="en-US" dirty="0"/>
              <a:t>", name="Adam",</a:t>
            </a:r>
          </a:p>
          <a:p>
            <a:pPr marL="400050" lvl="1" indent="0" fontAlgn="base">
              <a:buNone/>
            </a:pPr>
            <a:r>
              <a:rPr lang="en-US" dirty="0"/>
              <a:t>          age=22, </a:t>
            </a:r>
            <a:r>
              <a:rPr lang="en-US" dirty="0" err="1"/>
              <a:t>rno</a:t>
            </a:r>
            <a:r>
              <a:rPr lang="en-US" dirty="0"/>
              <a:t>=15, country="India")</a:t>
            </a:r>
          </a:p>
          <a:p>
            <a:pPr marL="400050" lvl="1" indent="0" fontAlgn="base">
              <a:buNone/>
            </a:pPr>
            <a:r>
              <a:rPr lang="en-US" dirty="0"/>
              <a:t>show(s)</a:t>
            </a:r>
          </a:p>
          <a:p>
            <a:endParaRPr lang="en-US" dirty="0"/>
          </a:p>
        </p:txBody>
      </p:sp>
    </p:spTree>
    <p:extLst>
      <p:ext uri="{BB962C8B-B14F-4D97-AF65-F5344CB8AC3E}">
        <p14:creationId xmlns:p14="http://schemas.microsoft.com/office/powerpoint/2010/main" val="133565568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normAutofit fontScale="90000"/>
          </a:bodyPr>
          <a:lstStyle/>
          <a:p>
            <a:r>
              <a:rPr lang="en-US" dirty="0" smtClean="0"/>
              <a:t>Loop</a:t>
            </a:r>
            <a:endParaRPr lang="en-US" dirty="0"/>
          </a:p>
        </p:txBody>
      </p:sp>
      <p:sp>
        <p:nvSpPr>
          <p:cNvPr id="3" name="Content Placeholder 2"/>
          <p:cNvSpPr>
            <a:spLocks noGrp="1"/>
          </p:cNvSpPr>
          <p:nvPr>
            <p:ph idx="1"/>
          </p:nvPr>
        </p:nvSpPr>
        <p:spPr>
          <a:xfrm>
            <a:off x="457200" y="1143000"/>
            <a:ext cx="8229600" cy="4983163"/>
          </a:xfrm>
        </p:spPr>
        <p:txBody>
          <a:bodyPr>
            <a:normAutofit fontScale="77500" lnSpcReduction="20000"/>
          </a:bodyPr>
          <a:lstStyle/>
          <a:p>
            <a:pPr fontAlgn="base"/>
            <a:r>
              <a:rPr lang="nn-NO" dirty="0"/>
              <a:t># using for loop</a:t>
            </a:r>
          </a:p>
          <a:p>
            <a:pPr marL="800100" lvl="2" indent="0" fontAlgn="base">
              <a:buNone/>
            </a:pPr>
            <a:r>
              <a:rPr lang="nn-NO" dirty="0"/>
              <a:t>for (val in 1: 5)</a:t>
            </a:r>
          </a:p>
          <a:p>
            <a:pPr marL="800100" lvl="2" indent="0" fontAlgn="base">
              <a:buNone/>
            </a:pPr>
            <a:r>
              <a:rPr lang="nn-NO" dirty="0"/>
              <a:t>{</a:t>
            </a:r>
          </a:p>
          <a:p>
            <a:pPr marL="800100" lvl="2" indent="0" fontAlgn="base">
              <a:buNone/>
            </a:pPr>
            <a:r>
              <a:rPr lang="nn-NO" dirty="0"/>
              <a:t>    # statement</a:t>
            </a:r>
          </a:p>
          <a:p>
            <a:pPr marL="800100" lvl="2" indent="0" fontAlgn="base">
              <a:buNone/>
            </a:pPr>
            <a:r>
              <a:rPr lang="nn-NO" dirty="0"/>
              <a:t>    print(val)</a:t>
            </a:r>
          </a:p>
          <a:p>
            <a:pPr marL="800100" lvl="2" indent="0" fontAlgn="base">
              <a:buNone/>
            </a:pPr>
            <a:r>
              <a:rPr lang="nn-NO" dirty="0"/>
              <a:t>}</a:t>
            </a:r>
          </a:p>
          <a:p>
            <a:pPr marL="800100" lvl="2" indent="0">
              <a:buNone/>
            </a:pPr>
            <a:r>
              <a:rPr lang="en-US" dirty="0" smtClean="0"/>
              <a:t>#while loop</a:t>
            </a:r>
          </a:p>
          <a:p>
            <a:pPr marL="800100" lvl="2" indent="0" fontAlgn="base">
              <a:buNone/>
            </a:pPr>
            <a:r>
              <a:rPr lang="en-US" dirty="0" err="1"/>
              <a:t>val</a:t>
            </a:r>
            <a:r>
              <a:rPr lang="en-US" dirty="0"/>
              <a:t> = 1</a:t>
            </a:r>
          </a:p>
          <a:p>
            <a:pPr fontAlgn="base"/>
            <a:r>
              <a:rPr lang="en-US" dirty="0"/>
              <a:t> </a:t>
            </a:r>
          </a:p>
          <a:p>
            <a:pPr fontAlgn="base"/>
            <a:r>
              <a:rPr lang="en-US" dirty="0"/>
              <a:t># using while loop</a:t>
            </a:r>
          </a:p>
          <a:p>
            <a:pPr marL="800100" lvl="2" indent="0" fontAlgn="base">
              <a:buNone/>
            </a:pPr>
            <a:r>
              <a:rPr lang="en-US" dirty="0"/>
              <a:t>while (</a:t>
            </a:r>
            <a:r>
              <a:rPr lang="en-US" dirty="0" err="1"/>
              <a:t>val</a:t>
            </a:r>
            <a:r>
              <a:rPr lang="en-US" dirty="0"/>
              <a:t> &lt;= 5)</a:t>
            </a:r>
          </a:p>
          <a:p>
            <a:pPr marL="800100" lvl="2" indent="0" fontAlgn="base">
              <a:buNone/>
            </a:pPr>
            <a:r>
              <a:rPr lang="en-US" dirty="0"/>
              <a:t>{</a:t>
            </a:r>
          </a:p>
          <a:p>
            <a:pPr marL="800100" lvl="2" indent="0" fontAlgn="base">
              <a:buNone/>
            </a:pPr>
            <a:r>
              <a:rPr lang="en-US" dirty="0"/>
              <a:t>    # statements</a:t>
            </a:r>
          </a:p>
          <a:p>
            <a:pPr marL="800100" lvl="2" indent="0" fontAlgn="base">
              <a:buNone/>
            </a:pPr>
            <a:r>
              <a:rPr lang="en-US" dirty="0"/>
              <a:t>    print(</a:t>
            </a:r>
            <a:r>
              <a:rPr lang="en-US" dirty="0" err="1"/>
              <a:t>val</a:t>
            </a:r>
            <a:r>
              <a:rPr lang="en-US" dirty="0"/>
              <a:t>)</a:t>
            </a:r>
          </a:p>
          <a:p>
            <a:pPr marL="800100" lvl="2" indent="0" fontAlgn="base">
              <a:buNone/>
            </a:pPr>
            <a:r>
              <a:rPr lang="en-US" dirty="0"/>
              <a:t>    </a:t>
            </a:r>
            <a:r>
              <a:rPr lang="en-US" dirty="0" err="1"/>
              <a:t>val</a:t>
            </a:r>
            <a:r>
              <a:rPr lang="en-US" dirty="0"/>
              <a:t> = </a:t>
            </a:r>
            <a:r>
              <a:rPr lang="en-US" dirty="0" err="1"/>
              <a:t>val</a:t>
            </a:r>
            <a:r>
              <a:rPr lang="en-US" dirty="0"/>
              <a:t> + 1</a:t>
            </a:r>
          </a:p>
          <a:p>
            <a:pPr marL="800100" lvl="2" indent="0" fontAlgn="base">
              <a:buNone/>
            </a:pPr>
            <a:r>
              <a:rPr lang="en-US" dirty="0"/>
              <a:t>}</a:t>
            </a:r>
          </a:p>
          <a:p>
            <a:endParaRPr lang="en-US" dirty="0"/>
          </a:p>
        </p:txBody>
      </p:sp>
    </p:spTree>
    <p:extLst>
      <p:ext uri="{BB962C8B-B14F-4D97-AF65-F5344CB8AC3E}">
        <p14:creationId xmlns:p14="http://schemas.microsoft.com/office/powerpoint/2010/main" val="12452465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324600"/>
          </a:xfrm>
        </p:spPr>
        <p:txBody>
          <a:bodyPr>
            <a:normAutofit fontScale="77500" lnSpcReduction="20000"/>
          </a:bodyPr>
          <a:lstStyle/>
          <a:p>
            <a:r>
              <a:rPr lang="en-US" dirty="0" smtClean="0"/>
              <a:t>#Repeat Loop</a:t>
            </a:r>
          </a:p>
          <a:p>
            <a:pPr marL="400050" lvl="1" indent="0" fontAlgn="base">
              <a:buNone/>
            </a:pPr>
            <a:r>
              <a:rPr lang="en-US" dirty="0" err="1"/>
              <a:t>val</a:t>
            </a:r>
            <a:r>
              <a:rPr lang="en-US" dirty="0"/>
              <a:t> = 1</a:t>
            </a:r>
          </a:p>
          <a:p>
            <a:pPr marL="400050" lvl="1" indent="0" fontAlgn="base">
              <a:buNone/>
            </a:pPr>
            <a:r>
              <a:rPr lang="en-US" dirty="0"/>
              <a:t> </a:t>
            </a:r>
          </a:p>
          <a:p>
            <a:pPr marL="400050" lvl="1" indent="0" fontAlgn="base">
              <a:buNone/>
            </a:pPr>
            <a:r>
              <a:rPr lang="en-US" dirty="0"/>
              <a:t># using repeat loop</a:t>
            </a:r>
          </a:p>
          <a:p>
            <a:pPr marL="400050" lvl="1" indent="0" fontAlgn="base">
              <a:buNone/>
            </a:pPr>
            <a:r>
              <a:rPr lang="en-US" dirty="0"/>
              <a:t>repeat</a:t>
            </a:r>
          </a:p>
          <a:p>
            <a:pPr marL="400050" lvl="1" indent="0" fontAlgn="base">
              <a:buNone/>
            </a:pPr>
            <a:r>
              <a:rPr lang="en-US" dirty="0"/>
              <a:t>{</a:t>
            </a:r>
          </a:p>
          <a:p>
            <a:pPr marL="400050" lvl="1" indent="0" fontAlgn="base">
              <a:buNone/>
            </a:pPr>
            <a:r>
              <a:rPr lang="en-US" dirty="0"/>
              <a:t>    # statements</a:t>
            </a:r>
          </a:p>
          <a:p>
            <a:pPr marL="400050" lvl="1" indent="0" fontAlgn="base">
              <a:buNone/>
            </a:pPr>
            <a:r>
              <a:rPr lang="en-US" dirty="0"/>
              <a:t>    print(</a:t>
            </a:r>
            <a:r>
              <a:rPr lang="en-US" dirty="0" err="1"/>
              <a:t>val</a:t>
            </a:r>
            <a:r>
              <a:rPr lang="en-US" dirty="0"/>
              <a:t>)</a:t>
            </a:r>
          </a:p>
          <a:p>
            <a:pPr marL="400050" lvl="1" indent="0" fontAlgn="base">
              <a:buNone/>
            </a:pPr>
            <a:r>
              <a:rPr lang="en-US" dirty="0"/>
              <a:t>    </a:t>
            </a:r>
            <a:r>
              <a:rPr lang="en-US" dirty="0" err="1"/>
              <a:t>val</a:t>
            </a:r>
            <a:r>
              <a:rPr lang="en-US" dirty="0"/>
              <a:t> = </a:t>
            </a:r>
            <a:r>
              <a:rPr lang="en-US" dirty="0" err="1"/>
              <a:t>val</a:t>
            </a:r>
            <a:r>
              <a:rPr lang="en-US" dirty="0"/>
              <a:t> + 1</a:t>
            </a:r>
          </a:p>
          <a:p>
            <a:pPr marL="400050" lvl="1" indent="0" fontAlgn="base">
              <a:buNone/>
            </a:pPr>
            <a:r>
              <a:rPr lang="en-US" dirty="0"/>
              <a:t> </a:t>
            </a:r>
          </a:p>
          <a:p>
            <a:pPr marL="400050" lvl="1" indent="0" fontAlgn="base">
              <a:buNone/>
            </a:pPr>
            <a:r>
              <a:rPr lang="en-US" dirty="0"/>
              <a:t>    # checking stop condition</a:t>
            </a:r>
          </a:p>
          <a:p>
            <a:pPr marL="400050" lvl="1" indent="0" fontAlgn="base">
              <a:buNone/>
            </a:pPr>
            <a:r>
              <a:rPr lang="en-US" dirty="0"/>
              <a:t>    if(</a:t>
            </a:r>
            <a:r>
              <a:rPr lang="en-US" dirty="0" err="1"/>
              <a:t>val</a:t>
            </a:r>
            <a:r>
              <a:rPr lang="en-US" dirty="0"/>
              <a:t> &gt; 5)</a:t>
            </a:r>
          </a:p>
          <a:p>
            <a:pPr marL="400050" lvl="1" indent="0" fontAlgn="base">
              <a:buNone/>
            </a:pPr>
            <a:r>
              <a:rPr lang="en-US" dirty="0"/>
              <a:t>    {</a:t>
            </a:r>
          </a:p>
          <a:p>
            <a:pPr marL="400050" lvl="1" indent="0" fontAlgn="base">
              <a:buNone/>
            </a:pPr>
            <a:r>
              <a:rPr lang="en-US" dirty="0"/>
              <a:t>        # using break statement</a:t>
            </a:r>
          </a:p>
          <a:p>
            <a:pPr marL="400050" lvl="1" indent="0" fontAlgn="base">
              <a:buNone/>
            </a:pPr>
            <a:r>
              <a:rPr lang="en-US" dirty="0"/>
              <a:t>        # to terminate the loop</a:t>
            </a:r>
          </a:p>
          <a:p>
            <a:pPr marL="400050" lvl="1" indent="0" fontAlgn="base">
              <a:buNone/>
            </a:pPr>
            <a:r>
              <a:rPr lang="en-US" dirty="0"/>
              <a:t>        break</a:t>
            </a:r>
          </a:p>
          <a:p>
            <a:pPr marL="400050" lvl="1" indent="0" fontAlgn="base">
              <a:buNone/>
            </a:pPr>
            <a:r>
              <a:rPr lang="en-US" dirty="0"/>
              <a:t>    }</a:t>
            </a:r>
          </a:p>
          <a:p>
            <a:pPr marL="400050" lvl="1" indent="0" fontAlgn="base">
              <a:buNone/>
            </a:pPr>
            <a:r>
              <a:rPr lang="en-US" dirty="0"/>
              <a:t>}</a:t>
            </a:r>
          </a:p>
          <a:p>
            <a:endParaRPr lang="en-US" dirty="0" smtClean="0"/>
          </a:p>
          <a:p>
            <a:endParaRPr lang="en-US" dirty="0"/>
          </a:p>
        </p:txBody>
      </p:sp>
    </p:spTree>
    <p:extLst>
      <p:ext uri="{BB962C8B-B14F-4D97-AF65-F5344CB8AC3E}">
        <p14:creationId xmlns:p14="http://schemas.microsoft.com/office/powerpoint/2010/main" val="149703838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229600" cy="6019800"/>
          </a:xfrm>
        </p:spPr>
        <p:txBody>
          <a:bodyPr>
            <a:normAutofit fontScale="70000" lnSpcReduction="20000"/>
          </a:bodyPr>
          <a:lstStyle/>
          <a:p>
            <a:pPr fontAlgn="base"/>
            <a:r>
              <a:rPr lang="en-US" b="1" dirty="0"/>
              <a:t>Jump Statements in Loop</a:t>
            </a:r>
          </a:p>
          <a:p>
            <a:pPr fontAlgn="base"/>
            <a:r>
              <a:rPr lang="en-US" dirty="0"/>
              <a:t>We use a jump statement in loops to terminate the loop at a particular iteration or to skip a particular iteration in the loop. The two most commonly used jump statements in loops are: </a:t>
            </a:r>
          </a:p>
          <a:p>
            <a:pPr fontAlgn="base"/>
            <a:r>
              <a:rPr lang="en-US" b="1" dirty="0"/>
              <a:t>Break Statement:</a:t>
            </a:r>
            <a:r>
              <a:rPr lang="en-US" dirty="0"/>
              <a:t> The break keyword is a jump statement that is used to terminate the loop at a particular iteration.</a:t>
            </a:r>
          </a:p>
          <a:p>
            <a:pPr fontAlgn="base"/>
            <a:r>
              <a:rPr lang="en-US" dirty="0"/>
              <a:t># R program to </a:t>
            </a:r>
            <a:r>
              <a:rPr lang="en-US" dirty="0" smtClean="0"/>
              <a:t>illustrate the </a:t>
            </a:r>
            <a:r>
              <a:rPr lang="en-US" dirty="0"/>
              <a:t>use of break statement</a:t>
            </a:r>
          </a:p>
          <a:p>
            <a:pPr marL="800100" lvl="2" indent="0" fontAlgn="base">
              <a:buNone/>
            </a:pPr>
            <a:r>
              <a:rPr lang="en-US" dirty="0" smtClean="0"/>
              <a:t># </a:t>
            </a:r>
            <a:r>
              <a:rPr lang="en-US" dirty="0"/>
              <a:t>using for </a:t>
            </a:r>
            <a:r>
              <a:rPr lang="en-US" dirty="0" smtClean="0"/>
              <a:t>loop  </a:t>
            </a:r>
            <a:r>
              <a:rPr lang="en-US" dirty="0"/>
              <a:t>to iterate over a sequence</a:t>
            </a:r>
          </a:p>
          <a:p>
            <a:pPr marL="800100" lvl="2" indent="0" fontAlgn="base">
              <a:buNone/>
            </a:pPr>
            <a:r>
              <a:rPr lang="en-US" dirty="0"/>
              <a:t>for (</a:t>
            </a:r>
            <a:r>
              <a:rPr lang="en-US" dirty="0" err="1"/>
              <a:t>val</a:t>
            </a:r>
            <a:r>
              <a:rPr lang="en-US" dirty="0"/>
              <a:t> in 1: 5)</a:t>
            </a:r>
          </a:p>
          <a:p>
            <a:pPr marL="800100" lvl="2" indent="0" fontAlgn="base">
              <a:buNone/>
            </a:pPr>
            <a:r>
              <a:rPr lang="en-US" dirty="0"/>
              <a:t>{</a:t>
            </a:r>
          </a:p>
          <a:p>
            <a:pPr marL="800100" lvl="2" indent="0" fontAlgn="base">
              <a:buNone/>
            </a:pPr>
            <a:r>
              <a:rPr lang="en-US" dirty="0"/>
              <a:t>    # checking condition</a:t>
            </a:r>
          </a:p>
          <a:p>
            <a:pPr marL="800100" lvl="2" indent="0" fontAlgn="base">
              <a:buNone/>
            </a:pPr>
            <a:r>
              <a:rPr lang="en-US" dirty="0"/>
              <a:t>    if (</a:t>
            </a:r>
            <a:r>
              <a:rPr lang="en-US" dirty="0" err="1"/>
              <a:t>val</a:t>
            </a:r>
            <a:r>
              <a:rPr lang="en-US" dirty="0"/>
              <a:t> == 3)</a:t>
            </a:r>
          </a:p>
          <a:p>
            <a:pPr marL="800100" lvl="2" indent="0" fontAlgn="base">
              <a:buNone/>
            </a:pPr>
            <a:r>
              <a:rPr lang="en-US" dirty="0"/>
              <a:t>    {</a:t>
            </a:r>
          </a:p>
          <a:p>
            <a:pPr marL="800100" lvl="2" indent="0" fontAlgn="base">
              <a:buNone/>
            </a:pPr>
            <a:r>
              <a:rPr lang="en-US" dirty="0"/>
              <a:t>        # using break keyword</a:t>
            </a:r>
          </a:p>
          <a:p>
            <a:pPr marL="800100" lvl="2" indent="0" fontAlgn="base">
              <a:buNone/>
            </a:pPr>
            <a:r>
              <a:rPr lang="en-US" dirty="0"/>
              <a:t>        break</a:t>
            </a:r>
          </a:p>
          <a:p>
            <a:pPr marL="800100" lvl="2" indent="0" fontAlgn="base">
              <a:buNone/>
            </a:pPr>
            <a:r>
              <a:rPr lang="en-US" dirty="0"/>
              <a:t>    }</a:t>
            </a:r>
          </a:p>
          <a:p>
            <a:pPr marL="800100" lvl="2" indent="0" fontAlgn="base">
              <a:buNone/>
            </a:pPr>
            <a:r>
              <a:rPr lang="en-US" dirty="0"/>
              <a:t> </a:t>
            </a:r>
          </a:p>
          <a:p>
            <a:pPr marL="800100" lvl="2" indent="0" fontAlgn="base">
              <a:buNone/>
            </a:pPr>
            <a:r>
              <a:rPr lang="en-US" dirty="0"/>
              <a:t>    # displaying items in the sequence</a:t>
            </a:r>
          </a:p>
          <a:p>
            <a:pPr marL="800100" lvl="2" indent="0" fontAlgn="base">
              <a:buNone/>
            </a:pPr>
            <a:r>
              <a:rPr lang="en-US" dirty="0"/>
              <a:t>    print(</a:t>
            </a:r>
            <a:r>
              <a:rPr lang="en-US" dirty="0" err="1"/>
              <a:t>val</a:t>
            </a:r>
            <a:r>
              <a:rPr lang="en-US" dirty="0"/>
              <a:t>)</a:t>
            </a:r>
          </a:p>
          <a:p>
            <a:pPr marL="800100" lvl="2" indent="0" fontAlgn="base">
              <a:buNone/>
            </a:pPr>
            <a:r>
              <a:rPr lang="en-US" dirty="0"/>
              <a:t>}</a:t>
            </a:r>
          </a:p>
          <a:p>
            <a:endParaRPr lang="en-US" dirty="0"/>
          </a:p>
        </p:txBody>
      </p:sp>
    </p:spTree>
    <p:extLst>
      <p:ext uri="{BB962C8B-B14F-4D97-AF65-F5344CB8AC3E}">
        <p14:creationId xmlns:p14="http://schemas.microsoft.com/office/powerpoint/2010/main" val="595810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324600"/>
          </a:xfrm>
        </p:spPr>
        <p:txBody>
          <a:bodyPr>
            <a:normAutofit fontScale="85000" lnSpcReduction="10000"/>
          </a:bodyPr>
          <a:lstStyle/>
          <a:p>
            <a:r>
              <a:rPr lang="en-US" b="1" dirty="0"/>
              <a:t>Next Statement:</a:t>
            </a:r>
            <a:r>
              <a:rPr lang="en-US" dirty="0"/>
              <a:t> The next keyword is a jump statement which is used to skip a particular iteration in the </a:t>
            </a:r>
            <a:r>
              <a:rPr lang="en-US" dirty="0" smtClean="0"/>
              <a:t>loop</a:t>
            </a:r>
          </a:p>
          <a:p>
            <a:pPr fontAlgn="base"/>
            <a:r>
              <a:rPr lang="en-US" dirty="0"/>
              <a:t># R program to </a:t>
            </a:r>
            <a:r>
              <a:rPr lang="en-US" dirty="0" smtClean="0"/>
              <a:t>illustrate the </a:t>
            </a:r>
            <a:r>
              <a:rPr lang="en-US" dirty="0"/>
              <a:t>use of next statement</a:t>
            </a:r>
          </a:p>
          <a:p>
            <a:pPr fontAlgn="base"/>
            <a:r>
              <a:rPr lang="en-US" dirty="0" smtClean="0"/>
              <a:t># </a:t>
            </a:r>
            <a:r>
              <a:rPr lang="en-US" dirty="0"/>
              <a:t>using for </a:t>
            </a:r>
            <a:r>
              <a:rPr lang="en-US" dirty="0" smtClean="0"/>
              <a:t>loop to </a:t>
            </a:r>
            <a:r>
              <a:rPr lang="en-US" dirty="0"/>
              <a:t>iterate over the sequence</a:t>
            </a:r>
          </a:p>
          <a:p>
            <a:pPr marL="800100" lvl="2" indent="0" fontAlgn="base">
              <a:buNone/>
            </a:pPr>
            <a:r>
              <a:rPr lang="en-US" dirty="0"/>
              <a:t>for (</a:t>
            </a:r>
            <a:r>
              <a:rPr lang="en-US" dirty="0" err="1"/>
              <a:t>val</a:t>
            </a:r>
            <a:r>
              <a:rPr lang="en-US" dirty="0"/>
              <a:t> in 1: 5)</a:t>
            </a:r>
          </a:p>
          <a:p>
            <a:pPr marL="800100" lvl="2" indent="0" fontAlgn="base">
              <a:buNone/>
            </a:pPr>
            <a:r>
              <a:rPr lang="en-US" dirty="0"/>
              <a:t>{</a:t>
            </a:r>
          </a:p>
          <a:p>
            <a:pPr marL="800100" lvl="2" indent="0" fontAlgn="base">
              <a:buNone/>
            </a:pPr>
            <a:r>
              <a:rPr lang="en-US" dirty="0"/>
              <a:t>    # checking condition</a:t>
            </a:r>
          </a:p>
          <a:p>
            <a:pPr marL="800100" lvl="2" indent="0" fontAlgn="base">
              <a:buNone/>
            </a:pPr>
            <a:r>
              <a:rPr lang="en-US" dirty="0"/>
              <a:t>    if (</a:t>
            </a:r>
            <a:r>
              <a:rPr lang="en-US" dirty="0" err="1"/>
              <a:t>val</a:t>
            </a:r>
            <a:r>
              <a:rPr lang="en-US" dirty="0"/>
              <a:t> == 3)</a:t>
            </a:r>
          </a:p>
          <a:p>
            <a:pPr marL="800100" lvl="2" indent="0" fontAlgn="base">
              <a:buNone/>
            </a:pPr>
            <a:r>
              <a:rPr lang="en-US" dirty="0"/>
              <a:t>    {</a:t>
            </a:r>
          </a:p>
          <a:p>
            <a:pPr marL="800100" lvl="2" indent="0" fontAlgn="base">
              <a:buNone/>
            </a:pPr>
            <a:r>
              <a:rPr lang="en-US" dirty="0"/>
              <a:t>        # using next keyword</a:t>
            </a:r>
          </a:p>
          <a:p>
            <a:pPr marL="800100" lvl="2" indent="0" fontAlgn="base">
              <a:buNone/>
            </a:pPr>
            <a:r>
              <a:rPr lang="en-US" dirty="0"/>
              <a:t>        next</a:t>
            </a:r>
          </a:p>
          <a:p>
            <a:pPr marL="800100" lvl="2" indent="0" fontAlgn="base">
              <a:buNone/>
            </a:pPr>
            <a:r>
              <a:rPr lang="en-US" dirty="0"/>
              <a:t>    }</a:t>
            </a:r>
          </a:p>
          <a:p>
            <a:pPr marL="800100" lvl="2" indent="0" fontAlgn="base">
              <a:buNone/>
            </a:pPr>
            <a:r>
              <a:rPr lang="en-US" dirty="0"/>
              <a:t> </a:t>
            </a:r>
          </a:p>
          <a:p>
            <a:pPr marL="800100" lvl="2" indent="0" fontAlgn="base">
              <a:buNone/>
            </a:pPr>
            <a:r>
              <a:rPr lang="en-US" dirty="0"/>
              <a:t>    # displaying items in the sequence</a:t>
            </a:r>
          </a:p>
          <a:p>
            <a:pPr marL="800100" lvl="2" indent="0" fontAlgn="base">
              <a:buNone/>
            </a:pPr>
            <a:r>
              <a:rPr lang="en-US" dirty="0"/>
              <a:t>    print(</a:t>
            </a:r>
            <a:r>
              <a:rPr lang="en-US" dirty="0" err="1"/>
              <a:t>val</a:t>
            </a:r>
            <a:r>
              <a:rPr lang="en-US" dirty="0"/>
              <a:t>)</a:t>
            </a:r>
          </a:p>
          <a:p>
            <a:pPr marL="800100" lvl="2" indent="0" fontAlgn="base">
              <a:buNone/>
            </a:pPr>
            <a:r>
              <a:rPr lang="en-US" dirty="0"/>
              <a:t>}</a:t>
            </a:r>
          </a:p>
          <a:p>
            <a:endParaRPr lang="en-US" dirty="0"/>
          </a:p>
        </p:txBody>
      </p:sp>
    </p:spTree>
    <p:extLst>
      <p:ext uri="{BB962C8B-B14F-4D97-AF65-F5344CB8AC3E}">
        <p14:creationId xmlns:p14="http://schemas.microsoft.com/office/powerpoint/2010/main" val="61937959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838200"/>
          </a:xfrm>
        </p:spPr>
        <p:txBody>
          <a:bodyPr/>
          <a:lstStyle/>
          <a:p>
            <a:r>
              <a:rPr lang="en-US" dirty="0" smtClean="0"/>
              <a:t>Data Reshaping</a:t>
            </a:r>
            <a:endParaRPr lang="en-US" dirty="0"/>
          </a:p>
        </p:txBody>
      </p:sp>
      <p:sp>
        <p:nvSpPr>
          <p:cNvPr id="3" name="Content Placeholder 2"/>
          <p:cNvSpPr>
            <a:spLocks noGrp="1"/>
          </p:cNvSpPr>
          <p:nvPr>
            <p:ph idx="1"/>
          </p:nvPr>
        </p:nvSpPr>
        <p:spPr>
          <a:xfrm>
            <a:off x="457200" y="1143000"/>
            <a:ext cx="8229600" cy="5486400"/>
          </a:xfrm>
        </p:spPr>
        <p:txBody>
          <a:bodyPr>
            <a:normAutofit fontScale="77500" lnSpcReduction="20000"/>
          </a:bodyPr>
          <a:lstStyle/>
          <a:p>
            <a:r>
              <a:rPr lang="en-US" dirty="0"/>
              <a:t>D</a:t>
            </a:r>
            <a:r>
              <a:rPr lang="en-US" dirty="0" smtClean="0"/>
              <a:t>ata </a:t>
            </a:r>
            <a:r>
              <a:rPr lang="en-US" dirty="0"/>
              <a:t>processing is done by taking data as an input from a data frame where the data is organized into rows and columns. </a:t>
            </a:r>
            <a:endParaRPr lang="en-US" dirty="0" smtClean="0"/>
          </a:p>
          <a:p>
            <a:r>
              <a:rPr lang="en-US" dirty="0" smtClean="0"/>
              <a:t>Data </a:t>
            </a:r>
            <a:r>
              <a:rPr lang="en-US" dirty="0"/>
              <a:t>frames are mostly used </a:t>
            </a:r>
            <a:r>
              <a:rPr lang="en-US" dirty="0" smtClean="0"/>
              <a:t>extracting </a:t>
            </a:r>
            <a:r>
              <a:rPr lang="en-US" dirty="0"/>
              <a:t>data is much simpler and hence easier. </a:t>
            </a:r>
            <a:endParaRPr lang="en-US" dirty="0" smtClean="0"/>
          </a:p>
          <a:p>
            <a:r>
              <a:rPr lang="en-US" dirty="0" smtClean="0"/>
              <a:t>But </a:t>
            </a:r>
            <a:r>
              <a:rPr lang="en-US" dirty="0"/>
              <a:t>sometimes we need to reshape the format of the data frame from the one we receive. </a:t>
            </a:r>
            <a:endParaRPr lang="en-US" dirty="0" smtClean="0"/>
          </a:p>
          <a:p>
            <a:r>
              <a:rPr lang="en-US" dirty="0" smtClean="0"/>
              <a:t>R </a:t>
            </a:r>
            <a:r>
              <a:rPr lang="en-US" dirty="0"/>
              <a:t>can split, merge and reshape the data frame using various functions</a:t>
            </a:r>
            <a:r>
              <a:rPr lang="en-US" dirty="0" smtClean="0"/>
              <a:t>.</a:t>
            </a:r>
          </a:p>
          <a:p>
            <a:pPr fontAlgn="base"/>
            <a:r>
              <a:rPr lang="en-US" b="1" dirty="0"/>
              <a:t>The various forms of reshaping data in a data frame are:</a:t>
            </a:r>
          </a:p>
          <a:p>
            <a:pPr lvl="1" fontAlgn="base"/>
            <a:r>
              <a:rPr lang="en-US" dirty="0"/>
              <a:t>Transpose of a Matrix</a:t>
            </a:r>
          </a:p>
          <a:p>
            <a:pPr lvl="1" fontAlgn="base"/>
            <a:r>
              <a:rPr lang="en-US" dirty="0"/>
              <a:t>Joining Rows and Columns</a:t>
            </a:r>
          </a:p>
          <a:p>
            <a:pPr lvl="1" fontAlgn="base"/>
            <a:r>
              <a:rPr lang="en-US" dirty="0"/>
              <a:t>Merging of Data Frames</a:t>
            </a:r>
          </a:p>
          <a:p>
            <a:pPr lvl="1" fontAlgn="base"/>
            <a:r>
              <a:rPr lang="en-US" dirty="0"/>
              <a:t>Melting and Casting</a:t>
            </a:r>
          </a:p>
          <a:p>
            <a:endParaRPr lang="en-US" dirty="0"/>
          </a:p>
        </p:txBody>
      </p:sp>
    </p:spTree>
    <p:extLst>
      <p:ext uri="{BB962C8B-B14F-4D97-AF65-F5344CB8AC3E}">
        <p14:creationId xmlns:p14="http://schemas.microsoft.com/office/powerpoint/2010/main" val="71251700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4525963"/>
          </a:xfrm>
        </p:spPr>
        <p:txBody>
          <a:bodyPr/>
          <a:lstStyle/>
          <a:p>
            <a:pPr fontAlgn="base"/>
            <a:r>
              <a:rPr lang="en-US" b="1" dirty="0" smtClean="0"/>
              <a:t>Transpose </a:t>
            </a:r>
            <a:r>
              <a:rPr lang="en-US" b="1" dirty="0"/>
              <a:t>of a Matrix</a:t>
            </a:r>
          </a:p>
          <a:p>
            <a:pPr fontAlgn="base"/>
            <a:r>
              <a:rPr lang="en-US" dirty="0"/>
              <a:t>We can easily calculate the transpose of a matrix in R language with the help of t() function. The t() function takes a matrix or data frame as an input and gives the transpose of that matrix or data frame as it’s output.</a:t>
            </a:r>
          </a:p>
          <a:p>
            <a:pPr fontAlgn="base"/>
            <a:r>
              <a:rPr lang="en-US" b="1" dirty="0"/>
              <a:t>Syntax:</a:t>
            </a:r>
            <a:r>
              <a:rPr lang="en-US" dirty="0"/>
              <a:t> </a:t>
            </a:r>
          </a:p>
          <a:p>
            <a:pPr lvl="1"/>
            <a:r>
              <a:rPr lang="en-US" dirty="0"/>
              <a:t>t(Matrix/ Data frame)</a:t>
            </a:r>
          </a:p>
        </p:txBody>
      </p:sp>
    </p:spTree>
    <p:extLst>
      <p:ext uri="{BB962C8B-B14F-4D97-AF65-F5344CB8AC3E}">
        <p14:creationId xmlns:p14="http://schemas.microsoft.com/office/powerpoint/2010/main" val="14853068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229600" cy="5943600"/>
          </a:xfrm>
        </p:spPr>
        <p:txBody>
          <a:bodyPr>
            <a:normAutofit fontScale="62500" lnSpcReduction="20000"/>
          </a:bodyPr>
          <a:lstStyle/>
          <a:p>
            <a:pPr fontAlgn="base"/>
            <a:r>
              <a:rPr lang="en-US" dirty="0"/>
              <a:t># R program to find the transpose of a matrix</a:t>
            </a:r>
          </a:p>
          <a:p>
            <a:pPr marL="0" indent="0" fontAlgn="base">
              <a:buNone/>
            </a:pPr>
            <a:endParaRPr lang="en-US" dirty="0"/>
          </a:p>
          <a:p>
            <a:pPr marL="0" indent="0" fontAlgn="base">
              <a:buNone/>
            </a:pPr>
            <a:r>
              <a:rPr lang="en-US" dirty="0"/>
              <a:t>first &lt;- matrix(c(1:12), </a:t>
            </a:r>
            <a:r>
              <a:rPr lang="en-US" dirty="0" err="1"/>
              <a:t>nrow</a:t>
            </a:r>
            <a:r>
              <a:rPr lang="en-US" dirty="0"/>
              <a:t>=4, </a:t>
            </a:r>
            <a:r>
              <a:rPr lang="en-US" dirty="0" err="1"/>
              <a:t>byrow</a:t>
            </a:r>
            <a:r>
              <a:rPr lang="en-US" dirty="0"/>
              <a:t>=TRUE)</a:t>
            </a:r>
          </a:p>
          <a:p>
            <a:pPr marL="0" indent="0" fontAlgn="base">
              <a:buNone/>
            </a:pPr>
            <a:r>
              <a:rPr lang="en-US" dirty="0"/>
              <a:t>print("Original Matrix")</a:t>
            </a:r>
          </a:p>
          <a:p>
            <a:pPr marL="0" indent="0" fontAlgn="base">
              <a:buNone/>
            </a:pPr>
            <a:r>
              <a:rPr lang="en-US" dirty="0"/>
              <a:t>first</a:t>
            </a:r>
          </a:p>
          <a:p>
            <a:pPr marL="0" indent="0" fontAlgn="base">
              <a:buNone/>
            </a:pPr>
            <a:r>
              <a:rPr lang="en-US" dirty="0"/>
              <a:t> </a:t>
            </a:r>
          </a:p>
          <a:p>
            <a:pPr marL="0" indent="0" fontAlgn="base">
              <a:buNone/>
            </a:pPr>
            <a:r>
              <a:rPr lang="en-US" dirty="0"/>
              <a:t>first &lt;- t(first)</a:t>
            </a:r>
          </a:p>
          <a:p>
            <a:pPr marL="0" indent="0" fontAlgn="base">
              <a:buNone/>
            </a:pPr>
            <a:r>
              <a:rPr lang="en-US" dirty="0"/>
              <a:t>print("Transpose of the Matrix")</a:t>
            </a:r>
          </a:p>
          <a:p>
            <a:pPr marL="0" indent="0" fontAlgn="base">
              <a:buNone/>
            </a:pPr>
            <a:r>
              <a:rPr lang="en-US" dirty="0"/>
              <a:t>first</a:t>
            </a:r>
          </a:p>
          <a:p>
            <a:pPr fontAlgn="base"/>
            <a:r>
              <a:rPr lang="en-US" b="1" dirty="0"/>
              <a:t>Output:</a:t>
            </a:r>
            <a:endParaRPr lang="en-US" dirty="0"/>
          </a:p>
          <a:p>
            <a:r>
              <a:rPr lang="en-US" dirty="0"/>
              <a:t>[1] "Original </a:t>
            </a:r>
            <a:r>
              <a:rPr lang="en-US" dirty="0" smtClean="0"/>
              <a:t>Matrix“</a:t>
            </a:r>
          </a:p>
          <a:p>
            <a:pPr marL="457200" lvl="1" indent="0">
              <a:buNone/>
            </a:pPr>
            <a:r>
              <a:rPr lang="en-US" dirty="0"/>
              <a:t> </a:t>
            </a:r>
            <a:r>
              <a:rPr lang="en-US" dirty="0" smtClean="0"/>
              <a:t>  </a:t>
            </a:r>
            <a:r>
              <a:rPr lang="en-US" dirty="0"/>
              <a:t>[,1] [,2] [,3</a:t>
            </a:r>
            <a:r>
              <a:rPr lang="en-US" dirty="0" smtClean="0"/>
              <a:t>]</a:t>
            </a:r>
          </a:p>
          <a:p>
            <a:r>
              <a:rPr lang="en-US" dirty="0" smtClean="0"/>
              <a:t> </a:t>
            </a:r>
            <a:r>
              <a:rPr lang="en-US" dirty="0"/>
              <a:t>[1,] 1 2 </a:t>
            </a:r>
            <a:r>
              <a:rPr lang="en-US" dirty="0" smtClean="0"/>
              <a:t>3</a:t>
            </a:r>
          </a:p>
          <a:p>
            <a:r>
              <a:rPr lang="en-US" dirty="0" smtClean="0"/>
              <a:t> </a:t>
            </a:r>
            <a:r>
              <a:rPr lang="en-US" dirty="0"/>
              <a:t>[2,] 4 5 </a:t>
            </a:r>
            <a:r>
              <a:rPr lang="en-US" dirty="0" smtClean="0"/>
              <a:t>6</a:t>
            </a:r>
          </a:p>
          <a:p>
            <a:r>
              <a:rPr lang="en-US" dirty="0" smtClean="0"/>
              <a:t> </a:t>
            </a:r>
            <a:r>
              <a:rPr lang="en-US" dirty="0"/>
              <a:t>[3,] 7 8 9 </a:t>
            </a:r>
            <a:endParaRPr lang="en-US" dirty="0" smtClean="0"/>
          </a:p>
          <a:p>
            <a:r>
              <a:rPr lang="en-US" dirty="0" smtClean="0"/>
              <a:t>[</a:t>
            </a:r>
            <a:r>
              <a:rPr lang="en-US" dirty="0"/>
              <a:t>4,] 10 11 12 </a:t>
            </a:r>
            <a:endParaRPr lang="en-US" dirty="0" smtClean="0"/>
          </a:p>
          <a:p>
            <a:r>
              <a:rPr lang="en-US" dirty="0" smtClean="0"/>
              <a:t>[</a:t>
            </a:r>
            <a:r>
              <a:rPr lang="en-US" dirty="0"/>
              <a:t>1] </a:t>
            </a:r>
            <a:r>
              <a:rPr lang="en-US" dirty="0" smtClean="0"/>
              <a:t>"</a:t>
            </a:r>
            <a:r>
              <a:rPr lang="en-US" dirty="0"/>
              <a:t>Transpose of the Matrix" [,1] [,2] [,3] [,4] [1,] 1 4 7 10 [2,] 2 5 8 11 [3,] 3 6 9 12 </a:t>
            </a:r>
          </a:p>
        </p:txBody>
      </p:sp>
    </p:spTree>
    <p:extLst>
      <p:ext uri="{BB962C8B-B14F-4D97-AF65-F5344CB8AC3E}">
        <p14:creationId xmlns:p14="http://schemas.microsoft.com/office/powerpoint/2010/main" val="206698356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763000" cy="5745163"/>
          </a:xfrm>
        </p:spPr>
        <p:txBody>
          <a:bodyPr>
            <a:normAutofit fontScale="92500" lnSpcReduction="20000"/>
          </a:bodyPr>
          <a:lstStyle/>
          <a:p>
            <a:pPr fontAlgn="base"/>
            <a:r>
              <a:rPr lang="en-US" b="1" dirty="0"/>
              <a:t>Joining Rows and Columns in Data Frame</a:t>
            </a:r>
          </a:p>
          <a:p>
            <a:pPr fontAlgn="base"/>
            <a:r>
              <a:rPr lang="en-US" dirty="0"/>
              <a:t>In R, we can join two vectors or merge two data frames using functions. There are basically two functions that perform these tasks:</a:t>
            </a:r>
          </a:p>
          <a:p>
            <a:pPr fontAlgn="base"/>
            <a:r>
              <a:rPr lang="en-US" b="1" dirty="0" err="1"/>
              <a:t>cbind</a:t>
            </a:r>
            <a:r>
              <a:rPr lang="en-US" b="1" dirty="0"/>
              <a:t>():</a:t>
            </a:r>
          </a:p>
          <a:p>
            <a:pPr lvl="1" fontAlgn="base"/>
            <a:r>
              <a:rPr lang="en-US" dirty="0"/>
              <a:t>We can combine vectors, matrix or data frames by columns using </a:t>
            </a:r>
            <a:r>
              <a:rPr lang="en-US" b="1" dirty="0" err="1"/>
              <a:t>cbind</a:t>
            </a:r>
            <a:r>
              <a:rPr lang="en-US" b="1" dirty="0"/>
              <a:t>()</a:t>
            </a:r>
            <a:r>
              <a:rPr lang="en-US" dirty="0"/>
              <a:t> function.</a:t>
            </a:r>
          </a:p>
          <a:p>
            <a:pPr fontAlgn="base"/>
            <a:r>
              <a:rPr lang="en-US" b="1" dirty="0"/>
              <a:t>Syntax:</a:t>
            </a:r>
            <a:r>
              <a:rPr lang="en-US" dirty="0"/>
              <a:t> </a:t>
            </a:r>
            <a:r>
              <a:rPr lang="en-US" dirty="0" err="1"/>
              <a:t>cbind</a:t>
            </a:r>
            <a:r>
              <a:rPr lang="en-US" dirty="0"/>
              <a:t>(x1, x2, x3)</a:t>
            </a:r>
          </a:p>
          <a:p>
            <a:pPr lvl="1" fontAlgn="base"/>
            <a:r>
              <a:rPr lang="en-US" dirty="0"/>
              <a:t>where x1, x2 and x3 can be vectors or matrices or data frames. </a:t>
            </a:r>
          </a:p>
          <a:p>
            <a:pPr fontAlgn="base"/>
            <a:r>
              <a:rPr lang="en-US" b="1" dirty="0" err="1"/>
              <a:t>rbind</a:t>
            </a:r>
            <a:r>
              <a:rPr lang="en-US" b="1" dirty="0"/>
              <a:t>():</a:t>
            </a:r>
          </a:p>
          <a:p>
            <a:pPr lvl="1" fontAlgn="base"/>
            <a:r>
              <a:rPr lang="en-US" dirty="0"/>
              <a:t>We can combine vectors, matrix or data frames by rows using </a:t>
            </a:r>
            <a:r>
              <a:rPr lang="en-US" b="1" dirty="0" err="1"/>
              <a:t>rbind</a:t>
            </a:r>
            <a:r>
              <a:rPr lang="en-US" b="1" dirty="0"/>
              <a:t>()</a:t>
            </a:r>
            <a:r>
              <a:rPr lang="en-US" dirty="0"/>
              <a:t> function.</a:t>
            </a:r>
          </a:p>
          <a:p>
            <a:pPr fontAlgn="base"/>
            <a:r>
              <a:rPr lang="en-US" b="1" dirty="0"/>
              <a:t>Syntax:</a:t>
            </a:r>
            <a:r>
              <a:rPr lang="en-US" dirty="0"/>
              <a:t> </a:t>
            </a:r>
            <a:r>
              <a:rPr lang="en-US" dirty="0" err="1"/>
              <a:t>rbind</a:t>
            </a:r>
            <a:r>
              <a:rPr lang="en-US" dirty="0"/>
              <a:t>(x1, x2, x3)</a:t>
            </a:r>
          </a:p>
          <a:p>
            <a:endParaRPr lang="en-US" dirty="0"/>
          </a:p>
        </p:txBody>
      </p:sp>
    </p:spTree>
    <p:extLst>
      <p:ext uri="{BB962C8B-B14F-4D97-AF65-F5344CB8AC3E}">
        <p14:creationId xmlns:p14="http://schemas.microsoft.com/office/powerpoint/2010/main" val="186938358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62500" lnSpcReduction="20000"/>
          </a:bodyPr>
          <a:lstStyle/>
          <a:p>
            <a:pPr fontAlgn="base"/>
            <a:r>
              <a:rPr lang="en-US" b="1" dirty="0"/>
              <a:t># </a:t>
            </a:r>
            <a:r>
              <a:rPr lang="en-US" b="1" dirty="0" err="1"/>
              <a:t>Cbind</a:t>
            </a:r>
            <a:r>
              <a:rPr lang="en-US" b="1" dirty="0"/>
              <a:t> and </a:t>
            </a:r>
            <a:r>
              <a:rPr lang="en-US" b="1" dirty="0" err="1"/>
              <a:t>Rbind</a:t>
            </a:r>
            <a:r>
              <a:rPr lang="en-US" b="1" dirty="0"/>
              <a:t> function in R</a:t>
            </a:r>
          </a:p>
          <a:p>
            <a:pPr marL="457200" lvl="1" indent="0" fontAlgn="base">
              <a:buNone/>
            </a:pPr>
            <a:r>
              <a:rPr lang="en-US" dirty="0"/>
              <a:t>name &lt;- c("</a:t>
            </a:r>
            <a:r>
              <a:rPr lang="en-US" dirty="0" err="1"/>
              <a:t>Shaoni</a:t>
            </a:r>
            <a:r>
              <a:rPr lang="en-US" dirty="0"/>
              <a:t>", "</a:t>
            </a:r>
            <a:r>
              <a:rPr lang="en-US" dirty="0" err="1"/>
              <a:t>esha</a:t>
            </a:r>
            <a:r>
              <a:rPr lang="en-US" dirty="0"/>
              <a:t>", "</a:t>
            </a:r>
            <a:r>
              <a:rPr lang="en-US" dirty="0" err="1"/>
              <a:t>soumitra</a:t>
            </a:r>
            <a:r>
              <a:rPr lang="en-US" dirty="0"/>
              <a:t>", "</a:t>
            </a:r>
            <a:r>
              <a:rPr lang="en-US" dirty="0" err="1"/>
              <a:t>soumi</a:t>
            </a:r>
            <a:r>
              <a:rPr lang="en-US" dirty="0"/>
              <a:t>")</a:t>
            </a:r>
          </a:p>
          <a:p>
            <a:pPr marL="457200" lvl="1" indent="0" fontAlgn="base">
              <a:buNone/>
            </a:pPr>
            <a:r>
              <a:rPr lang="en-US" dirty="0"/>
              <a:t>age &lt;- c(24, 53, 62, 29)</a:t>
            </a:r>
          </a:p>
          <a:p>
            <a:pPr marL="457200" lvl="1" indent="0" fontAlgn="base">
              <a:buNone/>
            </a:pPr>
            <a:r>
              <a:rPr lang="en-US" dirty="0"/>
              <a:t>address &lt;- c("</a:t>
            </a:r>
            <a:r>
              <a:rPr lang="en-US" dirty="0" err="1"/>
              <a:t>puducherry</a:t>
            </a:r>
            <a:r>
              <a:rPr lang="en-US" dirty="0"/>
              <a:t>", "</a:t>
            </a:r>
            <a:r>
              <a:rPr lang="en-US" dirty="0" err="1"/>
              <a:t>kolkata</a:t>
            </a:r>
            <a:r>
              <a:rPr lang="en-US" dirty="0"/>
              <a:t>", "</a:t>
            </a:r>
            <a:r>
              <a:rPr lang="en-US" dirty="0" err="1"/>
              <a:t>delhi</a:t>
            </a:r>
            <a:r>
              <a:rPr lang="en-US" dirty="0"/>
              <a:t>", "</a:t>
            </a:r>
            <a:r>
              <a:rPr lang="en-US" dirty="0" err="1"/>
              <a:t>bangalore</a:t>
            </a:r>
            <a:r>
              <a:rPr lang="en-US" dirty="0"/>
              <a:t>")</a:t>
            </a:r>
          </a:p>
          <a:p>
            <a:pPr marL="0" indent="0" fontAlgn="base">
              <a:buNone/>
            </a:pPr>
            <a:r>
              <a:rPr lang="en-US" dirty="0"/>
              <a:t> </a:t>
            </a:r>
          </a:p>
          <a:p>
            <a:pPr fontAlgn="base"/>
            <a:r>
              <a:rPr lang="en-US" b="1" i="1" dirty="0"/>
              <a:t># </a:t>
            </a:r>
            <a:r>
              <a:rPr lang="en-US" b="1" i="1" dirty="0" err="1"/>
              <a:t>Cbind</a:t>
            </a:r>
            <a:r>
              <a:rPr lang="en-US" b="1" i="1" dirty="0"/>
              <a:t> function</a:t>
            </a:r>
          </a:p>
          <a:p>
            <a:pPr marL="400050" lvl="1" indent="0" fontAlgn="base">
              <a:buNone/>
            </a:pPr>
            <a:r>
              <a:rPr lang="en-US" dirty="0"/>
              <a:t>info &lt;- </a:t>
            </a:r>
            <a:r>
              <a:rPr lang="en-US" dirty="0" err="1"/>
              <a:t>cbind</a:t>
            </a:r>
            <a:r>
              <a:rPr lang="en-US" dirty="0"/>
              <a:t>(name, age, address)</a:t>
            </a:r>
          </a:p>
          <a:p>
            <a:pPr marL="400050" lvl="1" indent="0" fontAlgn="base">
              <a:buNone/>
            </a:pPr>
            <a:r>
              <a:rPr lang="en-US" dirty="0"/>
              <a:t>print("Combining vectors into data frame using </a:t>
            </a:r>
            <a:r>
              <a:rPr lang="en-US" dirty="0" err="1"/>
              <a:t>cbind</a:t>
            </a:r>
            <a:r>
              <a:rPr lang="en-US" dirty="0"/>
              <a:t> ")</a:t>
            </a:r>
          </a:p>
          <a:p>
            <a:pPr marL="400050" lvl="1" indent="0" fontAlgn="base">
              <a:buNone/>
            </a:pPr>
            <a:r>
              <a:rPr lang="en-US" dirty="0"/>
              <a:t>print(info)</a:t>
            </a:r>
          </a:p>
          <a:p>
            <a:pPr marL="0" indent="0" fontAlgn="base">
              <a:buNone/>
            </a:pPr>
            <a:r>
              <a:rPr lang="en-US" dirty="0"/>
              <a:t> </a:t>
            </a:r>
          </a:p>
          <a:p>
            <a:pPr fontAlgn="base"/>
            <a:r>
              <a:rPr lang="en-US" b="1" dirty="0"/>
              <a:t># creating new data frame</a:t>
            </a:r>
          </a:p>
          <a:p>
            <a:pPr marL="400050" lvl="1" indent="0" fontAlgn="base">
              <a:buNone/>
            </a:pPr>
            <a:r>
              <a:rPr lang="en-US" dirty="0" err="1"/>
              <a:t>newd</a:t>
            </a:r>
            <a:r>
              <a:rPr lang="en-US" dirty="0"/>
              <a:t> &lt;- </a:t>
            </a:r>
            <a:r>
              <a:rPr lang="en-US" dirty="0" err="1"/>
              <a:t>data.frame</a:t>
            </a:r>
            <a:r>
              <a:rPr lang="en-US" dirty="0"/>
              <a:t>(name=c("</a:t>
            </a:r>
            <a:r>
              <a:rPr lang="en-US" dirty="0" err="1"/>
              <a:t>sounak</a:t>
            </a:r>
            <a:r>
              <a:rPr lang="en-US" dirty="0"/>
              <a:t>", "</a:t>
            </a:r>
            <a:r>
              <a:rPr lang="en-US" dirty="0" err="1"/>
              <a:t>bhabani</a:t>
            </a:r>
            <a:r>
              <a:rPr lang="en-US" dirty="0"/>
              <a:t>"),</a:t>
            </a:r>
          </a:p>
          <a:p>
            <a:pPr marL="400050" lvl="1" indent="0" fontAlgn="base">
              <a:buNone/>
            </a:pPr>
            <a:r>
              <a:rPr lang="en-US" dirty="0"/>
              <a:t>                   age=c("28", "87"),</a:t>
            </a:r>
          </a:p>
          <a:p>
            <a:pPr marL="400050" lvl="1" indent="0" fontAlgn="base">
              <a:buNone/>
            </a:pPr>
            <a:r>
              <a:rPr lang="en-US" dirty="0"/>
              <a:t>                   address=c("</a:t>
            </a:r>
            <a:r>
              <a:rPr lang="en-US" dirty="0" err="1"/>
              <a:t>bangalore</a:t>
            </a:r>
            <a:r>
              <a:rPr lang="en-US" dirty="0"/>
              <a:t>", "</a:t>
            </a:r>
            <a:r>
              <a:rPr lang="en-US" dirty="0" err="1"/>
              <a:t>kolkata</a:t>
            </a:r>
            <a:r>
              <a:rPr lang="en-US" dirty="0"/>
              <a:t>"))</a:t>
            </a:r>
          </a:p>
          <a:p>
            <a:pPr marL="400050" lvl="1" indent="0" fontAlgn="base">
              <a:buNone/>
            </a:pPr>
            <a:r>
              <a:rPr lang="en-US" dirty="0"/>
              <a:t> </a:t>
            </a:r>
          </a:p>
          <a:p>
            <a:pPr fontAlgn="base"/>
            <a:r>
              <a:rPr lang="en-US" b="1" dirty="0"/>
              <a:t># </a:t>
            </a:r>
            <a:r>
              <a:rPr lang="en-US" b="1" dirty="0" err="1"/>
              <a:t>Rbind</a:t>
            </a:r>
            <a:r>
              <a:rPr lang="en-US" b="1" dirty="0"/>
              <a:t> function</a:t>
            </a:r>
          </a:p>
          <a:p>
            <a:pPr marL="400050" lvl="1" indent="0" fontAlgn="base">
              <a:buNone/>
            </a:pPr>
            <a:r>
              <a:rPr lang="en-US" dirty="0"/>
              <a:t>new.info &lt;- </a:t>
            </a:r>
            <a:r>
              <a:rPr lang="en-US" dirty="0" err="1"/>
              <a:t>rbind</a:t>
            </a:r>
            <a:r>
              <a:rPr lang="en-US" dirty="0"/>
              <a:t>(info, </a:t>
            </a:r>
            <a:r>
              <a:rPr lang="en-US" dirty="0" err="1"/>
              <a:t>newd</a:t>
            </a:r>
            <a:r>
              <a:rPr lang="en-US" dirty="0"/>
              <a:t>)</a:t>
            </a:r>
          </a:p>
          <a:p>
            <a:pPr marL="400050" lvl="1" indent="0" fontAlgn="base">
              <a:buNone/>
            </a:pPr>
            <a:r>
              <a:rPr lang="en-US" dirty="0"/>
              <a:t>print("Combining data frames using </a:t>
            </a:r>
            <a:r>
              <a:rPr lang="en-US" dirty="0" err="1"/>
              <a:t>rbind</a:t>
            </a:r>
            <a:r>
              <a:rPr lang="en-US" dirty="0"/>
              <a:t> ")</a:t>
            </a:r>
          </a:p>
          <a:p>
            <a:pPr marL="400050" lvl="1" indent="0" fontAlgn="base">
              <a:buNone/>
            </a:pPr>
            <a:r>
              <a:rPr lang="en-US" dirty="0"/>
              <a:t>print(new.info)</a:t>
            </a:r>
          </a:p>
          <a:p>
            <a:pPr marL="400050" lvl="1" indent="0">
              <a:buNone/>
            </a:pPr>
            <a:endParaRPr lang="en-US" dirty="0"/>
          </a:p>
        </p:txBody>
      </p:sp>
    </p:spTree>
    <p:extLst>
      <p:ext uri="{BB962C8B-B14F-4D97-AF65-F5344CB8AC3E}">
        <p14:creationId xmlns:p14="http://schemas.microsoft.com/office/powerpoint/2010/main" val="192235003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763000" cy="6324600"/>
          </a:xfrm>
        </p:spPr>
        <p:txBody>
          <a:bodyPr>
            <a:normAutofit fontScale="92500" lnSpcReduction="20000"/>
          </a:bodyPr>
          <a:lstStyle/>
          <a:p>
            <a:pPr fontAlgn="base"/>
            <a:r>
              <a:rPr lang="en-US" b="1" dirty="0"/>
              <a:t>Merging two Data Frames</a:t>
            </a:r>
          </a:p>
          <a:p>
            <a:pPr fontAlgn="base"/>
            <a:r>
              <a:rPr lang="en-US" dirty="0"/>
              <a:t>In R, we can merge two data frames using the </a:t>
            </a:r>
            <a:r>
              <a:rPr lang="en-US" b="1" dirty="0"/>
              <a:t>merge()</a:t>
            </a:r>
            <a:r>
              <a:rPr lang="en-US" dirty="0"/>
              <a:t> function provided both the data frames should have the same column names. We may merge the two data frames based on a key value.</a:t>
            </a:r>
          </a:p>
          <a:p>
            <a:pPr fontAlgn="base"/>
            <a:r>
              <a:rPr lang="en-US" b="1" dirty="0"/>
              <a:t>Syntax:</a:t>
            </a:r>
            <a:r>
              <a:rPr lang="en-US" dirty="0"/>
              <a:t> merge(</a:t>
            </a:r>
            <a:r>
              <a:rPr lang="en-US" dirty="0" err="1"/>
              <a:t>dfA</a:t>
            </a:r>
            <a:r>
              <a:rPr lang="en-US" dirty="0"/>
              <a:t>, </a:t>
            </a:r>
            <a:r>
              <a:rPr lang="en-US" dirty="0" err="1"/>
              <a:t>dfB</a:t>
            </a:r>
            <a:r>
              <a:rPr lang="en-US" dirty="0"/>
              <a:t>, </a:t>
            </a:r>
            <a:r>
              <a:rPr lang="en-US" dirty="0" smtClean="0"/>
              <a:t>…)</a:t>
            </a:r>
          </a:p>
          <a:p>
            <a:pPr fontAlgn="base"/>
            <a:r>
              <a:rPr lang="en-US" dirty="0"/>
              <a:t># Merging two data frames in R</a:t>
            </a:r>
          </a:p>
          <a:p>
            <a:pPr marL="400050" lvl="1" indent="0" fontAlgn="base">
              <a:buNone/>
            </a:pPr>
            <a:r>
              <a:rPr lang="en-US" dirty="0"/>
              <a:t>d1 &lt;- </a:t>
            </a:r>
            <a:r>
              <a:rPr lang="en-US" dirty="0" err="1"/>
              <a:t>data.frame</a:t>
            </a:r>
            <a:r>
              <a:rPr lang="en-US" dirty="0"/>
              <a:t>(name=c("</a:t>
            </a:r>
            <a:r>
              <a:rPr lang="en-US" dirty="0" err="1"/>
              <a:t>shaoni</a:t>
            </a:r>
            <a:r>
              <a:rPr lang="en-US" dirty="0"/>
              <a:t>", "</a:t>
            </a:r>
            <a:r>
              <a:rPr lang="en-US" dirty="0" err="1"/>
              <a:t>soumi</a:t>
            </a:r>
            <a:r>
              <a:rPr lang="en-US" dirty="0"/>
              <a:t>", "</a:t>
            </a:r>
            <a:r>
              <a:rPr lang="en-US" dirty="0" err="1"/>
              <a:t>arjun</a:t>
            </a:r>
            <a:r>
              <a:rPr lang="en-US" dirty="0"/>
              <a:t>"),</a:t>
            </a:r>
          </a:p>
          <a:p>
            <a:pPr marL="400050" lvl="1" indent="0" fontAlgn="base">
              <a:buNone/>
            </a:pPr>
            <a:r>
              <a:rPr lang="en-US" dirty="0"/>
              <a:t>                 ID=c("111", "112", "113"))</a:t>
            </a:r>
          </a:p>
          <a:p>
            <a:pPr marL="400050" lvl="1" indent="0" fontAlgn="base">
              <a:buNone/>
            </a:pPr>
            <a:r>
              <a:rPr lang="en-US" dirty="0"/>
              <a:t> </a:t>
            </a:r>
          </a:p>
          <a:p>
            <a:pPr marL="400050" lvl="1" indent="0" fontAlgn="base">
              <a:buNone/>
            </a:pPr>
            <a:r>
              <a:rPr lang="en-US" dirty="0"/>
              <a:t>d2 &lt;- </a:t>
            </a:r>
            <a:r>
              <a:rPr lang="en-US" dirty="0" err="1"/>
              <a:t>data.frame</a:t>
            </a:r>
            <a:r>
              <a:rPr lang="en-US" dirty="0"/>
              <a:t>(name=c("</a:t>
            </a:r>
            <a:r>
              <a:rPr lang="en-US" dirty="0" err="1"/>
              <a:t>sounak</a:t>
            </a:r>
            <a:r>
              <a:rPr lang="en-US" dirty="0"/>
              <a:t>", "</a:t>
            </a:r>
            <a:r>
              <a:rPr lang="en-US" dirty="0" err="1"/>
              <a:t>esha</a:t>
            </a:r>
            <a:r>
              <a:rPr lang="en-US" dirty="0"/>
              <a:t>"),</a:t>
            </a:r>
          </a:p>
          <a:p>
            <a:pPr marL="400050" lvl="1" indent="0" fontAlgn="base">
              <a:buNone/>
            </a:pPr>
            <a:r>
              <a:rPr lang="en-US" dirty="0"/>
              <a:t>                 ID=c("114", "115"))</a:t>
            </a:r>
          </a:p>
          <a:p>
            <a:pPr marL="400050" lvl="1" indent="0" fontAlgn="base">
              <a:buNone/>
            </a:pPr>
            <a:r>
              <a:rPr lang="en-US" dirty="0"/>
              <a:t> </a:t>
            </a:r>
          </a:p>
          <a:p>
            <a:pPr marL="400050" lvl="1" indent="0" fontAlgn="base">
              <a:buNone/>
            </a:pPr>
            <a:r>
              <a:rPr lang="en-US" dirty="0"/>
              <a:t>total &lt;- merge(d1, d2, all=TRUE)</a:t>
            </a:r>
          </a:p>
          <a:p>
            <a:pPr marL="400050" lvl="1" indent="0" fontAlgn="base">
              <a:buNone/>
            </a:pPr>
            <a:r>
              <a:rPr lang="en-US" dirty="0"/>
              <a:t>print(total)</a:t>
            </a:r>
          </a:p>
          <a:p>
            <a:endParaRPr lang="en-US" dirty="0"/>
          </a:p>
        </p:txBody>
      </p:sp>
    </p:spTree>
    <p:extLst>
      <p:ext uri="{BB962C8B-B14F-4D97-AF65-F5344CB8AC3E}">
        <p14:creationId xmlns:p14="http://schemas.microsoft.com/office/powerpoint/2010/main" val="78986836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248400"/>
          </a:xfrm>
        </p:spPr>
        <p:txBody>
          <a:bodyPr>
            <a:normAutofit fontScale="70000" lnSpcReduction="20000"/>
          </a:bodyPr>
          <a:lstStyle/>
          <a:p>
            <a:pPr fontAlgn="base"/>
            <a:r>
              <a:rPr lang="en-US" b="1" dirty="0"/>
              <a:t>Melting and Casting</a:t>
            </a:r>
          </a:p>
          <a:p>
            <a:pPr lvl="1" fontAlgn="base"/>
            <a:r>
              <a:rPr lang="en-US" dirty="0"/>
              <a:t>Data reshaping involves many steps in order to obtain desired or required format. One of the popular methods is melting the data which converts each row into a unique id-variable combination and then casting it. The two functions used for this process:</a:t>
            </a:r>
          </a:p>
          <a:p>
            <a:pPr fontAlgn="base"/>
            <a:r>
              <a:rPr lang="en-US" b="1" dirty="0"/>
              <a:t>melt():</a:t>
            </a:r>
          </a:p>
          <a:p>
            <a:pPr marL="0" indent="0" fontAlgn="base">
              <a:buNone/>
            </a:pPr>
            <a:r>
              <a:rPr lang="en-US" dirty="0"/>
              <a:t> </a:t>
            </a:r>
            <a:r>
              <a:rPr lang="en-US" dirty="0" smtClean="0"/>
              <a:t>	It </a:t>
            </a:r>
            <a:r>
              <a:rPr lang="en-US" dirty="0"/>
              <a:t>is used to convert a data frame into a molten data frame.</a:t>
            </a:r>
          </a:p>
          <a:p>
            <a:pPr marL="0" indent="0" fontAlgn="base">
              <a:buNone/>
            </a:pPr>
            <a:r>
              <a:rPr lang="en-US" b="1" dirty="0" smtClean="0"/>
              <a:t>	Syntax</a:t>
            </a:r>
            <a:r>
              <a:rPr lang="en-US" b="1" dirty="0"/>
              <a:t>:</a:t>
            </a:r>
            <a:r>
              <a:rPr lang="en-US" dirty="0"/>
              <a:t> melt(data, …, na.rm=FALSE, value.name=”value”)</a:t>
            </a:r>
          </a:p>
          <a:p>
            <a:pPr marL="0" indent="0" fontAlgn="base">
              <a:buNone/>
            </a:pPr>
            <a:r>
              <a:rPr lang="en-US" b="1" dirty="0" smtClean="0"/>
              <a:t>	where</a:t>
            </a:r>
            <a:r>
              <a:rPr lang="en-US" b="1" dirty="0"/>
              <a:t>, </a:t>
            </a:r>
            <a:endParaRPr lang="en-US" dirty="0"/>
          </a:p>
          <a:p>
            <a:pPr marL="0" indent="0" fontAlgn="base">
              <a:buNone/>
            </a:pPr>
            <a:r>
              <a:rPr lang="en-US" b="1" dirty="0" smtClean="0"/>
              <a:t>	data</a:t>
            </a:r>
            <a:r>
              <a:rPr lang="en-US" b="1" dirty="0"/>
              <a:t>:</a:t>
            </a:r>
            <a:r>
              <a:rPr lang="en-US" dirty="0"/>
              <a:t> data to be melted </a:t>
            </a:r>
            <a:br>
              <a:rPr lang="en-US" dirty="0"/>
            </a:br>
            <a:r>
              <a:rPr lang="en-US" dirty="0" smtClean="0"/>
              <a:t>	</a:t>
            </a:r>
            <a:r>
              <a:rPr lang="en-US" b="1" dirty="0" smtClean="0"/>
              <a:t>… </a:t>
            </a:r>
            <a:r>
              <a:rPr lang="en-US" b="1" dirty="0"/>
              <a:t>:</a:t>
            </a:r>
            <a:r>
              <a:rPr lang="en-US" dirty="0"/>
              <a:t> arguments </a:t>
            </a:r>
            <a:br>
              <a:rPr lang="en-US" dirty="0"/>
            </a:br>
            <a:r>
              <a:rPr lang="en-US" dirty="0" smtClean="0"/>
              <a:t>	</a:t>
            </a:r>
            <a:r>
              <a:rPr lang="en-US" b="1" dirty="0" smtClean="0"/>
              <a:t>na.rm</a:t>
            </a:r>
            <a:r>
              <a:rPr lang="en-US" b="1" dirty="0"/>
              <a:t>:</a:t>
            </a:r>
            <a:r>
              <a:rPr lang="en-US" dirty="0"/>
              <a:t> converts explicit </a:t>
            </a:r>
            <a:r>
              <a:rPr lang="en-US" dirty="0" err="1"/>
              <a:t>missings</a:t>
            </a:r>
            <a:r>
              <a:rPr lang="en-US" dirty="0"/>
              <a:t> into implicit </a:t>
            </a:r>
            <a:r>
              <a:rPr lang="en-US" dirty="0" err="1"/>
              <a:t>missings</a:t>
            </a:r>
            <a:r>
              <a:rPr lang="en-US" dirty="0"/>
              <a:t> </a:t>
            </a:r>
            <a:br>
              <a:rPr lang="en-US" dirty="0"/>
            </a:br>
            <a:r>
              <a:rPr lang="en-US" dirty="0" smtClean="0"/>
              <a:t>	</a:t>
            </a:r>
            <a:r>
              <a:rPr lang="en-US" b="1" dirty="0" smtClean="0"/>
              <a:t>value.name</a:t>
            </a:r>
            <a:r>
              <a:rPr lang="en-US" b="1" dirty="0"/>
              <a:t>:</a:t>
            </a:r>
            <a:r>
              <a:rPr lang="en-US" dirty="0"/>
              <a:t> storing values</a:t>
            </a:r>
          </a:p>
          <a:p>
            <a:pPr fontAlgn="base"/>
            <a:r>
              <a:rPr lang="en-US" b="1" dirty="0" err="1"/>
              <a:t>dcast</a:t>
            </a:r>
            <a:r>
              <a:rPr lang="en-US" b="1" dirty="0"/>
              <a:t>(): </a:t>
            </a:r>
          </a:p>
          <a:p>
            <a:pPr marL="0" indent="0" fontAlgn="base">
              <a:buNone/>
            </a:pPr>
            <a:r>
              <a:rPr lang="en-US" dirty="0" smtClean="0"/>
              <a:t>	It </a:t>
            </a:r>
            <a:r>
              <a:rPr lang="en-US" dirty="0"/>
              <a:t>is used to aggregate the molten data frame into a new form.</a:t>
            </a:r>
          </a:p>
          <a:p>
            <a:pPr marL="0" indent="0" fontAlgn="base">
              <a:buNone/>
            </a:pPr>
            <a:r>
              <a:rPr lang="en-US" b="1" dirty="0" smtClean="0"/>
              <a:t>	Syntax</a:t>
            </a:r>
            <a:r>
              <a:rPr lang="en-US" b="1" dirty="0"/>
              <a:t>:</a:t>
            </a:r>
            <a:r>
              <a:rPr lang="en-US" dirty="0"/>
              <a:t> melt(data, formula, </a:t>
            </a:r>
            <a:r>
              <a:rPr lang="en-US" dirty="0" err="1"/>
              <a:t>fun.aggregate</a:t>
            </a:r>
            <a:r>
              <a:rPr lang="en-US" dirty="0"/>
              <a:t>)</a:t>
            </a:r>
          </a:p>
          <a:p>
            <a:pPr marL="0" indent="0" fontAlgn="base">
              <a:buNone/>
            </a:pPr>
            <a:r>
              <a:rPr lang="en-US" b="1" dirty="0" smtClean="0"/>
              <a:t>	where</a:t>
            </a:r>
            <a:r>
              <a:rPr lang="en-US" b="1" dirty="0"/>
              <a:t>, </a:t>
            </a:r>
            <a:endParaRPr lang="en-US" dirty="0"/>
          </a:p>
          <a:p>
            <a:pPr marL="0" indent="0" fontAlgn="base">
              <a:buNone/>
            </a:pPr>
            <a:r>
              <a:rPr lang="en-US" b="1" dirty="0" smtClean="0"/>
              <a:t>	data</a:t>
            </a:r>
            <a:r>
              <a:rPr lang="en-US" b="1" dirty="0"/>
              <a:t>:</a:t>
            </a:r>
            <a:r>
              <a:rPr lang="en-US" dirty="0"/>
              <a:t> data to be melted </a:t>
            </a:r>
            <a:br>
              <a:rPr lang="en-US" dirty="0"/>
            </a:br>
            <a:r>
              <a:rPr lang="en-US" dirty="0" smtClean="0"/>
              <a:t>	</a:t>
            </a:r>
            <a:r>
              <a:rPr lang="en-US" b="1" dirty="0" smtClean="0"/>
              <a:t>formula</a:t>
            </a:r>
            <a:r>
              <a:rPr lang="en-US" b="1" dirty="0"/>
              <a:t>:</a:t>
            </a:r>
            <a:r>
              <a:rPr lang="en-US" dirty="0"/>
              <a:t> formula that defines how to cast </a:t>
            </a:r>
            <a:br>
              <a:rPr lang="en-US" dirty="0"/>
            </a:br>
            <a:r>
              <a:rPr lang="en-US" dirty="0" smtClean="0"/>
              <a:t>	</a:t>
            </a:r>
            <a:r>
              <a:rPr lang="en-US" b="1" dirty="0" err="1" smtClean="0"/>
              <a:t>fun.aggregate</a:t>
            </a:r>
            <a:r>
              <a:rPr lang="en-US" b="1" dirty="0"/>
              <a:t>:</a:t>
            </a:r>
            <a:r>
              <a:rPr lang="en-US" dirty="0"/>
              <a:t> used if there is a data aggregation</a:t>
            </a:r>
          </a:p>
          <a:p>
            <a:endParaRPr lang="en-US" dirty="0"/>
          </a:p>
        </p:txBody>
      </p:sp>
    </p:spTree>
    <p:extLst>
      <p:ext uri="{BB962C8B-B14F-4D97-AF65-F5344CB8AC3E}">
        <p14:creationId xmlns:p14="http://schemas.microsoft.com/office/powerpoint/2010/main" val="95853979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pPr fontAlgn="base"/>
            <a:r>
              <a:rPr lang="en-US" dirty="0"/>
              <a:t># melt and cast</a:t>
            </a:r>
          </a:p>
          <a:p>
            <a:pPr fontAlgn="base"/>
            <a:r>
              <a:rPr lang="en-US" dirty="0"/>
              <a:t>library(MASS)</a:t>
            </a:r>
          </a:p>
          <a:p>
            <a:pPr fontAlgn="base"/>
            <a:r>
              <a:rPr lang="en-US" dirty="0"/>
              <a:t>library(reshape)</a:t>
            </a:r>
          </a:p>
          <a:p>
            <a:pPr fontAlgn="base"/>
            <a:r>
              <a:rPr lang="en-US" dirty="0"/>
              <a:t>a &lt;- </a:t>
            </a:r>
            <a:r>
              <a:rPr lang="en-US" dirty="0" err="1"/>
              <a:t>data.frame</a:t>
            </a:r>
            <a:r>
              <a:rPr lang="en-US" dirty="0"/>
              <a:t>(id=c("1", "1", "2", "2"),</a:t>
            </a:r>
          </a:p>
          <a:p>
            <a:pPr fontAlgn="base"/>
            <a:r>
              <a:rPr lang="en-US" dirty="0"/>
              <a:t>                points=c("1", "2", "1", "2"),</a:t>
            </a:r>
          </a:p>
          <a:p>
            <a:pPr fontAlgn="base"/>
            <a:r>
              <a:rPr lang="en-US" dirty="0"/>
              <a:t>                x1=c("5", "3", "6", "2"),</a:t>
            </a:r>
          </a:p>
          <a:p>
            <a:pPr fontAlgn="base"/>
            <a:r>
              <a:rPr lang="en-US" dirty="0"/>
              <a:t>                x2=c("6", "5", "1", "4"))</a:t>
            </a:r>
          </a:p>
          <a:p>
            <a:pPr fontAlgn="base"/>
            <a:r>
              <a:rPr lang="en-US" dirty="0"/>
              <a:t> </a:t>
            </a:r>
          </a:p>
          <a:p>
            <a:pPr fontAlgn="base"/>
            <a:r>
              <a:rPr lang="en-US" dirty="0"/>
              <a:t>print("Melting")</a:t>
            </a:r>
          </a:p>
          <a:p>
            <a:pPr fontAlgn="base"/>
            <a:r>
              <a:rPr lang="en-US" dirty="0"/>
              <a:t>m &lt;- melt(a, id=c("id", "point"))</a:t>
            </a:r>
          </a:p>
          <a:p>
            <a:pPr fontAlgn="base"/>
            <a:r>
              <a:rPr lang="en-US" dirty="0"/>
              <a:t>print(m)</a:t>
            </a:r>
          </a:p>
          <a:p>
            <a:pPr fontAlgn="base"/>
            <a:r>
              <a:rPr lang="en-US" dirty="0"/>
              <a:t> </a:t>
            </a:r>
          </a:p>
          <a:p>
            <a:pPr fontAlgn="base"/>
            <a:r>
              <a:rPr lang="en-US" dirty="0"/>
              <a:t>print("Casting")</a:t>
            </a:r>
          </a:p>
          <a:p>
            <a:pPr fontAlgn="base"/>
            <a:r>
              <a:rPr lang="en-US" dirty="0" err="1"/>
              <a:t>idmn</a:t>
            </a:r>
            <a:r>
              <a:rPr lang="en-US" dirty="0"/>
              <a:t> &lt;- </a:t>
            </a:r>
            <a:r>
              <a:rPr lang="en-US" dirty="0" err="1"/>
              <a:t>dcast</a:t>
            </a:r>
            <a:r>
              <a:rPr lang="en-US" dirty="0"/>
              <a:t>(a, </a:t>
            </a:r>
            <a:r>
              <a:rPr lang="en-US" dirty="0" err="1"/>
              <a:t>id~variable</a:t>
            </a:r>
            <a:r>
              <a:rPr lang="en-US" dirty="0"/>
              <a:t>, mean)</a:t>
            </a:r>
          </a:p>
          <a:p>
            <a:pPr fontAlgn="base"/>
            <a:r>
              <a:rPr lang="en-US" dirty="0"/>
              <a:t>print(</a:t>
            </a:r>
            <a:r>
              <a:rPr lang="en-US" dirty="0" err="1"/>
              <a:t>idmn</a:t>
            </a:r>
            <a:r>
              <a:rPr lang="en-US" dirty="0"/>
              <a:t>)</a:t>
            </a:r>
          </a:p>
          <a:p>
            <a:r>
              <a:rPr lang="en-US" dirty="0"/>
              <a:t>https://www.geeksforgeeks.org/data-reshaping-in-r-programming/</a:t>
            </a:r>
          </a:p>
        </p:txBody>
      </p:sp>
    </p:spTree>
    <p:extLst>
      <p:ext uri="{BB962C8B-B14F-4D97-AF65-F5344CB8AC3E}">
        <p14:creationId xmlns:p14="http://schemas.microsoft.com/office/powerpoint/2010/main" val="369729549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70000" lnSpcReduction="20000"/>
          </a:bodyPr>
          <a:lstStyle/>
          <a:p>
            <a:r>
              <a:rPr lang="en-US" b="1" dirty="0"/>
              <a:t>apply() function</a:t>
            </a:r>
          </a:p>
          <a:p>
            <a:r>
              <a:rPr lang="en-US" b="1" dirty="0"/>
              <a:t>apply()</a:t>
            </a:r>
            <a:r>
              <a:rPr lang="en-US" dirty="0"/>
              <a:t> takes Data frame or matrix as an input and gives output in vector, list or array. Apply function in R is primarily used to avoid explicit uses of loop constructs. It is the most basic of all collections can be used over a </a:t>
            </a:r>
            <a:r>
              <a:rPr lang="en-US" dirty="0" err="1"/>
              <a:t>matrice</a:t>
            </a:r>
            <a:r>
              <a:rPr lang="en-US" dirty="0"/>
              <a:t>.</a:t>
            </a:r>
          </a:p>
          <a:p>
            <a:r>
              <a:rPr lang="en-US" dirty="0"/>
              <a:t>This function takes 3 arguments:</a:t>
            </a:r>
          </a:p>
          <a:p>
            <a:r>
              <a:rPr lang="en-US" dirty="0"/>
              <a:t>apply(X, MARGIN, FUN) Here: </a:t>
            </a:r>
            <a:r>
              <a:rPr lang="en-US" dirty="0" smtClean="0"/>
              <a:t>-</a:t>
            </a:r>
          </a:p>
          <a:p>
            <a:r>
              <a:rPr lang="en-US" dirty="0" smtClean="0"/>
              <a:t>x</a:t>
            </a:r>
            <a:r>
              <a:rPr lang="en-US" dirty="0"/>
              <a:t>: an array or matrix </a:t>
            </a:r>
            <a:r>
              <a:rPr lang="en-US" dirty="0" smtClean="0"/>
              <a:t>–</a:t>
            </a:r>
          </a:p>
          <a:p>
            <a:r>
              <a:rPr lang="en-US" dirty="0" smtClean="0"/>
              <a:t>MARGIN</a:t>
            </a:r>
            <a:r>
              <a:rPr lang="en-US" dirty="0"/>
              <a:t>: take a value or range between 1 and 2 to define where to apply the function: </a:t>
            </a:r>
            <a:r>
              <a:rPr lang="en-US" dirty="0" smtClean="0"/>
              <a:t>-</a:t>
            </a:r>
          </a:p>
          <a:p>
            <a:r>
              <a:rPr lang="en-US" dirty="0" smtClean="0"/>
              <a:t>MARGIN=1</a:t>
            </a:r>
            <a:r>
              <a:rPr lang="en-US" dirty="0"/>
              <a:t>`: the manipulation is performed on rows -MARGIN=2`: the manipulation is performed on columns -MARGIN=c(1,2)` the manipulation is performed on rows and columns </a:t>
            </a:r>
            <a:r>
              <a:rPr lang="en-US" dirty="0" smtClean="0"/>
              <a:t>–</a:t>
            </a:r>
          </a:p>
          <a:p>
            <a:r>
              <a:rPr lang="en-US" dirty="0" smtClean="0"/>
              <a:t>FUN</a:t>
            </a:r>
            <a:r>
              <a:rPr lang="en-US" dirty="0"/>
              <a:t>: tells which function to apply. Built functions like mean, median, sum, min, max and even user-defined functions can be applied&gt;</a:t>
            </a:r>
          </a:p>
        </p:txBody>
      </p:sp>
    </p:spTree>
    <p:extLst>
      <p:ext uri="{BB962C8B-B14F-4D97-AF65-F5344CB8AC3E}">
        <p14:creationId xmlns:p14="http://schemas.microsoft.com/office/powerpoint/2010/main" val="158841264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m1 &lt;- matrix(C&lt;-(1:10),</a:t>
            </a:r>
            <a:r>
              <a:rPr lang="en-US" dirty="0" err="1"/>
              <a:t>nrow</a:t>
            </a:r>
            <a:r>
              <a:rPr lang="en-US" dirty="0"/>
              <a:t>=5, </a:t>
            </a:r>
            <a:r>
              <a:rPr lang="en-US" dirty="0" err="1"/>
              <a:t>ncol</a:t>
            </a:r>
            <a:r>
              <a:rPr lang="en-US" dirty="0"/>
              <a:t>=6) </a:t>
            </a:r>
            <a:endParaRPr lang="en-US" dirty="0" smtClean="0"/>
          </a:p>
          <a:p>
            <a:r>
              <a:rPr lang="en-US" dirty="0" smtClean="0"/>
              <a:t>m1 </a:t>
            </a:r>
          </a:p>
          <a:p>
            <a:r>
              <a:rPr lang="en-US" dirty="0" smtClean="0"/>
              <a:t>a_m1 </a:t>
            </a:r>
            <a:r>
              <a:rPr lang="en-US" dirty="0"/>
              <a:t>&lt;- apply(m1, 2, sum) </a:t>
            </a:r>
            <a:endParaRPr lang="en-US" dirty="0" smtClean="0"/>
          </a:p>
          <a:p>
            <a:r>
              <a:rPr lang="en-US" dirty="0" smtClean="0"/>
              <a:t>a_m1</a:t>
            </a:r>
            <a:endParaRPr lang="en-US" dirty="0"/>
          </a:p>
        </p:txBody>
      </p:sp>
    </p:spTree>
    <p:extLst>
      <p:ext uri="{BB962C8B-B14F-4D97-AF65-F5344CB8AC3E}">
        <p14:creationId xmlns:p14="http://schemas.microsoft.com/office/powerpoint/2010/main" val="428461052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10000"/>
          </a:bodyPr>
          <a:lstStyle/>
          <a:p>
            <a:r>
              <a:rPr lang="en-US" b="1" dirty="0" err="1"/>
              <a:t>lapply</a:t>
            </a:r>
            <a:r>
              <a:rPr lang="en-US" b="1" dirty="0"/>
              <a:t>() function</a:t>
            </a:r>
          </a:p>
          <a:p>
            <a:r>
              <a:rPr lang="en-US" b="1" dirty="0" err="1"/>
              <a:t>lapply</a:t>
            </a:r>
            <a:r>
              <a:rPr lang="en-US" b="1" dirty="0"/>
              <a:t>()</a:t>
            </a:r>
            <a:r>
              <a:rPr lang="en-US" dirty="0"/>
              <a:t> function is useful for performing operations on list objects and returns a list object of same length of original set</a:t>
            </a:r>
            <a:r>
              <a:rPr lang="en-US" dirty="0" smtClean="0"/>
              <a:t>.</a:t>
            </a:r>
          </a:p>
          <a:p>
            <a:r>
              <a:rPr lang="en-US" dirty="0" err="1"/>
              <a:t>lapply</a:t>
            </a:r>
            <a:r>
              <a:rPr lang="en-US" dirty="0"/>
              <a:t>(X, FUN) Arguments: -X: A vector or an object -FUN: Function applied to each element of x </a:t>
            </a:r>
            <a:endParaRPr lang="en-US" dirty="0" smtClean="0"/>
          </a:p>
          <a:p>
            <a:r>
              <a:rPr lang="en-US" dirty="0"/>
              <a:t>movies &lt;- c("SPYDERMAN","BATMAN","VERTIGO","CHINATOWN") </a:t>
            </a:r>
            <a:endParaRPr lang="en-US" dirty="0" smtClean="0"/>
          </a:p>
          <a:p>
            <a:r>
              <a:rPr lang="en-US" dirty="0" err="1" smtClean="0"/>
              <a:t>movies_lower</a:t>
            </a:r>
            <a:r>
              <a:rPr lang="en-US" dirty="0" smtClean="0"/>
              <a:t> </a:t>
            </a:r>
            <a:r>
              <a:rPr lang="en-US" dirty="0"/>
              <a:t>&lt;-</a:t>
            </a:r>
            <a:r>
              <a:rPr lang="en-US" dirty="0" err="1"/>
              <a:t>lapply</a:t>
            </a:r>
            <a:r>
              <a:rPr lang="en-US" dirty="0"/>
              <a:t>(movies, </a:t>
            </a:r>
            <a:r>
              <a:rPr lang="en-US" dirty="0" err="1"/>
              <a:t>tolower</a:t>
            </a:r>
            <a:r>
              <a:rPr lang="en-US" dirty="0"/>
              <a:t>) </a:t>
            </a:r>
            <a:endParaRPr lang="en-US" dirty="0" smtClean="0"/>
          </a:p>
          <a:p>
            <a:r>
              <a:rPr lang="en-US" dirty="0" err="1" smtClean="0"/>
              <a:t>str</a:t>
            </a:r>
            <a:r>
              <a:rPr lang="en-US" dirty="0" smtClean="0"/>
              <a:t>(</a:t>
            </a:r>
            <a:r>
              <a:rPr lang="en-US" dirty="0" err="1" smtClean="0"/>
              <a:t>movies_lower</a:t>
            </a:r>
            <a:r>
              <a:rPr lang="en-US" dirty="0"/>
              <a:t>)</a:t>
            </a:r>
          </a:p>
          <a:p>
            <a:endParaRPr lang="en-US" dirty="0"/>
          </a:p>
        </p:txBody>
      </p:sp>
    </p:spTree>
    <p:extLst>
      <p:ext uri="{BB962C8B-B14F-4D97-AF65-F5344CB8AC3E}">
        <p14:creationId xmlns:p14="http://schemas.microsoft.com/office/powerpoint/2010/main" val="55860351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nvPr>
        </p:nvGraphicFramePr>
        <p:xfrm>
          <a:off x="561302" y="1760061"/>
          <a:ext cx="8021395" cy="4206240"/>
        </p:xfrm>
        <a:graphic>
          <a:graphicData uri="http://schemas.openxmlformats.org/drawingml/2006/table">
            <a:tbl>
              <a:tblPr/>
              <a:tblGrid>
                <a:gridCol w="1604279"/>
                <a:gridCol w="1604279"/>
                <a:gridCol w="1604279"/>
                <a:gridCol w="1604279"/>
                <a:gridCol w="1604279"/>
              </a:tblGrid>
              <a:tr h="0">
                <a:tc>
                  <a:txBody>
                    <a:bodyPr/>
                    <a:lstStyle/>
                    <a:p>
                      <a:pPr algn="l"/>
                      <a:r>
                        <a:rPr lang="en-US">
                          <a:effectLst/>
                        </a:rPr>
                        <a:t>Function</a:t>
                      </a:r>
                    </a:p>
                  </a:txBody>
                  <a:tcPr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tc>
                  <a:txBody>
                    <a:bodyPr/>
                    <a:lstStyle/>
                    <a:p>
                      <a:pPr algn="l"/>
                      <a:r>
                        <a:rPr lang="en-US">
                          <a:effectLst/>
                        </a:rPr>
                        <a:t>Arguments</a:t>
                      </a:r>
                    </a:p>
                  </a:txBody>
                  <a:tcPr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tc>
                  <a:txBody>
                    <a:bodyPr/>
                    <a:lstStyle/>
                    <a:p>
                      <a:pPr algn="l"/>
                      <a:r>
                        <a:rPr lang="en-US">
                          <a:effectLst/>
                        </a:rPr>
                        <a:t>Objective</a:t>
                      </a:r>
                    </a:p>
                  </a:txBody>
                  <a:tcPr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tc>
                  <a:txBody>
                    <a:bodyPr/>
                    <a:lstStyle/>
                    <a:p>
                      <a:pPr algn="l"/>
                      <a:r>
                        <a:rPr lang="en-US">
                          <a:effectLst/>
                        </a:rPr>
                        <a:t>Input</a:t>
                      </a:r>
                    </a:p>
                  </a:txBody>
                  <a:tcPr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tc>
                  <a:txBody>
                    <a:bodyPr/>
                    <a:lstStyle/>
                    <a:p>
                      <a:pPr algn="l"/>
                      <a:r>
                        <a:rPr lang="en-US">
                          <a:effectLst/>
                        </a:rPr>
                        <a:t>Output</a:t>
                      </a:r>
                    </a:p>
                  </a:txBody>
                  <a:tcPr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tr>
              <a:tr h="0">
                <a:tc>
                  <a:txBody>
                    <a:bodyPr/>
                    <a:lstStyle/>
                    <a:p>
                      <a:r>
                        <a:rPr lang="en-US">
                          <a:effectLst/>
                        </a:rPr>
                        <a:t>apply</a:t>
                      </a:r>
                    </a:p>
                  </a:txBody>
                  <a:tcPr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a:effectLst/>
                        </a:rPr>
                        <a:t>apply(x, MARGIN, FUN)</a:t>
                      </a:r>
                    </a:p>
                  </a:txBody>
                  <a:tcPr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a:effectLst/>
                        </a:rPr>
                        <a:t>Apply a function to the rows or columns or both</a:t>
                      </a:r>
                    </a:p>
                  </a:txBody>
                  <a:tcPr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a:effectLst/>
                        </a:rPr>
                        <a:t>Data frame or matrix</a:t>
                      </a:r>
                    </a:p>
                  </a:txBody>
                  <a:tcPr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a:effectLst/>
                        </a:rPr>
                        <a:t>vector, list, array</a:t>
                      </a:r>
                    </a:p>
                  </a:txBody>
                  <a:tcPr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r>
              <a:tr h="0">
                <a:tc>
                  <a:txBody>
                    <a:bodyPr/>
                    <a:lstStyle/>
                    <a:p>
                      <a:r>
                        <a:rPr lang="en-US">
                          <a:effectLst/>
                        </a:rPr>
                        <a:t>lapply</a:t>
                      </a:r>
                    </a:p>
                  </a:txBody>
                  <a:tcPr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a:effectLst/>
                        </a:rPr>
                        <a:t>lapply(X, FUN)</a:t>
                      </a:r>
                    </a:p>
                  </a:txBody>
                  <a:tcPr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a:effectLst/>
                        </a:rPr>
                        <a:t>Apply a function to all the elements of the input</a:t>
                      </a:r>
                    </a:p>
                  </a:txBody>
                  <a:tcPr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a:effectLst/>
                        </a:rPr>
                        <a:t>List, vector or data frame</a:t>
                      </a:r>
                    </a:p>
                  </a:txBody>
                  <a:tcPr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a:effectLst/>
                        </a:rPr>
                        <a:t>list</a:t>
                      </a:r>
                    </a:p>
                  </a:txBody>
                  <a:tcPr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0">
                <a:tc>
                  <a:txBody>
                    <a:bodyPr/>
                    <a:lstStyle/>
                    <a:p>
                      <a:r>
                        <a:rPr lang="en-US">
                          <a:effectLst/>
                        </a:rPr>
                        <a:t>sapply</a:t>
                      </a:r>
                    </a:p>
                  </a:txBody>
                  <a:tcPr anchor="ctr">
                    <a:lnL>
                      <a:noFill/>
                    </a:lnL>
                    <a:lnR>
                      <a:noFill/>
                    </a:lnR>
                    <a:lnT w="9525" cap="flat" cmpd="sng" algn="ctr">
                      <a:solidFill>
                        <a:srgbClr val="EEEEEE"/>
                      </a:solidFill>
                      <a:prstDash val="solid"/>
                      <a:round/>
                      <a:headEnd type="none" w="med" len="med"/>
                      <a:tailEnd type="none" w="med" len="med"/>
                    </a:lnT>
                    <a:lnB>
                      <a:noFill/>
                    </a:lnB>
                    <a:solidFill>
                      <a:srgbClr val="F9F9F9"/>
                    </a:solidFill>
                  </a:tcPr>
                </a:tc>
                <a:tc>
                  <a:txBody>
                    <a:bodyPr/>
                    <a:lstStyle/>
                    <a:p>
                      <a:r>
                        <a:rPr lang="en-US">
                          <a:effectLst/>
                        </a:rPr>
                        <a:t>sapply(X, FUN)</a:t>
                      </a:r>
                    </a:p>
                  </a:txBody>
                  <a:tcPr anchor="ctr">
                    <a:lnL>
                      <a:noFill/>
                    </a:lnL>
                    <a:lnR>
                      <a:noFill/>
                    </a:lnR>
                    <a:lnT w="9525" cap="flat" cmpd="sng" algn="ctr">
                      <a:solidFill>
                        <a:srgbClr val="EEEEEE"/>
                      </a:solidFill>
                      <a:prstDash val="solid"/>
                      <a:round/>
                      <a:headEnd type="none" w="med" len="med"/>
                      <a:tailEnd type="none" w="med" len="med"/>
                    </a:lnT>
                    <a:lnB>
                      <a:noFill/>
                    </a:lnB>
                    <a:solidFill>
                      <a:srgbClr val="F9F9F9"/>
                    </a:solidFill>
                  </a:tcPr>
                </a:tc>
                <a:tc>
                  <a:txBody>
                    <a:bodyPr/>
                    <a:lstStyle/>
                    <a:p>
                      <a:r>
                        <a:rPr lang="en-US">
                          <a:effectLst/>
                        </a:rPr>
                        <a:t>Apply a function to all the elements of the input</a:t>
                      </a:r>
                    </a:p>
                  </a:txBody>
                  <a:tcPr anchor="ctr">
                    <a:lnL>
                      <a:noFill/>
                    </a:lnL>
                    <a:lnR>
                      <a:noFill/>
                    </a:lnR>
                    <a:lnT w="9525" cap="flat" cmpd="sng" algn="ctr">
                      <a:solidFill>
                        <a:srgbClr val="EEEEEE"/>
                      </a:solidFill>
                      <a:prstDash val="solid"/>
                      <a:round/>
                      <a:headEnd type="none" w="med" len="med"/>
                      <a:tailEnd type="none" w="med" len="med"/>
                    </a:lnT>
                    <a:lnB>
                      <a:noFill/>
                    </a:lnB>
                    <a:solidFill>
                      <a:srgbClr val="F9F9F9"/>
                    </a:solidFill>
                  </a:tcPr>
                </a:tc>
                <a:tc>
                  <a:txBody>
                    <a:bodyPr/>
                    <a:lstStyle/>
                    <a:p>
                      <a:r>
                        <a:rPr lang="en-US">
                          <a:effectLst/>
                        </a:rPr>
                        <a:t>List, vector or data frame</a:t>
                      </a:r>
                    </a:p>
                  </a:txBody>
                  <a:tcPr anchor="ctr">
                    <a:lnL>
                      <a:noFill/>
                    </a:lnL>
                    <a:lnR>
                      <a:noFill/>
                    </a:lnR>
                    <a:lnT w="9525" cap="flat" cmpd="sng" algn="ctr">
                      <a:solidFill>
                        <a:srgbClr val="EEEEEE"/>
                      </a:solidFill>
                      <a:prstDash val="solid"/>
                      <a:round/>
                      <a:headEnd type="none" w="med" len="med"/>
                      <a:tailEnd type="none" w="med" len="med"/>
                    </a:lnT>
                    <a:lnB>
                      <a:noFill/>
                    </a:lnB>
                    <a:solidFill>
                      <a:srgbClr val="F9F9F9"/>
                    </a:solidFill>
                  </a:tcPr>
                </a:tc>
                <a:tc>
                  <a:txBody>
                    <a:bodyPr/>
                    <a:lstStyle/>
                    <a:p>
                      <a:r>
                        <a:rPr lang="en-US" dirty="0">
                          <a:effectLst/>
                        </a:rPr>
                        <a:t>vector or matrix</a:t>
                      </a:r>
                    </a:p>
                  </a:txBody>
                  <a:tcPr anchor="ctr">
                    <a:lnL>
                      <a:noFill/>
                    </a:lnL>
                    <a:lnR>
                      <a:noFill/>
                    </a:lnR>
                    <a:lnT w="9525" cap="flat" cmpd="sng" algn="ctr">
                      <a:solidFill>
                        <a:srgbClr val="EEEEEE"/>
                      </a:solidFill>
                      <a:prstDash val="solid"/>
                      <a:round/>
                      <a:headEnd type="none" w="med" len="med"/>
                      <a:tailEnd type="none" w="med" len="med"/>
                    </a:lnT>
                    <a:lnB>
                      <a:noFill/>
                    </a:lnB>
                    <a:solidFill>
                      <a:srgbClr val="F9F9F9"/>
                    </a:solidFill>
                  </a:tcPr>
                </a:tc>
              </a:tr>
            </a:tbl>
          </a:graphicData>
        </a:graphic>
      </p:graphicFrame>
    </p:spTree>
    <p:extLst>
      <p:ext uri="{BB962C8B-B14F-4D97-AF65-F5344CB8AC3E}">
        <p14:creationId xmlns:p14="http://schemas.microsoft.com/office/powerpoint/2010/main" val="297400199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err="1"/>
              <a:t>tapply</a:t>
            </a:r>
            <a:r>
              <a:rPr lang="en-US" dirty="0"/>
              <a:t>() function</a:t>
            </a:r>
          </a:p>
          <a:p>
            <a:r>
              <a:rPr lang="en-US" dirty="0"/>
              <a:t>The </a:t>
            </a:r>
            <a:r>
              <a:rPr lang="en-US" dirty="0" err="1"/>
              <a:t>tapply</a:t>
            </a:r>
            <a:r>
              <a:rPr lang="en-US" dirty="0"/>
              <a:t>() helps us to compute statistical measures (mean, median, min, max, etc..) or a self-written function operation for each factor variable in a vector</a:t>
            </a:r>
            <a:r>
              <a:rPr lang="en-US" dirty="0" smtClean="0"/>
              <a:t>.</a:t>
            </a:r>
          </a:p>
          <a:p>
            <a:pPr fontAlgn="base"/>
            <a:r>
              <a:rPr lang="en-US" b="1" i="1" dirty="0"/>
              <a:t>Syntax: </a:t>
            </a:r>
            <a:r>
              <a:rPr lang="en-US" i="1" dirty="0" err="1"/>
              <a:t>tapply</a:t>
            </a:r>
            <a:r>
              <a:rPr lang="en-US" i="1" dirty="0"/>
              <a:t>( x, index,  fun )</a:t>
            </a:r>
          </a:p>
          <a:p>
            <a:pPr fontAlgn="base"/>
            <a:r>
              <a:rPr lang="en-US" b="1" i="1" dirty="0"/>
              <a:t>Parameters:</a:t>
            </a:r>
            <a:endParaRPr lang="en-US" i="1" dirty="0"/>
          </a:p>
          <a:p>
            <a:pPr fontAlgn="base"/>
            <a:r>
              <a:rPr lang="en-US" b="1" i="1" dirty="0"/>
              <a:t>x:</a:t>
            </a:r>
            <a:r>
              <a:rPr lang="en-US" i="1" dirty="0"/>
              <a:t> determines the input vector or an object.</a:t>
            </a:r>
          </a:p>
          <a:p>
            <a:pPr fontAlgn="base"/>
            <a:r>
              <a:rPr lang="en-US" b="1" i="1" dirty="0"/>
              <a:t>index: </a:t>
            </a:r>
            <a:r>
              <a:rPr lang="en-US" i="1" dirty="0"/>
              <a:t>determines the factor vector that helps us distinguish the data.</a:t>
            </a:r>
          </a:p>
          <a:p>
            <a:pPr fontAlgn="base"/>
            <a:r>
              <a:rPr lang="en-US" b="1" i="1" dirty="0"/>
              <a:t>fun:</a:t>
            </a:r>
            <a:r>
              <a:rPr lang="en-US" i="1" dirty="0"/>
              <a:t> determines the function that is to be applied to input data.</a:t>
            </a:r>
          </a:p>
          <a:p>
            <a:endParaRPr lang="en-US" dirty="0"/>
          </a:p>
        </p:txBody>
      </p:sp>
    </p:spTree>
    <p:extLst>
      <p:ext uri="{BB962C8B-B14F-4D97-AF65-F5344CB8AC3E}">
        <p14:creationId xmlns:p14="http://schemas.microsoft.com/office/powerpoint/2010/main" val="131432186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fontAlgn="base"/>
            <a:r>
              <a:rPr lang="en-US" b="1" dirty="0">
                <a:solidFill>
                  <a:srgbClr val="273239"/>
                </a:solidFill>
                <a:latin typeface="urw-din"/>
              </a:rPr>
              <a:t>melt()</a:t>
            </a:r>
            <a:r>
              <a:rPr lang="en-US" dirty="0">
                <a:solidFill>
                  <a:srgbClr val="273239"/>
                </a:solidFill>
                <a:latin typeface="urw-din"/>
              </a:rPr>
              <a:t>, </a:t>
            </a:r>
            <a:r>
              <a:rPr lang="en-US" dirty="0" err="1">
                <a:solidFill>
                  <a:srgbClr val="273239"/>
                </a:solidFill>
                <a:latin typeface="urw-din"/>
              </a:rPr>
              <a:t>dataframe</a:t>
            </a:r>
            <a:r>
              <a:rPr lang="en-US" dirty="0">
                <a:solidFill>
                  <a:srgbClr val="273239"/>
                </a:solidFill>
                <a:latin typeface="urw-din"/>
              </a:rPr>
              <a:t> is converted into long format and stretches the data frame.</a:t>
            </a:r>
          </a:p>
          <a:p>
            <a:pPr fontAlgn="base"/>
            <a:r>
              <a:rPr lang="en-US" b="1" dirty="0"/>
              <a:t>Syntax:</a:t>
            </a:r>
            <a:r>
              <a:rPr lang="en-US" dirty="0"/>
              <a:t/>
            </a:r>
            <a:br>
              <a:rPr lang="en-US" dirty="0"/>
            </a:br>
            <a:r>
              <a:rPr lang="en-US" sz="2800" b="1" dirty="0"/>
              <a:t>melt(data, na.rm = FALSE, value.name = “value”)</a:t>
            </a:r>
          </a:p>
          <a:p>
            <a:pPr fontAlgn="base"/>
            <a:r>
              <a:rPr lang="en-US" b="1" dirty="0"/>
              <a:t>Parameters:</a:t>
            </a:r>
            <a:r>
              <a:rPr lang="en-US" dirty="0"/>
              <a:t/>
            </a:r>
            <a:br>
              <a:rPr lang="en-US" dirty="0"/>
            </a:br>
            <a:r>
              <a:rPr lang="en-US" sz="2800" b="1" dirty="0"/>
              <a:t>data:</a:t>
            </a:r>
            <a:r>
              <a:rPr lang="en-US" sz="2800" dirty="0"/>
              <a:t> represents dataset that has to be </a:t>
            </a:r>
            <a:r>
              <a:rPr lang="en-US" sz="2800" dirty="0" smtClean="0"/>
              <a:t>reshaped</a:t>
            </a:r>
          </a:p>
          <a:p>
            <a:pPr marL="0" indent="0" fontAlgn="base">
              <a:buNone/>
            </a:pPr>
            <a:r>
              <a:rPr lang="en-US" sz="2800" dirty="0"/>
              <a:t/>
            </a:r>
            <a:br>
              <a:rPr lang="en-US" sz="2800" dirty="0"/>
            </a:br>
            <a:r>
              <a:rPr lang="en-US" sz="2800" dirty="0"/>
              <a:t> </a:t>
            </a:r>
            <a:r>
              <a:rPr lang="en-US" sz="2800" dirty="0" smtClean="0"/>
              <a:t>   </a:t>
            </a:r>
            <a:r>
              <a:rPr lang="en-US" sz="2800" b="1" dirty="0" smtClean="0"/>
              <a:t>na.rm</a:t>
            </a:r>
            <a:r>
              <a:rPr lang="en-US" sz="2800" b="1" dirty="0"/>
              <a:t>:</a:t>
            </a:r>
            <a:r>
              <a:rPr lang="en-US" sz="2800" dirty="0"/>
              <a:t> if TRUE, removes NA values from </a:t>
            </a:r>
            <a:r>
              <a:rPr lang="en-US" sz="2800" dirty="0" smtClean="0"/>
              <a:t>dataset</a:t>
            </a:r>
          </a:p>
          <a:p>
            <a:pPr marL="0" indent="0" fontAlgn="base">
              <a:buNone/>
            </a:pPr>
            <a:r>
              <a:rPr lang="en-US" sz="2800" dirty="0"/>
              <a:t/>
            </a:r>
            <a:br>
              <a:rPr lang="en-US" sz="2800" dirty="0"/>
            </a:br>
            <a:r>
              <a:rPr lang="en-US" sz="2800" dirty="0" smtClean="0"/>
              <a:t>    </a:t>
            </a:r>
            <a:r>
              <a:rPr lang="en-US" sz="2800" b="1" dirty="0" smtClean="0"/>
              <a:t>value.name</a:t>
            </a:r>
            <a:r>
              <a:rPr lang="en-US" sz="2800" b="1" dirty="0"/>
              <a:t>:</a:t>
            </a:r>
            <a:r>
              <a:rPr lang="en-US" sz="2800" dirty="0"/>
              <a:t> represents name of variable used to store values</a:t>
            </a:r>
          </a:p>
          <a:p>
            <a:endParaRPr lang="en-US" dirty="0"/>
          </a:p>
        </p:txBody>
      </p:sp>
    </p:spTree>
    <p:extLst>
      <p:ext uri="{BB962C8B-B14F-4D97-AF65-F5344CB8AC3E}">
        <p14:creationId xmlns:p14="http://schemas.microsoft.com/office/powerpoint/2010/main" val="40125209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81000"/>
            <a:ext cx="8915400" cy="6172200"/>
          </a:xfrm>
        </p:spPr>
        <p:txBody>
          <a:bodyPr>
            <a:normAutofit fontScale="47500" lnSpcReduction="20000"/>
          </a:bodyPr>
          <a:lstStyle/>
          <a:p>
            <a:pPr fontAlgn="base"/>
            <a:r>
              <a:rPr lang="en-US" dirty="0" err="1"/>
              <a:t>install.packages</a:t>
            </a:r>
            <a:r>
              <a:rPr lang="en-US" dirty="0"/>
              <a:t>("reshape2")</a:t>
            </a:r>
          </a:p>
          <a:p>
            <a:pPr fontAlgn="base"/>
            <a:r>
              <a:rPr lang="en-US" dirty="0" err="1"/>
              <a:t>install.packages</a:t>
            </a:r>
            <a:r>
              <a:rPr lang="en-US" dirty="0"/>
              <a:t>("reshape")</a:t>
            </a:r>
          </a:p>
          <a:p>
            <a:pPr fontAlgn="base"/>
            <a:r>
              <a:rPr lang="en-US" dirty="0"/>
              <a:t>  </a:t>
            </a:r>
          </a:p>
          <a:p>
            <a:pPr fontAlgn="base"/>
            <a:r>
              <a:rPr lang="en-US" dirty="0"/>
              <a:t>#Loading the libraries</a:t>
            </a:r>
          </a:p>
          <a:p>
            <a:pPr fontAlgn="base"/>
            <a:r>
              <a:rPr lang="en-US" dirty="0"/>
              <a:t>library(MASS)</a:t>
            </a:r>
          </a:p>
          <a:p>
            <a:pPr fontAlgn="base"/>
            <a:r>
              <a:rPr lang="en-US" dirty="0"/>
              <a:t>library(reshape2)</a:t>
            </a:r>
          </a:p>
          <a:p>
            <a:pPr fontAlgn="base"/>
            <a:r>
              <a:rPr lang="en-US" dirty="0"/>
              <a:t>library(reshape)</a:t>
            </a:r>
          </a:p>
          <a:p>
            <a:pPr fontAlgn="base"/>
            <a:r>
              <a:rPr lang="en-US" dirty="0"/>
              <a:t>  </a:t>
            </a:r>
          </a:p>
          <a:p>
            <a:pPr fontAlgn="base"/>
            <a:r>
              <a:rPr lang="en-US" dirty="0"/>
              <a:t># Create </a:t>
            </a:r>
            <a:r>
              <a:rPr lang="en-US" dirty="0" err="1"/>
              <a:t>dataframe</a:t>
            </a:r>
            <a:endParaRPr lang="en-US" dirty="0"/>
          </a:p>
          <a:p>
            <a:pPr fontAlgn="base"/>
            <a:r>
              <a:rPr lang="en-US" dirty="0"/>
              <a:t>n &lt;- c(1, 1, 2, 2)</a:t>
            </a:r>
          </a:p>
          <a:p>
            <a:pPr fontAlgn="base"/>
            <a:r>
              <a:rPr lang="en-US" dirty="0"/>
              <a:t>time &lt;- c(1, 2, 1, 2)</a:t>
            </a:r>
          </a:p>
          <a:p>
            <a:pPr fontAlgn="base"/>
            <a:r>
              <a:rPr lang="en-US" dirty="0"/>
              <a:t>x &lt;- c(6, 3, 2, 5)</a:t>
            </a:r>
          </a:p>
          <a:p>
            <a:pPr fontAlgn="base"/>
            <a:r>
              <a:rPr lang="en-US" dirty="0"/>
              <a:t>y &lt;- c(1, 4, 6, 9)</a:t>
            </a:r>
          </a:p>
          <a:p>
            <a:pPr fontAlgn="base"/>
            <a:r>
              <a:rPr lang="en-US" dirty="0" err="1"/>
              <a:t>df</a:t>
            </a:r>
            <a:r>
              <a:rPr lang="en-US" dirty="0"/>
              <a:t> &lt;- </a:t>
            </a:r>
            <a:r>
              <a:rPr lang="en-US" dirty="0" err="1"/>
              <a:t>data.frame</a:t>
            </a:r>
            <a:r>
              <a:rPr lang="en-US" dirty="0"/>
              <a:t>(n, time, x, y)</a:t>
            </a:r>
          </a:p>
          <a:p>
            <a:pPr fontAlgn="base"/>
            <a:r>
              <a:rPr lang="en-US" dirty="0"/>
              <a:t>  </a:t>
            </a:r>
          </a:p>
          <a:p>
            <a:pPr fontAlgn="base"/>
            <a:r>
              <a:rPr lang="en-US" dirty="0"/>
              <a:t># Original data frame</a:t>
            </a:r>
          </a:p>
          <a:p>
            <a:pPr fontAlgn="base"/>
            <a:r>
              <a:rPr lang="en-US" dirty="0"/>
              <a:t>cat("Original data frame:\n")</a:t>
            </a:r>
          </a:p>
          <a:p>
            <a:pPr fontAlgn="base"/>
            <a:r>
              <a:rPr lang="en-US" dirty="0"/>
              <a:t>print(</a:t>
            </a:r>
            <a:r>
              <a:rPr lang="en-US" dirty="0" err="1"/>
              <a:t>df</a:t>
            </a:r>
            <a:r>
              <a:rPr lang="en-US" dirty="0"/>
              <a:t>)</a:t>
            </a:r>
          </a:p>
          <a:p>
            <a:pPr fontAlgn="base"/>
            <a:r>
              <a:rPr lang="en-US" dirty="0"/>
              <a:t>  </a:t>
            </a:r>
          </a:p>
          <a:p>
            <a:pPr fontAlgn="base"/>
            <a:r>
              <a:rPr lang="en-US" dirty="0"/>
              <a:t># Organize data w.r.t. n and time</a:t>
            </a:r>
          </a:p>
          <a:p>
            <a:pPr fontAlgn="base"/>
            <a:r>
              <a:rPr lang="en-US" dirty="0" err="1"/>
              <a:t>molten.data</a:t>
            </a:r>
            <a:r>
              <a:rPr lang="en-US" dirty="0"/>
              <a:t> &lt;- melt(</a:t>
            </a:r>
            <a:r>
              <a:rPr lang="en-US" dirty="0" err="1"/>
              <a:t>df</a:t>
            </a:r>
            <a:r>
              <a:rPr lang="en-US" dirty="0"/>
              <a:t>, id = c("</a:t>
            </a:r>
            <a:r>
              <a:rPr lang="en-US" dirty="0" err="1"/>
              <a:t>n","time</a:t>
            </a:r>
            <a:r>
              <a:rPr lang="en-US" dirty="0"/>
              <a:t>"))</a:t>
            </a:r>
          </a:p>
          <a:p>
            <a:pPr fontAlgn="base"/>
            <a:r>
              <a:rPr lang="en-US" dirty="0"/>
              <a:t>  </a:t>
            </a:r>
          </a:p>
          <a:p>
            <a:pPr fontAlgn="base"/>
            <a:r>
              <a:rPr lang="en-US" dirty="0"/>
              <a:t>cat("\</a:t>
            </a:r>
            <a:r>
              <a:rPr lang="en-US" dirty="0" err="1"/>
              <a:t>nAfter</a:t>
            </a:r>
            <a:r>
              <a:rPr lang="en-US" dirty="0"/>
              <a:t> melting data frame:\n")</a:t>
            </a:r>
          </a:p>
          <a:p>
            <a:pPr fontAlgn="base"/>
            <a:r>
              <a:rPr lang="en-US" dirty="0"/>
              <a:t>print(</a:t>
            </a:r>
            <a:r>
              <a:rPr lang="en-US" dirty="0" err="1"/>
              <a:t>molten.data</a:t>
            </a:r>
            <a:r>
              <a:rPr lang="en-US" dirty="0"/>
              <a:t>)</a:t>
            </a:r>
          </a:p>
          <a:p>
            <a:endParaRPr lang="en-US" dirty="0"/>
          </a:p>
        </p:txBody>
      </p:sp>
    </p:spTree>
    <p:extLst>
      <p:ext uri="{BB962C8B-B14F-4D97-AF65-F5344CB8AC3E}">
        <p14:creationId xmlns:p14="http://schemas.microsoft.com/office/powerpoint/2010/main" val="42667985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019800"/>
          </a:xfrm>
        </p:spPr>
        <p:txBody>
          <a:bodyPr>
            <a:normAutofit fontScale="62500" lnSpcReduction="20000"/>
          </a:bodyPr>
          <a:lstStyle/>
          <a:p>
            <a:r>
              <a:rPr lang="en-US" dirty="0"/>
              <a:t>Original data frame:</a:t>
            </a:r>
          </a:p>
          <a:p>
            <a:r>
              <a:rPr lang="en-US" dirty="0"/>
              <a:t> </a:t>
            </a:r>
            <a:r>
              <a:rPr lang="en-US" dirty="0" smtClean="0"/>
              <a:t> 	 n	 time	   </a:t>
            </a:r>
            <a:r>
              <a:rPr lang="en-US" dirty="0"/>
              <a:t>x </a:t>
            </a:r>
            <a:r>
              <a:rPr lang="en-US" dirty="0" smtClean="0"/>
              <a:t>	y</a:t>
            </a:r>
            <a:endParaRPr lang="en-US" dirty="0"/>
          </a:p>
          <a:p>
            <a:r>
              <a:rPr lang="en-US" dirty="0"/>
              <a:t>1 </a:t>
            </a:r>
            <a:r>
              <a:rPr lang="en-US" dirty="0" smtClean="0"/>
              <a:t>	1  	  1	   6 	1</a:t>
            </a:r>
            <a:endParaRPr lang="en-US" dirty="0"/>
          </a:p>
          <a:p>
            <a:r>
              <a:rPr lang="en-US" dirty="0" smtClean="0"/>
              <a:t>2	 </a:t>
            </a:r>
            <a:r>
              <a:rPr lang="en-US" dirty="0"/>
              <a:t>1   </a:t>
            </a:r>
            <a:r>
              <a:rPr lang="en-US" dirty="0" smtClean="0"/>
              <a:t>	 2 	  </a:t>
            </a:r>
            <a:r>
              <a:rPr lang="en-US" dirty="0"/>
              <a:t>3 </a:t>
            </a:r>
            <a:r>
              <a:rPr lang="en-US" dirty="0" smtClean="0"/>
              <a:t>	4	</a:t>
            </a:r>
            <a:endParaRPr lang="en-US" dirty="0"/>
          </a:p>
          <a:p>
            <a:r>
              <a:rPr lang="en-US" dirty="0" smtClean="0"/>
              <a:t>3	2 	   1	  2 	6</a:t>
            </a:r>
            <a:endParaRPr lang="en-US" dirty="0"/>
          </a:p>
          <a:p>
            <a:r>
              <a:rPr lang="en-US" dirty="0"/>
              <a:t>4 </a:t>
            </a:r>
            <a:r>
              <a:rPr lang="en-US" dirty="0" smtClean="0"/>
              <a:t>	2  	  </a:t>
            </a:r>
            <a:r>
              <a:rPr lang="en-US" dirty="0"/>
              <a:t>2 </a:t>
            </a:r>
            <a:r>
              <a:rPr lang="en-US" dirty="0" smtClean="0"/>
              <a:t>  	  5 	9</a:t>
            </a:r>
            <a:endParaRPr lang="en-US" dirty="0"/>
          </a:p>
          <a:p>
            <a:endParaRPr lang="en-US" dirty="0"/>
          </a:p>
          <a:p>
            <a:endParaRPr lang="en-US" dirty="0"/>
          </a:p>
          <a:p>
            <a:r>
              <a:rPr lang="en-US" dirty="0"/>
              <a:t>After melting data frame:</a:t>
            </a:r>
          </a:p>
          <a:p>
            <a:r>
              <a:rPr lang="en-US" dirty="0"/>
              <a:t>  n time variable value</a:t>
            </a:r>
          </a:p>
          <a:p>
            <a:r>
              <a:rPr lang="en-US" dirty="0"/>
              <a:t>1 1    1        x     6</a:t>
            </a:r>
          </a:p>
          <a:p>
            <a:r>
              <a:rPr lang="en-US" dirty="0"/>
              <a:t>2 1    2        x     3</a:t>
            </a:r>
          </a:p>
          <a:p>
            <a:r>
              <a:rPr lang="en-US" dirty="0"/>
              <a:t>3 2    1        x     2</a:t>
            </a:r>
          </a:p>
          <a:p>
            <a:r>
              <a:rPr lang="en-US" dirty="0"/>
              <a:t>4 2    2        x     5</a:t>
            </a:r>
          </a:p>
          <a:p>
            <a:r>
              <a:rPr lang="en-US" dirty="0"/>
              <a:t>5 1    1        y     1</a:t>
            </a:r>
          </a:p>
          <a:p>
            <a:r>
              <a:rPr lang="en-US" dirty="0"/>
              <a:t>6 1    2        y     4</a:t>
            </a:r>
          </a:p>
          <a:p>
            <a:r>
              <a:rPr lang="en-US" dirty="0"/>
              <a:t>7 2    1        y     6</a:t>
            </a:r>
          </a:p>
          <a:p>
            <a:r>
              <a:rPr lang="en-US" dirty="0"/>
              <a:t>8 2    2        y     9</a:t>
            </a:r>
          </a:p>
        </p:txBody>
      </p:sp>
    </p:spTree>
    <p:extLst>
      <p:ext uri="{BB962C8B-B14F-4D97-AF65-F5344CB8AC3E}">
        <p14:creationId xmlns:p14="http://schemas.microsoft.com/office/powerpoint/2010/main" val="4014742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r>
              <a:rPr lang="en-US" dirty="0"/>
              <a:t> This function is used to convert long format data back into some aggregated form of data based on </a:t>
            </a:r>
            <a:r>
              <a:rPr lang="en-US" dirty="0" smtClean="0"/>
              <a:t>the formula in the </a:t>
            </a:r>
            <a:r>
              <a:rPr lang="en-US" b="1" dirty="0" smtClean="0"/>
              <a:t>cast() </a:t>
            </a:r>
            <a:r>
              <a:rPr lang="en-US" dirty="0" smtClean="0"/>
              <a:t>function.</a:t>
            </a:r>
          </a:p>
          <a:p>
            <a:pPr fontAlgn="base"/>
            <a:r>
              <a:rPr lang="en-US" b="1" i="1" dirty="0"/>
              <a:t>Syntax:</a:t>
            </a:r>
            <a:r>
              <a:rPr lang="en-US" i="1" dirty="0"/>
              <a:t/>
            </a:r>
            <a:br>
              <a:rPr lang="en-US" i="1" dirty="0"/>
            </a:br>
            <a:r>
              <a:rPr lang="en-US" i="1" dirty="0"/>
              <a:t>cast(data, formula, </a:t>
            </a:r>
            <a:r>
              <a:rPr lang="en-US" i="1" dirty="0" err="1"/>
              <a:t>fun.aggregate</a:t>
            </a:r>
            <a:r>
              <a:rPr lang="en-US" i="1" dirty="0"/>
              <a:t>)</a:t>
            </a:r>
          </a:p>
          <a:p>
            <a:pPr fontAlgn="base"/>
            <a:r>
              <a:rPr lang="en-US" b="1" i="1" dirty="0"/>
              <a:t>Parameters:</a:t>
            </a:r>
            <a:r>
              <a:rPr lang="en-US" i="1" dirty="0"/>
              <a:t/>
            </a:r>
            <a:br>
              <a:rPr lang="en-US" i="1" dirty="0"/>
            </a:br>
            <a:r>
              <a:rPr lang="en-US" b="1" i="1" dirty="0"/>
              <a:t>data:</a:t>
            </a:r>
            <a:r>
              <a:rPr lang="en-US" i="1" dirty="0"/>
              <a:t> represents dataset</a:t>
            </a:r>
            <a:br>
              <a:rPr lang="en-US" i="1" dirty="0"/>
            </a:br>
            <a:r>
              <a:rPr lang="en-US" b="1" i="1" dirty="0"/>
              <a:t>formula:</a:t>
            </a:r>
            <a:r>
              <a:rPr lang="en-US" i="1" dirty="0"/>
              <a:t> represents the form in which data has to be reshaped</a:t>
            </a:r>
            <a:br>
              <a:rPr lang="en-US" i="1" dirty="0"/>
            </a:br>
            <a:r>
              <a:rPr lang="en-US" b="1" i="1" dirty="0" err="1"/>
              <a:t>fun.aggregate</a:t>
            </a:r>
            <a:r>
              <a:rPr lang="en-US" b="1" i="1" dirty="0"/>
              <a:t>:</a:t>
            </a:r>
            <a:r>
              <a:rPr lang="en-US" i="1" dirty="0"/>
              <a:t> represents aggregate function</a:t>
            </a:r>
          </a:p>
          <a:p>
            <a:endParaRPr lang="en-US" dirty="0"/>
          </a:p>
        </p:txBody>
      </p:sp>
    </p:spTree>
    <p:extLst>
      <p:ext uri="{BB962C8B-B14F-4D97-AF65-F5344CB8AC3E}">
        <p14:creationId xmlns:p14="http://schemas.microsoft.com/office/powerpoint/2010/main" val="20069746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fontAlgn="base">
              <a:buNone/>
            </a:pPr>
            <a:r>
              <a:rPr lang="en-US" dirty="0" err="1"/>
              <a:t>cast.data</a:t>
            </a:r>
            <a:r>
              <a:rPr lang="en-US" dirty="0"/>
              <a:t> &lt;- cast(</a:t>
            </a:r>
            <a:r>
              <a:rPr lang="en-US" dirty="0" err="1"/>
              <a:t>molten.data</a:t>
            </a:r>
            <a:r>
              <a:rPr lang="en-US" dirty="0"/>
              <a:t>, </a:t>
            </a:r>
            <a:r>
              <a:rPr lang="en-US" dirty="0" err="1"/>
              <a:t>n~variable</a:t>
            </a:r>
            <a:r>
              <a:rPr lang="en-US" dirty="0"/>
              <a:t>, sum)</a:t>
            </a:r>
          </a:p>
          <a:p>
            <a:pPr marL="0" indent="0" fontAlgn="base">
              <a:buNone/>
            </a:pPr>
            <a:r>
              <a:rPr lang="en-US" dirty="0" smtClean="0"/>
              <a:t>print(</a:t>
            </a:r>
            <a:r>
              <a:rPr lang="en-US" dirty="0" err="1" smtClean="0"/>
              <a:t>cast.data</a:t>
            </a:r>
            <a:r>
              <a:rPr lang="en-US" dirty="0"/>
              <a:t>)</a:t>
            </a:r>
          </a:p>
          <a:p>
            <a:pPr marL="0" indent="0" fontAlgn="base">
              <a:buNone/>
            </a:pPr>
            <a:r>
              <a:rPr lang="en-US" dirty="0" smtClean="0"/>
              <a:t>cat</a:t>
            </a:r>
            <a:r>
              <a:rPr lang="en-US" dirty="0"/>
              <a:t>("\n</a:t>
            </a:r>
            <a:r>
              <a:rPr lang="en-US" dirty="0" smtClean="0"/>
              <a:t>")</a:t>
            </a:r>
          </a:p>
          <a:p>
            <a:pPr marL="0" indent="0" fontAlgn="base">
              <a:buNone/>
            </a:pPr>
            <a:r>
              <a:rPr lang="en-US" dirty="0" err="1" smtClean="0"/>
              <a:t>time.cast</a:t>
            </a:r>
            <a:r>
              <a:rPr lang="en-US" dirty="0" smtClean="0"/>
              <a:t> </a:t>
            </a:r>
            <a:r>
              <a:rPr lang="en-US" dirty="0"/>
              <a:t>&lt;- cast(</a:t>
            </a:r>
            <a:r>
              <a:rPr lang="en-US" dirty="0" err="1"/>
              <a:t>molten.data</a:t>
            </a:r>
            <a:r>
              <a:rPr lang="en-US" dirty="0"/>
              <a:t>, </a:t>
            </a:r>
            <a:r>
              <a:rPr lang="en-US" dirty="0" err="1" smtClean="0"/>
              <a:t>time~variable</a:t>
            </a:r>
            <a:r>
              <a:rPr lang="en-US" dirty="0" smtClean="0"/>
              <a:t>, mean</a:t>
            </a:r>
            <a:r>
              <a:rPr lang="en-US" dirty="0"/>
              <a:t>)</a:t>
            </a:r>
          </a:p>
          <a:p>
            <a:pPr fontAlgn="base"/>
            <a:r>
              <a:rPr lang="en-US" dirty="0" smtClean="0"/>
              <a:t>print(</a:t>
            </a:r>
            <a:r>
              <a:rPr lang="en-US" dirty="0" err="1" smtClean="0"/>
              <a:t>time.cast</a:t>
            </a:r>
            <a:r>
              <a:rPr lang="en-US" dirty="0" smtClean="0"/>
              <a:t>)</a:t>
            </a:r>
            <a:endParaRPr lang="en-US" dirty="0"/>
          </a:p>
          <a:p>
            <a:endParaRPr lang="en-US" dirty="0"/>
          </a:p>
        </p:txBody>
      </p:sp>
    </p:spTree>
    <p:extLst>
      <p:ext uri="{BB962C8B-B14F-4D97-AF65-F5344CB8AC3E}">
        <p14:creationId xmlns:p14="http://schemas.microsoft.com/office/powerpoint/2010/main" val="38188138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s-ES" dirty="0" smtClean="0"/>
              <a:t>    n </a:t>
            </a:r>
            <a:r>
              <a:rPr lang="es-ES" dirty="0"/>
              <a:t>x  y</a:t>
            </a:r>
          </a:p>
          <a:p>
            <a:r>
              <a:rPr lang="es-ES" dirty="0"/>
              <a:t>1 1 9  5</a:t>
            </a:r>
          </a:p>
          <a:p>
            <a:r>
              <a:rPr lang="es-ES" dirty="0"/>
              <a:t>2 2 7 15</a:t>
            </a:r>
          </a:p>
          <a:p>
            <a:endParaRPr lang="es-ES" dirty="0"/>
          </a:p>
          <a:p>
            <a:r>
              <a:rPr lang="es-ES" dirty="0"/>
              <a:t> </a:t>
            </a:r>
            <a:r>
              <a:rPr lang="es-ES" dirty="0" smtClean="0"/>
              <a:t>   </a:t>
            </a:r>
            <a:r>
              <a:rPr lang="es-ES" dirty="0"/>
              <a:t>time x   y</a:t>
            </a:r>
          </a:p>
          <a:p>
            <a:r>
              <a:rPr lang="es-ES" dirty="0"/>
              <a:t>1    </a:t>
            </a:r>
            <a:r>
              <a:rPr lang="es-ES" dirty="0" smtClean="0"/>
              <a:t>1    </a:t>
            </a:r>
            <a:r>
              <a:rPr lang="es-ES" dirty="0"/>
              <a:t>4 3.5</a:t>
            </a:r>
          </a:p>
          <a:p>
            <a:r>
              <a:rPr lang="es-ES" dirty="0"/>
              <a:t>2    2 </a:t>
            </a:r>
            <a:r>
              <a:rPr lang="es-ES" dirty="0" smtClean="0"/>
              <a:t>   4 </a:t>
            </a:r>
            <a:r>
              <a:rPr lang="es-ES" dirty="0"/>
              <a:t>6.5</a:t>
            </a:r>
            <a:endParaRPr lang="en-US" dirty="0"/>
          </a:p>
        </p:txBody>
      </p:sp>
    </p:spTree>
    <p:extLst>
      <p:ext uri="{BB962C8B-B14F-4D97-AF65-F5344CB8AC3E}">
        <p14:creationId xmlns:p14="http://schemas.microsoft.com/office/powerpoint/2010/main" val="13917109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9218"/>
            <a:ext cx="8229600" cy="4525963"/>
          </a:xfrm>
        </p:spPr>
        <p:txBody>
          <a:bodyPr>
            <a:normAutofit fontScale="92500" lnSpcReduction="10000"/>
          </a:bodyPr>
          <a:lstStyle/>
          <a:p>
            <a:r>
              <a:rPr lang="en-US" b="1" dirty="0" smtClean="0"/>
              <a:t>From </a:t>
            </a:r>
            <a:r>
              <a:rPr lang="en-US" b="1" dirty="0"/>
              <a:t>wide to long</a:t>
            </a:r>
          </a:p>
          <a:p>
            <a:r>
              <a:rPr lang="en-US" dirty="0"/>
              <a:t>Use gather(data, key, value, …)</a:t>
            </a:r>
          </a:p>
          <a:p>
            <a:r>
              <a:rPr lang="en-US" dirty="0"/>
              <a:t>data = the </a:t>
            </a:r>
            <a:r>
              <a:rPr lang="en-US" dirty="0" err="1"/>
              <a:t>dataframe</a:t>
            </a:r>
            <a:r>
              <a:rPr lang="en-US" dirty="0"/>
              <a:t> you want to morph from wide to long</a:t>
            </a:r>
          </a:p>
          <a:p>
            <a:r>
              <a:rPr lang="en-US" dirty="0"/>
              <a:t>key = the name of the new column that is levels of what is represented in the wide format as many columns</a:t>
            </a:r>
          </a:p>
          <a:p>
            <a:r>
              <a:rPr lang="en-US" dirty="0"/>
              <a:t>value = the name of the column that will contain the </a:t>
            </a:r>
            <a:r>
              <a:rPr lang="en-US" dirty="0" smtClean="0"/>
              <a:t>values</a:t>
            </a:r>
            <a:endParaRPr lang="en-US" dirty="0"/>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962400"/>
            <a:ext cx="5343525"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55147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04800"/>
            <a:ext cx="8229600" cy="6324600"/>
          </a:xfrm>
        </p:spPr>
        <p:txBody>
          <a:bodyPr>
            <a:normAutofit fontScale="92500" lnSpcReduction="10000"/>
          </a:bodyPr>
          <a:lstStyle/>
          <a:p>
            <a:pPr marL="457200" lvl="1" indent="0">
              <a:buNone/>
            </a:pPr>
            <a:r>
              <a:rPr lang="en-US" dirty="0" smtClean="0"/>
              <a:t>         country 		`</a:t>
            </a:r>
            <a:r>
              <a:rPr lang="en-US" dirty="0"/>
              <a:t>1999</a:t>
            </a:r>
            <a:r>
              <a:rPr lang="en-US" dirty="0" smtClean="0"/>
              <a:t>`	 </a:t>
            </a:r>
            <a:r>
              <a:rPr lang="en-US" dirty="0"/>
              <a:t>`2000`</a:t>
            </a:r>
          </a:p>
          <a:p>
            <a:r>
              <a:rPr lang="en-US" dirty="0" smtClean="0"/>
              <a:t>## </a:t>
            </a:r>
            <a:r>
              <a:rPr lang="en-US" dirty="0"/>
              <a:t>1 Afghanistan   </a:t>
            </a:r>
            <a:r>
              <a:rPr lang="en-US" dirty="0" smtClean="0"/>
              <a:t>	 </a:t>
            </a:r>
            <a:r>
              <a:rPr lang="en-US" dirty="0"/>
              <a:t>745   </a:t>
            </a:r>
            <a:r>
              <a:rPr lang="en-US" dirty="0" smtClean="0"/>
              <a:t>	2666</a:t>
            </a:r>
            <a:endParaRPr lang="en-US" dirty="0"/>
          </a:p>
          <a:p>
            <a:r>
              <a:rPr lang="en-US" dirty="0"/>
              <a:t>## 2      Brazil  </a:t>
            </a:r>
            <a:r>
              <a:rPr lang="en-US" dirty="0" smtClean="0"/>
              <a:t>		37737 	 </a:t>
            </a:r>
            <a:r>
              <a:rPr lang="en-US" dirty="0"/>
              <a:t>80488</a:t>
            </a:r>
          </a:p>
          <a:p>
            <a:r>
              <a:rPr lang="en-US" dirty="0"/>
              <a:t>## 3       China </a:t>
            </a:r>
            <a:r>
              <a:rPr lang="en-US" dirty="0" smtClean="0"/>
              <a:t>		212258 	213766</a:t>
            </a:r>
          </a:p>
          <a:p>
            <a:r>
              <a:rPr lang="en-US" dirty="0"/>
              <a:t>table4 %&gt;% gather("year", "cases", 2:3</a:t>
            </a:r>
            <a:r>
              <a:rPr lang="en-US" dirty="0" smtClean="0"/>
              <a:t>)</a:t>
            </a:r>
          </a:p>
          <a:p>
            <a:pPr marL="0" indent="0">
              <a:buNone/>
            </a:pPr>
            <a:r>
              <a:rPr lang="en-US" dirty="0"/>
              <a:t>	</a:t>
            </a:r>
            <a:r>
              <a:rPr lang="en-US" dirty="0" smtClean="0"/>
              <a:t>country  		year  		cases</a:t>
            </a:r>
            <a:endParaRPr lang="en-US" dirty="0"/>
          </a:p>
          <a:p>
            <a:r>
              <a:rPr lang="en-US" dirty="0" smtClean="0"/>
              <a:t>## </a:t>
            </a:r>
            <a:r>
              <a:rPr lang="en-US" dirty="0"/>
              <a:t>1 Afghanistan  </a:t>
            </a:r>
            <a:r>
              <a:rPr lang="en-US" dirty="0" smtClean="0"/>
              <a:t>	1999    	745</a:t>
            </a:r>
            <a:endParaRPr lang="en-US" dirty="0"/>
          </a:p>
          <a:p>
            <a:r>
              <a:rPr lang="en-US" dirty="0"/>
              <a:t>## 2      Brazil  </a:t>
            </a:r>
            <a:r>
              <a:rPr lang="en-US" dirty="0" smtClean="0"/>
              <a:t>		1999  	37737</a:t>
            </a:r>
            <a:endParaRPr lang="en-US" dirty="0"/>
          </a:p>
          <a:p>
            <a:r>
              <a:rPr lang="en-US" dirty="0"/>
              <a:t>## 3       China  </a:t>
            </a:r>
            <a:r>
              <a:rPr lang="en-US" dirty="0" smtClean="0"/>
              <a:t>		1999 		212258</a:t>
            </a:r>
            <a:endParaRPr lang="en-US" dirty="0"/>
          </a:p>
          <a:p>
            <a:r>
              <a:rPr lang="en-US" dirty="0"/>
              <a:t>## 4 Afghanistan  </a:t>
            </a:r>
            <a:r>
              <a:rPr lang="en-US" dirty="0" smtClean="0"/>
              <a:t>	2000   	2666</a:t>
            </a:r>
            <a:endParaRPr lang="en-US" dirty="0"/>
          </a:p>
          <a:p>
            <a:r>
              <a:rPr lang="en-US" dirty="0"/>
              <a:t>## 5      Brazil  </a:t>
            </a:r>
            <a:r>
              <a:rPr lang="en-US" dirty="0" smtClean="0"/>
              <a:t>		2000 		80488</a:t>
            </a:r>
            <a:endParaRPr lang="en-US" dirty="0"/>
          </a:p>
          <a:p>
            <a:r>
              <a:rPr lang="en-US" dirty="0"/>
              <a:t>## 6       China </a:t>
            </a:r>
            <a:r>
              <a:rPr lang="en-US" dirty="0" smtClean="0"/>
              <a:t>		 </a:t>
            </a:r>
            <a:r>
              <a:rPr lang="en-US" dirty="0"/>
              <a:t>2000 </a:t>
            </a:r>
            <a:r>
              <a:rPr lang="en-US" dirty="0" smtClean="0"/>
              <a:t>	213766</a:t>
            </a:r>
            <a:endParaRPr lang="en-US" dirty="0"/>
          </a:p>
        </p:txBody>
      </p:sp>
    </p:spTree>
    <p:extLst>
      <p:ext uri="{BB962C8B-B14F-4D97-AF65-F5344CB8AC3E}">
        <p14:creationId xmlns:p14="http://schemas.microsoft.com/office/powerpoint/2010/main" val="34109925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From long to wide</a:t>
            </a:r>
          </a:p>
          <a:p>
            <a:r>
              <a:rPr lang="en-US" dirty="0"/>
              <a:t>Use spread(data, key, value)</a:t>
            </a:r>
          </a:p>
          <a:p>
            <a:r>
              <a:rPr lang="en-US" dirty="0"/>
              <a:t>data = the </a:t>
            </a:r>
            <a:r>
              <a:rPr lang="en-US" dirty="0" err="1"/>
              <a:t>dataframe</a:t>
            </a:r>
            <a:r>
              <a:rPr lang="en-US" dirty="0"/>
              <a:t> you want to morph from long to wide</a:t>
            </a:r>
          </a:p>
          <a:p>
            <a:r>
              <a:rPr lang="en-US" dirty="0"/>
              <a:t>key = the name of the column that contains the key</a:t>
            </a:r>
          </a:p>
          <a:p>
            <a:r>
              <a:rPr lang="en-US" dirty="0"/>
              <a:t>value = the name of the column contains the values</a:t>
            </a:r>
          </a:p>
        </p:txBody>
      </p:sp>
    </p:spTree>
    <p:extLst>
      <p:ext uri="{BB962C8B-B14F-4D97-AF65-F5344CB8AC3E}">
        <p14:creationId xmlns:p14="http://schemas.microsoft.com/office/powerpoint/2010/main" val="27695210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r>
              <a:rPr lang="en-US" b="1" dirty="0"/>
              <a:t>Separate one column into many</a:t>
            </a:r>
          </a:p>
          <a:p>
            <a:r>
              <a:rPr lang="en-US" b="1" i="1" dirty="0" smtClean="0"/>
              <a:t>separate(data</a:t>
            </a:r>
            <a:r>
              <a:rPr lang="en-US" b="1" i="1" dirty="0"/>
              <a:t>, col, into)</a:t>
            </a:r>
          </a:p>
          <a:p>
            <a:pPr lvl="1"/>
            <a:r>
              <a:rPr lang="en-US" dirty="0"/>
              <a:t>data = </a:t>
            </a:r>
            <a:r>
              <a:rPr lang="en-US" dirty="0" err="1"/>
              <a:t>dataframe</a:t>
            </a:r>
            <a:endParaRPr lang="en-US" dirty="0"/>
          </a:p>
          <a:p>
            <a:pPr lvl="1"/>
            <a:r>
              <a:rPr lang="en-US" dirty="0"/>
              <a:t>col = name of column to separate</a:t>
            </a:r>
          </a:p>
          <a:p>
            <a:pPr lvl="1"/>
            <a:r>
              <a:rPr lang="en-US" dirty="0"/>
              <a:t>into = character vector of new column [note- these need quotes]</a:t>
            </a:r>
          </a:p>
          <a:p>
            <a:pPr marL="0" indent="0">
              <a:buNone/>
            </a:pP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810000"/>
            <a:ext cx="7467600" cy="253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52094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228600"/>
            <a:ext cx="8229600" cy="6248400"/>
          </a:xfrm>
        </p:spPr>
        <p:txBody>
          <a:bodyPr>
            <a:normAutofit fontScale="77500" lnSpcReduction="20000"/>
          </a:bodyPr>
          <a:lstStyle/>
          <a:p>
            <a:r>
              <a:rPr lang="en-US" dirty="0"/>
              <a:t> </a:t>
            </a:r>
            <a:r>
              <a:rPr lang="en-US" dirty="0" smtClean="0"/>
              <a:t>		country  	year              </a:t>
            </a:r>
            <a:r>
              <a:rPr lang="en-US" dirty="0"/>
              <a:t>rate</a:t>
            </a:r>
          </a:p>
          <a:p>
            <a:r>
              <a:rPr lang="en-US" dirty="0" smtClean="0"/>
              <a:t>## </a:t>
            </a:r>
            <a:r>
              <a:rPr lang="en-US" dirty="0"/>
              <a:t>1 Afghanistan  </a:t>
            </a:r>
            <a:r>
              <a:rPr lang="en-US" dirty="0" smtClean="0"/>
              <a:t>	1999      </a:t>
            </a:r>
            <a:r>
              <a:rPr lang="en-US" dirty="0"/>
              <a:t>745/19987071</a:t>
            </a:r>
          </a:p>
          <a:p>
            <a:r>
              <a:rPr lang="en-US" dirty="0"/>
              <a:t>## 2 Afghanistan  </a:t>
            </a:r>
            <a:r>
              <a:rPr lang="en-US" dirty="0" smtClean="0"/>
              <a:t>	2000     </a:t>
            </a:r>
            <a:r>
              <a:rPr lang="en-US" dirty="0"/>
              <a:t>2666/20595360</a:t>
            </a:r>
          </a:p>
          <a:p>
            <a:r>
              <a:rPr lang="en-US" dirty="0"/>
              <a:t>## 3      Brazil  </a:t>
            </a:r>
            <a:r>
              <a:rPr lang="en-US" dirty="0" smtClean="0"/>
              <a:t>	1999   </a:t>
            </a:r>
            <a:r>
              <a:rPr lang="en-US" dirty="0"/>
              <a:t>37737/172006362</a:t>
            </a:r>
          </a:p>
          <a:p>
            <a:r>
              <a:rPr lang="en-US" dirty="0"/>
              <a:t>## 4      Brazil </a:t>
            </a:r>
            <a:r>
              <a:rPr lang="en-US" dirty="0" smtClean="0"/>
              <a:t>	2000   </a:t>
            </a:r>
            <a:r>
              <a:rPr lang="en-US" dirty="0"/>
              <a:t>80488/174504898</a:t>
            </a:r>
          </a:p>
          <a:p>
            <a:r>
              <a:rPr lang="en-US" dirty="0"/>
              <a:t>## 5       China  </a:t>
            </a:r>
            <a:r>
              <a:rPr lang="en-US" dirty="0" smtClean="0"/>
              <a:t>	1999 </a:t>
            </a:r>
            <a:r>
              <a:rPr lang="en-US" dirty="0"/>
              <a:t>212258/1272915272</a:t>
            </a:r>
          </a:p>
          <a:p>
            <a:r>
              <a:rPr lang="en-US" dirty="0"/>
              <a:t>## 6       China  </a:t>
            </a:r>
            <a:r>
              <a:rPr lang="en-US" dirty="0" smtClean="0"/>
              <a:t>	2000</a:t>
            </a:r>
            <a:r>
              <a:rPr lang="en-US" dirty="0"/>
              <a:t>213766/1280428583</a:t>
            </a:r>
          </a:p>
          <a:p>
            <a:r>
              <a:rPr lang="en-US" b="1" dirty="0" smtClean="0"/>
              <a:t>table3 </a:t>
            </a:r>
            <a:r>
              <a:rPr lang="en-US" b="1" dirty="0"/>
              <a:t>%&gt;%</a:t>
            </a:r>
          </a:p>
          <a:p>
            <a:r>
              <a:rPr lang="en-US" b="1" dirty="0"/>
              <a:t>    separate(rate, c("cases", "population"), </a:t>
            </a:r>
            <a:r>
              <a:rPr lang="en-US" b="1" dirty="0" err="1"/>
              <a:t>sep</a:t>
            </a:r>
            <a:r>
              <a:rPr lang="en-US" b="1" dirty="0"/>
              <a:t>="/")</a:t>
            </a:r>
          </a:p>
          <a:p>
            <a:r>
              <a:rPr lang="en-US" dirty="0" smtClean="0"/>
              <a:t>##       </a:t>
            </a:r>
            <a:r>
              <a:rPr lang="en-US" dirty="0"/>
              <a:t>country  </a:t>
            </a:r>
            <a:r>
              <a:rPr lang="en-US" dirty="0" smtClean="0"/>
              <a:t>	year  	cases </a:t>
            </a:r>
            <a:r>
              <a:rPr lang="en-US" dirty="0"/>
              <a:t>population</a:t>
            </a:r>
          </a:p>
          <a:p>
            <a:r>
              <a:rPr lang="en-US" dirty="0" smtClean="0"/>
              <a:t>## </a:t>
            </a:r>
            <a:r>
              <a:rPr lang="en-US" dirty="0"/>
              <a:t>1 Afghanistan </a:t>
            </a:r>
            <a:r>
              <a:rPr lang="en-US" dirty="0" smtClean="0"/>
              <a:t>	 </a:t>
            </a:r>
            <a:r>
              <a:rPr lang="en-US" dirty="0"/>
              <a:t>1999    745   19987071</a:t>
            </a:r>
          </a:p>
          <a:p>
            <a:r>
              <a:rPr lang="en-US" dirty="0"/>
              <a:t>## 2 Afghanistan  </a:t>
            </a:r>
            <a:r>
              <a:rPr lang="en-US" dirty="0" smtClean="0"/>
              <a:t>	2000   </a:t>
            </a:r>
            <a:r>
              <a:rPr lang="en-US" dirty="0"/>
              <a:t>2666   20595360</a:t>
            </a:r>
          </a:p>
          <a:p>
            <a:r>
              <a:rPr lang="en-US" dirty="0"/>
              <a:t>## 3      Brazil  </a:t>
            </a:r>
            <a:r>
              <a:rPr lang="en-US" dirty="0" smtClean="0"/>
              <a:t>	1999  </a:t>
            </a:r>
            <a:r>
              <a:rPr lang="en-US" dirty="0"/>
              <a:t>37737  172006362</a:t>
            </a:r>
          </a:p>
          <a:p>
            <a:r>
              <a:rPr lang="en-US" dirty="0"/>
              <a:t>## 4      Brazil  </a:t>
            </a:r>
            <a:r>
              <a:rPr lang="en-US" dirty="0" smtClean="0"/>
              <a:t>	2000  </a:t>
            </a:r>
            <a:r>
              <a:rPr lang="en-US" dirty="0"/>
              <a:t>80488  174504898</a:t>
            </a:r>
          </a:p>
          <a:p>
            <a:r>
              <a:rPr lang="en-US" dirty="0"/>
              <a:t>## 5       China  </a:t>
            </a:r>
            <a:r>
              <a:rPr lang="en-US" dirty="0" smtClean="0"/>
              <a:t>	1999 </a:t>
            </a:r>
            <a:r>
              <a:rPr lang="en-US" dirty="0"/>
              <a:t>212258 1272915272</a:t>
            </a:r>
          </a:p>
          <a:p>
            <a:r>
              <a:rPr lang="en-US" dirty="0"/>
              <a:t>## 6       China  </a:t>
            </a:r>
            <a:r>
              <a:rPr lang="en-US" dirty="0" smtClean="0"/>
              <a:t>	2000 </a:t>
            </a:r>
            <a:r>
              <a:rPr lang="en-US" dirty="0"/>
              <a:t>213766 </a:t>
            </a:r>
            <a:r>
              <a:rPr lang="en-US" dirty="0" smtClean="0"/>
              <a:t>1280428583</a:t>
            </a:r>
            <a:endParaRPr lang="en-US" dirty="0"/>
          </a:p>
        </p:txBody>
      </p:sp>
    </p:spTree>
    <p:extLst>
      <p:ext uri="{BB962C8B-B14F-4D97-AF65-F5344CB8AC3E}">
        <p14:creationId xmlns:p14="http://schemas.microsoft.com/office/powerpoint/2010/main" val="27282588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457200"/>
            <a:ext cx="8229600" cy="4525963"/>
          </a:xfrm>
        </p:spPr>
        <p:txBody>
          <a:bodyPr>
            <a:normAutofit/>
          </a:bodyPr>
          <a:lstStyle/>
          <a:p>
            <a:r>
              <a:rPr lang="en-US" dirty="0"/>
              <a:t>Unite many columns into one</a:t>
            </a:r>
          </a:p>
          <a:p>
            <a:pPr lvl="1"/>
            <a:r>
              <a:rPr lang="en-US" dirty="0" smtClean="0"/>
              <a:t>unite(data</a:t>
            </a:r>
            <a:r>
              <a:rPr lang="en-US" dirty="0"/>
              <a:t>, col, …)</a:t>
            </a:r>
          </a:p>
          <a:p>
            <a:pPr lvl="1"/>
            <a:r>
              <a:rPr lang="en-US" dirty="0" smtClean="0"/>
              <a:t>data </a:t>
            </a:r>
            <a:r>
              <a:rPr lang="en-US" dirty="0"/>
              <a:t>= </a:t>
            </a:r>
            <a:r>
              <a:rPr lang="en-US" dirty="0" err="1"/>
              <a:t>dataframe</a:t>
            </a:r>
            <a:endParaRPr lang="en-US" dirty="0"/>
          </a:p>
          <a:p>
            <a:pPr lvl="1"/>
            <a:r>
              <a:rPr lang="en-US" dirty="0" smtClean="0"/>
              <a:t>col </a:t>
            </a:r>
            <a:r>
              <a:rPr lang="en-US" dirty="0"/>
              <a:t>= name of column to separate</a:t>
            </a:r>
          </a:p>
          <a:p>
            <a:pPr lvl="1"/>
            <a:r>
              <a:rPr lang="en-US" dirty="0" smtClean="0"/>
              <a:t>… </a:t>
            </a:r>
            <a:r>
              <a:rPr lang="en-US" dirty="0"/>
              <a:t>= bare names of </a:t>
            </a:r>
            <a:r>
              <a:rPr lang="en-US" dirty="0" smtClean="0"/>
              <a:t>columns </a:t>
            </a:r>
            <a:r>
              <a:rPr lang="en-US" dirty="0"/>
              <a:t>to </a:t>
            </a:r>
            <a:r>
              <a:rPr lang="en-US" dirty="0" smtClean="0"/>
              <a:t>unite</a:t>
            </a:r>
          </a:p>
          <a:p>
            <a:pPr lvl="1"/>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3581400"/>
            <a:ext cx="4410075"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824976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52400"/>
            <a:ext cx="8229600" cy="6248400"/>
          </a:xfrm>
        </p:spPr>
        <p:txBody>
          <a:bodyPr>
            <a:normAutofit fontScale="85000" lnSpcReduction="20000"/>
          </a:bodyPr>
          <a:lstStyle/>
          <a:p>
            <a:pPr marL="0" indent="0">
              <a:buNone/>
            </a:pPr>
            <a:r>
              <a:rPr lang="en-US" dirty="0" smtClean="0"/>
              <a:t>	country 	century  	year              </a:t>
            </a:r>
            <a:r>
              <a:rPr lang="en-US" dirty="0"/>
              <a:t>rate</a:t>
            </a:r>
          </a:p>
          <a:p>
            <a:r>
              <a:rPr lang="en-US" dirty="0" smtClean="0"/>
              <a:t>## </a:t>
            </a:r>
            <a:r>
              <a:rPr lang="en-US" dirty="0"/>
              <a:t>1 </a:t>
            </a:r>
            <a:r>
              <a:rPr lang="en-US" dirty="0" err="1" smtClean="0"/>
              <a:t>Afghanista</a:t>
            </a:r>
            <a:r>
              <a:rPr lang="en-US" dirty="0" smtClean="0"/>
              <a:t>  </a:t>
            </a:r>
            <a:r>
              <a:rPr lang="en-US" dirty="0"/>
              <a:t>19    </a:t>
            </a:r>
            <a:r>
              <a:rPr lang="en-US" dirty="0" smtClean="0"/>
              <a:t>	99      </a:t>
            </a:r>
            <a:r>
              <a:rPr lang="en-US" dirty="0"/>
              <a:t>745/19987071</a:t>
            </a:r>
          </a:p>
          <a:p>
            <a:r>
              <a:rPr lang="en-US" dirty="0"/>
              <a:t>## 2 Afghanistan </a:t>
            </a:r>
            <a:r>
              <a:rPr lang="en-US" dirty="0" smtClean="0"/>
              <a:t>20    </a:t>
            </a:r>
            <a:r>
              <a:rPr lang="en-US" dirty="0"/>
              <a:t>00     2666/20595360</a:t>
            </a:r>
          </a:p>
          <a:p>
            <a:r>
              <a:rPr lang="en-US" dirty="0"/>
              <a:t>## 3      Brazil      19    99   37737/172006362</a:t>
            </a:r>
          </a:p>
          <a:p>
            <a:r>
              <a:rPr lang="en-US" dirty="0"/>
              <a:t>## 4      Brazil      20    00   80488/174504898</a:t>
            </a:r>
          </a:p>
          <a:p>
            <a:r>
              <a:rPr lang="en-US" dirty="0"/>
              <a:t>## 5       China      19    99 212258/1272915272</a:t>
            </a:r>
          </a:p>
          <a:p>
            <a:r>
              <a:rPr lang="en-US" dirty="0"/>
              <a:t>## 6       China      20    00 </a:t>
            </a:r>
            <a:r>
              <a:rPr lang="en-US" dirty="0" smtClean="0"/>
              <a:t>213766/1280428583</a:t>
            </a:r>
          </a:p>
          <a:p>
            <a:r>
              <a:rPr lang="en-US" dirty="0"/>
              <a:t>table6 %&gt;% unite("year", century, year, </a:t>
            </a:r>
            <a:r>
              <a:rPr lang="en-US" dirty="0" err="1"/>
              <a:t>sep</a:t>
            </a:r>
            <a:r>
              <a:rPr lang="en-US" dirty="0" smtClean="0"/>
              <a:t>="")</a:t>
            </a:r>
          </a:p>
          <a:p>
            <a:r>
              <a:rPr lang="en-US" dirty="0" smtClean="0">
                <a:solidFill>
                  <a:srgbClr val="FF0000"/>
                </a:solidFill>
              </a:rPr>
              <a:t>##       </a:t>
            </a:r>
            <a:r>
              <a:rPr lang="en-US" dirty="0">
                <a:solidFill>
                  <a:srgbClr val="FF0000"/>
                </a:solidFill>
              </a:rPr>
              <a:t>country  year              rate</a:t>
            </a:r>
          </a:p>
          <a:p>
            <a:r>
              <a:rPr lang="en-US" dirty="0" smtClean="0"/>
              <a:t>## </a:t>
            </a:r>
            <a:r>
              <a:rPr lang="en-US" dirty="0"/>
              <a:t>1 Afghanistan  1999      745/19987071</a:t>
            </a:r>
          </a:p>
          <a:p>
            <a:r>
              <a:rPr lang="en-US" dirty="0"/>
              <a:t>## 2 Afghanistan  2000     2666/20595360</a:t>
            </a:r>
          </a:p>
          <a:p>
            <a:r>
              <a:rPr lang="en-US" dirty="0"/>
              <a:t>## 3      Brazil  1999   37737/172006362</a:t>
            </a:r>
          </a:p>
          <a:p>
            <a:r>
              <a:rPr lang="en-US" dirty="0"/>
              <a:t>## 4      Brazil  2000   80488/174504898</a:t>
            </a:r>
          </a:p>
          <a:p>
            <a:r>
              <a:rPr lang="en-US" dirty="0"/>
              <a:t>## 5       China  1999 212258/1272915272</a:t>
            </a:r>
          </a:p>
          <a:p>
            <a:r>
              <a:rPr lang="en-US" dirty="0"/>
              <a:t>## 6       China  2000 213766/1280428583</a:t>
            </a:r>
          </a:p>
        </p:txBody>
      </p:sp>
    </p:spTree>
    <p:extLst>
      <p:ext uri="{BB962C8B-B14F-4D97-AF65-F5344CB8AC3E}">
        <p14:creationId xmlns:p14="http://schemas.microsoft.com/office/powerpoint/2010/main" val="31632557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657</TotalTime>
  <Words>1460</Words>
  <Application>Microsoft Office PowerPoint</Application>
  <PresentationFormat>On-screen Show (4:3)</PresentationFormat>
  <Paragraphs>569</Paragraphs>
  <Slides>56</Slides>
  <Notes>0</Notes>
  <HiddenSlides>0</HiddenSlides>
  <MMClips>0</MMClips>
  <ScaleCrop>false</ScaleCrop>
  <HeadingPairs>
    <vt:vector size="4" baseType="variant">
      <vt:variant>
        <vt:lpstr>Theme</vt:lpstr>
      </vt:variant>
      <vt:variant>
        <vt:i4>1</vt:i4>
      </vt:variant>
      <vt:variant>
        <vt:lpstr>Slide Titles</vt:lpstr>
      </vt:variant>
      <vt:variant>
        <vt:i4>56</vt:i4>
      </vt:variant>
    </vt:vector>
  </HeadingPairs>
  <TitlesOfParts>
    <vt:vector size="57" baseType="lpstr">
      <vt:lpstr>Office Theme</vt:lpstr>
      <vt:lpstr>PowerPoint Presentation</vt:lpstr>
      <vt:lpstr>Data Structures</vt:lpstr>
      <vt:lpstr>PowerPoint Presentation</vt:lpstr>
      <vt:lpstr>PowerPoint Presentation</vt:lpstr>
      <vt:lpstr>Lists</vt:lpstr>
      <vt:lpstr>PowerPoint Presentation</vt:lpstr>
      <vt:lpstr>Matrices</vt:lpstr>
      <vt:lpstr>PowerPoint Presentation</vt:lpstr>
      <vt:lpstr>PowerPoint Presentation</vt:lpstr>
      <vt:lpstr>PowerPoint Presentation</vt:lpstr>
      <vt:lpstr>Arrays</vt:lpstr>
      <vt:lpstr>PowerPoint Presentation</vt:lpstr>
      <vt:lpstr>PowerPoint Presentation</vt:lpstr>
      <vt:lpstr>Data Frames </vt:lpstr>
      <vt:lpstr>PowerPoint Presentation</vt:lpstr>
      <vt:lpstr>Factors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Loop</vt:lpstr>
      <vt:lpstr>PowerPoint Presentation</vt:lpstr>
      <vt:lpstr>PowerPoint Presentation</vt:lpstr>
      <vt:lpstr>PowerPoint Presentation</vt:lpstr>
      <vt:lpstr>Data Reshaping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Kanagaraj</dc:creator>
  <cp:lastModifiedBy>Kanagaraj</cp:lastModifiedBy>
  <cp:revision>30</cp:revision>
  <dcterms:created xsi:type="dcterms:W3CDTF">2023-03-22T08:39:03Z</dcterms:created>
  <dcterms:modified xsi:type="dcterms:W3CDTF">2023-03-30T05:02:09Z</dcterms:modified>
</cp:coreProperties>
</file>