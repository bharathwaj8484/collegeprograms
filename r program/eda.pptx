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7"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00" d="100"/>
          <a:sy n="100" d="100"/>
        </p:scale>
        <p:origin x="5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9A20DD4-BCB2-46A8-9022-B41C1AA9D539}" type="datetimeFigureOut">
              <a:rPr lang="en-IN" smtClean="0"/>
              <a:t>27-03-2023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2D8B9-529D-4F1D-8418-2A6689484A45}" type="slidenum">
              <a:rPr lang="en-IN" smtClean="0"/>
              <a:t>‹#›</a:t>
            </a:fld>
            <a:endParaRPr lang="en-IN"/>
          </a:p>
        </p:txBody>
      </p:sp>
    </p:spTree>
    <p:extLst>
      <p:ext uri="{BB962C8B-B14F-4D97-AF65-F5344CB8AC3E}">
        <p14:creationId xmlns:p14="http://schemas.microsoft.com/office/powerpoint/2010/main" val="2615724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9A20DD4-BCB2-46A8-9022-B41C1AA9D539}" type="datetimeFigureOut">
              <a:rPr lang="en-IN" smtClean="0"/>
              <a:t>27-03-2023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2D8B9-529D-4F1D-8418-2A6689484A45}" type="slidenum">
              <a:rPr lang="en-IN" smtClean="0"/>
              <a:t>‹#›</a:t>
            </a:fld>
            <a:endParaRPr lang="en-IN"/>
          </a:p>
        </p:txBody>
      </p:sp>
    </p:spTree>
    <p:extLst>
      <p:ext uri="{BB962C8B-B14F-4D97-AF65-F5344CB8AC3E}">
        <p14:creationId xmlns:p14="http://schemas.microsoft.com/office/powerpoint/2010/main" val="4239461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9A20DD4-BCB2-46A8-9022-B41C1AA9D539}" type="datetimeFigureOut">
              <a:rPr lang="en-IN" smtClean="0"/>
              <a:t>27-03-2023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2D8B9-529D-4F1D-8418-2A6689484A45}" type="slidenum">
              <a:rPr lang="en-IN" smtClean="0"/>
              <a:t>‹#›</a:t>
            </a:fld>
            <a:endParaRPr lang="en-IN"/>
          </a:p>
        </p:txBody>
      </p:sp>
    </p:spTree>
    <p:extLst>
      <p:ext uri="{BB962C8B-B14F-4D97-AF65-F5344CB8AC3E}">
        <p14:creationId xmlns:p14="http://schemas.microsoft.com/office/powerpoint/2010/main" val="8520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9A20DD4-BCB2-46A8-9022-B41C1AA9D539}" type="datetimeFigureOut">
              <a:rPr lang="en-IN" smtClean="0"/>
              <a:t>27-03-2023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42D8B9-529D-4F1D-8418-2A6689484A45}" type="slidenum">
              <a:rPr lang="en-IN" smtClean="0"/>
              <a:t>‹#›</a:t>
            </a:fld>
            <a:endParaRPr lang="en-IN"/>
          </a:p>
        </p:txBody>
      </p:sp>
    </p:spTree>
    <p:extLst>
      <p:ext uri="{BB962C8B-B14F-4D97-AF65-F5344CB8AC3E}">
        <p14:creationId xmlns:p14="http://schemas.microsoft.com/office/powerpoint/2010/main" val="1671118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9A20DD4-BCB2-46A8-9022-B41C1AA9D539}" type="datetimeFigureOut">
              <a:rPr lang="en-IN" smtClean="0"/>
              <a:t>27-03-2023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42D8B9-529D-4F1D-8418-2A6689484A45}" type="slidenum">
              <a:rPr lang="en-IN" smtClean="0"/>
              <a:t>‹#›</a:t>
            </a:fld>
            <a:endParaRPr lang="en-IN"/>
          </a:p>
        </p:txBody>
      </p:sp>
    </p:spTree>
    <p:extLst>
      <p:ext uri="{BB962C8B-B14F-4D97-AF65-F5344CB8AC3E}">
        <p14:creationId xmlns:p14="http://schemas.microsoft.com/office/powerpoint/2010/main" val="3617247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9A20DD4-BCB2-46A8-9022-B41C1AA9D539}" type="datetimeFigureOut">
              <a:rPr lang="en-IN" smtClean="0"/>
              <a:t>27-03-2023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42D8B9-529D-4F1D-8418-2A6689484A45}" type="slidenum">
              <a:rPr lang="en-IN" smtClean="0"/>
              <a:t>‹#›</a:t>
            </a:fld>
            <a:endParaRPr lang="en-IN"/>
          </a:p>
        </p:txBody>
      </p:sp>
    </p:spTree>
    <p:extLst>
      <p:ext uri="{BB962C8B-B14F-4D97-AF65-F5344CB8AC3E}">
        <p14:creationId xmlns:p14="http://schemas.microsoft.com/office/powerpoint/2010/main" val="857060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A20DD4-BCB2-46A8-9022-B41C1AA9D539}" type="datetimeFigureOut">
              <a:rPr lang="en-IN" smtClean="0"/>
              <a:t>27-03-2023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42D8B9-529D-4F1D-8418-2A6689484A45}" type="slidenum">
              <a:rPr lang="en-IN" smtClean="0"/>
              <a:t>‹#›</a:t>
            </a:fld>
            <a:endParaRPr lang="en-IN"/>
          </a:p>
        </p:txBody>
      </p:sp>
    </p:spTree>
    <p:extLst>
      <p:ext uri="{BB962C8B-B14F-4D97-AF65-F5344CB8AC3E}">
        <p14:creationId xmlns:p14="http://schemas.microsoft.com/office/powerpoint/2010/main" val="3308658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A20DD4-BCB2-46A8-9022-B41C1AA9D539}" type="datetimeFigureOut">
              <a:rPr lang="en-IN" smtClean="0"/>
              <a:t>27-03-2023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42D8B9-529D-4F1D-8418-2A6689484A45}" type="slidenum">
              <a:rPr lang="en-IN" smtClean="0"/>
              <a:t>‹#›</a:t>
            </a:fld>
            <a:endParaRPr lang="en-IN"/>
          </a:p>
        </p:txBody>
      </p:sp>
    </p:spTree>
    <p:extLst>
      <p:ext uri="{BB962C8B-B14F-4D97-AF65-F5344CB8AC3E}">
        <p14:creationId xmlns:p14="http://schemas.microsoft.com/office/powerpoint/2010/main" val="1076456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A20DD4-BCB2-46A8-9022-B41C1AA9D539}" type="datetimeFigureOut">
              <a:rPr lang="en-IN" smtClean="0"/>
              <a:t>27-03-2023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42D8B9-529D-4F1D-8418-2A6689484A45}" type="slidenum">
              <a:rPr lang="en-IN" smtClean="0"/>
              <a:t>‹#›</a:t>
            </a:fld>
            <a:endParaRPr lang="en-IN"/>
          </a:p>
        </p:txBody>
      </p:sp>
    </p:spTree>
    <p:extLst>
      <p:ext uri="{BB962C8B-B14F-4D97-AF65-F5344CB8AC3E}">
        <p14:creationId xmlns:p14="http://schemas.microsoft.com/office/powerpoint/2010/main" val="2750931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9A20DD4-BCB2-46A8-9022-B41C1AA9D539}" type="datetimeFigureOut">
              <a:rPr lang="en-IN" smtClean="0"/>
              <a:t>27-03-2023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2D8B9-529D-4F1D-8418-2A6689484A45}" type="slidenum">
              <a:rPr lang="en-IN" smtClean="0"/>
              <a:t>‹#›</a:t>
            </a:fld>
            <a:endParaRPr lang="en-IN"/>
          </a:p>
        </p:txBody>
      </p:sp>
    </p:spTree>
    <p:extLst>
      <p:ext uri="{BB962C8B-B14F-4D97-AF65-F5344CB8AC3E}">
        <p14:creationId xmlns:p14="http://schemas.microsoft.com/office/powerpoint/2010/main" val="2945764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9A20DD4-BCB2-46A8-9022-B41C1AA9D539}" type="datetimeFigureOut">
              <a:rPr lang="en-IN" smtClean="0"/>
              <a:t>27-03-2023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2D8B9-529D-4F1D-8418-2A6689484A45}" type="slidenum">
              <a:rPr lang="en-IN" smtClean="0"/>
              <a:t>‹#›</a:t>
            </a:fld>
            <a:endParaRPr lang="en-IN"/>
          </a:p>
        </p:txBody>
      </p:sp>
    </p:spTree>
    <p:extLst>
      <p:ext uri="{BB962C8B-B14F-4D97-AF65-F5344CB8AC3E}">
        <p14:creationId xmlns:p14="http://schemas.microsoft.com/office/powerpoint/2010/main" val="1473093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A20DD4-BCB2-46A8-9022-B41C1AA9D539}" type="datetimeFigureOut">
              <a:rPr lang="en-IN" smtClean="0"/>
              <a:t>27-03-2023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42D8B9-529D-4F1D-8418-2A6689484A45}" type="slidenum">
              <a:rPr lang="en-IN" smtClean="0"/>
              <a:t>‹#›</a:t>
            </a:fld>
            <a:endParaRPr lang="en-IN"/>
          </a:p>
        </p:txBody>
      </p:sp>
    </p:spTree>
    <p:extLst>
      <p:ext uri="{BB962C8B-B14F-4D97-AF65-F5344CB8AC3E}">
        <p14:creationId xmlns:p14="http://schemas.microsoft.com/office/powerpoint/2010/main" val="12037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simplilearn.com/tutorials/statistics-tutorial/what-is-normal-distributio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09335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404" y="345616"/>
            <a:ext cx="10515600" cy="4351338"/>
          </a:xfrm>
        </p:spPr>
        <p:txBody>
          <a:bodyPr>
            <a:normAutofit fontScale="85000" lnSpcReduction="10000"/>
          </a:bodyPr>
          <a:lstStyle/>
          <a:p>
            <a:r>
              <a:rPr lang="en-US" b="1" dirty="0"/>
              <a:t>Mean:</a:t>
            </a:r>
            <a:r>
              <a:rPr lang="en-US" dirty="0"/>
              <a:t> Calculate sum of all the values and divide it with the total number of values in the data set</a:t>
            </a:r>
            <a:r>
              <a:rPr lang="en-US" dirty="0" smtClean="0"/>
              <a:t>.</a:t>
            </a:r>
          </a:p>
          <a:p>
            <a:endParaRPr lang="en-US" dirty="0" smtClean="0"/>
          </a:p>
          <a:p>
            <a:r>
              <a:rPr lang="en-US" dirty="0"/>
              <a:t>Where, </a:t>
            </a:r>
            <a:r>
              <a:rPr lang="en-US" b="1" dirty="0"/>
              <a:t>n</a:t>
            </a:r>
            <a:r>
              <a:rPr lang="en-US" dirty="0"/>
              <a:t> = number of terms</a:t>
            </a:r>
            <a:endParaRPr lang="en-US" b="1" dirty="0" smtClean="0"/>
          </a:p>
          <a:p>
            <a:r>
              <a:rPr lang="en-US" b="1" dirty="0" smtClean="0"/>
              <a:t>Median</a:t>
            </a:r>
            <a:r>
              <a:rPr lang="en-US" b="1" dirty="0"/>
              <a:t>:</a:t>
            </a:r>
            <a:r>
              <a:rPr lang="en-US" dirty="0"/>
              <a:t> The middle value of the data set</a:t>
            </a:r>
            <a:r>
              <a:rPr lang="en-US" dirty="0" smtClean="0"/>
              <a:t>.</a:t>
            </a:r>
          </a:p>
          <a:p>
            <a:endParaRPr lang="en-US" dirty="0"/>
          </a:p>
          <a:p>
            <a:endParaRPr lang="en-US" dirty="0" smtClean="0"/>
          </a:p>
          <a:p>
            <a:endParaRPr lang="en-US" dirty="0" smtClean="0"/>
          </a:p>
          <a:p>
            <a:endParaRPr lang="en-US" b="1" dirty="0" smtClean="0"/>
          </a:p>
          <a:p>
            <a:r>
              <a:rPr lang="en-US" b="1" dirty="0" smtClean="0"/>
              <a:t>Mode</a:t>
            </a:r>
            <a:r>
              <a:rPr lang="en-US" b="1" dirty="0"/>
              <a:t>:</a:t>
            </a:r>
            <a:r>
              <a:rPr lang="en-US" dirty="0"/>
              <a:t> The most occurring number in the data set. For calculating mode, there is no default function in R. So, we have to create our own custom function.</a:t>
            </a:r>
            <a:endParaRPr lang="en-IN" dirty="0"/>
          </a:p>
        </p:txBody>
      </p:sp>
      <p:pic>
        <p:nvPicPr>
          <p:cNvPr id="9218"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2283" y="689865"/>
            <a:ext cx="2743200" cy="115252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3268" y="1616505"/>
            <a:ext cx="4838700"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7126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6016" y="213645"/>
            <a:ext cx="10977784" cy="5963318"/>
          </a:xfrm>
        </p:spPr>
        <p:txBody>
          <a:bodyPr>
            <a:normAutofit/>
          </a:bodyPr>
          <a:lstStyle/>
          <a:p>
            <a:r>
              <a:rPr lang="en-US" dirty="0"/>
              <a:t>The term “</a:t>
            </a:r>
            <a:r>
              <a:rPr lang="en-US" dirty="0" err="1"/>
              <a:t>skewness</a:t>
            </a:r>
            <a:r>
              <a:rPr lang="en-US" dirty="0"/>
              <a:t>” refers to the statistical metric used to measure the asymmetry of a probability distribution of random variables about its mean. Its value can be positive, negative, or undefined. </a:t>
            </a:r>
            <a:endParaRPr lang="en-US" dirty="0" smtClean="0"/>
          </a:p>
          <a:p>
            <a:r>
              <a:rPr lang="en-US" dirty="0" smtClean="0"/>
              <a:t>The </a:t>
            </a:r>
            <a:r>
              <a:rPr lang="en-US" dirty="0" err="1"/>
              <a:t>skewness</a:t>
            </a:r>
            <a:r>
              <a:rPr lang="en-US" dirty="0"/>
              <a:t> equation is calculated based on the mean of the distribution, the number of variables, and the standard deviation of the distribution.</a:t>
            </a:r>
          </a:p>
          <a:p>
            <a:r>
              <a:rPr lang="en-US" dirty="0"/>
              <a:t>Mathematically, the </a:t>
            </a:r>
            <a:r>
              <a:rPr lang="en-US" dirty="0" err="1"/>
              <a:t>skewness</a:t>
            </a:r>
            <a:r>
              <a:rPr lang="en-US" dirty="0"/>
              <a:t> formula represents,</a:t>
            </a:r>
          </a:p>
          <a:p>
            <a:pPr marL="0" indent="0">
              <a:buNone/>
            </a:pPr>
            <a:endParaRPr lang="en-IN" dirty="0"/>
          </a:p>
        </p:txBody>
      </p:sp>
      <p:pic>
        <p:nvPicPr>
          <p:cNvPr id="6" name="Picture 2" descr="Skewness-Formu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2406" y="3597778"/>
            <a:ext cx="5401981" cy="2287588"/>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p:cNvSpPr txBox="1">
            <a:spLocks/>
          </p:cNvSpPr>
          <p:nvPr/>
        </p:nvSpPr>
        <p:spPr>
          <a:xfrm>
            <a:off x="6991499" y="3597778"/>
            <a:ext cx="4849412" cy="28224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smtClean="0"/>
              <a:t>where</a:t>
            </a:r>
          </a:p>
          <a:p>
            <a:r>
              <a:rPr lang="en-US" sz="2000" dirty="0" smtClean="0"/>
              <a:t>X</a:t>
            </a:r>
            <a:r>
              <a:rPr lang="en-US" sz="2000" baseline="-25000" dirty="0" smtClean="0"/>
              <a:t>i</a:t>
            </a:r>
            <a:r>
              <a:rPr lang="en-US" sz="2000" dirty="0" smtClean="0"/>
              <a:t> = </a:t>
            </a:r>
            <a:r>
              <a:rPr lang="en-US" sz="2000" dirty="0" err="1" smtClean="0"/>
              <a:t>i</a:t>
            </a:r>
            <a:r>
              <a:rPr lang="en-US" sz="2000" baseline="30000" dirty="0" err="1" smtClean="0"/>
              <a:t>th</a:t>
            </a:r>
            <a:r>
              <a:rPr lang="en-US" sz="2000" dirty="0" smtClean="0"/>
              <a:t> Random Variable</a:t>
            </a:r>
          </a:p>
          <a:p>
            <a:r>
              <a:rPr lang="en-US" sz="2000" dirty="0" smtClean="0"/>
              <a:t>X= Mean of the Distribution</a:t>
            </a:r>
          </a:p>
          <a:p>
            <a:r>
              <a:rPr lang="en-US" sz="2000" dirty="0" smtClean="0"/>
              <a:t>N = Number of Variables in the Distribution</a:t>
            </a:r>
          </a:p>
          <a:p>
            <a:r>
              <a:rPr lang="en-US" sz="2000" dirty="0" smtClean="0"/>
              <a:t>Ơ = Standard Distribution</a:t>
            </a:r>
          </a:p>
          <a:p>
            <a:endParaRPr lang="en-IN" dirty="0"/>
          </a:p>
        </p:txBody>
      </p:sp>
    </p:spTree>
    <p:extLst>
      <p:ext uri="{BB962C8B-B14F-4D97-AF65-F5344CB8AC3E}">
        <p14:creationId xmlns:p14="http://schemas.microsoft.com/office/powerpoint/2010/main" val="2094739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
          <p:cNvSpPr>
            <a:spLocks noChangeArrowheads="1"/>
          </p:cNvSpPr>
          <p:nvPr/>
        </p:nvSpPr>
        <p:spPr bwMode="auto">
          <a:xfrm>
            <a:off x="516445" y="597479"/>
            <a:ext cx="1025980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212121"/>
                </a:solidFill>
                <a:effectLst/>
                <a:latin typeface="-apple-system"/>
              </a:rPr>
              <a:t>Let us take the example of a summer camp in which 20 students assign certain jobs that they performed to earn money to raise funds for a school picnic. However, different students earned different amounts of money. Based on the information given below, determine the </a:t>
            </a:r>
            <a:r>
              <a:rPr kumimoji="0" lang="en-US" sz="2400" b="1" i="0" u="none" strike="noStrike" cap="none" normalizeH="0" baseline="0" dirty="0" err="1" smtClean="0">
                <a:ln>
                  <a:noFill/>
                </a:ln>
                <a:solidFill>
                  <a:srgbClr val="212121"/>
                </a:solidFill>
                <a:effectLst/>
                <a:latin typeface="-apple-system"/>
              </a:rPr>
              <a:t>skewness</a:t>
            </a:r>
            <a:r>
              <a:rPr kumimoji="0" lang="en-US" sz="2400" b="1" i="0" u="none" strike="noStrike" cap="none" normalizeH="0" baseline="0" dirty="0" smtClean="0">
                <a:ln>
                  <a:noFill/>
                </a:ln>
                <a:solidFill>
                  <a:srgbClr val="212121"/>
                </a:solidFill>
                <a:effectLst/>
                <a:latin typeface="-apple-system"/>
              </a:rPr>
              <a:t> in the income distribution among the students during the summer camp.</a:t>
            </a:r>
            <a:endParaRPr kumimoji="0" lang="en-US" sz="24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212121"/>
                </a:solidFill>
                <a:effectLst/>
                <a:latin typeface="-apple-system"/>
              </a:rPr>
              <a:t>Solution:</a:t>
            </a:r>
            <a:endParaRPr kumimoji="0" lang="en-US" sz="24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212121"/>
                </a:solidFill>
                <a:effectLst/>
                <a:latin typeface="-apple-system"/>
              </a:rPr>
              <a:t>The following is the data for the calculation of </a:t>
            </a:r>
            <a:r>
              <a:rPr kumimoji="0" lang="en-US" sz="2400" b="0" i="0" u="none" strike="noStrike" cap="none" normalizeH="0" baseline="0" dirty="0" err="1" smtClean="0">
                <a:ln>
                  <a:noFill/>
                </a:ln>
                <a:solidFill>
                  <a:srgbClr val="212121"/>
                </a:solidFill>
                <a:effectLst/>
                <a:latin typeface="-apple-system"/>
              </a:rPr>
              <a:t>skewness</a:t>
            </a:r>
            <a:r>
              <a:rPr kumimoji="0" lang="en-US" sz="2400" b="0" i="0" u="none" strike="noStrike" cap="none" normalizeH="0" baseline="0" dirty="0" smtClean="0">
                <a:ln>
                  <a:noFill/>
                </a:ln>
                <a:solidFill>
                  <a:srgbClr val="212121"/>
                </a:solidFill>
                <a:effectLst/>
                <a:latin typeface="-apple-system"/>
              </a:rPr>
              <a:t>.</a:t>
            </a:r>
            <a:endParaRPr kumimoji="0" lang="en-US" sz="24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rPr>
              <a:t>   </a:t>
            </a:r>
          </a:p>
        </p:txBody>
      </p:sp>
      <p:pic>
        <p:nvPicPr>
          <p:cNvPr id="2059" name="Picture 11" descr="Skewness Formula Exampl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752" y="3747900"/>
            <a:ext cx="9386380" cy="2524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98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593339" y="367349"/>
            <a:ext cx="6024785" cy="2482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212121"/>
                </a:solidFill>
                <a:effectLst/>
                <a:latin typeface="-apple-system"/>
              </a:rPr>
              <a:t>Number of variables, n = 2 + 3 + 5 + 6 + 4= 20</a:t>
            </a:r>
            <a:endParaRPr kumimoji="0" 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212121"/>
                </a:solidFill>
                <a:effectLst/>
                <a:latin typeface="-apple-system"/>
              </a:rPr>
              <a:t>Let us calculate the midpoint of each of the intervals.</a:t>
            </a:r>
            <a:endParaRPr kumimoji="0" 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($0 + $50) / 2 = $25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($50 + $100) / 2 = $75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($100 + $150) / 2 = $125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($150 + $200) / 2 = $175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($200 + $250) / 2 = $225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212121"/>
                </a:solidFill>
                <a:effectLst/>
                <a:latin typeface="-apple-system"/>
              </a:rPr>
              <a:t>Now, one can calculate the mean of the distribution as,</a:t>
            </a:r>
            <a:endParaRPr kumimoji="0" 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  </a:t>
            </a:r>
            <a:r>
              <a:rPr kumimoji="0" lang="en-US" sz="3300" b="0" i="0" u="none" strike="noStrike" cap="none" normalizeH="0" baseline="0" dirty="0" smtClean="0">
                <a:ln>
                  <a:noFill/>
                </a:ln>
                <a:solidFill>
                  <a:schemeClr val="tx1"/>
                </a:solidFill>
                <a:effectLst/>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             </a:t>
            </a:r>
          </a:p>
        </p:txBody>
      </p:sp>
      <p:pic>
        <p:nvPicPr>
          <p:cNvPr id="3074" name="Picture 2" descr="Mean of Distribution Formu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6464" y="2326165"/>
            <a:ext cx="838200" cy="5238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 Exampl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438" y="2966310"/>
            <a:ext cx="5362575" cy="23526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108105" y="5435255"/>
            <a:ext cx="6096000" cy="923330"/>
          </a:xfrm>
          <a:prstGeom prst="rect">
            <a:avLst/>
          </a:prstGeom>
        </p:spPr>
        <p:txBody>
          <a:bodyPr>
            <a:spAutoFit/>
          </a:bodyPr>
          <a:lstStyle/>
          <a:p>
            <a:r>
              <a:rPr lang="en-US" b="0" i="0" dirty="0" smtClean="0">
                <a:solidFill>
                  <a:srgbClr val="212121"/>
                </a:solidFill>
                <a:effectLst/>
                <a:latin typeface="-apple-system"/>
              </a:rPr>
              <a:t>Mean= ($25 * 2 + $75 * 3 + $125 * 5 + $175 * 6 + $225 * 4) / 20</a:t>
            </a:r>
          </a:p>
          <a:p>
            <a:r>
              <a:rPr lang="en-US" b="1" i="0" dirty="0" smtClean="0">
                <a:solidFill>
                  <a:srgbClr val="212121"/>
                </a:solidFill>
                <a:effectLst/>
                <a:latin typeface="-apple-system"/>
              </a:rPr>
              <a:t>Mean</a:t>
            </a:r>
            <a:r>
              <a:rPr lang="en-US" b="0" i="0" dirty="0" smtClean="0">
                <a:solidFill>
                  <a:srgbClr val="212121"/>
                </a:solidFill>
                <a:effectLst/>
                <a:latin typeface="-apple-system"/>
              </a:rPr>
              <a:t> = </a:t>
            </a:r>
            <a:r>
              <a:rPr lang="en-US" b="1" i="0" dirty="0" smtClean="0">
                <a:solidFill>
                  <a:srgbClr val="212121"/>
                </a:solidFill>
                <a:effectLst/>
                <a:latin typeface="-apple-system"/>
              </a:rPr>
              <a:t>$142.50</a:t>
            </a:r>
            <a:endParaRPr lang="en-US" b="0" i="0" dirty="0">
              <a:solidFill>
                <a:srgbClr val="212121"/>
              </a:solidFill>
              <a:effectLst/>
              <a:latin typeface="-apple-system"/>
            </a:endParaRPr>
          </a:p>
        </p:txBody>
      </p:sp>
    </p:spTree>
    <p:extLst>
      <p:ext uri="{BB962C8B-B14F-4D97-AF65-F5344CB8AC3E}">
        <p14:creationId xmlns:p14="http://schemas.microsoft.com/office/powerpoint/2010/main" val="3451950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632388" y="139171"/>
            <a:ext cx="5956420" cy="275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212121"/>
                </a:solidFill>
                <a:effectLst/>
                <a:latin typeface="-apple-system"/>
              </a:rPr>
              <a:t>One can calculate the squares of the deviations of each variable as below,</a:t>
            </a:r>
            <a:endParaRPr kumimoji="0" 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($25 – $142.5)</a:t>
            </a:r>
            <a:r>
              <a:rPr kumimoji="0" lang="en-US" sz="1100" b="0" i="0" u="none" strike="noStrike" cap="none" normalizeH="0" baseline="30000" dirty="0" smtClean="0">
                <a:ln>
                  <a:noFill/>
                </a:ln>
                <a:solidFill>
                  <a:srgbClr val="212121"/>
                </a:solidFill>
                <a:effectLst/>
                <a:latin typeface="-apple-system"/>
              </a:rPr>
              <a:t>2</a:t>
            </a:r>
            <a:r>
              <a:rPr kumimoji="0" lang="en-US" sz="1500" b="0" i="0" u="none" strike="noStrike" cap="none" normalizeH="0" baseline="0" dirty="0" smtClean="0">
                <a:ln>
                  <a:noFill/>
                </a:ln>
                <a:solidFill>
                  <a:srgbClr val="212121"/>
                </a:solidFill>
                <a:effectLst/>
                <a:latin typeface="-apple-system"/>
              </a:rPr>
              <a:t> = 13806.25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($75 – $142.5)</a:t>
            </a:r>
            <a:r>
              <a:rPr kumimoji="0" lang="en-US" sz="1100" b="0" i="0" u="none" strike="noStrike" cap="none" normalizeH="0" baseline="30000" dirty="0" smtClean="0">
                <a:ln>
                  <a:noFill/>
                </a:ln>
                <a:solidFill>
                  <a:srgbClr val="212121"/>
                </a:solidFill>
                <a:effectLst/>
                <a:latin typeface="-apple-system"/>
              </a:rPr>
              <a:t>2</a:t>
            </a:r>
            <a:r>
              <a:rPr kumimoji="0" lang="en-US" sz="1500" b="0" i="0" u="none" strike="noStrike" cap="none" normalizeH="0" baseline="0" dirty="0" smtClean="0">
                <a:ln>
                  <a:noFill/>
                </a:ln>
                <a:solidFill>
                  <a:srgbClr val="212121"/>
                </a:solidFill>
                <a:effectLst/>
                <a:latin typeface="-apple-system"/>
              </a:rPr>
              <a:t> = 4556.25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($125 – $142.5)</a:t>
            </a:r>
            <a:r>
              <a:rPr kumimoji="0" lang="en-US" sz="1100" b="0" i="0" u="none" strike="noStrike" cap="none" normalizeH="0" baseline="30000" dirty="0" smtClean="0">
                <a:ln>
                  <a:noFill/>
                </a:ln>
                <a:solidFill>
                  <a:srgbClr val="212121"/>
                </a:solidFill>
                <a:effectLst/>
                <a:latin typeface="-apple-system"/>
              </a:rPr>
              <a:t>2</a:t>
            </a:r>
            <a:r>
              <a:rPr kumimoji="0" lang="en-US" sz="1500" b="0" i="0" u="none" strike="noStrike" cap="none" normalizeH="0" baseline="0" dirty="0" smtClean="0">
                <a:ln>
                  <a:noFill/>
                </a:ln>
                <a:solidFill>
                  <a:srgbClr val="212121"/>
                </a:solidFill>
                <a:effectLst/>
                <a:latin typeface="-apple-system"/>
              </a:rPr>
              <a:t> = 306.25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($175 – $142.5)</a:t>
            </a:r>
            <a:r>
              <a:rPr kumimoji="0" lang="en-US" sz="1100" b="0" i="0" u="none" strike="noStrike" cap="none" normalizeH="0" baseline="30000" dirty="0" smtClean="0">
                <a:ln>
                  <a:noFill/>
                </a:ln>
                <a:solidFill>
                  <a:srgbClr val="212121"/>
                </a:solidFill>
                <a:effectLst/>
                <a:latin typeface="-apple-system"/>
              </a:rPr>
              <a:t>2</a:t>
            </a:r>
            <a:r>
              <a:rPr kumimoji="0" lang="en-US" sz="1500" b="0" i="0" u="none" strike="noStrike" cap="none" normalizeH="0" baseline="0" dirty="0" smtClean="0">
                <a:ln>
                  <a:noFill/>
                </a:ln>
                <a:solidFill>
                  <a:srgbClr val="212121"/>
                </a:solidFill>
                <a:effectLst/>
                <a:latin typeface="-apple-system"/>
              </a:rPr>
              <a:t> = 1056.25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($225 – $142.5)</a:t>
            </a:r>
            <a:r>
              <a:rPr kumimoji="0" lang="en-US" sz="1100" b="0" i="0" u="none" strike="noStrike" cap="none" normalizeH="0" baseline="30000" dirty="0" smtClean="0">
                <a:ln>
                  <a:noFill/>
                </a:ln>
                <a:solidFill>
                  <a:srgbClr val="212121"/>
                </a:solidFill>
                <a:effectLst/>
                <a:latin typeface="-apple-system"/>
              </a:rPr>
              <a:t>2</a:t>
            </a:r>
            <a:r>
              <a:rPr kumimoji="0" lang="en-US" sz="1500" b="0" i="0" u="none" strike="noStrike" cap="none" normalizeH="0" baseline="0" dirty="0" smtClean="0">
                <a:ln>
                  <a:noFill/>
                </a:ln>
                <a:solidFill>
                  <a:srgbClr val="212121"/>
                </a:solidFill>
                <a:effectLst/>
                <a:latin typeface="-apple-system"/>
              </a:rPr>
              <a:t> = 6806.25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212121"/>
                </a:solidFill>
                <a:effectLst/>
                <a:latin typeface="-apple-system"/>
              </a:rPr>
              <a:t>Now, one can calculate the standard deviation by using the below formula,</a:t>
            </a:r>
            <a:endParaRPr kumimoji="0" 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  </a:t>
            </a:r>
            <a:r>
              <a:rPr kumimoji="0" lang="en-US" sz="3600" b="0" i="0" u="none" strike="noStrike" cap="none" normalizeH="0" baseline="0" dirty="0" smtClean="0">
                <a:ln>
                  <a:noFill/>
                </a:ln>
                <a:solidFill>
                  <a:schemeClr val="tx1"/>
                </a:solidFill>
                <a:effectLst/>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                      </a:t>
            </a:r>
          </a:p>
        </p:txBody>
      </p:sp>
      <p:pic>
        <p:nvPicPr>
          <p:cNvPr id="4098" name="Picture 2" descr="Standard Deviation Formu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7200" y="2174801"/>
            <a:ext cx="1842213" cy="5810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Exampl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958" y="2898860"/>
            <a:ext cx="6038850" cy="29464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521151" y="5934670"/>
            <a:ext cx="9673839" cy="646331"/>
          </a:xfrm>
          <a:prstGeom prst="rect">
            <a:avLst/>
          </a:prstGeom>
        </p:spPr>
        <p:txBody>
          <a:bodyPr wrap="square">
            <a:spAutoFit/>
          </a:bodyPr>
          <a:lstStyle/>
          <a:p>
            <a:r>
              <a:rPr lang="vi-VN" b="0" i="0" dirty="0" smtClean="0">
                <a:solidFill>
                  <a:srgbClr val="212121"/>
                </a:solidFill>
                <a:effectLst/>
                <a:latin typeface="-apple-system"/>
              </a:rPr>
              <a:t>ơ = [(13806.25 * 2 + 4556.25 * 3 + 306.25 * 5 + 1056.25 * 6 + 6806.25 * 4) / 20]</a:t>
            </a:r>
            <a:r>
              <a:rPr lang="vi-VN" b="0" i="0" baseline="30000" dirty="0" smtClean="0">
                <a:solidFill>
                  <a:srgbClr val="212121"/>
                </a:solidFill>
                <a:effectLst/>
                <a:latin typeface="-apple-system"/>
              </a:rPr>
              <a:t>1/2</a:t>
            </a:r>
            <a:endParaRPr lang="vi-VN" b="0" i="0" dirty="0" smtClean="0">
              <a:solidFill>
                <a:srgbClr val="212121"/>
              </a:solidFill>
              <a:effectLst/>
              <a:latin typeface="-apple-system"/>
            </a:endParaRPr>
          </a:p>
          <a:p>
            <a:r>
              <a:rPr lang="vi-VN" b="1" i="0" dirty="0" smtClean="0">
                <a:solidFill>
                  <a:srgbClr val="212121"/>
                </a:solidFill>
                <a:effectLst/>
                <a:latin typeface="-apple-system"/>
              </a:rPr>
              <a:t>ơ</a:t>
            </a:r>
            <a:r>
              <a:rPr lang="vi-VN" b="0" i="0" dirty="0" smtClean="0">
                <a:solidFill>
                  <a:srgbClr val="212121"/>
                </a:solidFill>
                <a:effectLst/>
                <a:latin typeface="-apple-system"/>
              </a:rPr>
              <a:t> = </a:t>
            </a:r>
            <a:r>
              <a:rPr lang="vi-VN" b="1" i="0" dirty="0" smtClean="0">
                <a:solidFill>
                  <a:srgbClr val="212121"/>
                </a:solidFill>
                <a:effectLst/>
                <a:latin typeface="-apple-system"/>
              </a:rPr>
              <a:t>61.80</a:t>
            </a:r>
            <a:endParaRPr lang="vi-VN" b="0" i="0" dirty="0">
              <a:solidFill>
                <a:srgbClr val="212121"/>
              </a:solidFill>
              <a:effectLst/>
              <a:latin typeface="-apple-system"/>
            </a:endParaRPr>
          </a:p>
        </p:txBody>
      </p:sp>
    </p:spTree>
    <p:extLst>
      <p:ext uri="{BB962C8B-B14F-4D97-AF65-F5344CB8AC3E}">
        <p14:creationId xmlns:p14="http://schemas.microsoft.com/office/powerpoint/2010/main" val="681077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615297" y="281990"/>
            <a:ext cx="6845182" cy="2251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212121"/>
                </a:solidFill>
                <a:effectLst/>
                <a:latin typeface="-apple-system"/>
              </a:rPr>
              <a:t>One can calculate the cubes of the deviations of each variable below,</a:t>
            </a:r>
            <a:endParaRPr kumimoji="0" 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($25 – $142.5)</a:t>
            </a:r>
            <a:r>
              <a:rPr kumimoji="0" lang="en-US" sz="1100" b="0" i="0" u="none" strike="noStrike" cap="none" normalizeH="0" baseline="30000" dirty="0" smtClean="0">
                <a:ln>
                  <a:noFill/>
                </a:ln>
                <a:solidFill>
                  <a:srgbClr val="212121"/>
                </a:solidFill>
                <a:effectLst/>
                <a:latin typeface="-apple-system"/>
              </a:rPr>
              <a:t>3</a:t>
            </a:r>
            <a:r>
              <a:rPr kumimoji="0" lang="en-US" sz="1500" b="0" i="0" u="none" strike="noStrike" cap="none" normalizeH="0" baseline="0" dirty="0" smtClean="0">
                <a:ln>
                  <a:noFill/>
                </a:ln>
                <a:solidFill>
                  <a:srgbClr val="212121"/>
                </a:solidFill>
                <a:effectLst/>
                <a:latin typeface="-apple-system"/>
              </a:rPr>
              <a:t> = -1622234.4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($75 – $142.5)</a:t>
            </a:r>
            <a:r>
              <a:rPr kumimoji="0" lang="en-US" sz="1100" b="0" i="0" u="none" strike="noStrike" cap="none" normalizeH="0" baseline="30000" dirty="0" smtClean="0">
                <a:ln>
                  <a:noFill/>
                </a:ln>
                <a:solidFill>
                  <a:srgbClr val="212121"/>
                </a:solidFill>
                <a:effectLst/>
                <a:latin typeface="-apple-system"/>
              </a:rPr>
              <a:t>3</a:t>
            </a:r>
            <a:r>
              <a:rPr kumimoji="0" lang="en-US" sz="1500" b="0" i="0" u="none" strike="noStrike" cap="none" normalizeH="0" baseline="0" dirty="0" smtClean="0">
                <a:ln>
                  <a:noFill/>
                </a:ln>
                <a:solidFill>
                  <a:srgbClr val="212121"/>
                </a:solidFill>
                <a:effectLst/>
                <a:latin typeface="-apple-system"/>
              </a:rPr>
              <a:t> = -307546.9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($125 – $142.5)</a:t>
            </a:r>
            <a:r>
              <a:rPr kumimoji="0" lang="en-US" sz="1100" b="0" i="0" u="none" strike="noStrike" cap="none" normalizeH="0" baseline="30000" dirty="0" smtClean="0">
                <a:ln>
                  <a:noFill/>
                </a:ln>
                <a:solidFill>
                  <a:srgbClr val="212121"/>
                </a:solidFill>
                <a:effectLst/>
                <a:latin typeface="-apple-system"/>
              </a:rPr>
              <a:t>3</a:t>
            </a:r>
            <a:r>
              <a:rPr kumimoji="0" lang="en-US" sz="1500" b="0" i="0" u="none" strike="noStrike" cap="none" normalizeH="0" baseline="0" dirty="0" smtClean="0">
                <a:ln>
                  <a:noFill/>
                </a:ln>
                <a:solidFill>
                  <a:srgbClr val="212121"/>
                </a:solidFill>
                <a:effectLst/>
                <a:latin typeface="-apple-system"/>
              </a:rPr>
              <a:t> = -5359.4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($175 – $142.5)</a:t>
            </a:r>
            <a:r>
              <a:rPr kumimoji="0" lang="en-US" sz="1100" b="0" i="0" u="none" strike="noStrike" cap="none" normalizeH="0" baseline="30000" dirty="0" smtClean="0">
                <a:ln>
                  <a:noFill/>
                </a:ln>
                <a:solidFill>
                  <a:srgbClr val="212121"/>
                </a:solidFill>
                <a:effectLst/>
                <a:latin typeface="-apple-system"/>
              </a:rPr>
              <a:t>3</a:t>
            </a:r>
            <a:r>
              <a:rPr kumimoji="0" lang="en-US" sz="1500" b="0" i="0" u="none" strike="noStrike" cap="none" normalizeH="0" baseline="0" dirty="0" smtClean="0">
                <a:ln>
                  <a:noFill/>
                </a:ln>
                <a:solidFill>
                  <a:srgbClr val="212121"/>
                </a:solidFill>
                <a:effectLst/>
                <a:latin typeface="-apple-system"/>
              </a:rPr>
              <a:t> = 34328.1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500" b="0" i="0" u="none" strike="noStrike" cap="none" normalizeH="0" baseline="0" dirty="0" smtClean="0">
                <a:ln>
                  <a:noFill/>
                </a:ln>
                <a:solidFill>
                  <a:srgbClr val="212121"/>
                </a:solidFill>
                <a:effectLst/>
                <a:latin typeface="-apple-system"/>
              </a:rPr>
              <a:t>($225 – $142.5)</a:t>
            </a:r>
            <a:r>
              <a:rPr kumimoji="0" lang="en-US" sz="1100" b="0" i="0" u="none" strike="noStrike" cap="none" normalizeH="0" baseline="30000" dirty="0" smtClean="0">
                <a:ln>
                  <a:noFill/>
                </a:ln>
                <a:solidFill>
                  <a:srgbClr val="212121"/>
                </a:solidFill>
                <a:effectLst/>
                <a:latin typeface="-apple-system"/>
              </a:rPr>
              <a:t>3</a:t>
            </a:r>
            <a:r>
              <a:rPr kumimoji="0" lang="en-US" sz="1500" b="0" i="0" u="none" strike="noStrike" cap="none" normalizeH="0" baseline="0" dirty="0" smtClean="0">
                <a:ln>
                  <a:noFill/>
                </a:ln>
                <a:solidFill>
                  <a:srgbClr val="212121"/>
                </a:solidFill>
                <a:effectLst/>
                <a:latin typeface="-apple-system"/>
              </a:rPr>
              <a:t> = 561515.6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212121"/>
                </a:solidFill>
                <a:effectLst/>
                <a:latin typeface="-apple-system"/>
              </a:rPr>
              <a:t>Therefore, the calculation of the </a:t>
            </a:r>
            <a:r>
              <a:rPr kumimoji="0" lang="en-US" sz="1500" b="0" i="0" u="none" strike="noStrike" cap="none" normalizeH="0" baseline="0" dirty="0" err="1" smtClean="0">
                <a:ln>
                  <a:noFill/>
                </a:ln>
                <a:solidFill>
                  <a:srgbClr val="212121"/>
                </a:solidFill>
                <a:effectLst/>
                <a:latin typeface="-apple-system"/>
              </a:rPr>
              <a:t>skewness</a:t>
            </a:r>
            <a:r>
              <a:rPr kumimoji="0" lang="en-US" sz="1500" b="0" i="0" u="none" strike="noStrike" cap="none" normalizeH="0" baseline="0" dirty="0" smtClean="0">
                <a:ln>
                  <a:noFill/>
                </a:ln>
                <a:solidFill>
                  <a:srgbClr val="212121"/>
                </a:solidFill>
                <a:effectLst/>
                <a:latin typeface="-apple-system"/>
              </a:rPr>
              <a:t> of the distribution will be as follows,</a:t>
            </a:r>
            <a:endParaRPr kumimoji="0" 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  </a:t>
            </a:r>
            <a:r>
              <a:rPr kumimoji="0" lang="en-US" sz="3300" b="0" i="0" u="none" strike="noStrike" cap="none" normalizeH="0" baseline="0" dirty="0" smtClean="0">
                <a:ln>
                  <a:noFill/>
                </a:ln>
                <a:solidFill>
                  <a:schemeClr val="tx1"/>
                </a:solidFill>
                <a:effectLst/>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                              </a:t>
            </a:r>
          </a:p>
        </p:txBody>
      </p:sp>
      <p:pic>
        <p:nvPicPr>
          <p:cNvPr id="5124" name="Picture 4" descr="Skewness Formu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7380" y="2000447"/>
            <a:ext cx="2457510" cy="77693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Exampl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5441" y="2114327"/>
            <a:ext cx="5629275" cy="401002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837487" y="3328975"/>
            <a:ext cx="4529271" cy="923330"/>
          </a:xfrm>
          <a:prstGeom prst="rect">
            <a:avLst/>
          </a:prstGeom>
        </p:spPr>
        <p:txBody>
          <a:bodyPr wrap="square">
            <a:spAutoFit/>
          </a:bodyPr>
          <a:lstStyle/>
          <a:p>
            <a:r>
              <a:rPr lang="en-IN" b="0" i="0" dirty="0" smtClean="0">
                <a:solidFill>
                  <a:srgbClr val="212121"/>
                </a:solidFill>
                <a:effectLst/>
                <a:latin typeface="-apple-system"/>
              </a:rPr>
              <a:t>= (-1622234.4 * 2 + -307546.9 * 3 + -5359.4 * 5 + 34328.1 * 6 + 561515.6 * 4) /[ (20 – 1) * (61.80)</a:t>
            </a:r>
            <a:r>
              <a:rPr lang="en-IN" b="0" i="0" baseline="30000" dirty="0" smtClean="0">
                <a:solidFill>
                  <a:srgbClr val="212121"/>
                </a:solidFill>
                <a:effectLst/>
                <a:latin typeface="-apple-system"/>
              </a:rPr>
              <a:t>3</a:t>
            </a:r>
            <a:r>
              <a:rPr lang="en-IN" b="0" i="0" dirty="0" smtClean="0">
                <a:solidFill>
                  <a:srgbClr val="212121"/>
                </a:solidFill>
                <a:effectLst/>
                <a:latin typeface="-apple-system"/>
              </a:rPr>
              <a:t>]</a:t>
            </a:r>
            <a:endParaRPr lang="en-IN" dirty="0"/>
          </a:p>
        </p:txBody>
      </p:sp>
    </p:spTree>
    <p:extLst>
      <p:ext uri="{BB962C8B-B14F-4D97-AF65-F5344CB8AC3E}">
        <p14:creationId xmlns:p14="http://schemas.microsoft.com/office/powerpoint/2010/main" val="728051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Example 1.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8177" y="1406755"/>
            <a:ext cx="5638800" cy="39243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68936" y="654958"/>
            <a:ext cx="2262158" cy="369332"/>
          </a:xfrm>
          <a:prstGeom prst="rect">
            <a:avLst/>
          </a:prstGeom>
        </p:spPr>
        <p:txBody>
          <a:bodyPr wrap="none">
            <a:spAutoFit/>
          </a:bodyPr>
          <a:lstStyle/>
          <a:p>
            <a:r>
              <a:rPr lang="en-IN" b="1" i="0" dirty="0" err="1" smtClean="0">
                <a:solidFill>
                  <a:srgbClr val="212121"/>
                </a:solidFill>
                <a:effectLst/>
                <a:latin typeface="-apple-system"/>
              </a:rPr>
              <a:t>Skewness</a:t>
            </a:r>
            <a:r>
              <a:rPr lang="en-IN" b="1" i="0" dirty="0" smtClean="0">
                <a:solidFill>
                  <a:srgbClr val="212121"/>
                </a:solidFill>
                <a:effectLst/>
                <a:latin typeface="-apple-system"/>
              </a:rPr>
              <a:t> will be –</a:t>
            </a:r>
            <a:endParaRPr lang="en-IN" dirty="0"/>
          </a:p>
        </p:txBody>
      </p:sp>
      <p:sp>
        <p:nvSpPr>
          <p:cNvPr id="5" name="Rectangle 4"/>
          <p:cNvSpPr/>
          <p:nvPr/>
        </p:nvSpPr>
        <p:spPr>
          <a:xfrm>
            <a:off x="2410833" y="5773889"/>
            <a:ext cx="2089033" cy="369332"/>
          </a:xfrm>
          <a:prstGeom prst="rect">
            <a:avLst/>
          </a:prstGeom>
        </p:spPr>
        <p:txBody>
          <a:bodyPr wrap="none">
            <a:spAutoFit/>
          </a:bodyPr>
          <a:lstStyle/>
          <a:p>
            <a:r>
              <a:rPr lang="en-IN" b="1" i="0" dirty="0" err="1" smtClean="0">
                <a:solidFill>
                  <a:srgbClr val="212121"/>
                </a:solidFill>
                <a:effectLst/>
                <a:latin typeface="-apple-system"/>
              </a:rPr>
              <a:t>Skewness</a:t>
            </a:r>
            <a:r>
              <a:rPr lang="en-IN" b="1" i="0" dirty="0" smtClean="0">
                <a:solidFill>
                  <a:srgbClr val="212121"/>
                </a:solidFill>
                <a:effectLst/>
                <a:latin typeface="-apple-system"/>
              </a:rPr>
              <a:t> </a:t>
            </a:r>
            <a:r>
              <a:rPr lang="en-IN" b="0" i="0" dirty="0" smtClean="0">
                <a:solidFill>
                  <a:srgbClr val="212121"/>
                </a:solidFill>
                <a:effectLst/>
                <a:latin typeface="-apple-system"/>
              </a:rPr>
              <a:t>= </a:t>
            </a:r>
            <a:r>
              <a:rPr lang="en-IN" b="1" i="0" dirty="0" smtClean="0">
                <a:solidFill>
                  <a:srgbClr val="212121"/>
                </a:solidFill>
                <a:effectLst/>
                <a:latin typeface="-apple-system"/>
              </a:rPr>
              <a:t>-0.39</a:t>
            </a:r>
            <a:endParaRPr lang="en-IN" dirty="0"/>
          </a:p>
        </p:txBody>
      </p:sp>
    </p:spTree>
    <p:extLst>
      <p:ext uri="{BB962C8B-B14F-4D97-AF65-F5344CB8AC3E}">
        <p14:creationId xmlns:p14="http://schemas.microsoft.com/office/powerpoint/2010/main" val="3411246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1089" y="236106"/>
            <a:ext cx="11493382" cy="6309973"/>
          </a:xfrm>
        </p:spPr>
        <p:txBody>
          <a:bodyPr>
            <a:normAutofit fontScale="77500" lnSpcReduction="20000"/>
          </a:bodyPr>
          <a:lstStyle/>
          <a:p>
            <a:r>
              <a:rPr lang="en-US" b="1" dirty="0" smtClean="0"/>
              <a:t>Kurtosis</a:t>
            </a:r>
            <a:endParaRPr lang="en-US" b="1" dirty="0"/>
          </a:p>
          <a:p>
            <a:pPr algn="just"/>
            <a:r>
              <a:rPr lang="en-US" dirty="0"/>
              <a:t>The term “Kurtosis” refers to the statistical measure that describes the shape of either tail of a distribution, i.e. whether the distribution is heavy-tailed (presence of outliers) or light-tailed (paucity of outliers) compared to a normal distribution. In other words, it indicates whether the tail of distribution extends beyond the ±3 standard deviation of the mean or not.</a:t>
            </a:r>
          </a:p>
          <a:p>
            <a:pPr algn="just"/>
            <a:r>
              <a:rPr lang="en-US" dirty="0"/>
              <a:t>There are three types of kurtosis that can be exhibited by any distribution:</a:t>
            </a:r>
          </a:p>
          <a:p>
            <a:pPr algn="just"/>
            <a:r>
              <a:rPr lang="en-US" dirty="0"/>
              <a:t>Leptokurtic or heavy-tailed distribution (kurtosis more than normal distribution)</a:t>
            </a:r>
          </a:p>
          <a:p>
            <a:pPr algn="just"/>
            <a:r>
              <a:rPr lang="en-US" dirty="0" err="1"/>
              <a:t>Mesokurtic</a:t>
            </a:r>
            <a:r>
              <a:rPr lang="en-US" dirty="0"/>
              <a:t> (kurtosis same as the normal distribution)</a:t>
            </a:r>
          </a:p>
          <a:p>
            <a:pPr algn="just"/>
            <a:r>
              <a:rPr lang="en-US" dirty="0" err="1"/>
              <a:t>Platykurtic</a:t>
            </a:r>
            <a:r>
              <a:rPr lang="en-US" dirty="0"/>
              <a:t> or short-tailed distribution (kurtosis less than normal distribution)</a:t>
            </a:r>
          </a:p>
          <a:p>
            <a:pPr algn="just"/>
            <a:r>
              <a:rPr lang="en-US" dirty="0"/>
              <a:t>The formula for kurtosis is expressed as the ratio of the fourth moment and variance (s</a:t>
            </a:r>
            <a:r>
              <a:rPr lang="en-US" baseline="30000" dirty="0"/>
              <a:t>2</a:t>
            </a:r>
            <a:r>
              <a:rPr lang="en-US" dirty="0"/>
              <a:t>) squared or squared the second moment of the distribution. Mathematically, it is represented as,</a:t>
            </a:r>
          </a:p>
          <a:p>
            <a:r>
              <a:rPr lang="en-US" b="1" dirty="0"/>
              <a:t>Kurtosis = n * </a:t>
            </a:r>
            <a:r>
              <a:rPr lang="en-US" b="1" dirty="0" err="1"/>
              <a:t>Σ</a:t>
            </a:r>
            <a:r>
              <a:rPr lang="en-US" b="1" baseline="30000" dirty="0" err="1"/>
              <a:t>n</a:t>
            </a:r>
            <a:r>
              <a:rPr lang="en-US" b="1" baseline="-25000" dirty="0" err="1"/>
              <a:t>i</a:t>
            </a:r>
            <a:r>
              <a:rPr lang="en-US" b="1" dirty="0"/>
              <a:t>(Y</a:t>
            </a:r>
            <a:r>
              <a:rPr lang="en-US" b="1" baseline="-25000" dirty="0"/>
              <a:t>i</a:t>
            </a:r>
            <a:r>
              <a:rPr lang="en-US" b="1" dirty="0"/>
              <a:t> – Ȳ)</a:t>
            </a:r>
            <a:r>
              <a:rPr lang="en-US" b="1" baseline="30000" dirty="0"/>
              <a:t>4</a:t>
            </a:r>
            <a:r>
              <a:rPr lang="en-US" b="1" dirty="0"/>
              <a:t> / (</a:t>
            </a:r>
            <a:r>
              <a:rPr lang="en-US" b="1" dirty="0" err="1"/>
              <a:t>Σ</a:t>
            </a:r>
            <a:r>
              <a:rPr lang="en-US" b="1" baseline="30000" dirty="0" err="1"/>
              <a:t>n</a:t>
            </a:r>
            <a:r>
              <a:rPr lang="en-US" b="1" baseline="-25000" dirty="0" err="1"/>
              <a:t>i</a:t>
            </a:r>
            <a:r>
              <a:rPr lang="en-US" b="1" dirty="0"/>
              <a:t>(Y</a:t>
            </a:r>
            <a:r>
              <a:rPr lang="en-US" b="1" baseline="-25000" dirty="0"/>
              <a:t>i</a:t>
            </a:r>
            <a:r>
              <a:rPr lang="en-US" b="1" dirty="0"/>
              <a:t> – Ȳ)</a:t>
            </a:r>
            <a:r>
              <a:rPr lang="en-US" b="1" baseline="30000" dirty="0"/>
              <a:t>2</a:t>
            </a:r>
            <a:r>
              <a:rPr lang="en-US" b="1" dirty="0"/>
              <a:t>)</a:t>
            </a:r>
            <a:r>
              <a:rPr lang="en-US" b="1" baseline="30000" dirty="0"/>
              <a:t>2</a:t>
            </a:r>
            <a:r>
              <a:rPr lang="en-US" b="1" dirty="0"/>
              <a:t/>
            </a:r>
            <a:br>
              <a:rPr lang="en-US" b="1" dirty="0"/>
            </a:br>
            <a:endParaRPr lang="en-US" dirty="0"/>
          </a:p>
          <a:p>
            <a:r>
              <a:rPr lang="en-US" dirty="0"/>
              <a:t>Where</a:t>
            </a:r>
          </a:p>
          <a:p>
            <a:r>
              <a:rPr lang="en-US" b="1" dirty="0"/>
              <a:t>Y</a:t>
            </a:r>
            <a:r>
              <a:rPr lang="en-US" b="1" baseline="-25000" dirty="0"/>
              <a:t>i</a:t>
            </a:r>
            <a:r>
              <a:rPr lang="en-US" dirty="0"/>
              <a:t>: </a:t>
            </a:r>
            <a:r>
              <a:rPr lang="en-US" dirty="0" err="1"/>
              <a:t>i</a:t>
            </a:r>
            <a:r>
              <a:rPr lang="en-US" baseline="30000" dirty="0" err="1"/>
              <a:t>th</a:t>
            </a:r>
            <a:r>
              <a:rPr lang="en-US" dirty="0"/>
              <a:t> Variable of the Distribution</a:t>
            </a:r>
          </a:p>
          <a:p>
            <a:r>
              <a:rPr lang="en-US" b="1" dirty="0"/>
              <a:t>Ȳ:</a:t>
            </a:r>
            <a:r>
              <a:rPr lang="en-US" dirty="0"/>
              <a:t> Mean of the Distribution</a:t>
            </a:r>
          </a:p>
          <a:p>
            <a:r>
              <a:rPr lang="en-US" b="1" dirty="0"/>
              <a:t>n</a:t>
            </a:r>
            <a:r>
              <a:rPr lang="en-US" dirty="0"/>
              <a:t>: No. of Variables in the Distribution</a:t>
            </a:r>
          </a:p>
          <a:p>
            <a:endParaRPr lang="en-IN" dirty="0"/>
          </a:p>
        </p:txBody>
      </p:sp>
    </p:spTree>
    <p:extLst>
      <p:ext uri="{BB962C8B-B14F-4D97-AF65-F5344CB8AC3E}">
        <p14:creationId xmlns:p14="http://schemas.microsoft.com/office/powerpoint/2010/main" val="4169362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2723" y="193378"/>
            <a:ext cx="10515600" cy="4351338"/>
          </a:xfrm>
        </p:spPr>
        <p:txBody>
          <a:bodyPr/>
          <a:lstStyle/>
          <a:p>
            <a:r>
              <a:rPr lang="en-US" b="1" dirty="0"/>
              <a:t>Let us take the example of the following data distribution to illustrate the computation of kurtosis of a leptokurtic distribution: 26, 12, 16, 56, 112, 24</a:t>
            </a:r>
            <a:r>
              <a:rPr lang="en-US" b="1" dirty="0" smtClean="0"/>
              <a:t>.</a:t>
            </a:r>
          </a:p>
          <a:p>
            <a:r>
              <a:rPr lang="en-US" dirty="0"/>
              <a:t>Mean Ȳ = (26 + 12 + 16 + 56 + 112 + 24) / 6</a:t>
            </a:r>
          </a:p>
          <a:p>
            <a:r>
              <a:rPr lang="en-US" dirty="0"/>
              <a:t>Mean Ȳ =</a:t>
            </a:r>
            <a:r>
              <a:rPr lang="en-US" b="1" dirty="0"/>
              <a:t> 41</a:t>
            </a:r>
            <a:endParaRPr lang="en-US" dirty="0"/>
          </a:p>
          <a:p>
            <a:r>
              <a:rPr lang="en-US" dirty="0"/>
              <a:t>Standard Deviation is calculated </a:t>
            </a:r>
            <a:r>
              <a:rPr lang="en-US" dirty="0" smtClean="0"/>
              <a:t>as</a:t>
            </a:r>
          </a:p>
          <a:p>
            <a:endParaRPr lang="en-US" dirty="0" smtClean="0"/>
          </a:p>
          <a:p>
            <a:r>
              <a:rPr lang="en-US" dirty="0"/>
              <a:t>Deviation</a:t>
            </a:r>
            <a:r>
              <a:rPr lang="en-US" baseline="30000" dirty="0"/>
              <a:t>2</a:t>
            </a:r>
            <a:r>
              <a:rPr lang="en-US" dirty="0"/>
              <a:t> and Deviation</a:t>
            </a:r>
            <a:r>
              <a:rPr lang="en-US" baseline="30000" dirty="0"/>
              <a:t>4</a:t>
            </a:r>
            <a:r>
              <a:rPr lang="en-US" dirty="0"/>
              <a:t> is calculated as</a:t>
            </a:r>
            <a:endParaRPr lang="en-IN" dirty="0"/>
          </a:p>
        </p:txBody>
      </p:sp>
      <p:pic>
        <p:nvPicPr>
          <p:cNvPr id="6" name="Picture 5"/>
          <p:cNvPicPr>
            <a:picLocks noChangeAspect="1"/>
          </p:cNvPicPr>
          <p:nvPr/>
        </p:nvPicPr>
        <p:blipFill>
          <a:blip r:embed="rId2"/>
          <a:stretch>
            <a:fillRect/>
          </a:stretch>
        </p:blipFill>
        <p:spPr>
          <a:xfrm>
            <a:off x="7100175" y="1005199"/>
            <a:ext cx="3324225" cy="3314700"/>
          </a:xfrm>
          <a:prstGeom prst="rect">
            <a:avLst/>
          </a:prstGeom>
        </p:spPr>
      </p:pic>
      <p:pic>
        <p:nvPicPr>
          <p:cNvPr id="8" name="Picture 7"/>
          <p:cNvPicPr>
            <a:picLocks noChangeAspect="1"/>
          </p:cNvPicPr>
          <p:nvPr/>
        </p:nvPicPr>
        <p:blipFill>
          <a:blip r:embed="rId3"/>
          <a:stretch>
            <a:fillRect/>
          </a:stretch>
        </p:blipFill>
        <p:spPr>
          <a:xfrm>
            <a:off x="1224474" y="4064237"/>
            <a:ext cx="6257925" cy="2438400"/>
          </a:xfrm>
          <a:prstGeom prst="rect">
            <a:avLst/>
          </a:prstGeom>
        </p:spPr>
      </p:pic>
    </p:spTree>
    <p:extLst>
      <p:ext uri="{BB962C8B-B14F-4D97-AF65-F5344CB8AC3E}">
        <p14:creationId xmlns:p14="http://schemas.microsoft.com/office/powerpoint/2010/main" val="422700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0198"/>
            <a:ext cx="10515600" cy="5766765"/>
          </a:xfrm>
        </p:spPr>
        <p:txBody>
          <a:bodyPr>
            <a:normAutofit fontScale="92500" lnSpcReduction="20000"/>
          </a:bodyPr>
          <a:lstStyle/>
          <a:p>
            <a:r>
              <a:rPr lang="en-US" dirty="0"/>
              <a:t>Second Moment is calculated using the formula given below</a:t>
            </a:r>
          </a:p>
          <a:p>
            <a:r>
              <a:rPr lang="en-US" b="1" dirty="0"/>
              <a:t>Second Moment = </a:t>
            </a:r>
            <a:r>
              <a:rPr lang="en-US" b="1" dirty="0" err="1"/>
              <a:t>Σ</a:t>
            </a:r>
            <a:r>
              <a:rPr lang="en-US" b="1" baseline="30000" dirty="0" err="1"/>
              <a:t>n</a:t>
            </a:r>
            <a:r>
              <a:rPr lang="en-US" b="1" baseline="-25000" dirty="0" err="1"/>
              <a:t>i</a:t>
            </a:r>
            <a:r>
              <a:rPr lang="en-US" b="1" dirty="0"/>
              <a:t>(Y</a:t>
            </a:r>
            <a:r>
              <a:rPr lang="en-US" b="1" baseline="-25000" dirty="0"/>
              <a:t>i</a:t>
            </a:r>
            <a:r>
              <a:rPr lang="en-US" b="1" dirty="0"/>
              <a:t> – Ȳ)</a:t>
            </a:r>
            <a:r>
              <a:rPr lang="en-US" b="1" baseline="30000" dirty="0"/>
              <a:t>2</a:t>
            </a:r>
            <a:r>
              <a:rPr lang="en-US" b="1" dirty="0"/>
              <a:t> / </a:t>
            </a:r>
            <a:r>
              <a:rPr lang="en-US" b="1" dirty="0" smtClean="0"/>
              <a:t>n</a:t>
            </a:r>
          </a:p>
          <a:p>
            <a:r>
              <a:rPr lang="en-US" dirty="0"/>
              <a:t>Second Moment = [(26 – 41)</a:t>
            </a:r>
            <a:r>
              <a:rPr lang="en-US" baseline="30000" dirty="0"/>
              <a:t>2</a:t>
            </a:r>
            <a:r>
              <a:rPr lang="en-US" dirty="0"/>
              <a:t> + (12 – 41)</a:t>
            </a:r>
            <a:r>
              <a:rPr lang="en-US" baseline="30000" dirty="0"/>
              <a:t>2</a:t>
            </a:r>
            <a:r>
              <a:rPr lang="en-US" dirty="0"/>
              <a:t> + (16 – 41)</a:t>
            </a:r>
            <a:r>
              <a:rPr lang="en-US" baseline="30000" dirty="0"/>
              <a:t>2</a:t>
            </a:r>
            <a:r>
              <a:rPr lang="en-US" dirty="0"/>
              <a:t> + (56 – 41)</a:t>
            </a:r>
            <a:r>
              <a:rPr lang="en-US" baseline="30000" dirty="0"/>
              <a:t>2 </a:t>
            </a:r>
            <a:r>
              <a:rPr lang="en-US" dirty="0"/>
              <a:t>+ (112 – 41)</a:t>
            </a:r>
            <a:r>
              <a:rPr lang="en-US" baseline="30000" dirty="0"/>
              <a:t>2</a:t>
            </a:r>
            <a:r>
              <a:rPr lang="en-US" dirty="0"/>
              <a:t> + (24 – 41)</a:t>
            </a:r>
            <a:r>
              <a:rPr lang="en-US" baseline="30000" dirty="0"/>
              <a:t>2</a:t>
            </a:r>
            <a:r>
              <a:rPr lang="en-US" dirty="0"/>
              <a:t>] / 6</a:t>
            </a:r>
          </a:p>
          <a:p>
            <a:r>
              <a:rPr lang="en-US" dirty="0"/>
              <a:t>Second Moment = </a:t>
            </a:r>
            <a:r>
              <a:rPr lang="en-US" b="1" dirty="0"/>
              <a:t>1207.67</a:t>
            </a:r>
            <a:endParaRPr lang="en-US" dirty="0"/>
          </a:p>
          <a:p>
            <a:r>
              <a:rPr lang="en-US" dirty="0"/>
              <a:t>Fourth Moment is calculated using the formula given below</a:t>
            </a:r>
          </a:p>
          <a:p>
            <a:r>
              <a:rPr lang="en-US" b="1" dirty="0"/>
              <a:t>Fourth Moment = </a:t>
            </a:r>
            <a:r>
              <a:rPr lang="en-US" b="1" dirty="0" err="1"/>
              <a:t>Σ</a:t>
            </a:r>
            <a:r>
              <a:rPr lang="en-US" b="1" baseline="30000" dirty="0" err="1"/>
              <a:t>n</a:t>
            </a:r>
            <a:r>
              <a:rPr lang="en-US" b="1" baseline="-25000" dirty="0" err="1"/>
              <a:t>i</a:t>
            </a:r>
            <a:r>
              <a:rPr lang="en-US" b="1" dirty="0"/>
              <a:t>(Y</a:t>
            </a:r>
            <a:r>
              <a:rPr lang="en-US" b="1" baseline="-25000" dirty="0"/>
              <a:t>i</a:t>
            </a:r>
            <a:r>
              <a:rPr lang="en-US" b="1" dirty="0"/>
              <a:t> – Ȳ)</a:t>
            </a:r>
            <a:r>
              <a:rPr lang="en-US" b="1" baseline="30000" dirty="0"/>
              <a:t>4</a:t>
            </a:r>
            <a:r>
              <a:rPr lang="en-US" b="1" dirty="0"/>
              <a:t> / n</a:t>
            </a:r>
            <a:endParaRPr lang="en-US" dirty="0"/>
          </a:p>
          <a:p>
            <a:r>
              <a:rPr lang="en-US" dirty="0"/>
              <a:t>Fourth Moment = [(26 – 41)</a:t>
            </a:r>
            <a:r>
              <a:rPr lang="en-US" baseline="30000" dirty="0"/>
              <a:t>4</a:t>
            </a:r>
            <a:r>
              <a:rPr lang="en-US" dirty="0"/>
              <a:t> + (12 – 41)</a:t>
            </a:r>
            <a:r>
              <a:rPr lang="en-US" baseline="30000" dirty="0"/>
              <a:t>4</a:t>
            </a:r>
            <a:r>
              <a:rPr lang="en-US" dirty="0"/>
              <a:t> + (16 – 41)</a:t>
            </a:r>
            <a:r>
              <a:rPr lang="en-US" baseline="30000" dirty="0"/>
              <a:t>4</a:t>
            </a:r>
            <a:r>
              <a:rPr lang="en-US" dirty="0"/>
              <a:t> + (56 – 41)</a:t>
            </a:r>
            <a:r>
              <a:rPr lang="en-US" baseline="30000" dirty="0"/>
              <a:t>4 </a:t>
            </a:r>
            <a:r>
              <a:rPr lang="en-US" dirty="0"/>
              <a:t>+ (112 – 41)</a:t>
            </a:r>
            <a:r>
              <a:rPr lang="en-US" baseline="30000" dirty="0"/>
              <a:t>4</a:t>
            </a:r>
            <a:r>
              <a:rPr lang="en-US" dirty="0"/>
              <a:t> + (24 – 41)</a:t>
            </a:r>
            <a:r>
              <a:rPr lang="en-US" baseline="30000" dirty="0"/>
              <a:t>4</a:t>
            </a:r>
            <a:r>
              <a:rPr lang="en-US" dirty="0"/>
              <a:t>] / 6</a:t>
            </a:r>
          </a:p>
          <a:p>
            <a:r>
              <a:rPr lang="en-US" dirty="0"/>
              <a:t>Fourth Moment = </a:t>
            </a:r>
            <a:r>
              <a:rPr lang="en-US" b="1" dirty="0"/>
              <a:t>4449059.67</a:t>
            </a:r>
            <a:endParaRPr lang="en-US" dirty="0"/>
          </a:p>
          <a:p>
            <a:r>
              <a:rPr lang="en-US" dirty="0"/>
              <a:t>Kurtosis is calculated using the formula given below</a:t>
            </a:r>
          </a:p>
          <a:p>
            <a:r>
              <a:rPr lang="en-US" b="1" dirty="0"/>
              <a:t>Kurtosis = Fourth Moment / (Second </a:t>
            </a:r>
            <a:r>
              <a:rPr lang="en-US" b="1" dirty="0" smtClean="0"/>
              <a:t>Moment)</a:t>
            </a:r>
            <a:r>
              <a:rPr lang="en-US" b="1" baseline="30000" dirty="0" smtClean="0"/>
              <a:t>2</a:t>
            </a:r>
          </a:p>
          <a:p>
            <a:r>
              <a:rPr lang="fi-FI" dirty="0"/>
              <a:t>Kurtosis = 4449059.667 / (1207.667)</a:t>
            </a:r>
            <a:r>
              <a:rPr lang="fi-FI" baseline="30000" dirty="0"/>
              <a:t>2</a:t>
            </a:r>
            <a:endParaRPr lang="fi-FI" dirty="0"/>
          </a:p>
          <a:p>
            <a:r>
              <a:rPr lang="fi-FI" dirty="0"/>
              <a:t>Kurtosis = </a:t>
            </a:r>
            <a:r>
              <a:rPr lang="fi-FI" b="1" dirty="0"/>
              <a:t>3.05</a:t>
            </a:r>
            <a:endParaRPr lang="fi-FI" dirty="0"/>
          </a:p>
          <a:p>
            <a:endParaRPr lang="en-US" dirty="0"/>
          </a:p>
          <a:p>
            <a:endParaRPr lang="en-US" dirty="0"/>
          </a:p>
        </p:txBody>
      </p:sp>
    </p:spTree>
    <p:extLst>
      <p:ext uri="{BB962C8B-B14F-4D97-AF65-F5344CB8AC3E}">
        <p14:creationId xmlns:p14="http://schemas.microsoft.com/office/powerpoint/2010/main" val="967851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389831" y="-935096"/>
            <a:ext cx="6096000" cy="11172289"/>
          </a:xfrm>
          <a:prstGeom prst="rect">
            <a:avLst/>
          </a:prstGeom>
        </p:spPr>
        <p:txBody>
          <a:bodyPr>
            <a:spAutoFit/>
          </a:bodyPr>
          <a:lstStyle/>
          <a:p>
            <a:r>
              <a:rPr lang="en-US" dirty="0" smtClean="0"/>
              <a:t>he null hypothesis is rejected ,hence there is enough evidence to support the teacher's claim at 0.05 significance level.</a:t>
            </a:r>
          </a:p>
          <a:p>
            <a:endParaRPr lang="en-US" dirty="0" smtClean="0"/>
          </a:p>
          <a:p>
            <a:r>
              <a:rPr lang="en-US" dirty="0" smtClean="0"/>
              <a:t>Given</a:t>
            </a:r>
          </a:p>
          <a:p>
            <a:endParaRPr lang="en-US" dirty="0" smtClean="0"/>
          </a:p>
          <a:p>
            <a:r>
              <a:rPr lang="en-US" dirty="0" smtClean="0"/>
              <a:t>standard deviation =20</a:t>
            </a:r>
          </a:p>
          <a:p>
            <a:endParaRPr lang="en-US" dirty="0" smtClean="0"/>
          </a:p>
          <a:p>
            <a:r>
              <a:rPr lang="en-US" dirty="0" smtClean="0"/>
              <a:t>sample size (n = 81)</a:t>
            </a:r>
          </a:p>
          <a:p>
            <a:endParaRPr lang="en-US" dirty="0" smtClean="0"/>
          </a:p>
          <a:p>
            <a:r>
              <a:rPr lang="en-US" dirty="0" smtClean="0"/>
              <a:t>mean(μ) = 90</a:t>
            </a:r>
          </a:p>
          <a:p>
            <a:endParaRPr lang="en-US" dirty="0" smtClean="0"/>
          </a:p>
          <a:p>
            <a:r>
              <a:rPr lang="en-US" dirty="0" smtClean="0"/>
              <a:t>To find:</a:t>
            </a:r>
          </a:p>
          <a:p>
            <a:endParaRPr lang="en-US" dirty="0" smtClean="0"/>
          </a:p>
          <a:p>
            <a:r>
              <a:rPr lang="en-US" dirty="0" smtClean="0"/>
              <a:t>If there is enough evidence to support the null hypothesis.</a:t>
            </a:r>
          </a:p>
          <a:p>
            <a:endParaRPr lang="en-US" dirty="0" smtClean="0"/>
          </a:p>
          <a:p>
            <a:r>
              <a:rPr lang="en-US" dirty="0" smtClean="0"/>
              <a:t>Solution:</a:t>
            </a:r>
          </a:p>
          <a:p>
            <a:endParaRPr lang="en-US" dirty="0" smtClean="0"/>
          </a:p>
          <a:p>
            <a:r>
              <a:rPr lang="en-US" dirty="0" smtClean="0"/>
              <a:t>The standard deviation is given and the sample size is 81 ,hence this distribution is right-tailed one-sample z test.</a:t>
            </a:r>
          </a:p>
          <a:p>
            <a:endParaRPr lang="en-US" dirty="0" smtClean="0"/>
          </a:p>
          <a:p>
            <a:r>
              <a:rPr lang="en-US" dirty="0" smtClean="0"/>
              <a:t>Let us consider the null and alternative hypothesis:</a:t>
            </a:r>
          </a:p>
          <a:p>
            <a:endParaRPr lang="en-US" dirty="0" smtClean="0"/>
          </a:p>
          <a:p>
            <a:endParaRPr lang="en-US" dirty="0" smtClean="0"/>
          </a:p>
          <a:p>
            <a:endParaRPr lang="en-US" dirty="0" smtClean="0"/>
          </a:p>
          <a:p>
            <a:r>
              <a:rPr lang="en-US" dirty="0" smtClean="0"/>
              <a:t>Using the z-table we can calculate the significance as </a:t>
            </a:r>
          </a:p>
          <a:p>
            <a:endParaRPr lang="en-US" dirty="0" smtClean="0"/>
          </a:p>
          <a:p>
            <a:r>
              <a:rPr lang="en-US" dirty="0" smtClean="0"/>
              <a:t>Now we have to find the z-score. Z-score is calculated using the formula:</a:t>
            </a:r>
          </a:p>
          <a:p>
            <a:endParaRPr lang="en-US" dirty="0" smtClean="0"/>
          </a:p>
          <a:p>
            <a:r>
              <a:rPr lang="en-US" dirty="0" smtClean="0"/>
              <a:t>  , where ρ denotes the standard deviation .</a:t>
            </a:r>
          </a:p>
          <a:p>
            <a:endParaRPr lang="en-US" dirty="0" smtClean="0"/>
          </a:p>
          <a:p>
            <a:r>
              <a:rPr lang="en-US" dirty="0" smtClean="0"/>
              <a:t>Now we will use the above values to calculate the z-score.</a:t>
            </a:r>
          </a:p>
          <a:p>
            <a:endParaRPr lang="en-US" dirty="0" smtClean="0"/>
          </a:p>
          <a:p>
            <a:endParaRPr lang="en-US" dirty="0" smtClean="0"/>
          </a:p>
          <a:p>
            <a:endParaRPr lang="en-US" dirty="0" smtClean="0"/>
          </a:p>
          <a:p>
            <a:r>
              <a:rPr lang="en-US" dirty="0" smtClean="0"/>
              <a:t>Now we can see that  , so we can reject the null hypothesis.</a:t>
            </a:r>
          </a:p>
          <a:p>
            <a:endParaRPr lang="en-US" dirty="0" smtClean="0"/>
          </a:p>
          <a:p>
            <a:r>
              <a:rPr lang="en-US" dirty="0" smtClean="0"/>
              <a:t>Therefore there is enough evidence in support of the teachers' claim at a 0.05 significance level.</a:t>
            </a:r>
          </a:p>
          <a:p>
            <a:endParaRPr lang="en-US" dirty="0"/>
          </a:p>
        </p:txBody>
      </p:sp>
      <p:pic>
        <p:nvPicPr>
          <p:cNvPr id="8206" name="Picture 14" descr="https://tex.z-dn.net/?f=H_0%20%3A%5Cmu%3D82%5C%5C%5C%5CH_1%3A%5Cmu%20%3E%20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2277" y="4919380"/>
            <a:ext cx="800100" cy="523875"/>
          </a:xfrm>
          <a:prstGeom prst="rect">
            <a:avLst/>
          </a:prstGeom>
          <a:noFill/>
          <a:extLst>
            <a:ext uri="{909E8E84-426E-40DD-AFC4-6F175D3DCCD1}">
              <a14:hiddenFill xmlns:a14="http://schemas.microsoft.com/office/drawing/2010/main">
                <a:solidFill>
                  <a:srgbClr val="FFFFFF"/>
                </a:solidFill>
              </a14:hiddenFill>
            </a:ext>
          </a:extLst>
        </p:spPr>
      </p:pic>
      <p:pic>
        <p:nvPicPr>
          <p:cNvPr id="8208" name="Picture 16" descr="https://tex.z-dn.net/?f=%5Calpha%20%3D1.6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36525"/>
            <a:ext cx="676275" cy="1238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4"/>
          <a:stretch>
            <a:fillRect/>
          </a:stretch>
        </p:blipFill>
        <p:spPr>
          <a:xfrm>
            <a:off x="8569428" y="5759910"/>
            <a:ext cx="676275" cy="123825"/>
          </a:xfrm>
          <a:prstGeom prst="rect">
            <a:avLst/>
          </a:prstGeom>
        </p:spPr>
      </p:pic>
      <p:pic>
        <p:nvPicPr>
          <p:cNvPr id="8" name="Picture 7"/>
          <p:cNvPicPr>
            <a:picLocks noChangeAspect="1"/>
          </p:cNvPicPr>
          <p:nvPr/>
        </p:nvPicPr>
        <p:blipFill>
          <a:blip r:embed="rId5"/>
          <a:stretch>
            <a:fillRect/>
          </a:stretch>
        </p:blipFill>
        <p:spPr>
          <a:xfrm>
            <a:off x="4631389" y="6600825"/>
            <a:ext cx="561975" cy="257175"/>
          </a:xfrm>
          <a:prstGeom prst="rect">
            <a:avLst/>
          </a:prstGeom>
        </p:spPr>
      </p:pic>
      <p:pic>
        <p:nvPicPr>
          <p:cNvPr id="9" name="Picture 8"/>
          <p:cNvPicPr>
            <a:picLocks noChangeAspect="1"/>
          </p:cNvPicPr>
          <p:nvPr/>
        </p:nvPicPr>
        <p:blipFill>
          <a:blip r:embed="rId6"/>
          <a:stretch>
            <a:fillRect/>
          </a:stretch>
        </p:blipFill>
        <p:spPr>
          <a:xfrm>
            <a:off x="3926539" y="7995146"/>
            <a:ext cx="704850" cy="552450"/>
          </a:xfrm>
          <a:prstGeom prst="rect">
            <a:avLst/>
          </a:prstGeom>
        </p:spPr>
      </p:pic>
    </p:spTree>
    <p:extLst>
      <p:ext uri="{BB962C8B-B14F-4D97-AF65-F5344CB8AC3E}">
        <p14:creationId xmlns:p14="http://schemas.microsoft.com/office/powerpoint/2010/main" val="3639303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5099"/>
            <a:ext cx="10515600" cy="5971864"/>
          </a:xfrm>
        </p:spPr>
        <p:txBody>
          <a:bodyPr>
            <a:normAutofit/>
          </a:bodyPr>
          <a:lstStyle/>
          <a:p>
            <a:r>
              <a:rPr lang="en-US" dirty="0"/>
              <a:t>Z-test is the statistical test used to analyze whether two population means are different or not when the variances are known, and the sample size is large.</a:t>
            </a:r>
          </a:p>
          <a:p>
            <a:r>
              <a:rPr lang="en-US" dirty="0"/>
              <a:t>The z-test is based on the normal distribution.</a:t>
            </a:r>
          </a:p>
          <a:p>
            <a:r>
              <a:rPr lang="en-US" dirty="0"/>
              <a:t>The assumptions for Z-test are:</a:t>
            </a:r>
          </a:p>
          <a:p>
            <a:r>
              <a:rPr lang="en-US" dirty="0"/>
              <a:t>All observations are independent.</a:t>
            </a:r>
          </a:p>
          <a:p>
            <a:r>
              <a:rPr lang="en-US" dirty="0"/>
              <a:t>The size of the sample should be more than 30.</a:t>
            </a:r>
          </a:p>
          <a:p>
            <a:r>
              <a:rPr lang="en-US" dirty="0"/>
              <a:t>The Z distribution is normal when the mean is 0, and the variance is 1.</a:t>
            </a:r>
          </a:p>
          <a:p>
            <a:r>
              <a:rPr lang="en-US" dirty="0"/>
              <a:t>The test statistic is defined by:</a:t>
            </a:r>
          </a:p>
          <a:p>
            <a:r>
              <a:rPr lang="en-US" dirty="0" smtClean="0"/>
              <a:t/>
            </a:r>
            <a:br>
              <a:rPr lang="en-US" dirty="0" smtClean="0"/>
            </a:br>
            <a:endParaRPr lang="en-IN" dirty="0"/>
          </a:p>
        </p:txBody>
      </p:sp>
      <p:pic>
        <p:nvPicPr>
          <p:cNvPr id="10242" name="Picture 2" descr="Z_Te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9784" y="4531541"/>
            <a:ext cx="2447925" cy="8763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578124" y="5290025"/>
            <a:ext cx="6096000" cy="1200329"/>
          </a:xfrm>
          <a:prstGeom prst="rect">
            <a:avLst/>
          </a:prstGeom>
        </p:spPr>
        <p:txBody>
          <a:bodyPr>
            <a:spAutoFit/>
          </a:bodyPr>
          <a:lstStyle/>
          <a:p>
            <a:r>
              <a:rPr lang="en-US" b="0" i="0" dirty="0" err="1" smtClean="0">
                <a:solidFill>
                  <a:srgbClr val="51565E"/>
                </a:solidFill>
                <a:effectLst/>
                <a:latin typeface="Roboto"/>
              </a:rPr>
              <a:t>Xbar</a:t>
            </a:r>
            <a:r>
              <a:rPr lang="en-US" b="0" i="0" dirty="0" smtClean="0">
                <a:solidFill>
                  <a:srgbClr val="51565E"/>
                </a:solidFill>
                <a:effectLst/>
                <a:latin typeface="Roboto"/>
              </a:rPr>
              <a:t> is the sample mean</a:t>
            </a:r>
          </a:p>
          <a:p>
            <a:r>
              <a:rPr lang="en-US" b="0" i="0" dirty="0" smtClean="0">
                <a:solidFill>
                  <a:srgbClr val="51565E"/>
                </a:solidFill>
                <a:effectLst/>
                <a:latin typeface="Roboto"/>
              </a:rPr>
              <a:t>σ is the population standard deviation</a:t>
            </a:r>
          </a:p>
          <a:p>
            <a:r>
              <a:rPr lang="en-US" b="0" i="0" dirty="0" smtClean="0">
                <a:solidFill>
                  <a:srgbClr val="51565E"/>
                </a:solidFill>
                <a:effectLst/>
                <a:latin typeface="Roboto"/>
              </a:rPr>
              <a:t>n is the sample size</a:t>
            </a:r>
          </a:p>
          <a:p>
            <a:r>
              <a:rPr lang="en-US" b="0" i="0" dirty="0" smtClean="0">
                <a:solidFill>
                  <a:srgbClr val="51565E"/>
                </a:solidFill>
                <a:effectLst/>
                <a:latin typeface="Roboto"/>
              </a:rPr>
              <a:t>μ is the population mean</a:t>
            </a:r>
            <a:endParaRPr lang="en-US" b="0" i="0" dirty="0">
              <a:solidFill>
                <a:srgbClr val="51565E"/>
              </a:solidFill>
              <a:effectLst/>
              <a:latin typeface="Roboto"/>
            </a:endParaRPr>
          </a:p>
        </p:txBody>
      </p:sp>
    </p:spTree>
    <p:extLst>
      <p:ext uri="{BB962C8B-B14F-4D97-AF65-F5344CB8AC3E}">
        <p14:creationId xmlns:p14="http://schemas.microsoft.com/office/powerpoint/2010/main" val="294800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7823" y="227561"/>
            <a:ext cx="11279736" cy="6215968"/>
          </a:xfrm>
        </p:spPr>
        <p:txBody>
          <a:bodyPr>
            <a:normAutofit fontScale="85000" lnSpcReduction="20000"/>
          </a:bodyPr>
          <a:lstStyle/>
          <a:p>
            <a:r>
              <a:rPr lang="en-US" dirty="0"/>
              <a:t>Let's say that the mean score of students in a class is greater than 70 with a </a:t>
            </a:r>
            <a:r>
              <a:rPr lang="en-US" dirty="0">
                <a:hlinkClick r:id="rId2" tooltip="standard deviation"/>
              </a:rPr>
              <a:t>standard deviation</a:t>
            </a:r>
            <a:r>
              <a:rPr lang="en-US" dirty="0"/>
              <a:t> of 10. If a sample of 50 students was selected with a mean score of 80, calculate the Z-value to check if there is enough evidence to support this claim at a 0.05 significance level.</a:t>
            </a:r>
          </a:p>
          <a:p>
            <a:r>
              <a:rPr lang="en-US" dirty="0"/>
              <a:t>Solution:</a:t>
            </a:r>
          </a:p>
          <a:p>
            <a:r>
              <a:rPr lang="en-US" dirty="0"/>
              <a:t>Here, the sample size is 50 and we know the standard deviation. This is a case of a right-tailed one-sample z test. </a:t>
            </a:r>
          </a:p>
          <a:p>
            <a:r>
              <a:rPr lang="en-US" dirty="0"/>
              <a:t>The Null hypothesis is the mean score is 70</a:t>
            </a:r>
          </a:p>
          <a:p>
            <a:r>
              <a:rPr lang="en-US" dirty="0"/>
              <a:t>The Alternative hypothesis is mean score is greater than 70</a:t>
            </a:r>
          </a:p>
          <a:p>
            <a:r>
              <a:rPr lang="en-US" dirty="0"/>
              <a:t>From the z-table, the critical value at alpha = 0.05 is 1.645</a:t>
            </a:r>
          </a:p>
          <a:p>
            <a:r>
              <a:rPr lang="en-US" dirty="0" err="1"/>
              <a:t>Xbar</a:t>
            </a:r>
            <a:r>
              <a:rPr lang="en-US" dirty="0"/>
              <a:t> = 80</a:t>
            </a:r>
          </a:p>
          <a:p>
            <a:r>
              <a:rPr lang="en-US" dirty="0"/>
              <a:t>μ = 70</a:t>
            </a:r>
          </a:p>
          <a:p>
            <a:r>
              <a:rPr lang="en-US" dirty="0"/>
              <a:t>n = 50</a:t>
            </a:r>
          </a:p>
          <a:p>
            <a:r>
              <a:rPr lang="en-US" dirty="0"/>
              <a:t>σ = 10</a:t>
            </a:r>
          </a:p>
          <a:p>
            <a:r>
              <a:rPr lang="en-US" dirty="0"/>
              <a:t>Substituting the values in the formula, you will get the Z value to be equal to 7.09. </a:t>
            </a:r>
          </a:p>
          <a:p>
            <a:r>
              <a:rPr lang="en-US" dirty="0"/>
              <a:t>Since 7.09 &gt; 1.645 thus, the null hypothesis is rejected and there is enough to support that the mean of the class is greater than 70.</a:t>
            </a:r>
          </a:p>
          <a:p>
            <a:endParaRPr lang="en-IN" dirty="0"/>
          </a:p>
        </p:txBody>
      </p:sp>
    </p:spTree>
    <p:extLst>
      <p:ext uri="{BB962C8B-B14F-4D97-AF65-F5344CB8AC3E}">
        <p14:creationId xmlns:p14="http://schemas.microsoft.com/office/powerpoint/2010/main" val="1676523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1652"/>
            <a:ext cx="10515600" cy="5775311"/>
          </a:xfrm>
        </p:spPr>
        <p:txBody>
          <a:bodyPr>
            <a:normAutofit fontScale="85000" lnSpcReduction="20000"/>
          </a:bodyPr>
          <a:lstStyle/>
          <a:p>
            <a:r>
              <a:rPr lang="en-US" dirty="0"/>
              <a:t>Definition Of T-Test</a:t>
            </a:r>
          </a:p>
          <a:p>
            <a:r>
              <a:rPr lang="en-US" dirty="0"/>
              <a:t>A T-test is a parametric test applied to identify how the average of two data sets differs when variance is not given.</a:t>
            </a:r>
          </a:p>
          <a:p>
            <a:r>
              <a:rPr lang="en-US" dirty="0"/>
              <a:t>When the sample size is small, and the population standard deviation is unknown, the T-test is used in conjunction with the t-distribution. The degree of freedom significantly impacts the shape of a t-distribution. The number of independent observations in a given set of observations is the degree of freedom.</a:t>
            </a:r>
          </a:p>
          <a:p>
            <a:r>
              <a:rPr lang="en-US" dirty="0"/>
              <a:t>There are the following assumptions taken for the T-Test:</a:t>
            </a:r>
          </a:p>
          <a:p>
            <a:r>
              <a:rPr lang="en-US" dirty="0"/>
              <a:t>All the data points are independent.</a:t>
            </a:r>
          </a:p>
          <a:p>
            <a:r>
              <a:rPr lang="en-US" dirty="0"/>
              <a:t>The sample size is very small.</a:t>
            </a:r>
          </a:p>
          <a:p>
            <a:r>
              <a:rPr lang="en-US" dirty="0"/>
              <a:t>The sample size should be taken and recorded accurately</a:t>
            </a:r>
            <a:r>
              <a:rPr lang="en-US" dirty="0" smtClean="0"/>
              <a:t>.</a:t>
            </a:r>
          </a:p>
          <a:p>
            <a:r>
              <a:rPr lang="en-US" dirty="0" err="1"/>
              <a:t>Xbar</a:t>
            </a:r>
            <a:r>
              <a:rPr lang="en-US" dirty="0"/>
              <a:t> is the sample mean</a:t>
            </a:r>
          </a:p>
          <a:p>
            <a:r>
              <a:rPr lang="en-US" dirty="0"/>
              <a:t>s is the sample standard deviation</a:t>
            </a:r>
          </a:p>
          <a:p>
            <a:r>
              <a:rPr lang="en-US" dirty="0"/>
              <a:t>n is the sample size</a:t>
            </a:r>
          </a:p>
          <a:p>
            <a:r>
              <a:rPr lang="en-US" dirty="0"/>
              <a:t>μ is the population mean</a:t>
            </a:r>
          </a:p>
          <a:p>
            <a:endParaRPr lang="en-US" dirty="0"/>
          </a:p>
          <a:p>
            <a:endParaRPr lang="en-IN" dirty="0"/>
          </a:p>
        </p:txBody>
      </p:sp>
    </p:spTree>
    <p:extLst>
      <p:ext uri="{BB962C8B-B14F-4D97-AF65-F5344CB8AC3E}">
        <p14:creationId xmlns:p14="http://schemas.microsoft.com/office/powerpoint/2010/main" val="1886120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2748"/>
            <a:ext cx="10515600" cy="5664215"/>
          </a:xfrm>
        </p:spPr>
        <p:txBody>
          <a:bodyPr>
            <a:normAutofit fontScale="92500"/>
          </a:bodyPr>
          <a:lstStyle/>
          <a:p>
            <a:r>
              <a:rPr lang="en-US" dirty="0"/>
              <a:t>Example:</a:t>
            </a:r>
          </a:p>
          <a:p>
            <a:r>
              <a:rPr lang="en-US" dirty="0"/>
              <a:t>A store wants to improve its sales. The previous sales data shows that the average sale of 30 salesmen was $40 per sale. After some training, the current data showed an average sale of $60 per transaction. If the standard deviation given is $20, find the t-value. Did training improve the sales?</a:t>
            </a:r>
          </a:p>
          <a:p>
            <a:r>
              <a:rPr lang="en-US" dirty="0"/>
              <a:t>Solution: </a:t>
            </a:r>
          </a:p>
          <a:p>
            <a:r>
              <a:rPr lang="en-US" dirty="0" err="1"/>
              <a:t>Xbar</a:t>
            </a:r>
            <a:r>
              <a:rPr lang="en-US" dirty="0"/>
              <a:t> = 60</a:t>
            </a:r>
          </a:p>
          <a:p>
            <a:r>
              <a:rPr lang="en-US" dirty="0"/>
              <a:t>s = 20</a:t>
            </a:r>
          </a:p>
          <a:p>
            <a:r>
              <a:rPr lang="en-US" dirty="0"/>
              <a:t>n = 30</a:t>
            </a:r>
          </a:p>
          <a:p>
            <a:r>
              <a:rPr lang="en-US" dirty="0"/>
              <a:t>μ = 40</a:t>
            </a:r>
          </a:p>
          <a:p>
            <a:r>
              <a:rPr lang="en-US" dirty="0"/>
              <a:t>Substituting the values in the formula, you will get t-value  = 5.47. For the alpha value of 0.05, the critical value is 1.711. Here 5.47 &gt; 1.711, we can reject the null hypothesis and conclude that training did affect sales.</a:t>
            </a:r>
          </a:p>
          <a:p>
            <a:endParaRPr lang="en-IN" dirty="0"/>
          </a:p>
        </p:txBody>
      </p:sp>
    </p:spTree>
    <p:extLst>
      <p:ext uri="{BB962C8B-B14F-4D97-AF65-F5344CB8AC3E}">
        <p14:creationId xmlns:p14="http://schemas.microsoft.com/office/powerpoint/2010/main" val="3137376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r>
              <a:rPr lang="en-US" b="1" dirty="0"/>
              <a:t>Covariance</a:t>
            </a:r>
            <a:r>
              <a:rPr lang="en-US" dirty="0"/>
              <a:t> is a measure of the relationship between two random variables and to what extent, they change together. Or we can say, in other words, it defines the changes between the two variables, such that change in one variable is equal to change in another variable. This is the property of a function of maintaining its form when the variables are linearly transformed. Covariance is measured in units, which are calculated by multiplying the units of the two variables.</a:t>
            </a:r>
          </a:p>
          <a:p>
            <a:r>
              <a:rPr lang="en-US" dirty="0"/>
              <a:t>Types of Covariance</a:t>
            </a:r>
          </a:p>
          <a:p>
            <a:r>
              <a:rPr lang="en-US" dirty="0"/>
              <a:t>Covariance can have both positive and negative values. Based on this, it has two types:</a:t>
            </a:r>
          </a:p>
          <a:p>
            <a:r>
              <a:rPr lang="en-US" dirty="0"/>
              <a:t>Positive Covariance</a:t>
            </a:r>
          </a:p>
          <a:p>
            <a:r>
              <a:rPr lang="en-US" dirty="0"/>
              <a:t>Negative Covariance</a:t>
            </a:r>
          </a:p>
          <a:p>
            <a:r>
              <a:rPr lang="en-US" dirty="0"/>
              <a:t>Positive Covariance</a:t>
            </a:r>
          </a:p>
          <a:p>
            <a:r>
              <a:rPr lang="en-US" dirty="0"/>
              <a:t>If the covariance for any two variables is positive, that means, both the variables move in the same direction.</a:t>
            </a:r>
          </a:p>
          <a:p>
            <a:r>
              <a:rPr lang="en-US" dirty="0"/>
              <a:t>Negative Covariance</a:t>
            </a:r>
          </a:p>
          <a:p>
            <a:r>
              <a:rPr lang="en-US" dirty="0"/>
              <a:t>If the covariance for any two variables is negative, that means, both the variables move in the opposite direction. </a:t>
            </a:r>
          </a:p>
          <a:p>
            <a:r>
              <a:rPr lang="en-US" dirty="0"/>
              <a:t/>
            </a:r>
            <a:br>
              <a:rPr lang="en-US" dirty="0"/>
            </a:br>
            <a:endParaRPr lang="en-IN" dirty="0"/>
          </a:p>
        </p:txBody>
      </p:sp>
    </p:spTree>
    <p:extLst>
      <p:ext uri="{BB962C8B-B14F-4D97-AF65-F5344CB8AC3E}">
        <p14:creationId xmlns:p14="http://schemas.microsoft.com/office/powerpoint/2010/main" val="1131132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variance Formul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5326" y="688330"/>
            <a:ext cx="7143750" cy="36861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364052" y="4549676"/>
            <a:ext cx="6096000" cy="2308324"/>
          </a:xfrm>
          <a:prstGeom prst="rect">
            <a:avLst/>
          </a:prstGeom>
        </p:spPr>
        <p:txBody>
          <a:bodyPr>
            <a:spAutoFit/>
          </a:bodyPr>
          <a:lstStyle/>
          <a:p>
            <a:r>
              <a:rPr lang="en-US" dirty="0">
                <a:solidFill>
                  <a:srgbClr val="333333"/>
                </a:solidFill>
                <a:latin typeface="Roboto"/>
              </a:rPr>
              <a:t>Where,</a:t>
            </a:r>
          </a:p>
          <a:p>
            <a:pPr>
              <a:buFont typeface="Arial" panose="020B0604020202020204" pitchFamily="34" charset="0"/>
              <a:buChar char="•"/>
            </a:pPr>
            <a:r>
              <a:rPr lang="en-US" dirty="0">
                <a:solidFill>
                  <a:srgbClr val="333333"/>
                </a:solidFill>
                <a:latin typeface="Roboto"/>
              </a:rPr>
              <a:t>xi = data value of x</a:t>
            </a:r>
          </a:p>
          <a:p>
            <a:pPr>
              <a:buFont typeface="Arial" panose="020B0604020202020204" pitchFamily="34" charset="0"/>
              <a:buChar char="•"/>
            </a:pPr>
            <a:r>
              <a:rPr lang="en-US" dirty="0" err="1">
                <a:solidFill>
                  <a:srgbClr val="333333"/>
                </a:solidFill>
                <a:latin typeface="Roboto"/>
              </a:rPr>
              <a:t>yi</a:t>
            </a:r>
            <a:r>
              <a:rPr lang="en-US" dirty="0">
                <a:solidFill>
                  <a:srgbClr val="333333"/>
                </a:solidFill>
                <a:latin typeface="Roboto"/>
              </a:rPr>
              <a:t> = data value of y</a:t>
            </a:r>
          </a:p>
          <a:p>
            <a:pPr>
              <a:buFont typeface="Arial" panose="020B0604020202020204" pitchFamily="34" charset="0"/>
              <a:buChar char="•"/>
            </a:pPr>
            <a:r>
              <a:rPr lang="en-US" dirty="0">
                <a:solidFill>
                  <a:srgbClr val="333333"/>
                </a:solidFill>
                <a:latin typeface="Roboto"/>
              </a:rPr>
              <a:t>x̄ = mean of x</a:t>
            </a:r>
          </a:p>
          <a:p>
            <a:pPr>
              <a:buFont typeface="Arial" panose="020B0604020202020204" pitchFamily="34" charset="0"/>
              <a:buChar char="•"/>
            </a:pPr>
            <a:r>
              <a:rPr lang="en-US" dirty="0">
                <a:solidFill>
                  <a:srgbClr val="333333"/>
                </a:solidFill>
                <a:latin typeface="Roboto"/>
              </a:rPr>
              <a:t>ȳ = mean of y</a:t>
            </a:r>
          </a:p>
          <a:p>
            <a:pPr>
              <a:buFont typeface="Arial" panose="020B0604020202020204" pitchFamily="34" charset="0"/>
              <a:buChar char="•"/>
            </a:pPr>
            <a:r>
              <a:rPr lang="en-US" dirty="0">
                <a:solidFill>
                  <a:srgbClr val="333333"/>
                </a:solidFill>
                <a:latin typeface="Roboto"/>
              </a:rPr>
              <a:t>N = number of data values.</a:t>
            </a:r>
          </a:p>
          <a:p>
            <a:r>
              <a:rPr lang="en-US" dirty="0"/>
              <a:t/>
            </a:r>
            <a:br>
              <a:rPr lang="en-US" dirty="0"/>
            </a:br>
            <a:endParaRPr lang="en-IN" dirty="0"/>
          </a:p>
        </p:txBody>
      </p:sp>
    </p:spTree>
    <p:extLst>
      <p:ext uri="{BB962C8B-B14F-4D97-AF65-F5344CB8AC3E}">
        <p14:creationId xmlns:p14="http://schemas.microsoft.com/office/powerpoint/2010/main" val="2242822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5631" y="487082"/>
            <a:ext cx="10515600" cy="4351338"/>
          </a:xfrm>
        </p:spPr>
        <p:txBody>
          <a:bodyPr/>
          <a:lstStyle/>
          <a:p>
            <a:r>
              <a:rPr lang="en-US" dirty="0"/>
              <a:t>Correlation Coefficient Formula</a:t>
            </a:r>
          </a:p>
          <a:p>
            <a:r>
              <a:rPr lang="en-US" dirty="0"/>
              <a:t>We have already discussed covariance, which is the evaluation of changes between any two variables. Correlation estimates the depth of the relationship between variables. It is the estimated measure of covariance and is dimensionless. In other words, the correlation coefficient is a constant value always and does not have any units. The relationship between the correlation coefficient and covariance is given by;</a:t>
            </a:r>
          </a:p>
          <a:p>
            <a:r>
              <a:rPr lang="en-US" dirty="0"/>
              <a:t/>
            </a:r>
            <a:br>
              <a:rPr lang="en-US" dirty="0"/>
            </a:br>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1689071587"/>
              </p:ext>
            </p:extLst>
          </p:nvPr>
        </p:nvGraphicFramePr>
        <p:xfrm>
          <a:off x="2057446" y="3904244"/>
          <a:ext cx="5308473" cy="396240"/>
        </p:xfrm>
        <a:graphic>
          <a:graphicData uri="http://schemas.openxmlformats.org/drawingml/2006/table">
            <a:tbl>
              <a:tblPr/>
              <a:tblGrid>
                <a:gridCol w="5308473"/>
              </a:tblGrid>
              <a:tr h="0">
                <a:tc>
                  <a:txBody>
                    <a:bodyPr/>
                    <a:lstStyle/>
                    <a:p>
                      <a:pPr fontAlgn="t"/>
                      <a:r>
                        <a:rPr lang="en-IN" b="1" dirty="0">
                          <a:effectLst/>
                        </a:rPr>
                        <a:t>Correlation,</a:t>
                      </a:r>
                      <a:r>
                        <a:rPr lang="el-GR" b="1" dirty="0">
                          <a:effectLst/>
                        </a:rPr>
                        <a:t>ρ(</a:t>
                      </a:r>
                      <a:r>
                        <a:rPr lang="en-IN" b="1" dirty="0">
                          <a:effectLst/>
                        </a:rPr>
                        <a:t>X,Y) = </a:t>
                      </a:r>
                      <a:r>
                        <a:rPr lang="en-IN" b="1" dirty="0" err="1">
                          <a:effectLst/>
                        </a:rPr>
                        <a:t>Cov</a:t>
                      </a:r>
                      <a:r>
                        <a:rPr lang="en-IN" b="1" dirty="0">
                          <a:effectLst/>
                        </a:rPr>
                        <a:t>(X,Y)/</a:t>
                      </a:r>
                      <a:r>
                        <a:rPr lang="el-GR" b="1" dirty="0">
                          <a:effectLst/>
                        </a:rPr>
                        <a:t>σ</a:t>
                      </a:r>
                      <a:r>
                        <a:rPr lang="en-IN" b="1" baseline="-25000" dirty="0">
                          <a:effectLst/>
                        </a:rPr>
                        <a:t>X </a:t>
                      </a:r>
                      <a:r>
                        <a:rPr lang="el-GR" b="1" dirty="0">
                          <a:effectLst/>
                        </a:rPr>
                        <a:t>σ</a:t>
                      </a:r>
                      <a:r>
                        <a:rPr lang="en-IN" b="1" baseline="-25000" dirty="0">
                          <a:effectLst/>
                        </a:rPr>
                        <a:t>y</a:t>
                      </a:r>
                      <a:endParaRPr lang="en-IN" dirty="0">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bl>
          </a:graphicData>
        </a:graphic>
      </p:graphicFrame>
      <p:sp>
        <p:nvSpPr>
          <p:cNvPr id="9" name="Rectangle 3"/>
          <p:cNvSpPr>
            <a:spLocks noChangeArrowheads="1"/>
          </p:cNvSpPr>
          <p:nvPr/>
        </p:nvSpPr>
        <p:spPr bwMode="auto">
          <a:xfrm>
            <a:off x="2057446" y="50840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rPr>
              <a:t/>
            </a:r>
            <a:br>
              <a:rPr kumimoji="0" lang="en-US" sz="1800" b="0" i="0" u="none" strike="noStrike" cap="none" normalizeH="0" baseline="0" smtClean="0">
                <a:ln>
                  <a:noFill/>
                </a:ln>
                <a:solidFill>
                  <a:schemeClr val="tx1"/>
                </a:solidFill>
                <a:effectLst/>
                <a:latin typeface="Arial" panose="020B0604020202020204" pitchFamily="34" charset="0"/>
              </a:rPr>
            </a:br>
            <a:endParaRPr kumimoji="0" lang="en-US" sz="1800" b="0" i="0" u="none" strike="noStrike" cap="none" normalizeH="0" baseline="0" smtClean="0">
              <a:ln>
                <a:noFill/>
              </a:ln>
              <a:solidFill>
                <a:schemeClr val="tx1"/>
              </a:solidFill>
              <a:effectLst/>
              <a:latin typeface="Arial" panose="020B0604020202020204" pitchFamily="34" charset="0"/>
            </a:endParaRPr>
          </a:p>
        </p:txBody>
      </p:sp>
      <p:sp>
        <p:nvSpPr>
          <p:cNvPr id="10" name="Rectangle 9"/>
          <p:cNvSpPr/>
          <p:nvPr/>
        </p:nvSpPr>
        <p:spPr>
          <a:xfrm>
            <a:off x="1304658" y="4720702"/>
            <a:ext cx="6096000" cy="2031325"/>
          </a:xfrm>
          <a:prstGeom prst="rect">
            <a:avLst/>
          </a:prstGeom>
        </p:spPr>
        <p:txBody>
          <a:bodyPr>
            <a:spAutoFit/>
          </a:bodyPr>
          <a:lstStyle/>
          <a:p>
            <a:r>
              <a:rPr lang="en-US" dirty="0">
                <a:solidFill>
                  <a:srgbClr val="333333"/>
                </a:solidFill>
                <a:latin typeface="Roboto"/>
              </a:rPr>
              <a:t>Where:</a:t>
            </a:r>
          </a:p>
          <a:p>
            <a:pPr>
              <a:buFont typeface="Arial" panose="020B0604020202020204" pitchFamily="34" charset="0"/>
              <a:buChar char="•"/>
            </a:pPr>
            <a:r>
              <a:rPr lang="en-US" dirty="0">
                <a:solidFill>
                  <a:srgbClr val="333333"/>
                </a:solidFill>
                <a:latin typeface="Roboto"/>
              </a:rPr>
              <a:t>ρ(X,Y) = correlation between the variables X and Y</a:t>
            </a:r>
          </a:p>
          <a:p>
            <a:pPr>
              <a:buFont typeface="Arial" panose="020B0604020202020204" pitchFamily="34" charset="0"/>
              <a:buChar char="•"/>
            </a:pPr>
            <a:r>
              <a:rPr lang="en-US" dirty="0" err="1">
                <a:solidFill>
                  <a:srgbClr val="333333"/>
                </a:solidFill>
                <a:latin typeface="Roboto"/>
              </a:rPr>
              <a:t>Cov</a:t>
            </a:r>
            <a:r>
              <a:rPr lang="en-US" dirty="0">
                <a:solidFill>
                  <a:srgbClr val="333333"/>
                </a:solidFill>
                <a:latin typeface="Roboto"/>
              </a:rPr>
              <a:t>(X,Y) = covariance between the variables X and Y</a:t>
            </a:r>
          </a:p>
          <a:p>
            <a:pPr>
              <a:buFont typeface="Arial" panose="020B0604020202020204" pitchFamily="34" charset="0"/>
              <a:buChar char="•"/>
            </a:pPr>
            <a:r>
              <a:rPr lang="en-US" dirty="0" err="1">
                <a:solidFill>
                  <a:srgbClr val="333333"/>
                </a:solidFill>
                <a:latin typeface="Roboto"/>
              </a:rPr>
              <a:t>σX</a:t>
            </a:r>
            <a:r>
              <a:rPr lang="en-US" dirty="0">
                <a:solidFill>
                  <a:srgbClr val="333333"/>
                </a:solidFill>
                <a:latin typeface="Roboto"/>
              </a:rPr>
              <a:t> = standard deviation of the X variable</a:t>
            </a:r>
          </a:p>
          <a:p>
            <a:pPr>
              <a:buFont typeface="Arial" panose="020B0604020202020204" pitchFamily="34" charset="0"/>
              <a:buChar char="•"/>
            </a:pPr>
            <a:r>
              <a:rPr lang="en-US" dirty="0" err="1">
                <a:solidFill>
                  <a:srgbClr val="333333"/>
                </a:solidFill>
                <a:latin typeface="Roboto"/>
              </a:rPr>
              <a:t>σY</a:t>
            </a:r>
            <a:r>
              <a:rPr lang="en-US" dirty="0">
                <a:solidFill>
                  <a:srgbClr val="333333"/>
                </a:solidFill>
                <a:latin typeface="Roboto"/>
              </a:rPr>
              <a:t> = standard deviation of the Y variable</a:t>
            </a:r>
          </a:p>
          <a:p>
            <a:r>
              <a:rPr lang="en-US" dirty="0"/>
              <a:t/>
            </a:r>
            <a:br>
              <a:rPr lang="en-US" dirty="0"/>
            </a:br>
            <a:endParaRPr lang="en-IN" dirty="0"/>
          </a:p>
        </p:txBody>
      </p:sp>
    </p:spTree>
    <p:extLst>
      <p:ext uri="{BB962C8B-B14F-4D97-AF65-F5344CB8AC3E}">
        <p14:creationId xmlns:p14="http://schemas.microsoft.com/office/powerpoint/2010/main" val="172833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690729338"/>
              </p:ext>
            </p:extLst>
          </p:nvPr>
        </p:nvGraphicFramePr>
        <p:xfrm>
          <a:off x="1508759" y="1783019"/>
          <a:ext cx="7182584" cy="4381770"/>
        </p:xfrm>
        <a:graphic>
          <a:graphicData uri="http://schemas.openxmlformats.org/drawingml/2006/table">
            <a:tbl>
              <a:tblPr/>
              <a:tblGrid>
                <a:gridCol w="3591292"/>
                <a:gridCol w="3591292"/>
              </a:tblGrid>
              <a:tr h="387448">
                <a:tc>
                  <a:txBody>
                    <a:bodyPr/>
                    <a:lstStyle/>
                    <a:p>
                      <a:r>
                        <a:rPr lang="en-IN" sz="1800" b="1" dirty="0">
                          <a:effectLst/>
                        </a:rPr>
                        <a:t>Covariance</a:t>
                      </a:r>
                      <a:endParaRPr lang="en-IN" sz="1800" dirty="0">
                        <a:effectLst/>
                      </a:endParaRPr>
                    </a:p>
                  </a:txBody>
                  <a:tcPr marL="81960" marR="81960" marT="59607" marB="5960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IN" sz="1800" b="1">
                          <a:effectLst/>
                        </a:rPr>
                        <a:t>Correlation</a:t>
                      </a:r>
                      <a:endParaRPr lang="en-IN" sz="1800">
                        <a:effectLst/>
                      </a:endParaRPr>
                    </a:p>
                  </a:txBody>
                  <a:tcPr marL="81960" marR="81960" marT="59607" marB="5960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1460381">
                <a:tc>
                  <a:txBody>
                    <a:bodyPr/>
                    <a:lstStyle/>
                    <a:p>
                      <a:r>
                        <a:rPr lang="en-US" sz="1800" b="0" dirty="0">
                          <a:effectLst/>
                        </a:rPr>
                        <a:t>It is a measure to show the extent to which given two random variables change with respect to each other.</a:t>
                      </a:r>
                      <a:endParaRPr lang="en-US" sz="1800" dirty="0">
                        <a:effectLst/>
                      </a:endParaRPr>
                    </a:p>
                  </a:txBody>
                  <a:tcPr marL="81960" marR="81960" marT="59607" marB="5960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800" b="0">
                          <a:effectLst/>
                        </a:rPr>
                        <a:t>It is a measure used to describe how strongly the given two random variables are related to each other.</a:t>
                      </a:r>
                      <a:endParaRPr lang="en-US" sz="1800">
                        <a:effectLst/>
                      </a:endParaRPr>
                    </a:p>
                  </a:txBody>
                  <a:tcPr marL="81960" marR="81960" marT="59607" marB="5960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655681">
                <a:tc>
                  <a:txBody>
                    <a:bodyPr/>
                    <a:lstStyle/>
                    <a:p>
                      <a:r>
                        <a:rPr lang="en-US" sz="1800" b="0" dirty="0">
                          <a:effectLst/>
                        </a:rPr>
                        <a:t>It is a measure of correlation.</a:t>
                      </a:r>
                      <a:endParaRPr lang="en-US" sz="1800" dirty="0">
                        <a:effectLst/>
                      </a:endParaRPr>
                    </a:p>
                  </a:txBody>
                  <a:tcPr marL="81960" marR="81960" marT="59607" marB="5960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800" b="0" dirty="0">
                          <a:effectLst/>
                        </a:rPr>
                        <a:t>It is defined as the scaled form of covariance.</a:t>
                      </a:r>
                      <a:endParaRPr lang="en-US" sz="1800" dirty="0">
                        <a:effectLst/>
                      </a:endParaRPr>
                    </a:p>
                  </a:txBody>
                  <a:tcPr marL="81960" marR="81960" marT="59607" marB="5960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655681">
                <a:tc>
                  <a:txBody>
                    <a:bodyPr/>
                    <a:lstStyle/>
                    <a:p>
                      <a:r>
                        <a:rPr lang="en-US" sz="1800" b="0" dirty="0">
                          <a:effectLst/>
                        </a:rPr>
                        <a:t>The value of covariance lies between -∞ and +∞.</a:t>
                      </a:r>
                      <a:endParaRPr lang="en-US" sz="1800" dirty="0">
                        <a:effectLst/>
                      </a:endParaRPr>
                    </a:p>
                  </a:txBody>
                  <a:tcPr marL="81960" marR="81960" marT="59607" marB="5960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800" b="0">
                          <a:effectLst/>
                        </a:rPr>
                        <a:t>The value of correlation lies between -1 and +1.</a:t>
                      </a:r>
                      <a:endParaRPr lang="en-US" sz="1800">
                        <a:effectLst/>
                      </a:endParaRPr>
                    </a:p>
                  </a:txBody>
                  <a:tcPr marL="81960" marR="81960" marT="59607" marB="5960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1192147">
                <a:tc>
                  <a:txBody>
                    <a:bodyPr/>
                    <a:lstStyle/>
                    <a:p>
                      <a:r>
                        <a:rPr lang="en-US" sz="1800" b="0">
                          <a:effectLst/>
                        </a:rPr>
                        <a:t>It indicates the direction of the linear relationship between the given two variables.</a:t>
                      </a:r>
                      <a:endParaRPr lang="en-US" sz="1800">
                        <a:effectLst/>
                      </a:endParaRPr>
                    </a:p>
                  </a:txBody>
                  <a:tcPr marL="81960" marR="81960" marT="59607" marB="5960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800" b="0" dirty="0">
                          <a:effectLst/>
                        </a:rPr>
                        <a:t>It measures the direction and strength of the linear relationship between the given two variables.</a:t>
                      </a:r>
                      <a:endParaRPr lang="en-US" sz="1800" dirty="0">
                        <a:effectLst/>
                      </a:endParaRPr>
                    </a:p>
                  </a:txBody>
                  <a:tcPr marL="81960" marR="81960" marT="59607" marB="5960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410957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655320" y="335072"/>
            <a:ext cx="15253984" cy="47705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333333"/>
                </a:solidFill>
                <a:effectLst/>
                <a:latin typeface="Roboto"/>
              </a:rPr>
              <a:t>Question:</a:t>
            </a: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333333"/>
                </a:solidFill>
                <a:effectLst/>
                <a:latin typeface="Roboto"/>
              </a:rPr>
              <a:t>Calculate the coefficient of covariance for the following data:</a:t>
            </a:r>
          </a:p>
          <a:p>
            <a:pPr marL="0" marR="0" lvl="0" indent="0" algn="l" defTabSz="914400" rtl="0" eaLnBrk="0" fontAlgn="base" latinLnBrk="0" hangingPunct="0">
              <a:lnSpc>
                <a:spcPct val="100000"/>
              </a:lnSpc>
              <a:spcBef>
                <a:spcPct val="0"/>
              </a:spcBef>
              <a:spcAft>
                <a:spcPct val="0"/>
              </a:spcAft>
              <a:buClrTx/>
              <a:buSzTx/>
              <a:buFontTx/>
              <a:buNone/>
              <a:tabLst/>
            </a:pPr>
            <a:endParaRPr lang="en-US" sz="1600" dirty="0">
              <a:solidFill>
                <a:srgbClr val="333333"/>
              </a:solidFill>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rgbClr val="333333"/>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rgbClr val="333333"/>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1600" dirty="0">
              <a:solidFill>
                <a:srgbClr val="333333"/>
              </a:solidFill>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rgbClr val="333333"/>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1600" dirty="0">
              <a:solidFill>
                <a:srgbClr val="333333"/>
              </a:solidFill>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rgbClr val="333333"/>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rgbClr val="333333"/>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333333"/>
                </a:solidFill>
                <a:effectLst/>
                <a:latin typeface="Roboto"/>
              </a:rPr>
              <a:t>Solution:</a:t>
            </a: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333333"/>
                </a:solidFill>
                <a:effectLst/>
                <a:latin typeface="Roboto"/>
              </a:rPr>
              <a:t>Number of observations = 6</a:t>
            </a: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333333"/>
                </a:solidFill>
                <a:effectLst/>
                <a:latin typeface="Roboto"/>
              </a:rPr>
              <a:t>Mean of X = 17.67</a:t>
            </a: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333333"/>
                </a:solidFill>
                <a:effectLst/>
                <a:latin typeface="Roboto"/>
              </a:rPr>
              <a:t>Mean of Y = 25.5</a:t>
            </a: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smtClean="0">
                <a:ln>
                  <a:noFill/>
                </a:ln>
                <a:solidFill>
                  <a:srgbClr val="333333"/>
                </a:solidFill>
                <a:effectLst/>
                <a:latin typeface="Roboto"/>
              </a:rPr>
              <a:t>Cov</a:t>
            </a:r>
            <a:r>
              <a:rPr kumimoji="0" lang="en-US" sz="1600" b="0" i="0" u="none" strike="noStrike" cap="none" normalizeH="0" baseline="0" dirty="0" smtClean="0">
                <a:ln>
                  <a:noFill/>
                </a:ln>
                <a:solidFill>
                  <a:srgbClr val="333333"/>
                </a:solidFill>
                <a:effectLst/>
                <a:latin typeface="Roboto"/>
              </a:rPr>
              <a:t>(X, Y) = (⅙) [(2 – 17.67)(5 – 25.5) + (8 – 17.67)(12 – 25.5) + (18 – 17.67)(18 – 25.5) + (20 – 17.67)(23 – 25.5) + (28 – 17.67)(45 – 25.5) + (30 – 17.67)(50 – 25.5)]</a:t>
            </a: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333333"/>
                </a:solidFill>
                <a:effectLst/>
                <a:latin typeface="Roboto"/>
              </a:rPr>
              <a:t>= 157.83</a:t>
            </a: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rPr>
              <a:t/>
            </a:r>
            <a:br>
              <a:rPr kumimoji="0" lang="en-US" sz="1600" b="0" i="0" u="none" strike="noStrike" cap="none" normalizeH="0" baseline="0" dirty="0" smtClean="0">
                <a:ln>
                  <a:noFill/>
                </a:ln>
                <a:solidFill>
                  <a:schemeClr val="tx1"/>
                </a:solidFill>
                <a:effectLst/>
              </a:rPr>
            </a:br>
            <a:endParaRPr kumimoji="0" lang="en-US" sz="1600" b="0" i="0" u="none" strike="noStrike" cap="none" normalizeH="0" baseline="0" dirty="0" smtClean="0">
              <a:ln>
                <a:noFill/>
              </a:ln>
              <a:solidFill>
                <a:schemeClr val="tx1"/>
              </a:solidFill>
              <a:effectLst/>
            </a:endParaRPr>
          </a:p>
        </p:txBody>
      </p:sp>
      <p:pic>
        <p:nvPicPr>
          <p:cNvPr id="7" name="Picture 6"/>
          <p:cNvPicPr>
            <a:picLocks noChangeAspect="1"/>
          </p:cNvPicPr>
          <p:nvPr/>
        </p:nvPicPr>
        <p:blipFill>
          <a:blip r:embed="rId2"/>
          <a:stretch>
            <a:fillRect/>
          </a:stretch>
        </p:blipFill>
        <p:spPr>
          <a:xfrm>
            <a:off x="909597" y="1563585"/>
            <a:ext cx="5328366" cy="896190"/>
          </a:xfrm>
          <a:prstGeom prst="rect">
            <a:avLst/>
          </a:prstGeom>
        </p:spPr>
      </p:pic>
    </p:spTree>
    <p:extLst>
      <p:ext uri="{BB962C8B-B14F-4D97-AF65-F5344CB8AC3E}">
        <p14:creationId xmlns:p14="http://schemas.microsoft.com/office/powerpoint/2010/main" val="1244889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647948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1439</Words>
  <Application>Microsoft Office PowerPoint</Application>
  <PresentationFormat>Widescreen</PresentationFormat>
  <Paragraphs>217</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-apple-system</vt:lpstr>
      <vt:lpstr>Arial</vt:lpstr>
      <vt:lpstr>Calibri</vt:lpstr>
      <vt:lpstr>Calibri Light</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18</cp:revision>
  <dcterms:created xsi:type="dcterms:W3CDTF">2023-03-27T14:27:25Z</dcterms:created>
  <dcterms:modified xsi:type="dcterms:W3CDTF">2023-03-27T16:05:39Z</dcterms:modified>
</cp:coreProperties>
</file>