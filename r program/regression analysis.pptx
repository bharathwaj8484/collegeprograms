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71" r:id="rId4"/>
    <p:sldId id="272" r:id="rId5"/>
    <p:sldId id="279" r:id="rId6"/>
    <p:sldId id="273" r:id="rId7"/>
    <p:sldId id="274" r:id="rId8"/>
    <p:sldId id="275" r:id="rId9"/>
    <p:sldId id="276" r:id="rId10"/>
    <p:sldId id="277" r:id="rId11"/>
    <p:sldId id="278"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81" d="100"/>
          <a:sy n="81" d="100"/>
        </p:scale>
        <p:origin x="-300"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5E77CFE-05D6-4707-A264-33D3EF8404B0}" type="datetimeFigureOut">
              <a:rPr lang="en-IN" smtClean="0"/>
              <a:t>01-04-2023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C49636A-8FDA-4EFC-B4A8-B7A941564FE5}" type="slidenum">
              <a:rPr lang="en-IN" smtClean="0"/>
              <a:t>‹#›</a:t>
            </a:fld>
            <a:endParaRPr lang="en-IN"/>
          </a:p>
        </p:txBody>
      </p:sp>
    </p:spTree>
    <p:extLst>
      <p:ext uri="{BB962C8B-B14F-4D97-AF65-F5344CB8AC3E}">
        <p14:creationId xmlns:p14="http://schemas.microsoft.com/office/powerpoint/2010/main" val="4184309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5E77CFE-05D6-4707-A264-33D3EF8404B0}" type="datetimeFigureOut">
              <a:rPr lang="en-IN" smtClean="0"/>
              <a:t>01-04-2023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C49636A-8FDA-4EFC-B4A8-B7A941564FE5}" type="slidenum">
              <a:rPr lang="en-IN" smtClean="0"/>
              <a:t>‹#›</a:t>
            </a:fld>
            <a:endParaRPr lang="en-IN"/>
          </a:p>
        </p:txBody>
      </p:sp>
    </p:spTree>
    <p:extLst>
      <p:ext uri="{BB962C8B-B14F-4D97-AF65-F5344CB8AC3E}">
        <p14:creationId xmlns:p14="http://schemas.microsoft.com/office/powerpoint/2010/main" val="2275066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5E77CFE-05D6-4707-A264-33D3EF8404B0}" type="datetimeFigureOut">
              <a:rPr lang="en-IN" smtClean="0"/>
              <a:t>01-04-2023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C49636A-8FDA-4EFC-B4A8-B7A941564FE5}" type="slidenum">
              <a:rPr lang="en-IN" smtClean="0"/>
              <a:t>‹#›</a:t>
            </a:fld>
            <a:endParaRPr lang="en-IN"/>
          </a:p>
        </p:txBody>
      </p:sp>
    </p:spTree>
    <p:extLst>
      <p:ext uri="{BB962C8B-B14F-4D97-AF65-F5344CB8AC3E}">
        <p14:creationId xmlns:p14="http://schemas.microsoft.com/office/powerpoint/2010/main" val="3827062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5E77CFE-05D6-4707-A264-33D3EF8404B0}" type="datetimeFigureOut">
              <a:rPr lang="en-IN" smtClean="0"/>
              <a:t>01-04-2023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C49636A-8FDA-4EFC-B4A8-B7A941564FE5}" type="slidenum">
              <a:rPr lang="en-IN" smtClean="0"/>
              <a:t>‹#›</a:t>
            </a:fld>
            <a:endParaRPr lang="en-IN"/>
          </a:p>
        </p:txBody>
      </p:sp>
    </p:spTree>
    <p:extLst>
      <p:ext uri="{BB962C8B-B14F-4D97-AF65-F5344CB8AC3E}">
        <p14:creationId xmlns:p14="http://schemas.microsoft.com/office/powerpoint/2010/main" val="876478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5E77CFE-05D6-4707-A264-33D3EF8404B0}" type="datetimeFigureOut">
              <a:rPr lang="en-IN" smtClean="0"/>
              <a:t>01-04-2023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C49636A-8FDA-4EFC-B4A8-B7A941564FE5}" type="slidenum">
              <a:rPr lang="en-IN" smtClean="0"/>
              <a:t>‹#›</a:t>
            </a:fld>
            <a:endParaRPr lang="en-IN"/>
          </a:p>
        </p:txBody>
      </p:sp>
    </p:spTree>
    <p:extLst>
      <p:ext uri="{BB962C8B-B14F-4D97-AF65-F5344CB8AC3E}">
        <p14:creationId xmlns:p14="http://schemas.microsoft.com/office/powerpoint/2010/main" val="38759489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5E77CFE-05D6-4707-A264-33D3EF8404B0}" type="datetimeFigureOut">
              <a:rPr lang="en-IN" smtClean="0"/>
              <a:t>01-04-2023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C49636A-8FDA-4EFC-B4A8-B7A941564FE5}" type="slidenum">
              <a:rPr lang="en-IN" smtClean="0"/>
              <a:t>‹#›</a:t>
            </a:fld>
            <a:endParaRPr lang="en-IN"/>
          </a:p>
        </p:txBody>
      </p:sp>
    </p:spTree>
    <p:extLst>
      <p:ext uri="{BB962C8B-B14F-4D97-AF65-F5344CB8AC3E}">
        <p14:creationId xmlns:p14="http://schemas.microsoft.com/office/powerpoint/2010/main" val="2607740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E77CFE-05D6-4707-A264-33D3EF8404B0}" type="datetimeFigureOut">
              <a:rPr lang="en-IN" smtClean="0"/>
              <a:t>01-04-2023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C49636A-8FDA-4EFC-B4A8-B7A941564FE5}" type="slidenum">
              <a:rPr lang="en-IN" smtClean="0"/>
              <a:t>‹#›</a:t>
            </a:fld>
            <a:endParaRPr lang="en-IN"/>
          </a:p>
        </p:txBody>
      </p:sp>
    </p:spTree>
    <p:extLst>
      <p:ext uri="{BB962C8B-B14F-4D97-AF65-F5344CB8AC3E}">
        <p14:creationId xmlns:p14="http://schemas.microsoft.com/office/powerpoint/2010/main" val="1675464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5E77CFE-05D6-4707-A264-33D3EF8404B0}" type="datetimeFigureOut">
              <a:rPr lang="en-IN" smtClean="0"/>
              <a:t>01-04-2023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C49636A-8FDA-4EFC-B4A8-B7A941564FE5}" type="slidenum">
              <a:rPr lang="en-IN" smtClean="0"/>
              <a:t>‹#›</a:t>
            </a:fld>
            <a:endParaRPr lang="en-IN"/>
          </a:p>
        </p:txBody>
      </p:sp>
    </p:spTree>
    <p:extLst>
      <p:ext uri="{BB962C8B-B14F-4D97-AF65-F5344CB8AC3E}">
        <p14:creationId xmlns:p14="http://schemas.microsoft.com/office/powerpoint/2010/main" val="3834345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5E77CFE-05D6-4707-A264-33D3EF8404B0}" type="datetimeFigureOut">
              <a:rPr lang="en-IN" smtClean="0"/>
              <a:t>01-04-2023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C49636A-8FDA-4EFC-B4A8-B7A941564FE5}" type="slidenum">
              <a:rPr lang="en-IN" smtClean="0"/>
              <a:t>‹#›</a:t>
            </a:fld>
            <a:endParaRPr lang="en-IN"/>
          </a:p>
        </p:txBody>
      </p:sp>
    </p:spTree>
    <p:extLst>
      <p:ext uri="{BB962C8B-B14F-4D97-AF65-F5344CB8AC3E}">
        <p14:creationId xmlns:p14="http://schemas.microsoft.com/office/powerpoint/2010/main" val="2936508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5E77CFE-05D6-4707-A264-33D3EF8404B0}" type="datetimeFigureOut">
              <a:rPr lang="en-IN" smtClean="0"/>
              <a:t>01-04-2023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C49636A-8FDA-4EFC-B4A8-B7A941564FE5}" type="slidenum">
              <a:rPr lang="en-IN" smtClean="0"/>
              <a:t>‹#›</a:t>
            </a:fld>
            <a:endParaRPr lang="en-IN"/>
          </a:p>
        </p:txBody>
      </p:sp>
    </p:spTree>
    <p:extLst>
      <p:ext uri="{BB962C8B-B14F-4D97-AF65-F5344CB8AC3E}">
        <p14:creationId xmlns:p14="http://schemas.microsoft.com/office/powerpoint/2010/main" val="1176622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5E77CFE-05D6-4707-A264-33D3EF8404B0}" type="datetimeFigureOut">
              <a:rPr lang="en-IN" smtClean="0"/>
              <a:t>01-04-2023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C49636A-8FDA-4EFC-B4A8-B7A941564FE5}" type="slidenum">
              <a:rPr lang="en-IN" smtClean="0"/>
              <a:t>‹#›</a:t>
            </a:fld>
            <a:endParaRPr lang="en-IN"/>
          </a:p>
        </p:txBody>
      </p:sp>
    </p:spTree>
    <p:extLst>
      <p:ext uri="{BB962C8B-B14F-4D97-AF65-F5344CB8AC3E}">
        <p14:creationId xmlns:p14="http://schemas.microsoft.com/office/powerpoint/2010/main" val="6895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E77CFE-05D6-4707-A264-33D3EF8404B0}" type="datetimeFigureOut">
              <a:rPr lang="en-IN" smtClean="0"/>
              <a:t>01-04-2023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49636A-8FDA-4EFC-B4A8-B7A941564FE5}" type="slidenum">
              <a:rPr lang="en-IN" smtClean="0"/>
              <a:t>‹#›</a:t>
            </a:fld>
            <a:endParaRPr lang="en-IN"/>
          </a:p>
        </p:txBody>
      </p:sp>
    </p:spTree>
    <p:extLst>
      <p:ext uri="{BB962C8B-B14F-4D97-AF65-F5344CB8AC3E}">
        <p14:creationId xmlns:p14="http://schemas.microsoft.com/office/powerpoint/2010/main" val="12966441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geeksforgeeks.org/multiple-linear-regression-using-r/" TargetMode="External"/><Relationship Id="rId2" Type="http://schemas.openxmlformats.org/officeDocument/2006/relationships/hyperlink" Target="https://www.geeksforgeeks.org/simple-linear-regression-using-r/" TargetMode="External"/><Relationship Id="rId1" Type="http://schemas.openxmlformats.org/officeDocument/2006/relationships/slideLayout" Target="../slideLayouts/slideLayout2.xml"/><Relationship Id="rId4" Type="http://schemas.openxmlformats.org/officeDocument/2006/relationships/hyperlink" Target="https://www.geeksforgeeks.org/logistic-regression-in-r-programming/"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3632810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3061" y="125779"/>
            <a:ext cx="10515600" cy="4351338"/>
          </a:xfrm>
        </p:spPr>
        <p:txBody>
          <a:bodyPr/>
          <a:lstStyle/>
          <a:p>
            <a:r>
              <a:rPr lang="en-US" dirty="0" smtClean="0"/>
              <a:t>Low-level plotting functions</a:t>
            </a:r>
          </a:p>
          <a:p>
            <a:r>
              <a:rPr lang="en-US" dirty="0" smtClean="0"/>
              <a:t>Low-level plotting functions allow you to add elements, like points, or lines, to an existing plot. Here are the most common low-level plotting functions:</a:t>
            </a:r>
            <a:endParaRPr lang="en-IN" dirty="0"/>
          </a:p>
        </p:txBody>
      </p:sp>
      <p:graphicFrame>
        <p:nvGraphicFramePr>
          <p:cNvPr id="6" name="Table 5"/>
          <p:cNvGraphicFramePr>
            <a:graphicFrameLocks noGrp="1"/>
          </p:cNvGraphicFramePr>
          <p:nvPr>
            <p:extLst>
              <p:ext uri="{D42A27DB-BD31-4B8C-83A1-F6EECF244321}">
                <p14:modId xmlns:p14="http://schemas.microsoft.com/office/powerpoint/2010/main" val="3003379383"/>
              </p:ext>
            </p:extLst>
          </p:nvPr>
        </p:nvGraphicFramePr>
        <p:xfrm>
          <a:off x="3751000" y="1555994"/>
          <a:ext cx="7163184" cy="4351337"/>
        </p:xfrm>
        <a:graphic>
          <a:graphicData uri="http://schemas.openxmlformats.org/drawingml/2006/table">
            <a:tbl>
              <a:tblPr/>
              <a:tblGrid>
                <a:gridCol w="3581592"/>
                <a:gridCol w="3581592"/>
              </a:tblGrid>
              <a:tr h="355211">
                <a:tc gridSpan="2">
                  <a:txBody>
                    <a:bodyPr/>
                    <a:lstStyle/>
                    <a:p>
                      <a:r>
                        <a:rPr lang="en-US" sz="1700" dirty="0"/>
                        <a:t>Table 11.8: Common low-level plotting functions.</a:t>
                      </a:r>
                    </a:p>
                  </a:txBody>
                  <a:tcPr marL="88803" marR="88803" marT="44401" marB="44401" anchor="ctr">
                    <a:solidFill>
                      <a:srgbClr val="FFFFFF"/>
                    </a:solidFill>
                  </a:tcPr>
                </a:tc>
                <a:tc hMerge="1">
                  <a:txBody>
                    <a:bodyPr/>
                    <a:lstStyle/>
                    <a:p>
                      <a:endParaRPr lang="en-IN"/>
                    </a:p>
                  </a:txBody>
                  <a:tcPr/>
                </a:tc>
              </a:tr>
              <a:tr h="355211">
                <a:tc>
                  <a:txBody>
                    <a:bodyPr/>
                    <a:lstStyle/>
                    <a:p>
                      <a:pPr algn="l"/>
                      <a:r>
                        <a:rPr lang="en-IN" sz="1700" b="1" dirty="0">
                          <a:effectLst/>
                        </a:rPr>
                        <a:t>Function</a:t>
                      </a:r>
                    </a:p>
                  </a:txBody>
                  <a:tcPr marL="96203" marR="96203" marT="44401" marB="44401" anchor="ctr">
                    <a:lnL>
                      <a:noFill/>
                    </a:lnL>
                    <a:lnR>
                      <a:noFill/>
                    </a:lnR>
                    <a:lnB w="7620" cap="flat" cmpd="sng" algn="ctr">
                      <a:solidFill>
                        <a:srgbClr val="DDDDDD"/>
                      </a:solidFill>
                      <a:prstDash val="solid"/>
                      <a:round/>
                      <a:headEnd type="none" w="med" len="med"/>
                      <a:tailEnd type="none" w="med" len="med"/>
                    </a:lnB>
                    <a:solidFill>
                      <a:srgbClr val="FFFFFF"/>
                    </a:solidFill>
                  </a:tcPr>
                </a:tc>
                <a:tc>
                  <a:txBody>
                    <a:bodyPr/>
                    <a:lstStyle/>
                    <a:p>
                      <a:pPr algn="l"/>
                      <a:r>
                        <a:rPr lang="en-IN" sz="1700" b="1">
                          <a:effectLst/>
                        </a:rPr>
                        <a:t>Outcome</a:t>
                      </a:r>
                    </a:p>
                  </a:txBody>
                  <a:tcPr marL="96203" marR="96203" marT="44401" marB="444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r>
              <a:tr h="355211">
                <a:tc>
                  <a:txBody>
                    <a:bodyPr/>
                    <a:lstStyle/>
                    <a:p>
                      <a:pPr algn="l"/>
                      <a:r>
                        <a:rPr lang="en-IN" sz="1700">
                          <a:effectLst/>
                        </a:rPr>
                        <a:t>points(x, y)</a:t>
                      </a:r>
                    </a:p>
                  </a:txBody>
                  <a:tcPr marL="96203" marR="96203" marT="44401" marB="444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IN" sz="1700">
                          <a:effectLst/>
                        </a:rPr>
                        <a:t>Adds points</a:t>
                      </a:r>
                    </a:p>
                  </a:txBody>
                  <a:tcPr marL="96203" marR="96203" marT="44401" marB="444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r>
              <a:tr h="355211">
                <a:tc>
                  <a:txBody>
                    <a:bodyPr/>
                    <a:lstStyle/>
                    <a:p>
                      <a:pPr algn="l"/>
                      <a:r>
                        <a:rPr lang="en-IN" sz="1700">
                          <a:effectLst/>
                        </a:rPr>
                        <a:t>abline(), segments()</a:t>
                      </a:r>
                    </a:p>
                  </a:txBody>
                  <a:tcPr marL="96203" marR="96203" marT="44401" marB="444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8F8F8"/>
                    </a:solidFill>
                  </a:tcPr>
                </a:tc>
                <a:tc>
                  <a:txBody>
                    <a:bodyPr/>
                    <a:lstStyle/>
                    <a:p>
                      <a:pPr algn="l"/>
                      <a:r>
                        <a:rPr lang="en-IN" sz="1700">
                          <a:effectLst/>
                        </a:rPr>
                        <a:t>Adds lines or segments</a:t>
                      </a:r>
                    </a:p>
                  </a:txBody>
                  <a:tcPr marL="96203" marR="96203" marT="44401" marB="444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8F8F8"/>
                    </a:solidFill>
                  </a:tcPr>
                </a:tc>
              </a:tr>
              <a:tr h="355211">
                <a:tc>
                  <a:txBody>
                    <a:bodyPr/>
                    <a:lstStyle/>
                    <a:p>
                      <a:pPr algn="l"/>
                      <a:r>
                        <a:rPr lang="en-IN" sz="1700">
                          <a:effectLst/>
                        </a:rPr>
                        <a:t>arrows()</a:t>
                      </a:r>
                    </a:p>
                  </a:txBody>
                  <a:tcPr marL="96203" marR="96203" marT="44401" marB="444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IN" sz="1700">
                          <a:effectLst/>
                        </a:rPr>
                        <a:t>Adds arrows</a:t>
                      </a:r>
                    </a:p>
                  </a:txBody>
                  <a:tcPr marL="96203" marR="96203" marT="44401" marB="444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r>
              <a:tr h="621620">
                <a:tc>
                  <a:txBody>
                    <a:bodyPr/>
                    <a:lstStyle/>
                    <a:p>
                      <a:pPr algn="l"/>
                      <a:r>
                        <a:rPr lang="en-IN" sz="1700">
                          <a:effectLst/>
                        </a:rPr>
                        <a:t>curve()</a:t>
                      </a:r>
                    </a:p>
                  </a:txBody>
                  <a:tcPr marL="96203" marR="96203" marT="44401" marB="444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8F8F8"/>
                    </a:solidFill>
                  </a:tcPr>
                </a:tc>
                <a:tc>
                  <a:txBody>
                    <a:bodyPr/>
                    <a:lstStyle/>
                    <a:p>
                      <a:pPr algn="l"/>
                      <a:r>
                        <a:rPr lang="en-US" sz="1700" dirty="0">
                          <a:effectLst/>
                        </a:rPr>
                        <a:t>Adds a curve representing a function</a:t>
                      </a:r>
                    </a:p>
                  </a:txBody>
                  <a:tcPr marL="96203" marR="96203" marT="44401" marB="444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8F8F8"/>
                    </a:solidFill>
                  </a:tcPr>
                </a:tc>
              </a:tr>
              <a:tr h="621620">
                <a:tc>
                  <a:txBody>
                    <a:bodyPr/>
                    <a:lstStyle/>
                    <a:p>
                      <a:pPr algn="l"/>
                      <a:r>
                        <a:rPr lang="en-IN" sz="1700">
                          <a:effectLst/>
                        </a:rPr>
                        <a:t>rect(),polygon()</a:t>
                      </a:r>
                    </a:p>
                  </a:txBody>
                  <a:tcPr marL="96203" marR="96203" marT="44401" marB="444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sz="1700">
                          <a:effectLst/>
                        </a:rPr>
                        <a:t>Adds a rectangle or arbitrary shape</a:t>
                      </a:r>
                    </a:p>
                  </a:txBody>
                  <a:tcPr marL="96203" marR="96203" marT="44401" marB="444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r>
              <a:tr h="621620">
                <a:tc>
                  <a:txBody>
                    <a:bodyPr/>
                    <a:lstStyle/>
                    <a:p>
                      <a:pPr algn="l"/>
                      <a:r>
                        <a:rPr lang="en-IN" sz="1700">
                          <a:effectLst/>
                        </a:rPr>
                        <a:t>text(), mtext()</a:t>
                      </a:r>
                    </a:p>
                  </a:txBody>
                  <a:tcPr marL="96203" marR="96203" marT="44401" marB="444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8F8F8"/>
                    </a:solidFill>
                  </a:tcPr>
                </a:tc>
                <a:tc>
                  <a:txBody>
                    <a:bodyPr/>
                    <a:lstStyle/>
                    <a:p>
                      <a:pPr algn="l"/>
                      <a:r>
                        <a:rPr lang="en-US" sz="1700">
                          <a:effectLst/>
                        </a:rPr>
                        <a:t>Adds text within the plot, or to plot margins</a:t>
                      </a:r>
                    </a:p>
                  </a:txBody>
                  <a:tcPr marL="96203" marR="96203" marT="44401" marB="444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8F8F8"/>
                    </a:solidFill>
                  </a:tcPr>
                </a:tc>
              </a:tr>
              <a:tr h="355211">
                <a:tc>
                  <a:txBody>
                    <a:bodyPr/>
                    <a:lstStyle/>
                    <a:p>
                      <a:pPr algn="l"/>
                      <a:r>
                        <a:rPr lang="en-IN" sz="1700">
                          <a:effectLst/>
                        </a:rPr>
                        <a:t>legend()</a:t>
                      </a:r>
                    </a:p>
                  </a:txBody>
                  <a:tcPr marL="96203" marR="96203" marT="44401" marB="444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IN" sz="1700">
                          <a:effectLst/>
                        </a:rPr>
                        <a:t>Adds a legend</a:t>
                      </a:r>
                    </a:p>
                  </a:txBody>
                  <a:tcPr marL="96203" marR="96203" marT="44401" marB="44401"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r>
              <a:tr h="355211">
                <a:tc>
                  <a:txBody>
                    <a:bodyPr/>
                    <a:lstStyle/>
                    <a:p>
                      <a:pPr algn="l"/>
                      <a:r>
                        <a:rPr lang="en-IN" sz="1700">
                          <a:effectLst/>
                        </a:rPr>
                        <a:t>axis()</a:t>
                      </a:r>
                    </a:p>
                  </a:txBody>
                  <a:tcPr marL="96203" marR="96203" marT="44401" marB="44401" anchor="ctr">
                    <a:lnL>
                      <a:noFill/>
                    </a:lnL>
                    <a:lnR>
                      <a:noFill/>
                    </a:lnR>
                    <a:lnT w="7620" cap="flat" cmpd="sng" algn="ctr">
                      <a:solidFill>
                        <a:srgbClr val="DDDDDD"/>
                      </a:solidFill>
                      <a:prstDash val="solid"/>
                      <a:round/>
                      <a:headEnd type="none" w="med" len="med"/>
                      <a:tailEnd type="none" w="med" len="med"/>
                    </a:lnT>
                    <a:lnB w="15240" cap="flat" cmpd="sng" algn="ctr">
                      <a:solidFill>
                        <a:srgbClr val="DDDDDD"/>
                      </a:solidFill>
                      <a:prstDash val="solid"/>
                      <a:round/>
                      <a:headEnd type="none" w="med" len="med"/>
                      <a:tailEnd type="none" w="med" len="med"/>
                    </a:lnB>
                    <a:solidFill>
                      <a:srgbClr val="F8F8F8"/>
                    </a:solidFill>
                  </a:tcPr>
                </a:tc>
                <a:tc>
                  <a:txBody>
                    <a:bodyPr/>
                    <a:lstStyle/>
                    <a:p>
                      <a:pPr algn="l"/>
                      <a:r>
                        <a:rPr lang="en-IN" sz="1700" dirty="0">
                          <a:effectLst/>
                        </a:rPr>
                        <a:t>Adds an axis</a:t>
                      </a:r>
                    </a:p>
                  </a:txBody>
                  <a:tcPr marL="96203" marR="96203" marT="44401" marB="44401" anchor="ctr">
                    <a:lnL>
                      <a:noFill/>
                    </a:lnL>
                    <a:lnR>
                      <a:noFill/>
                    </a:lnR>
                    <a:lnT w="7620" cap="flat" cmpd="sng" algn="ctr">
                      <a:solidFill>
                        <a:srgbClr val="DDDDDD"/>
                      </a:solidFill>
                      <a:prstDash val="solid"/>
                      <a:round/>
                      <a:headEnd type="none" w="med" len="med"/>
                      <a:tailEnd type="none" w="med" len="med"/>
                    </a:lnT>
                    <a:lnB w="15240" cap="flat" cmpd="sng" algn="ctr">
                      <a:solidFill>
                        <a:srgbClr val="DDDDDD"/>
                      </a:solidFill>
                      <a:prstDash val="solid"/>
                      <a:round/>
                      <a:headEnd type="none" w="med" len="med"/>
                      <a:tailEnd type="none" w="med" len="med"/>
                    </a:lnB>
                    <a:solidFill>
                      <a:srgbClr val="F8F8F8"/>
                    </a:solidFill>
                  </a:tcPr>
                </a:tc>
              </a:tr>
            </a:tbl>
          </a:graphicData>
        </a:graphic>
      </p:graphicFrame>
    </p:spTree>
    <p:extLst>
      <p:ext uri="{BB962C8B-B14F-4D97-AF65-F5344CB8AC3E}">
        <p14:creationId xmlns:p14="http://schemas.microsoft.com/office/powerpoint/2010/main" val="39270256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8585" y="422031"/>
            <a:ext cx="10955215" cy="6119446"/>
          </a:xfrm>
        </p:spPr>
        <p:txBody>
          <a:bodyPr>
            <a:normAutofit fontScale="92500" lnSpcReduction="20000"/>
          </a:bodyPr>
          <a:lstStyle/>
          <a:p>
            <a:r>
              <a:rPr lang="en-US" dirty="0" smtClean="0"/>
              <a:t>locator: Graphical Input</a:t>
            </a:r>
          </a:p>
          <a:p>
            <a:r>
              <a:rPr lang="en-US" dirty="0" smtClean="0"/>
              <a:t>Description</a:t>
            </a:r>
          </a:p>
          <a:p>
            <a:r>
              <a:rPr lang="en-US" dirty="0" smtClean="0"/>
              <a:t>Reads the position of the graphics cursor when the (first) mouse button is pressed.</a:t>
            </a:r>
          </a:p>
          <a:p>
            <a:endParaRPr lang="en-US" dirty="0" smtClean="0"/>
          </a:p>
          <a:p>
            <a:r>
              <a:rPr lang="en-US" dirty="0" smtClean="0"/>
              <a:t>Usage</a:t>
            </a:r>
          </a:p>
          <a:p>
            <a:r>
              <a:rPr lang="en-US" dirty="0" smtClean="0"/>
              <a:t>locator(n = 512, type = "n", …)</a:t>
            </a:r>
          </a:p>
          <a:p>
            <a:r>
              <a:rPr lang="en-US" dirty="0" smtClean="0"/>
              <a:t>Arguments</a:t>
            </a:r>
          </a:p>
          <a:p>
            <a:r>
              <a:rPr lang="en-US" dirty="0" smtClean="0"/>
              <a:t>n -the </a:t>
            </a:r>
            <a:r>
              <a:rPr lang="en-US" dirty="0" smtClean="0"/>
              <a:t>maximum number of points to locate. Valid values start at 1.</a:t>
            </a:r>
          </a:p>
          <a:p>
            <a:endParaRPr lang="en-US" dirty="0" smtClean="0"/>
          </a:p>
          <a:p>
            <a:r>
              <a:rPr lang="en-US" dirty="0" smtClean="0"/>
              <a:t>type -One </a:t>
            </a:r>
            <a:r>
              <a:rPr lang="en-US" dirty="0" smtClean="0"/>
              <a:t>of "n", "p", "l" or "o". If "p" or "o" the points are plotted; if "l" or "o" they are joined by lines.</a:t>
            </a:r>
          </a:p>
          <a:p>
            <a:endParaRPr lang="en-US" dirty="0" smtClean="0"/>
          </a:p>
          <a:p>
            <a:r>
              <a:rPr lang="en-US" dirty="0" smtClean="0"/>
              <a:t>…</a:t>
            </a:r>
          </a:p>
          <a:p>
            <a:r>
              <a:rPr lang="en-US" dirty="0" smtClean="0"/>
              <a:t>additional graphics parameters used if type != "n" for plotting the locations.</a:t>
            </a:r>
            <a:endParaRPr lang="en-IN" dirty="0"/>
          </a:p>
        </p:txBody>
      </p:sp>
    </p:spTree>
    <p:extLst>
      <p:ext uri="{BB962C8B-B14F-4D97-AF65-F5344CB8AC3E}">
        <p14:creationId xmlns:p14="http://schemas.microsoft.com/office/powerpoint/2010/main" val="4021993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954" y="351692"/>
            <a:ext cx="11224846" cy="5825271"/>
          </a:xfrm>
        </p:spPr>
        <p:txBody>
          <a:bodyPr>
            <a:normAutofit fontScale="85000" lnSpcReduction="20000"/>
          </a:bodyPr>
          <a:lstStyle/>
          <a:p>
            <a:r>
              <a:rPr lang="en-US" dirty="0" smtClean="0"/>
              <a:t>identify </a:t>
            </a:r>
            <a:r>
              <a:rPr lang="en-US" dirty="0" smtClean="0"/>
              <a:t>reads the position of the graphics pointer when the (first) mouse button is pressed. It then searches the coordinates given in x and y for the point closest to the pointer. If this point is close enough to the pointer, its index will be returned as part of the value of the call.</a:t>
            </a:r>
          </a:p>
          <a:p>
            <a:r>
              <a:rPr lang="en-US" dirty="0" smtClean="0"/>
              <a:t>identify(x</a:t>
            </a:r>
            <a:r>
              <a:rPr lang="en-US" dirty="0" smtClean="0"/>
              <a:t>, ...)</a:t>
            </a:r>
          </a:p>
          <a:p>
            <a:r>
              <a:rPr lang="en-US" dirty="0" smtClean="0"/>
              <a:t>identify(x</a:t>
            </a:r>
            <a:r>
              <a:rPr lang="en-US" dirty="0" smtClean="0"/>
              <a:t>, y = NULL, labels = </a:t>
            </a:r>
            <a:r>
              <a:rPr lang="en-US" dirty="0" err="1" smtClean="0"/>
              <a:t>seq_along</a:t>
            </a:r>
            <a:r>
              <a:rPr lang="en-US" dirty="0" smtClean="0"/>
              <a:t>(x), </a:t>
            </a:r>
            <a:r>
              <a:rPr lang="en-US" dirty="0" err="1" smtClean="0"/>
              <a:t>pos</a:t>
            </a:r>
            <a:r>
              <a:rPr lang="en-US" dirty="0" smtClean="0"/>
              <a:t> = FALSE,</a:t>
            </a:r>
          </a:p>
          <a:p>
            <a:r>
              <a:rPr lang="en-US" dirty="0" smtClean="0"/>
              <a:t>         n = length(x), plot = TRUE, </a:t>
            </a:r>
            <a:r>
              <a:rPr lang="en-US" dirty="0" err="1" smtClean="0"/>
              <a:t>atpen</a:t>
            </a:r>
            <a:r>
              <a:rPr lang="en-US" dirty="0" smtClean="0"/>
              <a:t> = FALSE, offset = 0.5,</a:t>
            </a:r>
          </a:p>
          <a:p>
            <a:r>
              <a:rPr lang="en-US" dirty="0" smtClean="0"/>
              <a:t>         tolerance = 0.25, order = FALSE, ...)</a:t>
            </a:r>
          </a:p>
          <a:p>
            <a:r>
              <a:rPr lang="en-US" dirty="0" smtClean="0"/>
              <a:t>x</a:t>
            </a:r>
            <a:r>
              <a:rPr lang="en-US" dirty="0" smtClean="0"/>
              <a:t>, y	</a:t>
            </a:r>
            <a:r>
              <a:rPr lang="en-US" dirty="0" smtClean="0"/>
              <a:t>- coordinates </a:t>
            </a:r>
            <a:r>
              <a:rPr lang="en-US" dirty="0" smtClean="0"/>
              <a:t>of points in a scatter plot. Alternatively, any object which defines coordinates (a plotting structure, time series </a:t>
            </a:r>
            <a:r>
              <a:rPr lang="en-US" dirty="0" err="1" smtClean="0"/>
              <a:t>etc</a:t>
            </a:r>
            <a:r>
              <a:rPr lang="en-US" dirty="0" smtClean="0"/>
              <a:t>: see </a:t>
            </a:r>
            <a:r>
              <a:rPr lang="en-US" dirty="0" err="1" smtClean="0"/>
              <a:t>xy.coords</a:t>
            </a:r>
            <a:r>
              <a:rPr lang="en-US" dirty="0" smtClean="0"/>
              <a:t>) can be given as x, and y left missing.</a:t>
            </a:r>
          </a:p>
          <a:p>
            <a:r>
              <a:rPr lang="en-US" dirty="0"/>
              <a:t>labels	</a:t>
            </a:r>
            <a:r>
              <a:rPr lang="en-US" dirty="0" smtClean="0"/>
              <a:t>- an </a:t>
            </a:r>
            <a:r>
              <a:rPr lang="en-US" dirty="0"/>
              <a:t>optional character vector giving labels for the points. </a:t>
            </a:r>
            <a:endParaRPr lang="en-US" dirty="0" smtClean="0"/>
          </a:p>
          <a:p>
            <a:r>
              <a:rPr lang="en-US" dirty="0" err="1" smtClean="0"/>
              <a:t>pos</a:t>
            </a:r>
            <a:r>
              <a:rPr lang="en-US" dirty="0"/>
              <a:t>	</a:t>
            </a:r>
            <a:r>
              <a:rPr lang="en-US" dirty="0" smtClean="0"/>
              <a:t>-if </a:t>
            </a:r>
            <a:r>
              <a:rPr lang="en-US" dirty="0" err="1"/>
              <a:t>pos</a:t>
            </a:r>
            <a:r>
              <a:rPr lang="en-US" dirty="0"/>
              <a:t> is TRUE, a component is added to the return value which indicates where text was plotted relative to each identified point: see Value.</a:t>
            </a:r>
          </a:p>
          <a:p>
            <a:r>
              <a:rPr lang="en-US" dirty="0" smtClean="0"/>
              <a:t>n</a:t>
            </a:r>
            <a:r>
              <a:rPr lang="en-US" dirty="0"/>
              <a:t>	</a:t>
            </a:r>
            <a:r>
              <a:rPr lang="en-US" dirty="0" smtClean="0"/>
              <a:t>- the </a:t>
            </a:r>
            <a:r>
              <a:rPr lang="en-US" dirty="0"/>
              <a:t>maximum number of points to be identified</a:t>
            </a:r>
            <a:r>
              <a:rPr lang="en-US" dirty="0" smtClean="0"/>
              <a:t>.</a:t>
            </a:r>
          </a:p>
          <a:p>
            <a:r>
              <a:rPr lang="en-US" dirty="0"/>
              <a:t>plot	</a:t>
            </a:r>
            <a:r>
              <a:rPr lang="en-US" dirty="0" smtClean="0"/>
              <a:t>-logical</a:t>
            </a:r>
            <a:r>
              <a:rPr lang="en-US" dirty="0"/>
              <a:t>: if plot is TRUE, the labels are printed near the points and if FALSE they are omitted.</a:t>
            </a:r>
          </a:p>
          <a:p>
            <a:endParaRPr lang="en-US" dirty="0"/>
          </a:p>
          <a:p>
            <a:endParaRPr lang="en-US" dirty="0" smtClean="0"/>
          </a:p>
          <a:p>
            <a:endParaRPr lang="en-IN" dirty="0"/>
          </a:p>
        </p:txBody>
      </p:sp>
    </p:spTree>
    <p:extLst>
      <p:ext uri="{BB962C8B-B14F-4D97-AF65-F5344CB8AC3E}">
        <p14:creationId xmlns:p14="http://schemas.microsoft.com/office/powerpoint/2010/main" val="196638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31" y="304800"/>
            <a:ext cx="11084169" cy="6049108"/>
          </a:xfrm>
        </p:spPr>
        <p:txBody>
          <a:bodyPr>
            <a:normAutofit fontScale="85000" lnSpcReduction="20000"/>
          </a:bodyPr>
          <a:lstStyle/>
          <a:p>
            <a:endParaRPr lang="en-US" dirty="0"/>
          </a:p>
          <a:p>
            <a:endParaRPr lang="en-US" dirty="0"/>
          </a:p>
          <a:p>
            <a:r>
              <a:rPr lang="en-US" dirty="0" err="1"/>
              <a:t>atpen</a:t>
            </a:r>
            <a:r>
              <a:rPr lang="en-US" dirty="0"/>
              <a:t>	</a:t>
            </a:r>
            <a:r>
              <a:rPr lang="en-US" dirty="0" smtClean="0"/>
              <a:t>- logical</a:t>
            </a:r>
            <a:r>
              <a:rPr lang="en-US" dirty="0"/>
              <a:t>: if TRUE and plot = TRUE, the lower-left corners of the labels are plotted at the points clicked rather than relative to the points.</a:t>
            </a:r>
          </a:p>
          <a:p>
            <a:endParaRPr lang="en-US" dirty="0"/>
          </a:p>
          <a:p>
            <a:r>
              <a:rPr lang="en-US" dirty="0"/>
              <a:t>offset	</a:t>
            </a:r>
            <a:r>
              <a:rPr lang="en-US" dirty="0" smtClean="0"/>
              <a:t>-the </a:t>
            </a:r>
            <a:r>
              <a:rPr lang="en-US" dirty="0"/>
              <a:t>distance (in character widths) which separates the label from identified points. Negative values are allowed. Not used if </a:t>
            </a:r>
            <a:r>
              <a:rPr lang="en-US" dirty="0" err="1"/>
              <a:t>atpen</a:t>
            </a:r>
            <a:r>
              <a:rPr lang="en-US" dirty="0"/>
              <a:t> = TRUE.</a:t>
            </a:r>
          </a:p>
          <a:p>
            <a:endParaRPr lang="en-US" dirty="0"/>
          </a:p>
          <a:p>
            <a:r>
              <a:rPr lang="en-US" dirty="0" smtClean="0"/>
              <a:t>Tolerance-the </a:t>
            </a:r>
            <a:r>
              <a:rPr lang="en-US" dirty="0"/>
              <a:t>maximal distance (in inches) for the pointer to be ‘close enough’ to a point.</a:t>
            </a:r>
          </a:p>
          <a:p>
            <a:endParaRPr lang="en-US" dirty="0"/>
          </a:p>
          <a:p>
            <a:r>
              <a:rPr lang="en-US" dirty="0"/>
              <a:t>order	</a:t>
            </a:r>
            <a:r>
              <a:rPr lang="en-US" dirty="0" smtClean="0"/>
              <a:t>-if </a:t>
            </a:r>
            <a:r>
              <a:rPr lang="en-US" dirty="0"/>
              <a:t>order is TRUE, a component is added to the return value which indicates the order in which points were identified: see Value.</a:t>
            </a:r>
          </a:p>
          <a:p>
            <a:endParaRPr lang="en-US" dirty="0"/>
          </a:p>
          <a:p>
            <a:r>
              <a:rPr lang="en-US" dirty="0"/>
              <a:t>...	</a:t>
            </a:r>
          </a:p>
          <a:p>
            <a:r>
              <a:rPr lang="en-US" dirty="0"/>
              <a:t>further arguments passed to par such as </a:t>
            </a:r>
            <a:r>
              <a:rPr lang="en-US" dirty="0" err="1"/>
              <a:t>cex</a:t>
            </a:r>
            <a:r>
              <a:rPr lang="en-US" dirty="0"/>
              <a:t>, col and font.</a:t>
            </a:r>
          </a:p>
        </p:txBody>
      </p:sp>
    </p:spTree>
    <p:extLst>
      <p:ext uri="{BB962C8B-B14F-4D97-AF65-F5344CB8AC3E}">
        <p14:creationId xmlns:p14="http://schemas.microsoft.com/office/powerpoint/2010/main" val="98365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46185"/>
            <a:ext cx="10515600" cy="5930778"/>
          </a:xfrm>
        </p:spPr>
        <p:txBody>
          <a:bodyPr>
            <a:normAutofit fontScale="92500" lnSpcReduction="10000"/>
          </a:bodyPr>
          <a:lstStyle/>
          <a:p>
            <a:pPr fontAlgn="base"/>
            <a:r>
              <a:rPr lang="en-US" b="1" dirty="0"/>
              <a:t>What is Lattice?</a:t>
            </a:r>
            <a:endParaRPr lang="en-US" dirty="0"/>
          </a:p>
          <a:p>
            <a:pPr fontAlgn="base"/>
            <a:r>
              <a:rPr lang="en-US" dirty="0"/>
              <a:t>A lattice in R is known for its</a:t>
            </a:r>
            <a:r>
              <a:rPr lang="en-US" i="1" dirty="0"/>
              <a:t> robust, elegant and aesthetic data </a:t>
            </a:r>
            <a:r>
              <a:rPr lang="en-US" i="1" dirty="0" err="1"/>
              <a:t>visualisation</a:t>
            </a:r>
            <a:r>
              <a:rPr lang="en-US" i="1" dirty="0"/>
              <a:t> system.</a:t>
            </a:r>
            <a:r>
              <a:rPr lang="en-US" dirty="0"/>
              <a:t> That is, being inspired by Trellis graphics. Although, it is designed with an emphasis on multivariate data which allows easy conditioning to produce “small multiple” plots.</a:t>
            </a:r>
          </a:p>
          <a:p>
            <a:pPr fontAlgn="base"/>
            <a:r>
              <a:rPr lang="en-US" dirty="0"/>
              <a:t>1. Lattice Graphs</a:t>
            </a:r>
          </a:p>
          <a:p>
            <a:pPr fontAlgn="base"/>
            <a:r>
              <a:rPr lang="en-US" dirty="0" smtClean="0"/>
              <a:t>provides </a:t>
            </a:r>
            <a:r>
              <a:rPr lang="en-US" dirty="0"/>
              <a:t>the ability to display multivariate relationships and it improves on the base-R graphics. This package supports the creation of trellis graphs:</a:t>
            </a:r>
          </a:p>
          <a:p>
            <a:pPr fontAlgn="base"/>
            <a:r>
              <a:rPr lang="en-US" dirty="0"/>
              <a:t>graphs that display a variable </a:t>
            </a:r>
            <a:r>
              <a:rPr lang="en-US" dirty="0" smtClean="0"/>
              <a:t>or the </a:t>
            </a:r>
            <a:r>
              <a:rPr lang="en-US" dirty="0"/>
              <a:t>relationship between variables, </a:t>
            </a:r>
            <a:r>
              <a:rPr lang="en-US" dirty="0" smtClean="0"/>
              <a:t>conditioned </a:t>
            </a:r>
            <a:r>
              <a:rPr lang="en-US" dirty="0"/>
              <a:t>on one </a:t>
            </a:r>
            <a:r>
              <a:rPr lang="en-US" dirty="0" smtClean="0"/>
              <a:t>or other </a:t>
            </a:r>
            <a:r>
              <a:rPr lang="en-US" dirty="0"/>
              <a:t>variables.</a:t>
            </a:r>
          </a:p>
          <a:p>
            <a:pPr fontAlgn="base"/>
            <a:r>
              <a:rPr lang="en-US" b="1" dirty="0"/>
              <a:t>The typical format is</a:t>
            </a:r>
            <a:r>
              <a:rPr lang="en-US" dirty="0"/>
              <a:t>:</a:t>
            </a:r>
            <a:br>
              <a:rPr lang="en-US" dirty="0"/>
            </a:br>
            <a:endParaRPr lang="en-US" dirty="0"/>
          </a:p>
          <a:p>
            <a:pPr fontAlgn="base"/>
            <a:r>
              <a:rPr lang="en-US" i="1" dirty="0" err="1"/>
              <a:t>graph_type</a:t>
            </a:r>
            <a:r>
              <a:rPr lang="en-US" i="1" dirty="0"/>
              <a:t>(formula, data=)</a:t>
            </a:r>
            <a:endParaRPr lang="en-US" dirty="0"/>
          </a:p>
          <a:p>
            <a:pPr fontAlgn="base"/>
            <a:r>
              <a:rPr lang="en-US" dirty="0"/>
              <a:t>We will select </a:t>
            </a:r>
            <a:r>
              <a:rPr lang="en-US" dirty="0" err="1"/>
              <a:t>graph_type</a:t>
            </a:r>
            <a:r>
              <a:rPr lang="en-US" dirty="0"/>
              <a:t> from the table listed below. The formula displays the variables and other types of conditioning.</a:t>
            </a:r>
          </a:p>
        </p:txBody>
      </p:sp>
    </p:spTree>
    <p:extLst>
      <p:ext uri="{BB962C8B-B14F-4D97-AF65-F5344CB8AC3E}">
        <p14:creationId xmlns:p14="http://schemas.microsoft.com/office/powerpoint/2010/main" val="4147116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8738" y="355748"/>
            <a:ext cx="10515600" cy="4351338"/>
          </a:xfrm>
        </p:spPr>
        <p:txBody>
          <a:bodyPr/>
          <a:lstStyle/>
          <a:p>
            <a:r>
              <a:rPr lang="en-US" dirty="0" smtClean="0"/>
              <a:t>For example:</a:t>
            </a:r>
          </a:p>
          <a:p>
            <a:endParaRPr lang="en-US" dirty="0" smtClean="0"/>
          </a:p>
          <a:p>
            <a:r>
              <a:rPr lang="en-US" dirty="0" smtClean="0"/>
              <a:t>~</a:t>
            </a:r>
            <a:r>
              <a:rPr lang="en-US" dirty="0" err="1" smtClean="0"/>
              <a:t>x|A</a:t>
            </a:r>
            <a:r>
              <a:rPr lang="en-US" dirty="0" smtClean="0"/>
              <a:t> for each level of factor (A), it displays a numerical variable which is x;</a:t>
            </a:r>
          </a:p>
          <a:p>
            <a:r>
              <a:rPr lang="en-US" dirty="0" err="1" smtClean="0"/>
              <a:t>y~x</a:t>
            </a:r>
            <a:r>
              <a:rPr lang="en-US" dirty="0" smtClean="0"/>
              <a:t> | A*B for every combination of factor A and B, there exists a relationship between the variables x and y.</a:t>
            </a:r>
          </a:p>
          <a:p>
            <a:r>
              <a:rPr lang="en-US" dirty="0" smtClean="0"/>
              <a:t>~x means display numeric variable x alone.</a:t>
            </a:r>
          </a:p>
          <a:p>
            <a:endParaRPr lang="en-US" dirty="0" smtClean="0"/>
          </a:p>
          <a:p>
            <a:endParaRPr lang="en-IN" dirty="0"/>
          </a:p>
        </p:txBody>
      </p:sp>
      <p:graphicFrame>
        <p:nvGraphicFramePr>
          <p:cNvPr id="6" name="Table 5"/>
          <p:cNvGraphicFramePr>
            <a:graphicFrameLocks noGrp="1"/>
          </p:cNvGraphicFramePr>
          <p:nvPr/>
        </p:nvGraphicFramePr>
        <p:xfrm>
          <a:off x="989838" y="1825624"/>
          <a:ext cx="10212324" cy="4351340"/>
        </p:xfrm>
        <a:graphic>
          <a:graphicData uri="http://schemas.openxmlformats.org/drawingml/2006/table">
            <a:tbl>
              <a:tblPr/>
              <a:tblGrid>
                <a:gridCol w="3404108"/>
                <a:gridCol w="3404108"/>
                <a:gridCol w="3404108"/>
              </a:tblGrid>
              <a:tr h="310810">
                <a:tc>
                  <a:txBody>
                    <a:bodyPr/>
                    <a:lstStyle/>
                    <a:p>
                      <a:pPr fontAlgn="t"/>
                      <a:r>
                        <a:rPr lang="en-IN" sz="1700" b="1">
                          <a:effectLst/>
                        </a:rPr>
                        <a:t>graph_type</a:t>
                      </a:r>
                      <a:endParaRPr lang="en-IN" sz="1700">
                        <a:effectLst/>
                      </a:endParaRPr>
                    </a:p>
                  </a:txBody>
                  <a:tcPr marL="22201" marR="22201" marT="22201" marB="22201">
                    <a:lnL>
                      <a:noFill/>
                    </a:lnL>
                    <a:lnR>
                      <a:noFill/>
                    </a:lnR>
                    <a:lnT>
                      <a:noFill/>
                    </a:lnT>
                    <a:lnB>
                      <a:noFill/>
                    </a:lnB>
                    <a:solidFill>
                      <a:srgbClr val="F2F2F2"/>
                    </a:solidFill>
                  </a:tcPr>
                </a:tc>
                <a:tc>
                  <a:txBody>
                    <a:bodyPr/>
                    <a:lstStyle/>
                    <a:p>
                      <a:pPr fontAlgn="t"/>
                      <a:r>
                        <a:rPr lang="en-IN" sz="1700" b="1">
                          <a:effectLst/>
                        </a:rPr>
                        <a:t>description</a:t>
                      </a:r>
                      <a:endParaRPr lang="en-IN" sz="1700">
                        <a:effectLst/>
                      </a:endParaRPr>
                    </a:p>
                  </a:txBody>
                  <a:tcPr marL="22201" marR="22201" marT="22201" marB="22201">
                    <a:lnL>
                      <a:noFill/>
                    </a:lnL>
                    <a:lnR>
                      <a:noFill/>
                    </a:lnR>
                    <a:lnT>
                      <a:noFill/>
                    </a:lnT>
                    <a:lnB>
                      <a:noFill/>
                    </a:lnB>
                    <a:solidFill>
                      <a:srgbClr val="F2F2F2"/>
                    </a:solidFill>
                  </a:tcPr>
                </a:tc>
                <a:tc>
                  <a:txBody>
                    <a:bodyPr/>
                    <a:lstStyle/>
                    <a:p>
                      <a:pPr fontAlgn="t"/>
                      <a:r>
                        <a:rPr lang="en-IN" sz="1700" b="1">
                          <a:effectLst/>
                        </a:rPr>
                        <a:t>formula examples</a:t>
                      </a:r>
                      <a:endParaRPr lang="en-IN" sz="1700">
                        <a:effectLst/>
                      </a:endParaRPr>
                    </a:p>
                  </a:txBody>
                  <a:tcPr marL="22201" marR="22201" marT="22201" marB="22201">
                    <a:lnL>
                      <a:noFill/>
                    </a:lnL>
                    <a:lnR>
                      <a:noFill/>
                    </a:lnR>
                    <a:lnT>
                      <a:noFill/>
                    </a:lnT>
                    <a:lnB>
                      <a:noFill/>
                    </a:lnB>
                    <a:solidFill>
                      <a:srgbClr val="F2F2F2"/>
                    </a:solidFill>
                  </a:tcPr>
                </a:tc>
              </a:tr>
              <a:tr h="310810">
                <a:tc>
                  <a:txBody>
                    <a:bodyPr/>
                    <a:lstStyle/>
                    <a:p>
                      <a:pPr fontAlgn="t"/>
                      <a:r>
                        <a:rPr lang="en-IN" sz="1700">
                          <a:effectLst/>
                        </a:rPr>
                        <a:t>barchart</a:t>
                      </a:r>
                    </a:p>
                  </a:txBody>
                  <a:tcPr marL="22201" marR="22201" marT="22201" marB="22201">
                    <a:lnL>
                      <a:noFill/>
                    </a:lnL>
                    <a:lnR>
                      <a:noFill/>
                    </a:lnR>
                    <a:lnT>
                      <a:noFill/>
                    </a:lnT>
                    <a:lnB>
                      <a:noFill/>
                    </a:lnB>
                    <a:solidFill>
                      <a:srgbClr val="F2F2F2"/>
                    </a:solidFill>
                  </a:tcPr>
                </a:tc>
                <a:tc>
                  <a:txBody>
                    <a:bodyPr/>
                    <a:lstStyle/>
                    <a:p>
                      <a:pPr fontAlgn="t"/>
                      <a:r>
                        <a:rPr lang="en-IN" sz="1700">
                          <a:effectLst/>
                        </a:rPr>
                        <a:t>bar chart</a:t>
                      </a:r>
                    </a:p>
                  </a:txBody>
                  <a:tcPr marL="22201" marR="22201" marT="22201" marB="22201">
                    <a:lnL>
                      <a:noFill/>
                    </a:lnL>
                    <a:lnR>
                      <a:noFill/>
                    </a:lnR>
                    <a:lnT>
                      <a:noFill/>
                    </a:lnT>
                    <a:lnB>
                      <a:noFill/>
                    </a:lnB>
                    <a:solidFill>
                      <a:srgbClr val="F2F2F2"/>
                    </a:solidFill>
                  </a:tcPr>
                </a:tc>
                <a:tc>
                  <a:txBody>
                    <a:bodyPr/>
                    <a:lstStyle/>
                    <a:p>
                      <a:pPr fontAlgn="t"/>
                      <a:r>
                        <a:rPr lang="en-IN" sz="1700">
                          <a:effectLst/>
                        </a:rPr>
                        <a:t>x~A or A~x</a:t>
                      </a:r>
                    </a:p>
                  </a:txBody>
                  <a:tcPr marL="22201" marR="22201" marT="22201" marB="22201">
                    <a:lnL>
                      <a:noFill/>
                    </a:lnL>
                    <a:lnR>
                      <a:noFill/>
                    </a:lnR>
                    <a:lnT>
                      <a:noFill/>
                    </a:lnT>
                    <a:lnB>
                      <a:noFill/>
                    </a:lnB>
                    <a:solidFill>
                      <a:srgbClr val="F2F2F2"/>
                    </a:solidFill>
                  </a:tcPr>
                </a:tc>
              </a:tr>
              <a:tr h="310810">
                <a:tc>
                  <a:txBody>
                    <a:bodyPr/>
                    <a:lstStyle/>
                    <a:p>
                      <a:pPr fontAlgn="t"/>
                      <a:r>
                        <a:rPr lang="en-IN" sz="1700">
                          <a:effectLst/>
                        </a:rPr>
                        <a:t>bwplot</a:t>
                      </a:r>
                    </a:p>
                  </a:txBody>
                  <a:tcPr marL="22201" marR="22201" marT="22201" marB="22201">
                    <a:lnL>
                      <a:noFill/>
                    </a:lnL>
                    <a:lnR>
                      <a:noFill/>
                    </a:lnR>
                    <a:lnT>
                      <a:noFill/>
                    </a:lnT>
                    <a:lnB>
                      <a:noFill/>
                    </a:lnB>
                    <a:solidFill>
                      <a:srgbClr val="F2F2F2"/>
                    </a:solidFill>
                  </a:tcPr>
                </a:tc>
                <a:tc>
                  <a:txBody>
                    <a:bodyPr/>
                    <a:lstStyle/>
                    <a:p>
                      <a:pPr fontAlgn="t"/>
                      <a:r>
                        <a:rPr lang="en-IN" sz="1700">
                          <a:effectLst/>
                        </a:rPr>
                        <a:t>boxplot</a:t>
                      </a:r>
                    </a:p>
                  </a:txBody>
                  <a:tcPr marL="22201" marR="22201" marT="22201" marB="22201">
                    <a:lnL>
                      <a:noFill/>
                    </a:lnL>
                    <a:lnR>
                      <a:noFill/>
                    </a:lnR>
                    <a:lnT>
                      <a:noFill/>
                    </a:lnT>
                    <a:lnB>
                      <a:noFill/>
                    </a:lnB>
                    <a:solidFill>
                      <a:srgbClr val="F2F2F2"/>
                    </a:solidFill>
                  </a:tcPr>
                </a:tc>
                <a:tc>
                  <a:txBody>
                    <a:bodyPr/>
                    <a:lstStyle/>
                    <a:p>
                      <a:pPr fontAlgn="t"/>
                      <a:r>
                        <a:rPr lang="en-IN" sz="1700">
                          <a:effectLst/>
                        </a:rPr>
                        <a:t>x~A or A~x</a:t>
                      </a:r>
                    </a:p>
                  </a:txBody>
                  <a:tcPr marL="22201" marR="22201" marT="22201" marB="22201">
                    <a:lnL>
                      <a:noFill/>
                    </a:lnL>
                    <a:lnR>
                      <a:noFill/>
                    </a:lnR>
                    <a:lnT>
                      <a:noFill/>
                    </a:lnT>
                    <a:lnB>
                      <a:noFill/>
                    </a:lnB>
                    <a:solidFill>
                      <a:srgbClr val="F2F2F2"/>
                    </a:solidFill>
                  </a:tcPr>
                </a:tc>
              </a:tr>
              <a:tr h="310810">
                <a:tc>
                  <a:txBody>
                    <a:bodyPr/>
                    <a:lstStyle/>
                    <a:p>
                      <a:pPr fontAlgn="t"/>
                      <a:r>
                        <a:rPr lang="en-IN" sz="1700">
                          <a:effectLst/>
                        </a:rPr>
                        <a:t>cloud</a:t>
                      </a:r>
                    </a:p>
                  </a:txBody>
                  <a:tcPr marL="22201" marR="22201" marT="22201" marB="22201">
                    <a:lnL>
                      <a:noFill/>
                    </a:lnL>
                    <a:lnR>
                      <a:noFill/>
                    </a:lnR>
                    <a:lnT>
                      <a:noFill/>
                    </a:lnT>
                    <a:lnB>
                      <a:noFill/>
                    </a:lnB>
                    <a:solidFill>
                      <a:srgbClr val="F2F2F2"/>
                    </a:solidFill>
                  </a:tcPr>
                </a:tc>
                <a:tc>
                  <a:txBody>
                    <a:bodyPr/>
                    <a:lstStyle/>
                    <a:p>
                      <a:pPr fontAlgn="t"/>
                      <a:r>
                        <a:rPr lang="en-IN" sz="1700">
                          <a:effectLst/>
                        </a:rPr>
                        <a:t>3D scatterplot</a:t>
                      </a:r>
                    </a:p>
                  </a:txBody>
                  <a:tcPr marL="22201" marR="22201" marT="22201" marB="22201">
                    <a:lnL>
                      <a:noFill/>
                    </a:lnL>
                    <a:lnR>
                      <a:noFill/>
                    </a:lnR>
                    <a:lnT>
                      <a:noFill/>
                    </a:lnT>
                    <a:lnB>
                      <a:noFill/>
                    </a:lnB>
                    <a:solidFill>
                      <a:srgbClr val="F2F2F2"/>
                    </a:solidFill>
                  </a:tcPr>
                </a:tc>
                <a:tc>
                  <a:txBody>
                    <a:bodyPr/>
                    <a:lstStyle/>
                    <a:p>
                      <a:pPr fontAlgn="t"/>
                      <a:r>
                        <a:rPr lang="en-IN" sz="1700">
                          <a:effectLst/>
                        </a:rPr>
                        <a:t>z~x*y|A</a:t>
                      </a:r>
                    </a:p>
                  </a:txBody>
                  <a:tcPr marL="22201" marR="22201" marT="22201" marB="22201">
                    <a:lnL>
                      <a:noFill/>
                    </a:lnL>
                    <a:lnR>
                      <a:noFill/>
                    </a:lnR>
                    <a:lnT>
                      <a:noFill/>
                    </a:lnT>
                    <a:lnB>
                      <a:noFill/>
                    </a:lnB>
                    <a:solidFill>
                      <a:srgbClr val="F2F2F2"/>
                    </a:solidFill>
                  </a:tcPr>
                </a:tc>
              </a:tr>
              <a:tr h="310810">
                <a:tc>
                  <a:txBody>
                    <a:bodyPr/>
                    <a:lstStyle/>
                    <a:p>
                      <a:pPr fontAlgn="t"/>
                      <a:r>
                        <a:rPr lang="en-IN" sz="1700">
                          <a:effectLst/>
                        </a:rPr>
                        <a:t>contourplot</a:t>
                      </a:r>
                    </a:p>
                  </a:txBody>
                  <a:tcPr marL="22201" marR="22201" marT="22201" marB="22201">
                    <a:lnL>
                      <a:noFill/>
                    </a:lnL>
                    <a:lnR>
                      <a:noFill/>
                    </a:lnR>
                    <a:lnT>
                      <a:noFill/>
                    </a:lnT>
                    <a:lnB>
                      <a:noFill/>
                    </a:lnB>
                    <a:solidFill>
                      <a:srgbClr val="F2F2F2"/>
                    </a:solidFill>
                  </a:tcPr>
                </a:tc>
                <a:tc>
                  <a:txBody>
                    <a:bodyPr/>
                    <a:lstStyle/>
                    <a:p>
                      <a:pPr fontAlgn="t"/>
                      <a:r>
                        <a:rPr lang="en-IN" sz="1700">
                          <a:effectLst/>
                        </a:rPr>
                        <a:t>3D contour plot</a:t>
                      </a:r>
                    </a:p>
                  </a:txBody>
                  <a:tcPr marL="22201" marR="22201" marT="22201" marB="22201">
                    <a:lnL>
                      <a:noFill/>
                    </a:lnL>
                    <a:lnR>
                      <a:noFill/>
                    </a:lnR>
                    <a:lnT>
                      <a:noFill/>
                    </a:lnT>
                    <a:lnB>
                      <a:noFill/>
                    </a:lnB>
                    <a:solidFill>
                      <a:srgbClr val="F2F2F2"/>
                    </a:solidFill>
                  </a:tcPr>
                </a:tc>
                <a:tc>
                  <a:txBody>
                    <a:bodyPr/>
                    <a:lstStyle/>
                    <a:p>
                      <a:pPr fontAlgn="t"/>
                      <a:r>
                        <a:rPr lang="en-IN" sz="1700">
                          <a:effectLst/>
                        </a:rPr>
                        <a:t>z~x*y</a:t>
                      </a:r>
                    </a:p>
                  </a:txBody>
                  <a:tcPr marL="22201" marR="22201" marT="22201" marB="22201">
                    <a:lnL>
                      <a:noFill/>
                    </a:lnL>
                    <a:lnR>
                      <a:noFill/>
                    </a:lnR>
                    <a:lnT>
                      <a:noFill/>
                    </a:lnT>
                    <a:lnB>
                      <a:noFill/>
                    </a:lnB>
                    <a:solidFill>
                      <a:srgbClr val="F2F2F2"/>
                    </a:solidFill>
                  </a:tcPr>
                </a:tc>
              </a:tr>
              <a:tr h="310810">
                <a:tc>
                  <a:txBody>
                    <a:bodyPr/>
                    <a:lstStyle/>
                    <a:p>
                      <a:pPr fontAlgn="t"/>
                      <a:r>
                        <a:rPr lang="en-IN" sz="1700">
                          <a:effectLst/>
                        </a:rPr>
                        <a:t>densityplot</a:t>
                      </a:r>
                    </a:p>
                  </a:txBody>
                  <a:tcPr marL="22201" marR="22201" marT="22201" marB="22201">
                    <a:lnL>
                      <a:noFill/>
                    </a:lnL>
                    <a:lnR>
                      <a:noFill/>
                    </a:lnR>
                    <a:lnT>
                      <a:noFill/>
                    </a:lnT>
                    <a:lnB>
                      <a:noFill/>
                    </a:lnB>
                    <a:solidFill>
                      <a:srgbClr val="F2F2F2"/>
                    </a:solidFill>
                  </a:tcPr>
                </a:tc>
                <a:tc>
                  <a:txBody>
                    <a:bodyPr/>
                    <a:lstStyle/>
                    <a:p>
                      <a:pPr fontAlgn="t"/>
                      <a:r>
                        <a:rPr lang="en-IN" sz="1700">
                          <a:effectLst/>
                        </a:rPr>
                        <a:t>kernal density plot</a:t>
                      </a:r>
                    </a:p>
                  </a:txBody>
                  <a:tcPr marL="22201" marR="22201" marT="22201" marB="22201">
                    <a:lnL>
                      <a:noFill/>
                    </a:lnL>
                    <a:lnR>
                      <a:noFill/>
                    </a:lnR>
                    <a:lnT>
                      <a:noFill/>
                    </a:lnT>
                    <a:lnB>
                      <a:noFill/>
                    </a:lnB>
                    <a:solidFill>
                      <a:srgbClr val="F2F2F2"/>
                    </a:solidFill>
                  </a:tcPr>
                </a:tc>
                <a:tc>
                  <a:txBody>
                    <a:bodyPr/>
                    <a:lstStyle/>
                    <a:p>
                      <a:pPr fontAlgn="t"/>
                      <a:r>
                        <a:rPr lang="en-IN" sz="1700">
                          <a:effectLst/>
                        </a:rPr>
                        <a:t>~x|A*B</a:t>
                      </a:r>
                    </a:p>
                  </a:txBody>
                  <a:tcPr marL="22201" marR="22201" marT="22201" marB="22201">
                    <a:lnL>
                      <a:noFill/>
                    </a:lnL>
                    <a:lnR>
                      <a:noFill/>
                    </a:lnR>
                    <a:lnT>
                      <a:noFill/>
                    </a:lnT>
                    <a:lnB>
                      <a:noFill/>
                    </a:lnB>
                    <a:solidFill>
                      <a:srgbClr val="F2F2F2"/>
                    </a:solidFill>
                  </a:tcPr>
                </a:tc>
              </a:tr>
              <a:tr h="310810">
                <a:tc>
                  <a:txBody>
                    <a:bodyPr/>
                    <a:lstStyle/>
                    <a:p>
                      <a:pPr fontAlgn="t"/>
                      <a:r>
                        <a:rPr lang="en-IN" sz="1700">
                          <a:effectLst/>
                        </a:rPr>
                        <a:t>dotplot</a:t>
                      </a:r>
                    </a:p>
                  </a:txBody>
                  <a:tcPr marL="22201" marR="22201" marT="22201" marB="22201">
                    <a:lnL>
                      <a:noFill/>
                    </a:lnL>
                    <a:lnR>
                      <a:noFill/>
                    </a:lnR>
                    <a:lnT>
                      <a:noFill/>
                    </a:lnT>
                    <a:lnB>
                      <a:noFill/>
                    </a:lnB>
                    <a:solidFill>
                      <a:srgbClr val="F2F2F2"/>
                    </a:solidFill>
                  </a:tcPr>
                </a:tc>
                <a:tc>
                  <a:txBody>
                    <a:bodyPr/>
                    <a:lstStyle/>
                    <a:p>
                      <a:pPr fontAlgn="t"/>
                      <a:r>
                        <a:rPr lang="en-IN" sz="1700">
                          <a:effectLst/>
                        </a:rPr>
                        <a:t>dotplot</a:t>
                      </a:r>
                    </a:p>
                  </a:txBody>
                  <a:tcPr marL="22201" marR="22201" marT="22201" marB="22201">
                    <a:lnL>
                      <a:noFill/>
                    </a:lnL>
                    <a:lnR>
                      <a:noFill/>
                    </a:lnR>
                    <a:lnT>
                      <a:noFill/>
                    </a:lnT>
                    <a:lnB>
                      <a:noFill/>
                    </a:lnB>
                    <a:solidFill>
                      <a:srgbClr val="F2F2F2"/>
                    </a:solidFill>
                  </a:tcPr>
                </a:tc>
                <a:tc>
                  <a:txBody>
                    <a:bodyPr/>
                    <a:lstStyle/>
                    <a:p>
                      <a:pPr fontAlgn="t"/>
                      <a:r>
                        <a:rPr lang="en-IN" sz="1700">
                          <a:effectLst/>
                        </a:rPr>
                        <a:t>~x|A</a:t>
                      </a:r>
                    </a:p>
                  </a:txBody>
                  <a:tcPr marL="22201" marR="22201" marT="22201" marB="22201">
                    <a:lnL>
                      <a:noFill/>
                    </a:lnL>
                    <a:lnR>
                      <a:noFill/>
                    </a:lnR>
                    <a:lnT>
                      <a:noFill/>
                    </a:lnT>
                    <a:lnB>
                      <a:noFill/>
                    </a:lnB>
                    <a:solidFill>
                      <a:srgbClr val="F2F2F2"/>
                    </a:solidFill>
                  </a:tcPr>
                </a:tc>
              </a:tr>
              <a:tr h="310810">
                <a:tc>
                  <a:txBody>
                    <a:bodyPr/>
                    <a:lstStyle/>
                    <a:p>
                      <a:pPr fontAlgn="t"/>
                      <a:r>
                        <a:rPr lang="en-IN" sz="1700">
                          <a:effectLst/>
                        </a:rPr>
                        <a:t>histogram</a:t>
                      </a:r>
                    </a:p>
                  </a:txBody>
                  <a:tcPr marL="22201" marR="22201" marT="22201" marB="22201">
                    <a:lnL>
                      <a:noFill/>
                    </a:lnL>
                    <a:lnR>
                      <a:noFill/>
                    </a:lnR>
                    <a:lnT>
                      <a:noFill/>
                    </a:lnT>
                    <a:lnB>
                      <a:noFill/>
                    </a:lnB>
                    <a:solidFill>
                      <a:srgbClr val="F2F2F2"/>
                    </a:solidFill>
                  </a:tcPr>
                </a:tc>
                <a:tc>
                  <a:txBody>
                    <a:bodyPr/>
                    <a:lstStyle/>
                    <a:p>
                      <a:pPr fontAlgn="t"/>
                      <a:r>
                        <a:rPr lang="en-IN" sz="1700">
                          <a:effectLst/>
                        </a:rPr>
                        <a:t>histogram</a:t>
                      </a:r>
                    </a:p>
                  </a:txBody>
                  <a:tcPr marL="22201" marR="22201" marT="22201" marB="22201">
                    <a:lnL>
                      <a:noFill/>
                    </a:lnL>
                    <a:lnR>
                      <a:noFill/>
                    </a:lnR>
                    <a:lnT>
                      <a:noFill/>
                    </a:lnT>
                    <a:lnB>
                      <a:noFill/>
                    </a:lnB>
                    <a:solidFill>
                      <a:srgbClr val="F2F2F2"/>
                    </a:solidFill>
                  </a:tcPr>
                </a:tc>
                <a:tc>
                  <a:txBody>
                    <a:bodyPr/>
                    <a:lstStyle/>
                    <a:p>
                      <a:pPr fontAlgn="t"/>
                      <a:r>
                        <a:rPr lang="en-IN" sz="1700">
                          <a:effectLst/>
                        </a:rPr>
                        <a:t>~x</a:t>
                      </a:r>
                    </a:p>
                  </a:txBody>
                  <a:tcPr marL="22201" marR="22201" marT="22201" marB="22201">
                    <a:lnL>
                      <a:noFill/>
                    </a:lnL>
                    <a:lnR>
                      <a:noFill/>
                    </a:lnR>
                    <a:lnT>
                      <a:noFill/>
                    </a:lnT>
                    <a:lnB>
                      <a:noFill/>
                    </a:lnB>
                    <a:solidFill>
                      <a:srgbClr val="F2F2F2"/>
                    </a:solidFill>
                  </a:tcPr>
                </a:tc>
              </a:tr>
              <a:tr h="310810">
                <a:tc>
                  <a:txBody>
                    <a:bodyPr/>
                    <a:lstStyle/>
                    <a:p>
                      <a:pPr fontAlgn="t"/>
                      <a:r>
                        <a:rPr lang="en-IN" sz="1700">
                          <a:effectLst/>
                        </a:rPr>
                        <a:t>levelplot</a:t>
                      </a:r>
                    </a:p>
                  </a:txBody>
                  <a:tcPr marL="22201" marR="22201" marT="22201" marB="22201">
                    <a:lnL>
                      <a:noFill/>
                    </a:lnL>
                    <a:lnR>
                      <a:noFill/>
                    </a:lnR>
                    <a:lnT>
                      <a:noFill/>
                    </a:lnT>
                    <a:lnB>
                      <a:noFill/>
                    </a:lnB>
                    <a:solidFill>
                      <a:srgbClr val="F2F2F2"/>
                    </a:solidFill>
                  </a:tcPr>
                </a:tc>
                <a:tc>
                  <a:txBody>
                    <a:bodyPr/>
                    <a:lstStyle/>
                    <a:p>
                      <a:pPr fontAlgn="t"/>
                      <a:r>
                        <a:rPr lang="en-IN" sz="1700">
                          <a:effectLst/>
                        </a:rPr>
                        <a:t>3D level plot</a:t>
                      </a:r>
                    </a:p>
                  </a:txBody>
                  <a:tcPr marL="22201" marR="22201" marT="22201" marB="22201">
                    <a:lnL>
                      <a:noFill/>
                    </a:lnL>
                    <a:lnR>
                      <a:noFill/>
                    </a:lnR>
                    <a:lnT>
                      <a:noFill/>
                    </a:lnT>
                    <a:lnB>
                      <a:noFill/>
                    </a:lnB>
                    <a:solidFill>
                      <a:srgbClr val="F2F2F2"/>
                    </a:solidFill>
                  </a:tcPr>
                </a:tc>
                <a:tc>
                  <a:txBody>
                    <a:bodyPr/>
                    <a:lstStyle/>
                    <a:p>
                      <a:pPr fontAlgn="t"/>
                      <a:r>
                        <a:rPr lang="en-IN" sz="1700">
                          <a:effectLst/>
                        </a:rPr>
                        <a:t>z~y*x</a:t>
                      </a:r>
                    </a:p>
                  </a:txBody>
                  <a:tcPr marL="22201" marR="22201" marT="22201" marB="22201">
                    <a:lnL>
                      <a:noFill/>
                    </a:lnL>
                    <a:lnR>
                      <a:noFill/>
                    </a:lnR>
                    <a:lnT>
                      <a:noFill/>
                    </a:lnT>
                    <a:lnB>
                      <a:noFill/>
                    </a:lnB>
                    <a:solidFill>
                      <a:srgbClr val="F2F2F2"/>
                    </a:solidFill>
                  </a:tcPr>
                </a:tc>
              </a:tr>
              <a:tr h="310810">
                <a:tc>
                  <a:txBody>
                    <a:bodyPr/>
                    <a:lstStyle/>
                    <a:p>
                      <a:pPr fontAlgn="t"/>
                      <a:r>
                        <a:rPr lang="en-IN" sz="1700">
                          <a:effectLst/>
                        </a:rPr>
                        <a:t>parallel</a:t>
                      </a:r>
                    </a:p>
                  </a:txBody>
                  <a:tcPr marL="22201" marR="22201" marT="22201" marB="22201">
                    <a:lnL>
                      <a:noFill/>
                    </a:lnL>
                    <a:lnR>
                      <a:noFill/>
                    </a:lnR>
                    <a:lnT>
                      <a:noFill/>
                    </a:lnT>
                    <a:lnB>
                      <a:noFill/>
                    </a:lnB>
                    <a:solidFill>
                      <a:srgbClr val="F2F2F2"/>
                    </a:solidFill>
                  </a:tcPr>
                </a:tc>
                <a:tc>
                  <a:txBody>
                    <a:bodyPr/>
                    <a:lstStyle/>
                    <a:p>
                      <a:pPr fontAlgn="t"/>
                      <a:r>
                        <a:rPr lang="en-IN" sz="1700">
                          <a:effectLst/>
                        </a:rPr>
                        <a:t>parallel coordinates plot</a:t>
                      </a:r>
                    </a:p>
                  </a:txBody>
                  <a:tcPr marL="22201" marR="22201" marT="22201" marB="22201">
                    <a:lnL>
                      <a:noFill/>
                    </a:lnL>
                    <a:lnR>
                      <a:noFill/>
                    </a:lnR>
                    <a:lnT>
                      <a:noFill/>
                    </a:lnT>
                    <a:lnB>
                      <a:noFill/>
                    </a:lnB>
                    <a:solidFill>
                      <a:srgbClr val="F2F2F2"/>
                    </a:solidFill>
                  </a:tcPr>
                </a:tc>
                <a:tc>
                  <a:txBody>
                    <a:bodyPr/>
                    <a:lstStyle/>
                    <a:p>
                      <a:pPr fontAlgn="t"/>
                      <a:r>
                        <a:rPr lang="en-IN" sz="1700">
                          <a:effectLst/>
                        </a:rPr>
                        <a:t>data frame</a:t>
                      </a:r>
                    </a:p>
                  </a:txBody>
                  <a:tcPr marL="22201" marR="22201" marT="22201" marB="22201">
                    <a:lnL>
                      <a:noFill/>
                    </a:lnL>
                    <a:lnR>
                      <a:noFill/>
                    </a:lnR>
                    <a:lnT>
                      <a:noFill/>
                    </a:lnT>
                    <a:lnB>
                      <a:noFill/>
                    </a:lnB>
                    <a:solidFill>
                      <a:srgbClr val="F2F2F2"/>
                    </a:solidFill>
                  </a:tcPr>
                </a:tc>
              </a:tr>
              <a:tr h="310810">
                <a:tc>
                  <a:txBody>
                    <a:bodyPr/>
                    <a:lstStyle/>
                    <a:p>
                      <a:pPr fontAlgn="t"/>
                      <a:r>
                        <a:rPr lang="en-IN" sz="1700">
                          <a:effectLst/>
                        </a:rPr>
                        <a:t>splom</a:t>
                      </a:r>
                    </a:p>
                  </a:txBody>
                  <a:tcPr marL="22201" marR="22201" marT="22201" marB="22201">
                    <a:lnL>
                      <a:noFill/>
                    </a:lnL>
                    <a:lnR>
                      <a:noFill/>
                    </a:lnR>
                    <a:lnT>
                      <a:noFill/>
                    </a:lnT>
                    <a:lnB>
                      <a:noFill/>
                    </a:lnB>
                    <a:solidFill>
                      <a:srgbClr val="F2F2F2"/>
                    </a:solidFill>
                  </a:tcPr>
                </a:tc>
                <a:tc>
                  <a:txBody>
                    <a:bodyPr/>
                    <a:lstStyle/>
                    <a:p>
                      <a:pPr fontAlgn="t"/>
                      <a:r>
                        <a:rPr lang="en-IN" sz="1700">
                          <a:effectLst/>
                        </a:rPr>
                        <a:t>scatterplot matrix</a:t>
                      </a:r>
                    </a:p>
                  </a:txBody>
                  <a:tcPr marL="22201" marR="22201" marT="22201" marB="22201">
                    <a:lnL>
                      <a:noFill/>
                    </a:lnL>
                    <a:lnR>
                      <a:noFill/>
                    </a:lnR>
                    <a:lnT>
                      <a:noFill/>
                    </a:lnT>
                    <a:lnB>
                      <a:noFill/>
                    </a:lnB>
                    <a:solidFill>
                      <a:srgbClr val="F2F2F2"/>
                    </a:solidFill>
                  </a:tcPr>
                </a:tc>
                <a:tc>
                  <a:txBody>
                    <a:bodyPr/>
                    <a:lstStyle/>
                    <a:p>
                      <a:pPr fontAlgn="t"/>
                      <a:r>
                        <a:rPr lang="en-IN" sz="1700">
                          <a:effectLst/>
                        </a:rPr>
                        <a:t>data frame</a:t>
                      </a:r>
                    </a:p>
                  </a:txBody>
                  <a:tcPr marL="22201" marR="22201" marT="22201" marB="22201">
                    <a:lnL>
                      <a:noFill/>
                    </a:lnL>
                    <a:lnR>
                      <a:noFill/>
                    </a:lnR>
                    <a:lnT>
                      <a:noFill/>
                    </a:lnT>
                    <a:lnB>
                      <a:noFill/>
                    </a:lnB>
                    <a:solidFill>
                      <a:srgbClr val="F2F2F2"/>
                    </a:solidFill>
                  </a:tcPr>
                </a:tc>
              </a:tr>
              <a:tr h="310810">
                <a:tc>
                  <a:txBody>
                    <a:bodyPr/>
                    <a:lstStyle/>
                    <a:p>
                      <a:pPr fontAlgn="t"/>
                      <a:r>
                        <a:rPr lang="en-IN" sz="1700">
                          <a:effectLst/>
                        </a:rPr>
                        <a:t>stripplot</a:t>
                      </a:r>
                    </a:p>
                  </a:txBody>
                  <a:tcPr marL="22201" marR="22201" marT="22201" marB="22201">
                    <a:lnL>
                      <a:noFill/>
                    </a:lnL>
                    <a:lnR>
                      <a:noFill/>
                    </a:lnR>
                    <a:lnT>
                      <a:noFill/>
                    </a:lnT>
                    <a:lnB>
                      <a:noFill/>
                    </a:lnB>
                    <a:solidFill>
                      <a:srgbClr val="F2F2F2"/>
                    </a:solidFill>
                  </a:tcPr>
                </a:tc>
                <a:tc>
                  <a:txBody>
                    <a:bodyPr/>
                    <a:lstStyle/>
                    <a:p>
                      <a:pPr fontAlgn="t"/>
                      <a:r>
                        <a:rPr lang="en-IN" sz="1700">
                          <a:effectLst/>
                        </a:rPr>
                        <a:t>strip plots</a:t>
                      </a:r>
                    </a:p>
                  </a:txBody>
                  <a:tcPr marL="22201" marR="22201" marT="22201" marB="22201">
                    <a:lnL>
                      <a:noFill/>
                    </a:lnL>
                    <a:lnR>
                      <a:noFill/>
                    </a:lnR>
                    <a:lnT>
                      <a:noFill/>
                    </a:lnT>
                    <a:lnB>
                      <a:noFill/>
                    </a:lnB>
                    <a:solidFill>
                      <a:srgbClr val="F2F2F2"/>
                    </a:solidFill>
                  </a:tcPr>
                </a:tc>
                <a:tc>
                  <a:txBody>
                    <a:bodyPr/>
                    <a:lstStyle/>
                    <a:p>
                      <a:pPr fontAlgn="t"/>
                      <a:r>
                        <a:rPr lang="en-IN" sz="1700">
                          <a:effectLst/>
                        </a:rPr>
                        <a:t>A~x or x~A</a:t>
                      </a:r>
                    </a:p>
                  </a:txBody>
                  <a:tcPr marL="22201" marR="22201" marT="22201" marB="22201">
                    <a:lnL>
                      <a:noFill/>
                    </a:lnL>
                    <a:lnR>
                      <a:noFill/>
                    </a:lnR>
                    <a:lnT>
                      <a:noFill/>
                    </a:lnT>
                    <a:lnB>
                      <a:noFill/>
                    </a:lnB>
                    <a:solidFill>
                      <a:srgbClr val="F2F2F2"/>
                    </a:solidFill>
                  </a:tcPr>
                </a:tc>
              </a:tr>
              <a:tr h="310810">
                <a:tc>
                  <a:txBody>
                    <a:bodyPr/>
                    <a:lstStyle/>
                    <a:p>
                      <a:pPr fontAlgn="t"/>
                      <a:r>
                        <a:rPr lang="en-IN" sz="1700">
                          <a:effectLst/>
                        </a:rPr>
                        <a:t>xyplot</a:t>
                      </a:r>
                    </a:p>
                  </a:txBody>
                  <a:tcPr marL="22201" marR="22201" marT="22201" marB="22201">
                    <a:lnL>
                      <a:noFill/>
                    </a:lnL>
                    <a:lnR>
                      <a:noFill/>
                    </a:lnR>
                    <a:lnT>
                      <a:noFill/>
                    </a:lnT>
                    <a:lnB>
                      <a:noFill/>
                    </a:lnB>
                    <a:solidFill>
                      <a:srgbClr val="F2F2F2"/>
                    </a:solidFill>
                  </a:tcPr>
                </a:tc>
                <a:tc>
                  <a:txBody>
                    <a:bodyPr/>
                    <a:lstStyle/>
                    <a:p>
                      <a:pPr fontAlgn="t"/>
                      <a:r>
                        <a:rPr lang="en-IN" sz="1700">
                          <a:effectLst/>
                        </a:rPr>
                        <a:t>scatterplot</a:t>
                      </a:r>
                    </a:p>
                  </a:txBody>
                  <a:tcPr marL="22201" marR="22201" marT="22201" marB="22201">
                    <a:lnL>
                      <a:noFill/>
                    </a:lnL>
                    <a:lnR>
                      <a:noFill/>
                    </a:lnR>
                    <a:lnT>
                      <a:noFill/>
                    </a:lnT>
                    <a:lnB>
                      <a:noFill/>
                    </a:lnB>
                    <a:solidFill>
                      <a:srgbClr val="F2F2F2"/>
                    </a:solidFill>
                  </a:tcPr>
                </a:tc>
                <a:tc>
                  <a:txBody>
                    <a:bodyPr/>
                    <a:lstStyle/>
                    <a:p>
                      <a:pPr fontAlgn="t"/>
                      <a:r>
                        <a:rPr lang="en-IN" sz="1700">
                          <a:effectLst/>
                        </a:rPr>
                        <a:t>y~x|A</a:t>
                      </a:r>
                    </a:p>
                  </a:txBody>
                  <a:tcPr marL="22201" marR="22201" marT="22201" marB="22201">
                    <a:lnL>
                      <a:noFill/>
                    </a:lnL>
                    <a:lnR>
                      <a:noFill/>
                    </a:lnR>
                    <a:lnT>
                      <a:noFill/>
                    </a:lnT>
                    <a:lnB>
                      <a:noFill/>
                    </a:lnB>
                    <a:solidFill>
                      <a:srgbClr val="F2F2F2"/>
                    </a:solidFill>
                  </a:tcPr>
                </a:tc>
              </a:tr>
              <a:tr h="310810">
                <a:tc>
                  <a:txBody>
                    <a:bodyPr/>
                    <a:lstStyle/>
                    <a:p>
                      <a:pPr fontAlgn="t"/>
                      <a:r>
                        <a:rPr lang="en-IN" sz="1700">
                          <a:effectLst/>
                        </a:rPr>
                        <a:t>wireframe</a:t>
                      </a:r>
                    </a:p>
                  </a:txBody>
                  <a:tcPr marL="22201" marR="22201" marT="22201" marB="22201">
                    <a:lnL>
                      <a:noFill/>
                    </a:lnL>
                    <a:lnR>
                      <a:noFill/>
                    </a:lnR>
                    <a:lnT>
                      <a:noFill/>
                    </a:lnT>
                    <a:lnB>
                      <a:noFill/>
                    </a:lnB>
                    <a:solidFill>
                      <a:srgbClr val="F2F2F2"/>
                    </a:solidFill>
                  </a:tcPr>
                </a:tc>
                <a:tc>
                  <a:txBody>
                    <a:bodyPr/>
                    <a:lstStyle/>
                    <a:p>
                      <a:pPr fontAlgn="t"/>
                      <a:r>
                        <a:rPr lang="en-IN" sz="1700">
                          <a:effectLst/>
                        </a:rPr>
                        <a:t>3D wireframe graph</a:t>
                      </a:r>
                    </a:p>
                  </a:txBody>
                  <a:tcPr marL="22201" marR="22201" marT="22201" marB="22201">
                    <a:lnL>
                      <a:noFill/>
                    </a:lnL>
                    <a:lnR>
                      <a:noFill/>
                    </a:lnR>
                    <a:lnT>
                      <a:noFill/>
                    </a:lnT>
                    <a:lnB>
                      <a:noFill/>
                    </a:lnB>
                    <a:solidFill>
                      <a:srgbClr val="F2F2F2"/>
                    </a:solidFill>
                  </a:tcPr>
                </a:tc>
                <a:tc>
                  <a:txBody>
                    <a:bodyPr/>
                    <a:lstStyle/>
                    <a:p>
                      <a:pPr fontAlgn="t"/>
                      <a:r>
                        <a:rPr lang="en-IN" sz="1700" dirty="0" err="1">
                          <a:effectLst/>
                        </a:rPr>
                        <a:t>z~y</a:t>
                      </a:r>
                      <a:r>
                        <a:rPr lang="en-IN" sz="1700" dirty="0">
                          <a:effectLst/>
                        </a:rPr>
                        <a:t>*x</a:t>
                      </a:r>
                    </a:p>
                  </a:txBody>
                  <a:tcPr marL="22201" marR="22201" marT="22201" marB="22201">
                    <a:lnL>
                      <a:noFill/>
                    </a:lnL>
                    <a:lnR>
                      <a:noFill/>
                    </a:lnR>
                    <a:lnT>
                      <a:noFill/>
                    </a:lnT>
                    <a:lnB>
                      <a:noFill/>
                    </a:lnB>
                    <a:solidFill>
                      <a:srgbClr val="F2F2F2"/>
                    </a:solidFill>
                  </a:tcPr>
                </a:tc>
              </a:tr>
            </a:tbl>
          </a:graphicData>
        </a:graphic>
      </p:graphicFrame>
    </p:spTree>
    <p:extLst>
      <p:ext uri="{BB962C8B-B14F-4D97-AF65-F5344CB8AC3E}">
        <p14:creationId xmlns:p14="http://schemas.microsoft.com/office/powerpoint/2010/main" val="3507600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7569"/>
            <a:ext cx="10515600" cy="5989394"/>
          </a:xfrm>
        </p:spPr>
        <p:txBody>
          <a:bodyPr>
            <a:normAutofit lnSpcReduction="10000"/>
          </a:bodyPr>
          <a:lstStyle/>
          <a:p>
            <a:r>
              <a:rPr lang="en-IN" dirty="0" smtClean="0"/>
              <a:t>library(lattice)</a:t>
            </a:r>
          </a:p>
          <a:p>
            <a:r>
              <a:rPr lang="en-IN" dirty="0" err="1" smtClean="0"/>
              <a:t>panel.smoother</a:t>
            </a:r>
            <a:r>
              <a:rPr lang="en-IN" dirty="0" smtClean="0"/>
              <a:t> &lt;- function(x, y) {</a:t>
            </a:r>
          </a:p>
          <a:p>
            <a:r>
              <a:rPr lang="en-IN" dirty="0" smtClean="0"/>
              <a:t>  </a:t>
            </a:r>
            <a:r>
              <a:rPr lang="en-IN" dirty="0" err="1" smtClean="0"/>
              <a:t>panel.xyplot</a:t>
            </a:r>
            <a:r>
              <a:rPr lang="en-IN" dirty="0" smtClean="0"/>
              <a:t>(x, y) # show points</a:t>
            </a:r>
          </a:p>
          <a:p>
            <a:r>
              <a:rPr lang="en-IN" dirty="0" smtClean="0"/>
              <a:t>  </a:t>
            </a:r>
            <a:r>
              <a:rPr lang="en-IN" dirty="0" err="1" smtClean="0"/>
              <a:t>panel.loess</a:t>
            </a:r>
            <a:r>
              <a:rPr lang="en-IN" dirty="0" smtClean="0"/>
              <a:t>(x, y) # show smoothed line</a:t>
            </a:r>
          </a:p>
          <a:p>
            <a:r>
              <a:rPr lang="en-IN" dirty="0" smtClean="0"/>
              <a:t>}</a:t>
            </a:r>
          </a:p>
          <a:p>
            <a:r>
              <a:rPr lang="en-IN" dirty="0" smtClean="0"/>
              <a:t>attach(</a:t>
            </a:r>
            <a:r>
              <a:rPr lang="en-IN" dirty="0" err="1" smtClean="0"/>
              <a:t>mtcars</a:t>
            </a:r>
            <a:r>
              <a:rPr lang="en-IN" dirty="0" smtClean="0"/>
              <a:t>)</a:t>
            </a:r>
          </a:p>
          <a:p>
            <a:r>
              <a:rPr lang="en-IN" dirty="0" smtClean="0"/>
              <a:t># divide horsepower into three bands</a:t>
            </a:r>
          </a:p>
          <a:p>
            <a:r>
              <a:rPr lang="en-IN" dirty="0" err="1" smtClean="0"/>
              <a:t>hp</a:t>
            </a:r>
            <a:r>
              <a:rPr lang="en-IN" dirty="0" smtClean="0"/>
              <a:t> &lt;- cut(hp,3) </a:t>
            </a:r>
          </a:p>
          <a:p>
            <a:r>
              <a:rPr lang="en-IN" dirty="0" err="1" smtClean="0"/>
              <a:t>xyplot</a:t>
            </a:r>
            <a:r>
              <a:rPr lang="en-IN" dirty="0" smtClean="0"/>
              <a:t>(</a:t>
            </a:r>
            <a:r>
              <a:rPr lang="en-IN" dirty="0" err="1" smtClean="0"/>
              <a:t>mpg~wt|hp</a:t>
            </a:r>
            <a:r>
              <a:rPr lang="en-IN" dirty="0" smtClean="0"/>
              <a:t>, scales=list(</a:t>
            </a:r>
            <a:r>
              <a:rPr lang="en-IN" dirty="0" err="1" smtClean="0"/>
              <a:t>cex</a:t>
            </a:r>
            <a:r>
              <a:rPr lang="en-IN" dirty="0" smtClean="0"/>
              <a:t>=.8, col="red"),</a:t>
            </a:r>
          </a:p>
          <a:p>
            <a:r>
              <a:rPr lang="en-IN" dirty="0" smtClean="0"/>
              <a:t>       panel=</a:t>
            </a:r>
            <a:r>
              <a:rPr lang="en-IN" dirty="0" err="1" smtClean="0"/>
              <a:t>panel.smoother</a:t>
            </a:r>
            <a:r>
              <a:rPr lang="en-IN" dirty="0" smtClean="0"/>
              <a:t>,</a:t>
            </a:r>
          </a:p>
          <a:p>
            <a:r>
              <a:rPr lang="en-IN" dirty="0" smtClean="0"/>
              <a:t>       </a:t>
            </a:r>
            <a:r>
              <a:rPr lang="en-IN" dirty="0" err="1" smtClean="0"/>
              <a:t>xlab</a:t>
            </a:r>
            <a:r>
              <a:rPr lang="en-IN" dirty="0" smtClean="0"/>
              <a:t>="Weight", </a:t>
            </a:r>
            <a:r>
              <a:rPr lang="en-IN" dirty="0" err="1" smtClean="0"/>
              <a:t>ylab</a:t>
            </a:r>
            <a:r>
              <a:rPr lang="en-IN" dirty="0" smtClean="0"/>
              <a:t>="Miles per Gallon",</a:t>
            </a:r>
          </a:p>
          <a:p>
            <a:r>
              <a:rPr lang="en-IN" dirty="0" smtClean="0"/>
              <a:t>       main="MGP </a:t>
            </a:r>
            <a:r>
              <a:rPr lang="en-IN" dirty="0" err="1" smtClean="0"/>
              <a:t>vs</a:t>
            </a:r>
            <a:r>
              <a:rPr lang="en-IN" dirty="0" smtClean="0"/>
              <a:t> Weight by Horse Power")</a:t>
            </a:r>
            <a:endParaRPr lang="en-IN" dirty="0"/>
          </a:p>
        </p:txBody>
      </p:sp>
    </p:spTree>
    <p:extLst>
      <p:ext uri="{BB962C8B-B14F-4D97-AF65-F5344CB8AC3E}">
        <p14:creationId xmlns:p14="http://schemas.microsoft.com/office/powerpoint/2010/main" val="50120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7569"/>
            <a:ext cx="10515600" cy="5989394"/>
          </a:xfrm>
        </p:spPr>
        <p:txBody>
          <a:bodyPr>
            <a:normAutofit fontScale="25000" lnSpcReduction="20000"/>
          </a:bodyPr>
          <a:lstStyle/>
          <a:p>
            <a:r>
              <a:rPr lang="en-IN" dirty="0" smtClean="0"/>
              <a:t># Lattice Examples</a:t>
            </a:r>
          </a:p>
          <a:p>
            <a:r>
              <a:rPr lang="en-IN" dirty="0" smtClean="0"/>
              <a:t>library(lattice)</a:t>
            </a:r>
          </a:p>
          <a:p>
            <a:r>
              <a:rPr lang="en-IN" dirty="0" smtClean="0"/>
              <a:t>attach(</a:t>
            </a:r>
            <a:r>
              <a:rPr lang="en-IN" dirty="0" err="1" smtClean="0"/>
              <a:t>mtcars</a:t>
            </a:r>
            <a:r>
              <a:rPr lang="en-IN" dirty="0" smtClean="0"/>
              <a:t>)</a:t>
            </a:r>
          </a:p>
          <a:p>
            <a:endParaRPr lang="en-IN" dirty="0" smtClean="0"/>
          </a:p>
          <a:p>
            <a:r>
              <a:rPr lang="en-IN" dirty="0" smtClean="0"/>
              <a:t># create factors with value labels</a:t>
            </a:r>
          </a:p>
          <a:p>
            <a:r>
              <a:rPr lang="en-IN" dirty="0" err="1" smtClean="0"/>
              <a:t>gear.f</a:t>
            </a:r>
            <a:r>
              <a:rPr lang="en-IN" dirty="0" smtClean="0"/>
              <a:t>&lt;-factor(</a:t>
            </a:r>
            <a:r>
              <a:rPr lang="en-IN" dirty="0" err="1" smtClean="0"/>
              <a:t>gear,levels</a:t>
            </a:r>
            <a:r>
              <a:rPr lang="en-IN" dirty="0" smtClean="0"/>
              <a:t>=c(3,4,5),</a:t>
            </a:r>
          </a:p>
          <a:p>
            <a:r>
              <a:rPr lang="en-IN" dirty="0" smtClean="0"/>
              <a:t>   labels=c("3gears","4gears","5gears"))</a:t>
            </a:r>
          </a:p>
          <a:p>
            <a:r>
              <a:rPr lang="en-IN" dirty="0" err="1" smtClean="0"/>
              <a:t>cyl.f</a:t>
            </a:r>
            <a:r>
              <a:rPr lang="en-IN" dirty="0" smtClean="0"/>
              <a:t> &lt;-factor(</a:t>
            </a:r>
            <a:r>
              <a:rPr lang="en-IN" dirty="0" err="1" smtClean="0"/>
              <a:t>cyl,levels</a:t>
            </a:r>
            <a:r>
              <a:rPr lang="en-IN" dirty="0" smtClean="0"/>
              <a:t>=c(4,6,8),</a:t>
            </a:r>
          </a:p>
          <a:p>
            <a:r>
              <a:rPr lang="en-IN" dirty="0" smtClean="0"/>
              <a:t>   labels=c("4cyl","6cyl","8cyl"))</a:t>
            </a:r>
          </a:p>
          <a:p>
            <a:endParaRPr lang="en-IN" dirty="0" smtClean="0"/>
          </a:p>
          <a:p>
            <a:r>
              <a:rPr lang="en-IN" dirty="0" smtClean="0"/>
              <a:t># kernel density plot</a:t>
            </a:r>
          </a:p>
          <a:p>
            <a:r>
              <a:rPr lang="en-IN" dirty="0" err="1" smtClean="0"/>
              <a:t>densityplot</a:t>
            </a:r>
            <a:r>
              <a:rPr lang="en-IN" dirty="0" smtClean="0"/>
              <a:t>(~mpg,</a:t>
            </a:r>
          </a:p>
          <a:p>
            <a:r>
              <a:rPr lang="en-IN" dirty="0" smtClean="0"/>
              <a:t>   main="Density Plot",</a:t>
            </a:r>
          </a:p>
          <a:p>
            <a:r>
              <a:rPr lang="en-IN" dirty="0" smtClean="0"/>
              <a:t>   </a:t>
            </a:r>
            <a:r>
              <a:rPr lang="en-IN" dirty="0" err="1" smtClean="0"/>
              <a:t>xlab</a:t>
            </a:r>
            <a:r>
              <a:rPr lang="en-IN" dirty="0" smtClean="0"/>
              <a:t>="Miles per Gallon")</a:t>
            </a:r>
          </a:p>
          <a:p>
            <a:endParaRPr lang="en-IN" dirty="0" smtClean="0"/>
          </a:p>
          <a:p>
            <a:r>
              <a:rPr lang="en-IN" dirty="0" smtClean="0"/>
              <a:t># kernel density plots by factor level</a:t>
            </a:r>
          </a:p>
          <a:p>
            <a:r>
              <a:rPr lang="en-IN" dirty="0" err="1" smtClean="0"/>
              <a:t>densityplot</a:t>
            </a:r>
            <a:r>
              <a:rPr lang="en-IN" dirty="0" smtClean="0"/>
              <a:t>(~</a:t>
            </a:r>
            <a:r>
              <a:rPr lang="en-IN" dirty="0" err="1" smtClean="0"/>
              <a:t>mpg|cyl.f</a:t>
            </a:r>
            <a:r>
              <a:rPr lang="en-IN" dirty="0" smtClean="0"/>
              <a:t>,</a:t>
            </a:r>
          </a:p>
          <a:p>
            <a:r>
              <a:rPr lang="en-IN" dirty="0" smtClean="0"/>
              <a:t>   main="Density Plot by Number of Cylinders",</a:t>
            </a:r>
          </a:p>
          <a:p>
            <a:r>
              <a:rPr lang="en-IN" dirty="0" smtClean="0"/>
              <a:t>   </a:t>
            </a:r>
            <a:r>
              <a:rPr lang="en-IN" dirty="0" err="1" smtClean="0"/>
              <a:t>xlab</a:t>
            </a:r>
            <a:r>
              <a:rPr lang="en-IN" dirty="0" smtClean="0"/>
              <a:t>="Miles per Gallon")</a:t>
            </a:r>
          </a:p>
          <a:p>
            <a:endParaRPr lang="en-IN" dirty="0" smtClean="0"/>
          </a:p>
          <a:p>
            <a:r>
              <a:rPr lang="en-IN" dirty="0" smtClean="0"/>
              <a:t># kernel density plots by factor level (alternate layout)</a:t>
            </a:r>
          </a:p>
          <a:p>
            <a:r>
              <a:rPr lang="en-IN" dirty="0" err="1" smtClean="0"/>
              <a:t>densityplot</a:t>
            </a:r>
            <a:r>
              <a:rPr lang="en-IN" dirty="0" smtClean="0"/>
              <a:t>(~</a:t>
            </a:r>
            <a:r>
              <a:rPr lang="en-IN" dirty="0" err="1" smtClean="0"/>
              <a:t>mpg|cyl.f</a:t>
            </a:r>
            <a:r>
              <a:rPr lang="en-IN" dirty="0" smtClean="0"/>
              <a:t>,</a:t>
            </a:r>
          </a:p>
          <a:p>
            <a:r>
              <a:rPr lang="en-IN" dirty="0" smtClean="0"/>
              <a:t>   main="Density Plot by </a:t>
            </a:r>
            <a:r>
              <a:rPr lang="en-IN" dirty="0" err="1" smtClean="0"/>
              <a:t>Numer</a:t>
            </a:r>
            <a:r>
              <a:rPr lang="en-IN" dirty="0" smtClean="0"/>
              <a:t> of Cylinders",</a:t>
            </a:r>
          </a:p>
          <a:p>
            <a:r>
              <a:rPr lang="en-IN" dirty="0" smtClean="0"/>
              <a:t>   </a:t>
            </a:r>
            <a:r>
              <a:rPr lang="en-IN" dirty="0" err="1" smtClean="0"/>
              <a:t>xlab</a:t>
            </a:r>
            <a:r>
              <a:rPr lang="en-IN" dirty="0" smtClean="0"/>
              <a:t>="Miles per Gallon",</a:t>
            </a:r>
          </a:p>
          <a:p>
            <a:r>
              <a:rPr lang="en-IN" dirty="0" smtClean="0"/>
              <a:t>   layout=c(1,3))</a:t>
            </a:r>
          </a:p>
          <a:p>
            <a:endParaRPr lang="en-IN" dirty="0" smtClean="0"/>
          </a:p>
          <a:p>
            <a:r>
              <a:rPr lang="en-IN" dirty="0" smtClean="0"/>
              <a:t># boxplots for each combination of two factors</a:t>
            </a:r>
          </a:p>
          <a:p>
            <a:r>
              <a:rPr lang="en-IN" dirty="0" err="1" smtClean="0"/>
              <a:t>bwplot</a:t>
            </a:r>
            <a:r>
              <a:rPr lang="en-IN" dirty="0" smtClean="0"/>
              <a:t>(</a:t>
            </a:r>
            <a:r>
              <a:rPr lang="en-IN" dirty="0" err="1" smtClean="0"/>
              <a:t>cyl.f~mpg|gear.f</a:t>
            </a:r>
            <a:r>
              <a:rPr lang="en-IN" dirty="0" smtClean="0"/>
              <a:t>,</a:t>
            </a:r>
          </a:p>
          <a:p>
            <a:r>
              <a:rPr lang="en-IN" dirty="0" smtClean="0"/>
              <a:t>   </a:t>
            </a:r>
            <a:r>
              <a:rPr lang="en-IN" dirty="0" err="1" smtClean="0"/>
              <a:t>ylab</a:t>
            </a:r>
            <a:r>
              <a:rPr lang="en-IN" dirty="0" smtClean="0"/>
              <a:t>="Cylinders", </a:t>
            </a:r>
            <a:r>
              <a:rPr lang="en-IN" dirty="0" err="1" smtClean="0"/>
              <a:t>xlab</a:t>
            </a:r>
            <a:r>
              <a:rPr lang="en-IN" dirty="0" smtClean="0"/>
              <a:t>="Miles per Gallon",</a:t>
            </a:r>
          </a:p>
          <a:p>
            <a:r>
              <a:rPr lang="en-IN" dirty="0" smtClean="0"/>
              <a:t>   main="Mileage by Cylinders and Gears",</a:t>
            </a:r>
          </a:p>
          <a:p>
            <a:r>
              <a:rPr lang="en-IN" dirty="0" smtClean="0"/>
              <a:t>   layout=(c(1,3))</a:t>
            </a:r>
          </a:p>
          <a:p>
            <a:endParaRPr lang="en-IN" dirty="0" smtClean="0"/>
          </a:p>
          <a:p>
            <a:r>
              <a:rPr lang="en-IN" dirty="0" smtClean="0"/>
              <a:t># scatterplots for each combination of two factors</a:t>
            </a:r>
          </a:p>
          <a:p>
            <a:r>
              <a:rPr lang="en-IN" dirty="0" err="1" smtClean="0"/>
              <a:t>xyplot</a:t>
            </a:r>
            <a:r>
              <a:rPr lang="en-IN" dirty="0" smtClean="0"/>
              <a:t>(</a:t>
            </a:r>
            <a:r>
              <a:rPr lang="en-IN" dirty="0" err="1" smtClean="0"/>
              <a:t>mpg~wt|cyl.f</a:t>
            </a:r>
            <a:r>
              <a:rPr lang="en-IN" dirty="0" smtClean="0"/>
              <a:t>*</a:t>
            </a:r>
            <a:r>
              <a:rPr lang="en-IN" dirty="0" err="1" smtClean="0"/>
              <a:t>gear.f</a:t>
            </a:r>
            <a:r>
              <a:rPr lang="en-IN" dirty="0" smtClean="0"/>
              <a:t>,</a:t>
            </a:r>
          </a:p>
          <a:p>
            <a:r>
              <a:rPr lang="en-IN" dirty="0" smtClean="0"/>
              <a:t>   main="Scatterplots by Cylinders and Gears",</a:t>
            </a:r>
          </a:p>
          <a:p>
            <a:r>
              <a:rPr lang="en-IN" dirty="0" smtClean="0"/>
              <a:t>   </a:t>
            </a:r>
            <a:r>
              <a:rPr lang="en-IN" dirty="0" err="1" smtClean="0"/>
              <a:t>ylab</a:t>
            </a:r>
            <a:r>
              <a:rPr lang="en-IN" dirty="0" smtClean="0"/>
              <a:t>="Miles per Gallon", </a:t>
            </a:r>
            <a:r>
              <a:rPr lang="en-IN" dirty="0" err="1" smtClean="0"/>
              <a:t>xlab</a:t>
            </a:r>
            <a:r>
              <a:rPr lang="en-IN" dirty="0" smtClean="0"/>
              <a:t>="Car Weight")</a:t>
            </a:r>
          </a:p>
          <a:p>
            <a:endParaRPr lang="en-IN" dirty="0" smtClean="0"/>
          </a:p>
          <a:p>
            <a:r>
              <a:rPr lang="en-IN" dirty="0" smtClean="0"/>
              <a:t># 3d scatterplot by factor level</a:t>
            </a:r>
          </a:p>
          <a:p>
            <a:r>
              <a:rPr lang="en-IN" dirty="0" smtClean="0"/>
              <a:t>cloud(</a:t>
            </a:r>
            <a:r>
              <a:rPr lang="en-IN" dirty="0" err="1" smtClean="0"/>
              <a:t>mpg~wt</a:t>
            </a:r>
            <a:r>
              <a:rPr lang="en-IN" dirty="0" smtClean="0"/>
              <a:t>*</a:t>
            </a:r>
            <a:r>
              <a:rPr lang="en-IN" dirty="0" err="1" smtClean="0"/>
              <a:t>qsec|cyl.f</a:t>
            </a:r>
            <a:r>
              <a:rPr lang="en-IN" dirty="0" smtClean="0"/>
              <a:t>,</a:t>
            </a:r>
          </a:p>
          <a:p>
            <a:r>
              <a:rPr lang="en-IN" dirty="0" smtClean="0"/>
              <a:t>   main="3D Scatterplot by Cylinders")</a:t>
            </a:r>
          </a:p>
          <a:p>
            <a:endParaRPr lang="en-IN" dirty="0" smtClean="0"/>
          </a:p>
          <a:p>
            <a:r>
              <a:rPr lang="en-IN" dirty="0" smtClean="0"/>
              <a:t># </a:t>
            </a:r>
            <a:r>
              <a:rPr lang="en-IN" dirty="0" err="1" smtClean="0"/>
              <a:t>dotplot</a:t>
            </a:r>
            <a:r>
              <a:rPr lang="en-IN" dirty="0" smtClean="0"/>
              <a:t> for each combination of two factors</a:t>
            </a:r>
          </a:p>
          <a:p>
            <a:r>
              <a:rPr lang="en-IN" dirty="0" err="1" smtClean="0"/>
              <a:t>dotplot</a:t>
            </a:r>
            <a:r>
              <a:rPr lang="en-IN" dirty="0" smtClean="0"/>
              <a:t>(</a:t>
            </a:r>
            <a:r>
              <a:rPr lang="en-IN" dirty="0" err="1" smtClean="0"/>
              <a:t>cyl.f~mpg|gear.f</a:t>
            </a:r>
            <a:r>
              <a:rPr lang="en-IN" dirty="0" smtClean="0"/>
              <a:t>,</a:t>
            </a:r>
          </a:p>
          <a:p>
            <a:r>
              <a:rPr lang="en-IN" dirty="0" smtClean="0"/>
              <a:t>   main="</a:t>
            </a:r>
            <a:r>
              <a:rPr lang="en-IN" dirty="0" err="1" smtClean="0"/>
              <a:t>Dotplot</a:t>
            </a:r>
            <a:r>
              <a:rPr lang="en-IN" dirty="0" smtClean="0"/>
              <a:t> Plot by Number of Gears and Cylinders",</a:t>
            </a:r>
          </a:p>
          <a:p>
            <a:r>
              <a:rPr lang="en-IN" dirty="0" smtClean="0"/>
              <a:t>   </a:t>
            </a:r>
            <a:r>
              <a:rPr lang="en-IN" dirty="0" err="1" smtClean="0"/>
              <a:t>xlab</a:t>
            </a:r>
            <a:r>
              <a:rPr lang="en-IN" dirty="0" smtClean="0"/>
              <a:t>="Miles Per Gallon")</a:t>
            </a:r>
          </a:p>
          <a:p>
            <a:endParaRPr lang="en-IN" dirty="0" smtClean="0"/>
          </a:p>
          <a:p>
            <a:r>
              <a:rPr lang="en-IN" dirty="0" smtClean="0"/>
              <a:t># scatterplot matrix</a:t>
            </a:r>
          </a:p>
          <a:p>
            <a:r>
              <a:rPr lang="en-IN" dirty="0" err="1" smtClean="0"/>
              <a:t>splom</a:t>
            </a:r>
            <a:r>
              <a:rPr lang="en-IN" dirty="0" smtClean="0"/>
              <a:t>(</a:t>
            </a:r>
            <a:r>
              <a:rPr lang="en-IN" dirty="0" err="1" smtClean="0"/>
              <a:t>mtcars</a:t>
            </a:r>
            <a:r>
              <a:rPr lang="en-IN" dirty="0" smtClean="0"/>
              <a:t>[c(1,3,4,5,6)],</a:t>
            </a:r>
          </a:p>
          <a:p>
            <a:r>
              <a:rPr lang="en-IN" dirty="0" smtClean="0"/>
              <a:t>   main="MTCARS Data")</a:t>
            </a:r>
            <a:endParaRPr lang="en-IN" dirty="0"/>
          </a:p>
        </p:txBody>
      </p:sp>
    </p:spTree>
    <p:extLst>
      <p:ext uri="{BB962C8B-B14F-4D97-AF65-F5344CB8AC3E}">
        <p14:creationId xmlns:p14="http://schemas.microsoft.com/office/powerpoint/2010/main" val="4186362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3431" y="172671"/>
            <a:ext cx="10515600" cy="4351338"/>
          </a:xfrm>
        </p:spPr>
        <p:txBody>
          <a:bodyPr>
            <a:normAutofit fontScale="47500" lnSpcReduction="20000"/>
          </a:bodyPr>
          <a:lstStyle/>
          <a:p>
            <a:r>
              <a:rPr lang="en-US" dirty="0" smtClean="0"/>
              <a:t>ggplot2 package in R Programming Language also termed as Grammar of Graphics is a free, open-source, and easy-to-use </a:t>
            </a:r>
            <a:r>
              <a:rPr lang="en-US" sz="3600" dirty="0" smtClean="0"/>
              <a:t>visualization package widely used in R. It is the most powerful visualization package written by Hadley Wickham.</a:t>
            </a:r>
          </a:p>
          <a:p>
            <a:endParaRPr lang="en-US" sz="3600" dirty="0" smtClean="0"/>
          </a:p>
          <a:p>
            <a:r>
              <a:rPr lang="en-US" sz="3600" dirty="0" smtClean="0"/>
              <a:t>It includes several layers on which it is governed. The layers are as follows:</a:t>
            </a:r>
          </a:p>
          <a:p>
            <a:endParaRPr lang="en-US" sz="3600" dirty="0" smtClean="0"/>
          </a:p>
          <a:p>
            <a:r>
              <a:rPr lang="en-US" sz="3600" dirty="0" smtClean="0"/>
              <a:t>Building Blocks of layers with the grammar of graphics</a:t>
            </a:r>
          </a:p>
          <a:p>
            <a:r>
              <a:rPr lang="en-US" sz="3600" dirty="0" smtClean="0"/>
              <a:t>Data: The element is the data set itself</a:t>
            </a:r>
          </a:p>
          <a:p>
            <a:r>
              <a:rPr lang="en-US" sz="3600" dirty="0" smtClean="0"/>
              <a:t>Aesthetics: The data is to map onto the Aesthetics attributes such as x-axis, y-axis, color, fill, size, labels, alpha, shape, line width, line type</a:t>
            </a:r>
          </a:p>
          <a:p>
            <a:r>
              <a:rPr lang="en-US" sz="3600" dirty="0" smtClean="0"/>
              <a:t>Geometrics: How our data being displayed using point, line, histogram, bar, boxplot</a:t>
            </a:r>
          </a:p>
          <a:p>
            <a:r>
              <a:rPr lang="en-US" sz="3600" dirty="0" smtClean="0"/>
              <a:t>Facets: It displays the subset of the data using Columns and rows</a:t>
            </a:r>
          </a:p>
          <a:p>
            <a:r>
              <a:rPr lang="en-US" sz="3600" dirty="0" smtClean="0"/>
              <a:t>Statistics: Binning, smoothing, descriptive, intermediate</a:t>
            </a:r>
          </a:p>
          <a:p>
            <a:r>
              <a:rPr lang="en-US" sz="3600" dirty="0" smtClean="0"/>
              <a:t>Coordinates: the space between data and display using Cartesian, fixed, polar, limits</a:t>
            </a:r>
          </a:p>
          <a:p>
            <a:r>
              <a:rPr lang="en-US" sz="3600" dirty="0" smtClean="0"/>
              <a:t>Themes: Non-data link</a:t>
            </a:r>
            <a:endParaRPr lang="en-IN" sz="3600" dirty="0"/>
          </a:p>
        </p:txBody>
      </p:sp>
      <p:pic>
        <p:nvPicPr>
          <p:cNvPr id="11266" name="Picture 2" descr="https://media.geeksforgeeks.org/wp-content/uploads/20211207130952/NikhilImageedit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28185" y="3458307"/>
            <a:ext cx="3865927" cy="3132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0255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smtClean="0"/>
              <a:t>https://www.geeksforgeeks.org/data-visualization-with-r-and-ggplot2/</a:t>
            </a:r>
            <a:endParaRPr lang="en-IN"/>
          </a:p>
        </p:txBody>
      </p:sp>
    </p:spTree>
    <p:extLst>
      <p:ext uri="{BB962C8B-B14F-4D97-AF65-F5344CB8AC3E}">
        <p14:creationId xmlns:p14="http://schemas.microsoft.com/office/powerpoint/2010/main" val="2712756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50985"/>
            <a:ext cx="10515600" cy="5625978"/>
          </a:xfrm>
        </p:spPr>
        <p:txBody>
          <a:bodyPr>
            <a:normAutofit/>
          </a:bodyPr>
          <a:lstStyle/>
          <a:p>
            <a:r>
              <a:rPr lang="en-US" dirty="0" smtClean="0"/>
              <a:t>Regression analysis is a statistical tool to estimate the relationship between two or more variables. There is always one response variable and one or more predictor variables. Regression analysis is widely used to fit the data accordingly and further, predicting the data for forecasting.</a:t>
            </a:r>
          </a:p>
          <a:p>
            <a:pPr fontAlgn="base"/>
            <a:r>
              <a:rPr lang="en-US" b="1" dirty="0"/>
              <a:t>Types of Regression in R</a:t>
            </a:r>
          </a:p>
          <a:p>
            <a:pPr fontAlgn="base"/>
            <a:r>
              <a:rPr lang="en-US" dirty="0"/>
              <a:t>There are mainly three types of Regression in R programming that is widely used. They are: </a:t>
            </a:r>
          </a:p>
          <a:p>
            <a:pPr fontAlgn="base"/>
            <a:r>
              <a:rPr lang="en-US" dirty="0">
                <a:hlinkClick r:id="rId2"/>
              </a:rPr>
              <a:t>Linear Regression</a:t>
            </a:r>
            <a:endParaRPr lang="en-US" dirty="0"/>
          </a:p>
          <a:p>
            <a:pPr fontAlgn="base"/>
            <a:r>
              <a:rPr lang="en-US" dirty="0">
                <a:hlinkClick r:id="rId3"/>
              </a:rPr>
              <a:t>Multiple Regression</a:t>
            </a:r>
            <a:endParaRPr lang="en-US" dirty="0"/>
          </a:p>
          <a:p>
            <a:pPr fontAlgn="base"/>
            <a:r>
              <a:rPr lang="en-US" dirty="0">
                <a:hlinkClick r:id="rId4"/>
              </a:rPr>
              <a:t>Logistic Regression</a:t>
            </a:r>
            <a:endParaRPr lang="en-US" dirty="0"/>
          </a:p>
          <a:p>
            <a:endParaRPr lang="en-US" dirty="0" smtClean="0"/>
          </a:p>
          <a:p>
            <a:endParaRPr lang="en-IN" dirty="0"/>
          </a:p>
        </p:txBody>
      </p:sp>
    </p:spTree>
    <p:extLst>
      <p:ext uri="{BB962C8B-B14F-4D97-AF65-F5344CB8AC3E}">
        <p14:creationId xmlns:p14="http://schemas.microsoft.com/office/powerpoint/2010/main" val="650322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6906" y="364294"/>
            <a:ext cx="10515600" cy="6292880"/>
          </a:xfrm>
        </p:spPr>
        <p:txBody>
          <a:bodyPr>
            <a:normAutofit fontScale="92500" lnSpcReduction="10000"/>
          </a:bodyPr>
          <a:lstStyle/>
          <a:p>
            <a:r>
              <a:rPr lang="en-US" dirty="0" smtClean="0"/>
              <a:t>Linear Regression</a:t>
            </a:r>
          </a:p>
          <a:p>
            <a:r>
              <a:rPr lang="en-US" dirty="0" smtClean="0"/>
              <a:t>In </a:t>
            </a:r>
            <a:r>
              <a:rPr lang="en-US" dirty="0" smtClean="0"/>
              <a:t>linear regression, the relationship is estimated between two variables i.e., one response variable and one predictor variable. Linear regression produces a straight line on the graph. Mathematically</a:t>
            </a:r>
          </a:p>
          <a:p>
            <a:r>
              <a:rPr lang="en-US" dirty="0" smtClean="0"/>
              <a:t>y </a:t>
            </a:r>
            <a:r>
              <a:rPr lang="en-US" dirty="0" smtClean="0"/>
              <a:t>= ax + b  </a:t>
            </a:r>
          </a:p>
          <a:p>
            <a:pPr fontAlgn="base"/>
            <a:r>
              <a:rPr lang="en-US" dirty="0" smtClean="0"/>
              <a:t> </a:t>
            </a:r>
            <a:r>
              <a:rPr lang="en-US" b="1" i="1" dirty="0"/>
              <a:t>x</a:t>
            </a:r>
            <a:r>
              <a:rPr lang="en-US" i="1" dirty="0"/>
              <a:t> indicates predictor or independent variable</a:t>
            </a:r>
          </a:p>
          <a:p>
            <a:pPr fontAlgn="base"/>
            <a:r>
              <a:rPr lang="en-US" b="1" i="1" dirty="0"/>
              <a:t>y</a:t>
            </a:r>
            <a:r>
              <a:rPr lang="en-US" i="1" dirty="0"/>
              <a:t> indicates response or dependent variable</a:t>
            </a:r>
          </a:p>
          <a:p>
            <a:pPr fontAlgn="base"/>
            <a:r>
              <a:rPr lang="en-US" b="1" i="1" dirty="0"/>
              <a:t>a</a:t>
            </a:r>
            <a:r>
              <a:rPr lang="en-US" i="1" dirty="0"/>
              <a:t> and </a:t>
            </a:r>
            <a:r>
              <a:rPr lang="en-US" b="1" i="1" dirty="0"/>
              <a:t>b</a:t>
            </a:r>
            <a:r>
              <a:rPr lang="en-US" i="1" dirty="0"/>
              <a:t> are </a:t>
            </a:r>
            <a:r>
              <a:rPr lang="en-US" i="1" dirty="0" smtClean="0"/>
              <a:t>coefficients</a:t>
            </a:r>
          </a:p>
          <a:p>
            <a:pPr fontAlgn="base"/>
            <a:r>
              <a:rPr lang="en-US" i="1" dirty="0" smtClean="0"/>
              <a:t>In R programming, lm() function is used to create linear regression model. </a:t>
            </a:r>
          </a:p>
          <a:p>
            <a:pPr fontAlgn="base"/>
            <a:endParaRPr lang="en-US" i="1" dirty="0" smtClean="0"/>
          </a:p>
          <a:p>
            <a:pPr fontAlgn="base"/>
            <a:r>
              <a:rPr lang="en-US" i="1" dirty="0" smtClean="0"/>
              <a:t>Syntax: lm(formula)</a:t>
            </a:r>
          </a:p>
          <a:p>
            <a:pPr fontAlgn="base"/>
            <a:r>
              <a:rPr lang="en-US" i="1" dirty="0" smtClean="0"/>
              <a:t>Parameter: </a:t>
            </a:r>
          </a:p>
          <a:p>
            <a:pPr fontAlgn="base"/>
            <a:r>
              <a:rPr lang="en-US" i="1" dirty="0" smtClean="0"/>
              <a:t>formula: represents the formula on which data has to be fitted To know about more optional parameters, use below command in console: help(“lm”) </a:t>
            </a:r>
          </a:p>
          <a:p>
            <a:pPr fontAlgn="base"/>
            <a:endParaRPr lang="en-US" i="1" dirty="0"/>
          </a:p>
          <a:p>
            <a:endParaRPr lang="en-IN" dirty="0"/>
          </a:p>
        </p:txBody>
      </p:sp>
    </p:spTree>
    <p:extLst>
      <p:ext uri="{BB962C8B-B14F-4D97-AF65-F5344CB8AC3E}">
        <p14:creationId xmlns:p14="http://schemas.microsoft.com/office/powerpoint/2010/main" val="18334242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3459" y="0"/>
            <a:ext cx="10515600" cy="4351338"/>
          </a:xfrm>
        </p:spPr>
        <p:txBody>
          <a:bodyPr>
            <a:noAutofit/>
          </a:bodyPr>
          <a:lstStyle/>
          <a:p>
            <a:r>
              <a:rPr lang="en-IN" sz="1600" dirty="0" smtClean="0"/>
              <a:t># Height vector</a:t>
            </a:r>
          </a:p>
          <a:p>
            <a:r>
              <a:rPr lang="en-IN" sz="1600" dirty="0" smtClean="0"/>
              <a:t>x &lt;- c(153, 169, 140, 186, 128,</a:t>
            </a:r>
          </a:p>
          <a:p>
            <a:r>
              <a:rPr lang="en-IN" sz="1600" dirty="0" smtClean="0"/>
              <a:t>       136, 178, 163, 152, 133)</a:t>
            </a:r>
          </a:p>
          <a:p>
            <a:r>
              <a:rPr lang="en-IN" sz="1600" dirty="0" smtClean="0"/>
              <a:t># Weight vector</a:t>
            </a:r>
          </a:p>
          <a:p>
            <a:r>
              <a:rPr lang="en-IN" sz="1600" dirty="0" smtClean="0"/>
              <a:t>y &lt;- c(64, 81, 58, 91, 47, 57,</a:t>
            </a:r>
          </a:p>
          <a:p>
            <a:r>
              <a:rPr lang="en-IN" sz="1600" dirty="0" smtClean="0"/>
              <a:t>       75, 72, 62, 49)</a:t>
            </a:r>
          </a:p>
          <a:p>
            <a:r>
              <a:rPr lang="en-IN" sz="1600" dirty="0" smtClean="0"/>
              <a:t>#create a linear regression model</a:t>
            </a:r>
          </a:p>
          <a:p>
            <a:r>
              <a:rPr lang="en-IN" sz="1600" dirty="0" smtClean="0"/>
              <a:t>model &lt;- lm(</a:t>
            </a:r>
            <a:r>
              <a:rPr lang="en-IN" sz="1600" dirty="0" err="1" smtClean="0"/>
              <a:t>y~x</a:t>
            </a:r>
            <a:r>
              <a:rPr lang="en-IN" sz="1600" dirty="0" smtClean="0"/>
              <a:t>)</a:t>
            </a:r>
          </a:p>
          <a:p>
            <a:r>
              <a:rPr lang="en-IN" sz="1600" dirty="0" smtClean="0"/>
              <a:t> # Print regression model</a:t>
            </a:r>
          </a:p>
          <a:p>
            <a:r>
              <a:rPr lang="en-IN" sz="1600" dirty="0" smtClean="0"/>
              <a:t>print(model)</a:t>
            </a:r>
          </a:p>
          <a:p>
            <a:r>
              <a:rPr lang="en-IN" sz="1600" dirty="0" smtClean="0"/>
              <a:t> # Find the weight of a person</a:t>
            </a:r>
          </a:p>
          <a:p>
            <a:r>
              <a:rPr lang="en-IN" sz="1600" dirty="0" smtClean="0"/>
              <a:t># With height 182</a:t>
            </a:r>
          </a:p>
          <a:p>
            <a:r>
              <a:rPr lang="en-IN" sz="1600" dirty="0" err="1" smtClean="0"/>
              <a:t>df</a:t>
            </a:r>
            <a:r>
              <a:rPr lang="en-IN" sz="1600" dirty="0" smtClean="0"/>
              <a:t> &lt;- </a:t>
            </a:r>
            <a:r>
              <a:rPr lang="en-IN" sz="1600" dirty="0" err="1" smtClean="0"/>
              <a:t>data.frame</a:t>
            </a:r>
            <a:r>
              <a:rPr lang="en-IN" sz="1600" dirty="0" smtClean="0"/>
              <a:t>(x = 182)</a:t>
            </a:r>
          </a:p>
          <a:p>
            <a:r>
              <a:rPr lang="en-IN" sz="1600" dirty="0" smtClean="0"/>
              <a:t>res &lt;-  predict(model, </a:t>
            </a:r>
            <a:r>
              <a:rPr lang="en-IN" sz="1600" dirty="0" err="1" smtClean="0"/>
              <a:t>df</a:t>
            </a:r>
            <a:r>
              <a:rPr lang="en-IN" sz="1600" dirty="0" smtClean="0"/>
              <a:t>)</a:t>
            </a:r>
          </a:p>
          <a:p>
            <a:r>
              <a:rPr lang="en-IN" sz="1600" dirty="0" smtClean="0"/>
              <a:t>cat("\</a:t>
            </a:r>
            <a:r>
              <a:rPr lang="en-IN" sz="1600" dirty="0" err="1" smtClean="0"/>
              <a:t>nPredicted</a:t>
            </a:r>
            <a:r>
              <a:rPr lang="en-IN" sz="1600" dirty="0" smtClean="0"/>
              <a:t> value of a person    with height = 182")</a:t>
            </a:r>
          </a:p>
          <a:p>
            <a:r>
              <a:rPr lang="en-IN" sz="1600" dirty="0" smtClean="0"/>
              <a:t>print(res)</a:t>
            </a:r>
          </a:p>
          <a:p>
            <a:r>
              <a:rPr lang="en-IN" sz="1600" dirty="0" smtClean="0"/>
              <a:t> # Output to be present as PNG file</a:t>
            </a:r>
          </a:p>
          <a:p>
            <a:r>
              <a:rPr lang="en-IN" sz="1600" dirty="0" err="1" smtClean="0"/>
              <a:t>png</a:t>
            </a:r>
            <a:r>
              <a:rPr lang="en-IN" sz="1600" dirty="0" smtClean="0"/>
              <a:t>(file = "linearRegGFG.png")</a:t>
            </a:r>
          </a:p>
          <a:p>
            <a:r>
              <a:rPr lang="en-IN" sz="1600" dirty="0" smtClean="0"/>
              <a:t> # Plot</a:t>
            </a:r>
          </a:p>
          <a:p>
            <a:r>
              <a:rPr lang="en-IN" sz="1600" dirty="0" smtClean="0"/>
              <a:t>plot(x, y, main = "Height </a:t>
            </a:r>
            <a:r>
              <a:rPr lang="en-IN" sz="1600" dirty="0" err="1" smtClean="0"/>
              <a:t>vs</a:t>
            </a:r>
            <a:r>
              <a:rPr lang="en-IN" sz="1600" dirty="0" smtClean="0"/>
              <a:t> Weight     Regression model")</a:t>
            </a:r>
          </a:p>
          <a:p>
            <a:r>
              <a:rPr lang="en-IN" sz="1600" dirty="0" err="1" smtClean="0"/>
              <a:t>abline</a:t>
            </a:r>
            <a:r>
              <a:rPr lang="en-IN" sz="1600" dirty="0" smtClean="0"/>
              <a:t>(lm(</a:t>
            </a:r>
            <a:r>
              <a:rPr lang="en-IN" sz="1600" dirty="0" err="1" smtClean="0"/>
              <a:t>y~x</a:t>
            </a:r>
            <a:r>
              <a:rPr lang="en-IN" sz="1600" dirty="0" smtClean="0"/>
              <a:t>))</a:t>
            </a:r>
          </a:p>
          <a:p>
            <a:r>
              <a:rPr lang="en-IN" sz="1600" dirty="0" smtClean="0"/>
              <a:t> # Save the file.</a:t>
            </a:r>
          </a:p>
          <a:p>
            <a:r>
              <a:rPr lang="en-IN" sz="1600" dirty="0" err="1" smtClean="0"/>
              <a:t>dev.off</a:t>
            </a:r>
            <a:r>
              <a:rPr lang="en-IN" sz="1600" dirty="0" smtClean="0"/>
              <a:t>()</a:t>
            </a:r>
            <a:endParaRPr lang="en-IN" sz="1600" dirty="0"/>
          </a:p>
        </p:txBody>
      </p:sp>
    </p:spTree>
    <p:extLst>
      <p:ext uri="{BB962C8B-B14F-4D97-AF65-F5344CB8AC3E}">
        <p14:creationId xmlns:p14="http://schemas.microsoft.com/office/powerpoint/2010/main" val="14962177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output-graph"/>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20331" y="1825625"/>
            <a:ext cx="4351338" cy="435133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a:spLocks noChangeArrowheads="1"/>
          </p:cNvSpPr>
          <p:nvPr/>
        </p:nvSpPr>
        <p:spPr bwMode="auto">
          <a:xfrm>
            <a:off x="213644" y="290362"/>
            <a:ext cx="7675178" cy="987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273239"/>
                </a:solidFill>
                <a:effectLst/>
                <a:latin typeface="Consolas" panose="020B0609020204030204" pitchFamily="49" charset="0"/>
              </a:rPr>
              <a:t>Call: lm(formula = y ~ x)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273239"/>
                </a:solidFill>
                <a:effectLst/>
                <a:latin typeface="Consolas" panose="020B0609020204030204" pitchFamily="49" charset="0"/>
              </a:rPr>
              <a:t>Coefficients: (Intercept) x -39.7137 0.6847 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err="1" smtClean="0">
                <a:ln>
                  <a:noFill/>
                </a:ln>
                <a:solidFill>
                  <a:srgbClr val="273239"/>
                </a:solidFill>
                <a:effectLst/>
                <a:latin typeface="Consolas" panose="020B0609020204030204" pitchFamily="49" charset="0"/>
              </a:rPr>
              <a:t>redicted</a:t>
            </a:r>
            <a:r>
              <a:rPr kumimoji="0" lang="en-US" sz="2000" b="0" i="0" u="none" strike="noStrike" cap="none" normalizeH="0" baseline="0" dirty="0" smtClean="0">
                <a:ln>
                  <a:noFill/>
                </a:ln>
                <a:solidFill>
                  <a:srgbClr val="273239"/>
                </a:solidFill>
                <a:effectLst/>
                <a:latin typeface="Consolas" panose="020B0609020204030204" pitchFamily="49" charset="0"/>
              </a:rPr>
              <a:t> value of a person with height = 182 1 84.9098</a:t>
            </a:r>
            <a:r>
              <a:rPr kumimoji="0" lang="en-US" sz="2000" b="0" i="0" u="none" strike="noStrike" cap="none" normalizeH="0" baseline="0" dirty="0" smtClean="0">
                <a:ln>
                  <a:noFill/>
                </a:ln>
                <a:solidFill>
                  <a:schemeClr val="tx1"/>
                </a:solidFill>
                <a:effectLst/>
              </a:rPr>
              <a:t> </a:t>
            </a:r>
            <a:endParaRPr kumimoji="0" lang="en-US" sz="2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349583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2369"/>
            <a:ext cx="10515600" cy="6669332"/>
          </a:xfrm>
        </p:spPr>
        <p:txBody>
          <a:bodyPr>
            <a:normAutofit/>
          </a:bodyPr>
          <a:lstStyle/>
          <a:p>
            <a:r>
              <a:rPr lang="en-US" dirty="0" smtClean="0"/>
              <a:t>Multiple Regression</a:t>
            </a:r>
          </a:p>
          <a:p>
            <a:r>
              <a:rPr lang="en-US" dirty="0" smtClean="0"/>
              <a:t>Multiple regression is another type of regression analysis technique that is an extension of the linear regression model as it uses more than one predictor variables to create the model. Mathematically, </a:t>
            </a:r>
          </a:p>
          <a:p>
            <a:endParaRPr lang="en-US" dirty="0" smtClean="0"/>
          </a:p>
          <a:p>
            <a:r>
              <a:rPr lang="en-US" dirty="0" smtClean="0"/>
              <a:t>y = a + x_1 * b_1 + x_2 * b_2 + ..... + </a:t>
            </a:r>
            <a:r>
              <a:rPr lang="en-US" dirty="0" err="1" smtClean="0"/>
              <a:t>x_n</a:t>
            </a:r>
            <a:r>
              <a:rPr lang="en-US" dirty="0" smtClean="0"/>
              <a:t> * </a:t>
            </a:r>
            <a:r>
              <a:rPr lang="en-US" dirty="0" err="1" smtClean="0"/>
              <a:t>b_n</a:t>
            </a:r>
            <a:r>
              <a:rPr lang="en-US" dirty="0" smtClean="0"/>
              <a:t>  </a:t>
            </a:r>
          </a:p>
          <a:p>
            <a:pPr marL="0" indent="0">
              <a:buNone/>
            </a:pPr>
            <a:r>
              <a:rPr lang="en-US" dirty="0" smtClean="0"/>
              <a:t> </a:t>
            </a:r>
          </a:p>
          <a:p>
            <a:r>
              <a:rPr lang="en-US" dirty="0" smtClean="0"/>
              <a:t>Multiple </a:t>
            </a:r>
            <a:r>
              <a:rPr lang="en-US" dirty="0" smtClean="0"/>
              <a:t>regression in R programming uses the same lm() function to create the model. </a:t>
            </a:r>
          </a:p>
          <a:p>
            <a:endParaRPr lang="en-US" dirty="0" smtClean="0"/>
          </a:p>
          <a:p>
            <a:r>
              <a:rPr lang="en-US" dirty="0" smtClean="0"/>
              <a:t>Syntax: lm(formula, data)</a:t>
            </a:r>
          </a:p>
          <a:p>
            <a:pPr fontAlgn="base"/>
            <a:r>
              <a:rPr lang="en-US" b="1" i="1" dirty="0" smtClean="0"/>
              <a:t>formula</a:t>
            </a:r>
            <a:r>
              <a:rPr lang="en-US" b="1" i="1" dirty="0"/>
              <a:t>:</a:t>
            </a:r>
            <a:r>
              <a:rPr lang="en-US" i="1" dirty="0"/>
              <a:t> represents the formula on which data has to be fitted</a:t>
            </a:r>
          </a:p>
          <a:p>
            <a:pPr fontAlgn="base"/>
            <a:r>
              <a:rPr lang="en-US" b="1" i="1" dirty="0"/>
              <a:t>data:</a:t>
            </a:r>
            <a:r>
              <a:rPr lang="en-US" i="1" dirty="0"/>
              <a:t> represents </a:t>
            </a:r>
            <a:r>
              <a:rPr lang="en-US" i="1" dirty="0" err="1"/>
              <a:t>dataframe</a:t>
            </a:r>
            <a:r>
              <a:rPr lang="en-US" i="1" dirty="0"/>
              <a:t> on which formula has to be applied</a:t>
            </a:r>
          </a:p>
          <a:p>
            <a:endParaRPr lang="en-IN" dirty="0"/>
          </a:p>
        </p:txBody>
      </p:sp>
    </p:spTree>
    <p:extLst>
      <p:ext uri="{BB962C8B-B14F-4D97-AF65-F5344CB8AC3E}">
        <p14:creationId xmlns:p14="http://schemas.microsoft.com/office/powerpoint/2010/main" val="16337888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0661" y="301624"/>
            <a:ext cx="10515600" cy="6251575"/>
          </a:xfrm>
        </p:spPr>
        <p:txBody>
          <a:bodyPr>
            <a:normAutofit fontScale="25000" lnSpcReduction="20000"/>
          </a:bodyPr>
          <a:lstStyle/>
          <a:p>
            <a:r>
              <a:rPr lang="en-IN" dirty="0" smtClean="0"/>
              <a:t>Example: Let us create a multiple regression model of air quality dataset present in R base package and plot the model on the graph. </a:t>
            </a:r>
          </a:p>
          <a:p>
            <a:endParaRPr lang="en-IN" dirty="0" smtClean="0"/>
          </a:p>
          <a:p>
            <a:r>
              <a:rPr lang="en-IN" dirty="0" smtClean="0"/>
              <a:t># R program to illustrate</a:t>
            </a:r>
          </a:p>
          <a:p>
            <a:r>
              <a:rPr lang="en-IN" dirty="0" smtClean="0"/>
              <a:t># Multiple Linear Regression</a:t>
            </a:r>
          </a:p>
          <a:p>
            <a:r>
              <a:rPr lang="en-IN" dirty="0" smtClean="0"/>
              <a:t> </a:t>
            </a:r>
          </a:p>
          <a:p>
            <a:r>
              <a:rPr lang="en-IN" dirty="0" smtClean="0"/>
              <a:t># Using </a:t>
            </a:r>
            <a:r>
              <a:rPr lang="en-IN" dirty="0" err="1" smtClean="0"/>
              <a:t>airquality</a:t>
            </a:r>
            <a:r>
              <a:rPr lang="en-IN" dirty="0" smtClean="0"/>
              <a:t> dataset</a:t>
            </a:r>
          </a:p>
          <a:p>
            <a:r>
              <a:rPr lang="en-IN" dirty="0" smtClean="0"/>
              <a:t>input &lt;- </a:t>
            </a:r>
            <a:r>
              <a:rPr lang="en-IN" dirty="0" err="1" smtClean="0"/>
              <a:t>airquality</a:t>
            </a:r>
            <a:r>
              <a:rPr lang="en-IN" dirty="0" smtClean="0"/>
              <a:t>[1:50,</a:t>
            </a:r>
          </a:p>
          <a:p>
            <a:r>
              <a:rPr lang="en-IN" dirty="0" smtClean="0"/>
              <a:t>         c("Ozone", "Wind", "Temp")]</a:t>
            </a:r>
          </a:p>
          <a:p>
            <a:r>
              <a:rPr lang="en-IN" dirty="0" smtClean="0"/>
              <a:t> </a:t>
            </a:r>
          </a:p>
          <a:p>
            <a:r>
              <a:rPr lang="en-IN" dirty="0" smtClean="0"/>
              <a:t># Create regression model</a:t>
            </a:r>
          </a:p>
          <a:p>
            <a:r>
              <a:rPr lang="en-IN" dirty="0" smtClean="0"/>
              <a:t>model &lt;- lm(</a:t>
            </a:r>
            <a:r>
              <a:rPr lang="en-IN" dirty="0" err="1" smtClean="0"/>
              <a:t>Ozone~Wind</a:t>
            </a:r>
            <a:r>
              <a:rPr lang="en-IN" dirty="0" smtClean="0"/>
              <a:t> + Temp,</a:t>
            </a:r>
          </a:p>
          <a:p>
            <a:r>
              <a:rPr lang="en-IN" dirty="0" smtClean="0"/>
              <a:t>            data = input)</a:t>
            </a:r>
          </a:p>
          <a:p>
            <a:r>
              <a:rPr lang="en-IN" dirty="0" smtClean="0"/>
              <a:t> </a:t>
            </a:r>
          </a:p>
          <a:p>
            <a:r>
              <a:rPr lang="en-IN" dirty="0" smtClean="0"/>
              <a:t># Print the regression model</a:t>
            </a:r>
          </a:p>
          <a:p>
            <a:r>
              <a:rPr lang="en-IN" dirty="0" smtClean="0"/>
              <a:t>cat("Regression model:\n")</a:t>
            </a:r>
          </a:p>
          <a:p>
            <a:r>
              <a:rPr lang="en-IN" dirty="0" smtClean="0"/>
              <a:t>print(model)</a:t>
            </a:r>
          </a:p>
          <a:p>
            <a:r>
              <a:rPr lang="en-IN" dirty="0" smtClean="0"/>
              <a:t> </a:t>
            </a:r>
          </a:p>
          <a:p>
            <a:r>
              <a:rPr lang="en-IN" dirty="0" smtClean="0"/>
              <a:t># Output to be present as PNG file</a:t>
            </a:r>
          </a:p>
          <a:p>
            <a:r>
              <a:rPr lang="en-IN" dirty="0" err="1" smtClean="0"/>
              <a:t>png</a:t>
            </a:r>
            <a:r>
              <a:rPr lang="en-IN" dirty="0" smtClean="0"/>
              <a:t>(file = "multipleRegGFG.png")</a:t>
            </a:r>
          </a:p>
          <a:p>
            <a:r>
              <a:rPr lang="en-IN" dirty="0" smtClean="0"/>
              <a:t> </a:t>
            </a:r>
          </a:p>
          <a:p>
            <a:r>
              <a:rPr lang="en-IN" dirty="0" smtClean="0"/>
              <a:t># Plot</a:t>
            </a:r>
          </a:p>
          <a:p>
            <a:r>
              <a:rPr lang="en-IN" dirty="0" smtClean="0"/>
              <a:t>plot(model)</a:t>
            </a:r>
          </a:p>
          <a:p>
            <a:r>
              <a:rPr lang="en-IN" dirty="0" smtClean="0"/>
              <a:t> </a:t>
            </a:r>
          </a:p>
          <a:p>
            <a:r>
              <a:rPr lang="en-IN" dirty="0" smtClean="0"/>
              <a:t># Save the file.</a:t>
            </a:r>
          </a:p>
          <a:p>
            <a:r>
              <a:rPr lang="en-IN" dirty="0" err="1" smtClean="0"/>
              <a:t>dev.off</a:t>
            </a:r>
            <a:r>
              <a:rPr lang="en-IN" dirty="0" smtClean="0"/>
              <a:t>()</a:t>
            </a:r>
          </a:p>
          <a:p>
            <a:r>
              <a:rPr lang="en-IN" dirty="0" smtClean="0"/>
              <a:t>Output:</a:t>
            </a:r>
          </a:p>
          <a:p>
            <a:endParaRPr lang="en-IN" dirty="0" smtClean="0"/>
          </a:p>
          <a:p>
            <a:r>
              <a:rPr lang="en-IN" dirty="0" smtClean="0"/>
              <a:t>Regression model:</a:t>
            </a:r>
          </a:p>
          <a:p>
            <a:r>
              <a:rPr lang="en-IN" dirty="0" smtClean="0"/>
              <a:t>Call:</a:t>
            </a:r>
          </a:p>
          <a:p>
            <a:r>
              <a:rPr lang="en-IN" dirty="0" smtClean="0"/>
              <a:t>lm(formula = Ozone ~ Wind + Temp, data = input)</a:t>
            </a:r>
          </a:p>
          <a:p>
            <a:endParaRPr lang="en-IN" dirty="0" smtClean="0"/>
          </a:p>
          <a:p>
            <a:r>
              <a:rPr lang="en-IN" dirty="0" smtClean="0"/>
              <a:t>Coefficients:</a:t>
            </a:r>
          </a:p>
          <a:p>
            <a:r>
              <a:rPr lang="en-IN" dirty="0" smtClean="0"/>
              <a:t>(Intercept)         Wind         Temp  </a:t>
            </a:r>
          </a:p>
          <a:p>
            <a:r>
              <a:rPr lang="en-IN" dirty="0" smtClean="0"/>
              <a:t>    -58.239       -0.739        1.329</a:t>
            </a:r>
            <a:endParaRPr lang="en-IN" dirty="0"/>
          </a:p>
        </p:txBody>
      </p:sp>
    </p:spTree>
    <p:extLst>
      <p:ext uri="{BB962C8B-B14F-4D97-AF65-F5344CB8AC3E}">
        <p14:creationId xmlns:p14="http://schemas.microsoft.com/office/powerpoint/2010/main" val="2197458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3920331" y="1825625"/>
            <a:ext cx="4351338" cy="4351338"/>
          </a:xfrm>
          <a:prstGeom prst="rect">
            <a:avLst/>
          </a:prstGeom>
        </p:spPr>
      </p:pic>
    </p:spTree>
    <p:extLst>
      <p:ext uri="{BB962C8B-B14F-4D97-AF65-F5344CB8AC3E}">
        <p14:creationId xmlns:p14="http://schemas.microsoft.com/office/powerpoint/2010/main" val="37336038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22191"/>
            <a:ext cx="10515600" cy="5954772"/>
          </a:xfrm>
        </p:spPr>
        <p:txBody>
          <a:bodyPr>
            <a:normAutofit fontScale="70000" lnSpcReduction="20000"/>
          </a:bodyPr>
          <a:lstStyle/>
          <a:p>
            <a:r>
              <a:rPr lang="en-US" dirty="0" smtClean="0"/>
              <a:t>Logistic Regression</a:t>
            </a:r>
          </a:p>
          <a:p>
            <a:r>
              <a:rPr lang="en-US" dirty="0" smtClean="0"/>
              <a:t>Logistic Regression is another widely used regression analysis technique and predicts the value with a range. Moreover, it is used for predicting the values for categorical data. For example, Email is either spam or non-spam, winner or loser, male or female, etc. Mathematically, </a:t>
            </a:r>
          </a:p>
          <a:p>
            <a:r>
              <a:rPr lang="en-US" dirty="0" smtClean="0"/>
              <a:t>y</a:t>
            </a:r>
            <a:r>
              <a:rPr lang="en-US" dirty="0" smtClean="0"/>
              <a:t>=\</a:t>
            </a:r>
            <a:r>
              <a:rPr lang="en-US" dirty="0" err="1" smtClean="0"/>
              <a:t>frac</a:t>
            </a:r>
            <a:r>
              <a:rPr lang="en-US" dirty="0" smtClean="0"/>
              <a:t>{1}{1+e^{-z}}  </a:t>
            </a:r>
          </a:p>
          <a:p>
            <a:r>
              <a:rPr lang="en-US" dirty="0" smtClean="0"/>
              <a:t> </a:t>
            </a:r>
          </a:p>
          <a:p>
            <a:r>
              <a:rPr lang="en-US" dirty="0" smtClean="0"/>
              <a:t>where, </a:t>
            </a:r>
          </a:p>
          <a:p>
            <a:r>
              <a:rPr lang="en-US" dirty="0" smtClean="0"/>
              <a:t>y </a:t>
            </a:r>
            <a:r>
              <a:rPr lang="en-US" dirty="0" smtClean="0"/>
              <a:t>represents response variable</a:t>
            </a:r>
          </a:p>
          <a:p>
            <a:r>
              <a:rPr lang="en-US" dirty="0" smtClean="0"/>
              <a:t>z represents equation of independent variables or features</a:t>
            </a:r>
          </a:p>
          <a:p>
            <a:r>
              <a:rPr lang="en-US" dirty="0" smtClean="0"/>
              <a:t>In </a:t>
            </a:r>
            <a:r>
              <a:rPr lang="en-US" dirty="0" smtClean="0"/>
              <a:t>R programming, </a:t>
            </a:r>
            <a:r>
              <a:rPr lang="en-US" dirty="0" err="1" smtClean="0"/>
              <a:t>glm</a:t>
            </a:r>
            <a:r>
              <a:rPr lang="en-US" dirty="0" smtClean="0"/>
              <a:t>() function is used to create a logistic regression model. </a:t>
            </a:r>
          </a:p>
          <a:p>
            <a:endParaRPr lang="en-US" dirty="0" smtClean="0"/>
          </a:p>
          <a:p>
            <a:r>
              <a:rPr lang="en-US" dirty="0" smtClean="0"/>
              <a:t>Syntax: </a:t>
            </a:r>
            <a:r>
              <a:rPr lang="en-US" dirty="0" err="1" smtClean="0"/>
              <a:t>glm</a:t>
            </a:r>
            <a:r>
              <a:rPr lang="en-US" dirty="0" smtClean="0"/>
              <a:t>(formula, data, family)</a:t>
            </a:r>
          </a:p>
          <a:p>
            <a:endParaRPr lang="en-US" dirty="0" smtClean="0"/>
          </a:p>
          <a:p>
            <a:r>
              <a:rPr lang="en-US" dirty="0" smtClean="0"/>
              <a:t>Parameters: </a:t>
            </a:r>
          </a:p>
          <a:p>
            <a:endParaRPr lang="en-US" dirty="0" smtClean="0"/>
          </a:p>
          <a:p>
            <a:r>
              <a:rPr lang="en-US" dirty="0" smtClean="0"/>
              <a:t>formula: represents a formula on the basis of which model has to be fitted</a:t>
            </a:r>
          </a:p>
          <a:p>
            <a:r>
              <a:rPr lang="en-US" dirty="0" smtClean="0"/>
              <a:t>data: represents </a:t>
            </a:r>
            <a:r>
              <a:rPr lang="en-US" dirty="0" err="1" smtClean="0"/>
              <a:t>dataframe</a:t>
            </a:r>
            <a:r>
              <a:rPr lang="en-US" dirty="0" smtClean="0"/>
              <a:t> on which formula has to be applied</a:t>
            </a:r>
          </a:p>
          <a:p>
            <a:r>
              <a:rPr lang="en-US" dirty="0" smtClean="0"/>
              <a:t>family: represents the type of function to be used. “binomial” for logistic regression</a:t>
            </a:r>
            <a:endParaRPr lang="en-IN" dirty="0"/>
          </a:p>
        </p:txBody>
      </p:sp>
    </p:spTree>
    <p:extLst>
      <p:ext uri="{BB962C8B-B14F-4D97-AF65-F5344CB8AC3E}">
        <p14:creationId xmlns:p14="http://schemas.microsoft.com/office/powerpoint/2010/main" val="12978987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5138" y="281354"/>
            <a:ext cx="10978662" cy="6330461"/>
          </a:xfrm>
        </p:spPr>
        <p:txBody>
          <a:bodyPr>
            <a:normAutofit fontScale="70000" lnSpcReduction="20000"/>
          </a:bodyPr>
          <a:lstStyle/>
          <a:p>
            <a:r>
              <a:rPr lang="en-IN" dirty="0" smtClean="0"/>
              <a:t># R program to illustrate</a:t>
            </a:r>
          </a:p>
          <a:p>
            <a:r>
              <a:rPr lang="en-IN" dirty="0" smtClean="0"/>
              <a:t># Logistic Regression</a:t>
            </a:r>
          </a:p>
          <a:p>
            <a:r>
              <a:rPr lang="en-IN" dirty="0" smtClean="0"/>
              <a:t># </a:t>
            </a:r>
            <a:r>
              <a:rPr lang="en-IN" dirty="0" smtClean="0"/>
              <a:t>Using </a:t>
            </a:r>
            <a:r>
              <a:rPr lang="en-IN" dirty="0" err="1" smtClean="0"/>
              <a:t>mtcars</a:t>
            </a:r>
            <a:r>
              <a:rPr lang="en-IN" dirty="0" smtClean="0"/>
              <a:t> dataset</a:t>
            </a:r>
          </a:p>
          <a:p>
            <a:r>
              <a:rPr lang="en-IN" dirty="0" smtClean="0"/>
              <a:t># To create the logistic model</a:t>
            </a:r>
          </a:p>
          <a:p>
            <a:r>
              <a:rPr lang="en-IN" dirty="0" smtClean="0"/>
              <a:t>model &lt;- </a:t>
            </a:r>
            <a:r>
              <a:rPr lang="en-IN" dirty="0" err="1" smtClean="0"/>
              <a:t>glm</a:t>
            </a:r>
            <a:r>
              <a:rPr lang="en-IN" dirty="0" smtClean="0"/>
              <a:t>(formula = </a:t>
            </a:r>
            <a:r>
              <a:rPr lang="en-IN" dirty="0" err="1" smtClean="0"/>
              <a:t>vs</a:t>
            </a:r>
            <a:r>
              <a:rPr lang="en-IN" dirty="0" smtClean="0"/>
              <a:t> ~ </a:t>
            </a:r>
            <a:r>
              <a:rPr lang="en-IN" dirty="0" err="1" smtClean="0"/>
              <a:t>wt</a:t>
            </a:r>
            <a:r>
              <a:rPr lang="en-IN" dirty="0" smtClean="0"/>
              <a:t>,             </a:t>
            </a:r>
            <a:r>
              <a:rPr lang="en-IN" dirty="0" smtClean="0"/>
              <a:t>family = binomial</a:t>
            </a:r>
            <a:r>
              <a:rPr lang="en-IN" dirty="0" smtClean="0"/>
              <a:t>,             </a:t>
            </a:r>
            <a:r>
              <a:rPr lang="en-IN" dirty="0" smtClean="0"/>
              <a:t>data = </a:t>
            </a:r>
            <a:r>
              <a:rPr lang="en-IN" dirty="0" err="1" smtClean="0"/>
              <a:t>mtcars</a:t>
            </a:r>
            <a:r>
              <a:rPr lang="en-IN" dirty="0" smtClean="0"/>
              <a:t>)</a:t>
            </a:r>
          </a:p>
          <a:p>
            <a:r>
              <a:rPr lang="en-IN" dirty="0" smtClean="0"/>
              <a:t> </a:t>
            </a:r>
            <a:r>
              <a:rPr lang="en-IN" dirty="0" smtClean="0"/>
              <a:t># </a:t>
            </a:r>
            <a:r>
              <a:rPr lang="en-IN" dirty="0" smtClean="0"/>
              <a:t>Creating a range of </a:t>
            </a:r>
            <a:r>
              <a:rPr lang="en-IN" dirty="0" err="1" smtClean="0"/>
              <a:t>wt</a:t>
            </a:r>
            <a:r>
              <a:rPr lang="en-IN" dirty="0" smtClean="0"/>
              <a:t> values</a:t>
            </a:r>
          </a:p>
          <a:p>
            <a:r>
              <a:rPr lang="en-IN" dirty="0" smtClean="0"/>
              <a:t>x &lt;- </a:t>
            </a:r>
            <a:r>
              <a:rPr lang="en-IN" dirty="0" err="1" smtClean="0"/>
              <a:t>seq</a:t>
            </a:r>
            <a:r>
              <a:rPr lang="en-IN" dirty="0" smtClean="0"/>
              <a:t>(min(</a:t>
            </a:r>
            <a:r>
              <a:rPr lang="en-IN" dirty="0" err="1" smtClean="0"/>
              <a:t>mtcars$wt</a:t>
            </a:r>
            <a:r>
              <a:rPr lang="en-IN" dirty="0" smtClean="0"/>
              <a:t>),             </a:t>
            </a:r>
            <a:r>
              <a:rPr lang="en-IN" dirty="0" smtClean="0"/>
              <a:t>max(</a:t>
            </a:r>
            <a:r>
              <a:rPr lang="en-IN" dirty="0" err="1" smtClean="0"/>
              <a:t>mtcars$wt</a:t>
            </a:r>
            <a:r>
              <a:rPr lang="en-IN" dirty="0" smtClean="0"/>
              <a:t>),             </a:t>
            </a:r>
            <a:r>
              <a:rPr lang="en-IN" dirty="0" smtClean="0"/>
              <a:t>0.01)</a:t>
            </a:r>
          </a:p>
          <a:p>
            <a:r>
              <a:rPr lang="en-IN" dirty="0" smtClean="0"/>
              <a:t> </a:t>
            </a:r>
            <a:r>
              <a:rPr lang="en-IN" dirty="0" smtClean="0"/>
              <a:t># </a:t>
            </a:r>
            <a:r>
              <a:rPr lang="en-IN" dirty="0" smtClean="0"/>
              <a:t>Predict using weight</a:t>
            </a:r>
          </a:p>
          <a:p>
            <a:r>
              <a:rPr lang="en-IN" dirty="0" smtClean="0"/>
              <a:t>y &lt;- predict(model, list(</a:t>
            </a:r>
            <a:r>
              <a:rPr lang="en-IN" dirty="0" err="1" smtClean="0"/>
              <a:t>wt</a:t>
            </a:r>
            <a:r>
              <a:rPr lang="en-IN" dirty="0" smtClean="0"/>
              <a:t> = x</a:t>
            </a:r>
            <a:r>
              <a:rPr lang="en-IN" dirty="0" smtClean="0"/>
              <a:t>),        </a:t>
            </a:r>
            <a:r>
              <a:rPr lang="en-IN" dirty="0" smtClean="0"/>
              <a:t>type = "response")</a:t>
            </a:r>
          </a:p>
          <a:p>
            <a:r>
              <a:rPr lang="en-IN" dirty="0" smtClean="0"/>
              <a:t> </a:t>
            </a:r>
            <a:r>
              <a:rPr lang="en-IN" dirty="0" smtClean="0"/>
              <a:t># </a:t>
            </a:r>
            <a:r>
              <a:rPr lang="en-IN" dirty="0" smtClean="0"/>
              <a:t>Print model</a:t>
            </a:r>
          </a:p>
          <a:p>
            <a:r>
              <a:rPr lang="en-IN" dirty="0" smtClean="0"/>
              <a:t>print(model)</a:t>
            </a:r>
          </a:p>
          <a:p>
            <a:r>
              <a:rPr lang="en-IN" dirty="0" smtClean="0"/>
              <a:t> </a:t>
            </a:r>
            <a:r>
              <a:rPr lang="en-IN" dirty="0" smtClean="0"/>
              <a:t># </a:t>
            </a:r>
            <a:r>
              <a:rPr lang="en-IN" dirty="0" smtClean="0"/>
              <a:t>Output to be present as PNG file</a:t>
            </a:r>
          </a:p>
          <a:p>
            <a:r>
              <a:rPr lang="en-IN" dirty="0" err="1" smtClean="0"/>
              <a:t>png</a:t>
            </a:r>
            <a:r>
              <a:rPr lang="en-IN" dirty="0" smtClean="0"/>
              <a:t>(file = "LogRegGFG.png")</a:t>
            </a:r>
          </a:p>
          <a:p>
            <a:r>
              <a:rPr lang="en-IN" dirty="0" smtClean="0"/>
              <a:t> </a:t>
            </a:r>
            <a:r>
              <a:rPr lang="en-IN" dirty="0" smtClean="0"/>
              <a:t># </a:t>
            </a:r>
            <a:r>
              <a:rPr lang="en-IN" dirty="0" smtClean="0"/>
              <a:t>Plot</a:t>
            </a:r>
          </a:p>
          <a:p>
            <a:r>
              <a:rPr lang="en-IN" dirty="0" smtClean="0"/>
              <a:t>plot(</a:t>
            </a:r>
            <a:r>
              <a:rPr lang="en-IN" dirty="0" err="1" smtClean="0"/>
              <a:t>mtcars$wt</a:t>
            </a:r>
            <a:r>
              <a:rPr lang="en-IN" dirty="0" smtClean="0"/>
              <a:t>, </a:t>
            </a:r>
            <a:r>
              <a:rPr lang="en-IN" dirty="0" err="1" smtClean="0"/>
              <a:t>mtcars$vs</a:t>
            </a:r>
            <a:r>
              <a:rPr lang="en-IN" dirty="0" smtClean="0"/>
              <a:t>, </a:t>
            </a:r>
            <a:r>
              <a:rPr lang="en-IN" dirty="0" err="1" smtClean="0"/>
              <a:t>pch</a:t>
            </a:r>
            <a:r>
              <a:rPr lang="en-IN" dirty="0" smtClean="0"/>
              <a:t> = 16</a:t>
            </a:r>
            <a:r>
              <a:rPr lang="en-IN" dirty="0" smtClean="0"/>
              <a:t>,     </a:t>
            </a:r>
            <a:r>
              <a:rPr lang="en-IN" dirty="0" err="1" smtClean="0"/>
              <a:t>xlab</a:t>
            </a:r>
            <a:r>
              <a:rPr lang="en-IN" dirty="0" smtClean="0"/>
              <a:t> = "Weight", </a:t>
            </a:r>
            <a:r>
              <a:rPr lang="en-IN" dirty="0" err="1" smtClean="0"/>
              <a:t>ylab</a:t>
            </a:r>
            <a:r>
              <a:rPr lang="en-IN" dirty="0" smtClean="0"/>
              <a:t> = "VS")</a:t>
            </a:r>
          </a:p>
          <a:p>
            <a:r>
              <a:rPr lang="en-IN" dirty="0" smtClean="0"/>
              <a:t>lines(x, y)</a:t>
            </a:r>
          </a:p>
          <a:p>
            <a:r>
              <a:rPr lang="en-IN" dirty="0" smtClean="0"/>
              <a:t> </a:t>
            </a:r>
            <a:r>
              <a:rPr lang="en-IN" dirty="0" smtClean="0"/>
              <a:t># </a:t>
            </a:r>
            <a:r>
              <a:rPr lang="en-IN" dirty="0" smtClean="0"/>
              <a:t>Saving the file</a:t>
            </a:r>
          </a:p>
          <a:p>
            <a:r>
              <a:rPr lang="en-IN" dirty="0" err="1" smtClean="0"/>
              <a:t>dev.off</a:t>
            </a:r>
            <a:r>
              <a:rPr lang="en-IN" dirty="0" smtClean="0"/>
              <a:t>()</a:t>
            </a:r>
            <a:endParaRPr lang="en-IN" dirty="0"/>
          </a:p>
        </p:txBody>
      </p:sp>
    </p:spTree>
    <p:extLst>
      <p:ext uri="{BB962C8B-B14F-4D97-AF65-F5344CB8AC3E}">
        <p14:creationId xmlns:p14="http://schemas.microsoft.com/office/powerpoint/2010/main" val="12741866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8042" y="736478"/>
            <a:ext cx="10515600" cy="4351338"/>
          </a:xfrm>
        </p:spPr>
        <p:txBody>
          <a:bodyPr>
            <a:normAutofit lnSpcReduction="10000"/>
          </a:bodyPr>
          <a:lstStyle/>
          <a:p>
            <a:r>
              <a:rPr lang="en-IN" dirty="0" smtClean="0"/>
              <a:t>Call:  </a:t>
            </a:r>
            <a:r>
              <a:rPr lang="en-IN" dirty="0" err="1" smtClean="0"/>
              <a:t>glm</a:t>
            </a:r>
            <a:r>
              <a:rPr lang="en-IN" dirty="0" smtClean="0"/>
              <a:t>(formula = </a:t>
            </a:r>
            <a:r>
              <a:rPr lang="en-IN" dirty="0" err="1" smtClean="0"/>
              <a:t>vs</a:t>
            </a:r>
            <a:r>
              <a:rPr lang="en-IN" dirty="0" smtClean="0"/>
              <a:t> ~ </a:t>
            </a:r>
            <a:r>
              <a:rPr lang="en-IN" dirty="0" err="1" smtClean="0"/>
              <a:t>wt</a:t>
            </a:r>
            <a:r>
              <a:rPr lang="en-IN" dirty="0" smtClean="0"/>
              <a:t>, family = binomial, data = </a:t>
            </a:r>
            <a:r>
              <a:rPr lang="en-IN" dirty="0" err="1" smtClean="0"/>
              <a:t>mtcars</a:t>
            </a:r>
            <a:r>
              <a:rPr lang="en-IN" dirty="0" smtClean="0"/>
              <a:t>)</a:t>
            </a:r>
          </a:p>
          <a:p>
            <a:endParaRPr lang="en-IN" dirty="0" smtClean="0"/>
          </a:p>
          <a:p>
            <a:r>
              <a:rPr lang="en-IN" dirty="0" smtClean="0"/>
              <a:t>Coefficients:</a:t>
            </a:r>
          </a:p>
          <a:p>
            <a:r>
              <a:rPr lang="en-IN" dirty="0" smtClean="0"/>
              <a:t>(Intercept)           </a:t>
            </a:r>
            <a:r>
              <a:rPr lang="en-IN" dirty="0" err="1" smtClean="0"/>
              <a:t>wt</a:t>
            </a:r>
            <a:r>
              <a:rPr lang="en-IN" dirty="0" smtClean="0"/>
              <a:t>  </a:t>
            </a:r>
          </a:p>
          <a:p>
            <a:r>
              <a:rPr lang="en-IN" dirty="0" smtClean="0"/>
              <a:t>      5.715       -1.911  </a:t>
            </a:r>
          </a:p>
          <a:p>
            <a:endParaRPr lang="en-IN" dirty="0" smtClean="0"/>
          </a:p>
          <a:p>
            <a:r>
              <a:rPr lang="en-IN" dirty="0" smtClean="0"/>
              <a:t>Degrees of Freedom: 31 Total (i.e. Null);  30 Residual</a:t>
            </a:r>
          </a:p>
          <a:p>
            <a:r>
              <a:rPr lang="en-IN" dirty="0" smtClean="0"/>
              <a:t>Null Deviance:      43.86 </a:t>
            </a:r>
          </a:p>
          <a:p>
            <a:r>
              <a:rPr lang="en-IN" dirty="0" smtClean="0"/>
              <a:t>Residual Deviance: 31.37        AIC: 35.37</a:t>
            </a:r>
            <a:endParaRPr lang="en-IN" dirty="0"/>
          </a:p>
        </p:txBody>
      </p:sp>
      <p:pic>
        <p:nvPicPr>
          <p:cNvPr id="4099" name="Picture 3" descr="output-grap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5157" y="1999435"/>
            <a:ext cx="4572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61924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90557"/>
            <a:ext cx="10515600" cy="5886406"/>
          </a:xfrm>
        </p:spPr>
        <p:txBody>
          <a:bodyPr>
            <a:normAutofit fontScale="62500" lnSpcReduction="20000"/>
          </a:bodyPr>
          <a:lstStyle/>
          <a:p>
            <a:r>
              <a:rPr lang="en-US" dirty="0"/>
              <a:t>A Poisson Regression model is used to model count data and model response variables (Y-values) that are counts. It shows which X-values work on the Y-value and more categorically, it counts data: discrete data with non-negative integer values that count something</a:t>
            </a:r>
            <a:r>
              <a:rPr lang="en-US" dirty="0" smtClean="0"/>
              <a:t>.</a:t>
            </a:r>
          </a:p>
          <a:p>
            <a:r>
              <a:rPr lang="en-US" dirty="0" smtClean="0"/>
              <a:t>Mathematical Equation:</a:t>
            </a:r>
          </a:p>
          <a:p>
            <a:r>
              <a:rPr lang="en-US" dirty="0" smtClean="0"/>
              <a:t>log(y</a:t>
            </a:r>
            <a:r>
              <a:rPr lang="en-US" dirty="0" smtClean="0"/>
              <a:t>) = a + b1x1 + b2x2 + </a:t>
            </a:r>
            <a:r>
              <a:rPr lang="en-US" dirty="0" err="1" smtClean="0"/>
              <a:t>bnxn</a:t>
            </a:r>
            <a:r>
              <a:rPr lang="en-US" dirty="0" smtClean="0"/>
              <a:t>.....</a:t>
            </a:r>
          </a:p>
          <a:p>
            <a:r>
              <a:rPr lang="en-US" dirty="0" smtClean="0"/>
              <a:t>Parameters:</a:t>
            </a:r>
          </a:p>
          <a:p>
            <a:r>
              <a:rPr lang="en-US" dirty="0" smtClean="0"/>
              <a:t>y: This parameter sets as a response variable.</a:t>
            </a:r>
          </a:p>
          <a:p>
            <a:r>
              <a:rPr lang="en-US" dirty="0" smtClean="0"/>
              <a:t>a and b: The parameter a and b are the numeric coefficients.</a:t>
            </a:r>
          </a:p>
          <a:p>
            <a:r>
              <a:rPr lang="en-US" dirty="0" smtClean="0"/>
              <a:t>x: This parameter is the predictor variable.</a:t>
            </a:r>
          </a:p>
          <a:p>
            <a:r>
              <a:rPr lang="en-US" dirty="0" smtClean="0"/>
              <a:t>The </a:t>
            </a:r>
            <a:r>
              <a:rPr lang="en-US" dirty="0" smtClean="0"/>
              <a:t>function used to create the Poisson regression model is the </a:t>
            </a:r>
            <a:r>
              <a:rPr lang="en-US" dirty="0" err="1" smtClean="0"/>
              <a:t>glm</a:t>
            </a:r>
            <a:r>
              <a:rPr lang="en-US" dirty="0" smtClean="0"/>
              <a:t>() function.</a:t>
            </a:r>
          </a:p>
          <a:p>
            <a:endParaRPr lang="en-US" dirty="0" smtClean="0"/>
          </a:p>
          <a:p>
            <a:r>
              <a:rPr lang="en-US" dirty="0" smtClean="0"/>
              <a:t>Syntax: </a:t>
            </a:r>
            <a:r>
              <a:rPr lang="en-US" dirty="0" err="1" smtClean="0"/>
              <a:t>glm</a:t>
            </a:r>
            <a:r>
              <a:rPr lang="en-US" dirty="0" smtClean="0"/>
              <a:t>(formula, data, family)</a:t>
            </a:r>
          </a:p>
          <a:p>
            <a:endParaRPr lang="en-US" dirty="0" smtClean="0"/>
          </a:p>
          <a:p>
            <a:r>
              <a:rPr lang="en-US" dirty="0" smtClean="0"/>
              <a:t>Parameters:</a:t>
            </a:r>
          </a:p>
          <a:p>
            <a:endParaRPr lang="en-US" dirty="0" smtClean="0"/>
          </a:p>
          <a:p>
            <a:r>
              <a:rPr lang="en-US" dirty="0" smtClean="0"/>
              <a:t>formula: This parameter is the symbol presenting the relationship between the variables.</a:t>
            </a:r>
          </a:p>
          <a:p>
            <a:r>
              <a:rPr lang="en-US" dirty="0" smtClean="0"/>
              <a:t>data: The parameter is the data set giving the values of these variables.</a:t>
            </a:r>
          </a:p>
          <a:p>
            <a:r>
              <a:rPr lang="en-US" dirty="0" smtClean="0"/>
              <a:t>family: This parameter R object to specify the details of the model. It’s value is ‘Poisson’ for Logistic Regression.</a:t>
            </a:r>
            <a:endParaRPr lang="en-IN" dirty="0"/>
          </a:p>
        </p:txBody>
      </p:sp>
    </p:spTree>
    <p:extLst>
      <p:ext uri="{BB962C8B-B14F-4D97-AF65-F5344CB8AC3E}">
        <p14:creationId xmlns:p14="http://schemas.microsoft.com/office/powerpoint/2010/main" val="425032219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20000"/>
          </a:bodyPr>
          <a:lstStyle/>
          <a:p>
            <a:r>
              <a:rPr lang="en-US" dirty="0" smtClean="0"/>
              <a:t>Example:</a:t>
            </a:r>
          </a:p>
          <a:p>
            <a:endParaRPr lang="en-US" dirty="0" smtClean="0"/>
          </a:p>
          <a:p>
            <a:r>
              <a:rPr lang="en-US" dirty="0" smtClean="0"/>
              <a:t>Approach:</a:t>
            </a:r>
          </a:p>
          <a:p>
            <a:r>
              <a:rPr lang="en-US" dirty="0" smtClean="0"/>
              <a:t>To understand how we can create:</a:t>
            </a:r>
          </a:p>
          <a:p>
            <a:r>
              <a:rPr lang="en-US" dirty="0" smtClean="0"/>
              <a:t>We use the data set “</a:t>
            </a:r>
            <a:r>
              <a:rPr lang="en-US" dirty="0" err="1" smtClean="0"/>
              <a:t>warpbreaks</a:t>
            </a:r>
            <a:r>
              <a:rPr lang="en-US" dirty="0" smtClean="0"/>
              <a:t>”.</a:t>
            </a:r>
          </a:p>
          <a:p>
            <a:r>
              <a:rPr lang="en-US" dirty="0" smtClean="0"/>
              <a:t>Considering “breaks” as the response variable.</a:t>
            </a:r>
          </a:p>
          <a:p>
            <a:r>
              <a:rPr lang="en-US" dirty="0" smtClean="0"/>
              <a:t>The wool “type” and “tension” are taken as predictor variables.</a:t>
            </a:r>
          </a:p>
          <a:p>
            <a:r>
              <a:rPr lang="en-US" dirty="0" smtClean="0"/>
              <a:t>Code:</a:t>
            </a:r>
          </a:p>
          <a:p>
            <a:endParaRPr lang="en-US" dirty="0" smtClean="0"/>
          </a:p>
          <a:p>
            <a:r>
              <a:rPr lang="en-US" dirty="0" smtClean="0"/>
              <a:t>input &lt;- </a:t>
            </a:r>
            <a:r>
              <a:rPr lang="en-US" dirty="0" err="1" smtClean="0"/>
              <a:t>warpbreaks</a:t>
            </a:r>
            <a:endParaRPr lang="en-US" dirty="0" smtClean="0"/>
          </a:p>
          <a:p>
            <a:r>
              <a:rPr lang="en-US" dirty="0" smtClean="0"/>
              <a:t>print(head(input))</a:t>
            </a:r>
            <a:endParaRPr lang="en-IN" dirty="0"/>
          </a:p>
        </p:txBody>
      </p:sp>
      <p:pic>
        <p:nvPicPr>
          <p:cNvPr id="7" name="Picture 6"/>
          <p:cNvPicPr>
            <a:picLocks noChangeAspect="1"/>
          </p:cNvPicPr>
          <p:nvPr/>
        </p:nvPicPr>
        <p:blipFill>
          <a:blip r:embed="rId2"/>
          <a:stretch>
            <a:fillRect/>
          </a:stretch>
        </p:blipFill>
        <p:spPr>
          <a:xfrm>
            <a:off x="9134519" y="1931350"/>
            <a:ext cx="2283758" cy="3754342"/>
          </a:xfrm>
          <a:prstGeom prst="rect">
            <a:avLst/>
          </a:prstGeom>
        </p:spPr>
      </p:pic>
    </p:spTree>
    <p:extLst>
      <p:ext uri="{BB962C8B-B14F-4D97-AF65-F5344CB8AC3E}">
        <p14:creationId xmlns:p14="http://schemas.microsoft.com/office/powerpoint/2010/main" val="21791645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22031"/>
            <a:ext cx="10515600" cy="5754932"/>
          </a:xfrm>
        </p:spPr>
        <p:txBody>
          <a:bodyPr>
            <a:normAutofit/>
          </a:bodyPr>
          <a:lstStyle/>
          <a:p>
            <a:r>
              <a:rPr lang="en-US" dirty="0" smtClean="0"/>
              <a:t>Creating Poisson Regression Model using </a:t>
            </a:r>
            <a:r>
              <a:rPr lang="en-US" dirty="0" err="1" smtClean="0"/>
              <a:t>glm</a:t>
            </a:r>
            <a:r>
              <a:rPr lang="en-US" dirty="0" smtClean="0"/>
              <a:t>() function</a:t>
            </a:r>
          </a:p>
          <a:p>
            <a:r>
              <a:rPr lang="en-US" dirty="0" smtClean="0"/>
              <a:t>Approach: Creating the regression model with the help of the </a:t>
            </a:r>
            <a:r>
              <a:rPr lang="en-US" dirty="0" err="1" smtClean="0"/>
              <a:t>glm</a:t>
            </a:r>
            <a:r>
              <a:rPr lang="en-US" dirty="0" smtClean="0"/>
              <a:t>() function as:</a:t>
            </a:r>
          </a:p>
          <a:p>
            <a:r>
              <a:rPr lang="en-US" dirty="0" smtClean="0"/>
              <a:t>With </a:t>
            </a:r>
            <a:r>
              <a:rPr lang="en-US" dirty="0" smtClean="0"/>
              <a:t>the help of this function, easy to make model.</a:t>
            </a:r>
          </a:p>
          <a:p>
            <a:r>
              <a:rPr lang="en-US" dirty="0" smtClean="0"/>
              <a:t>Now we draw a graph for the relation between “formula”, “data” and “family”.</a:t>
            </a:r>
          </a:p>
          <a:p>
            <a:r>
              <a:rPr lang="en-US" dirty="0" smtClean="0"/>
              <a:t>Example:</a:t>
            </a:r>
          </a:p>
          <a:p>
            <a:r>
              <a:rPr lang="en-US" dirty="0" err="1" smtClean="0"/>
              <a:t>output_result</a:t>
            </a:r>
            <a:r>
              <a:rPr lang="en-US" dirty="0" smtClean="0"/>
              <a:t> </a:t>
            </a:r>
            <a:r>
              <a:rPr lang="en-US" dirty="0" smtClean="0"/>
              <a:t>&lt;-</a:t>
            </a:r>
            <a:r>
              <a:rPr lang="en-US" dirty="0" err="1" smtClean="0"/>
              <a:t>glm</a:t>
            </a:r>
            <a:r>
              <a:rPr lang="en-US" dirty="0" smtClean="0"/>
              <a:t>(formula = breaks ~ wool + tension</a:t>
            </a:r>
            <a:r>
              <a:rPr lang="en-US" dirty="0" smtClean="0"/>
              <a:t>,     </a:t>
            </a:r>
            <a:r>
              <a:rPr lang="en-US" dirty="0" smtClean="0"/>
              <a:t>data = </a:t>
            </a:r>
            <a:r>
              <a:rPr lang="en-US" dirty="0" err="1" smtClean="0"/>
              <a:t>warpbreaks</a:t>
            </a:r>
            <a:r>
              <a:rPr lang="en-US" dirty="0" smtClean="0"/>
              <a:t>, family = </a:t>
            </a:r>
            <a:r>
              <a:rPr lang="en-US" dirty="0" err="1" smtClean="0"/>
              <a:t>poisson</a:t>
            </a:r>
            <a:r>
              <a:rPr lang="en-US" dirty="0" smtClean="0"/>
              <a:t>)  </a:t>
            </a:r>
          </a:p>
          <a:p>
            <a:r>
              <a:rPr lang="en-US" dirty="0" err="1" smtClean="0"/>
              <a:t>output_result</a:t>
            </a:r>
            <a:r>
              <a:rPr lang="en-US" dirty="0" smtClean="0"/>
              <a:t> </a:t>
            </a:r>
          </a:p>
          <a:p>
            <a:r>
              <a:rPr lang="en-US" dirty="0" smtClean="0"/>
              <a:t>Output:</a:t>
            </a:r>
            <a:endParaRPr lang="en-IN" dirty="0"/>
          </a:p>
        </p:txBody>
      </p:sp>
      <p:pic>
        <p:nvPicPr>
          <p:cNvPr id="4" name="Picture 3"/>
          <p:cNvPicPr>
            <a:picLocks noChangeAspect="1"/>
          </p:cNvPicPr>
          <p:nvPr/>
        </p:nvPicPr>
        <p:blipFill>
          <a:blip r:embed="rId2"/>
          <a:stretch>
            <a:fillRect/>
          </a:stretch>
        </p:blipFill>
        <p:spPr>
          <a:xfrm>
            <a:off x="5347430" y="4667250"/>
            <a:ext cx="6124575" cy="2190750"/>
          </a:xfrm>
          <a:prstGeom prst="rect">
            <a:avLst/>
          </a:prstGeom>
        </p:spPr>
      </p:pic>
    </p:spTree>
    <p:extLst>
      <p:ext uri="{BB962C8B-B14F-4D97-AF65-F5344CB8AC3E}">
        <p14:creationId xmlns:p14="http://schemas.microsoft.com/office/powerpoint/2010/main" val="40146363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TotalTime>
  <Words>2061</Words>
  <Application>Microsoft Office PowerPoint</Application>
  <PresentationFormat>Custom</PresentationFormat>
  <Paragraphs>351</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Kanagaraj</cp:lastModifiedBy>
  <cp:revision>16</cp:revision>
  <dcterms:created xsi:type="dcterms:W3CDTF">2023-03-31T15:45:54Z</dcterms:created>
  <dcterms:modified xsi:type="dcterms:W3CDTF">2023-04-01T03:46:35Z</dcterms:modified>
</cp:coreProperties>
</file>