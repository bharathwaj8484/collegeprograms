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20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0190" cy="1088390"/>
          </a:xfrm>
          <a:custGeom>
            <a:avLst/>
            <a:gdLst/>
            <a:ahLst/>
            <a:cxnLst/>
            <a:rect l="l" t="t" r="r" b="b"/>
            <a:pathLst>
              <a:path w="9140190" h="1088390">
                <a:moveTo>
                  <a:pt x="0" y="1088389"/>
                </a:moveTo>
                <a:lnTo>
                  <a:pt x="9140190" y="1088389"/>
                </a:lnTo>
                <a:lnTo>
                  <a:pt x="9140190" y="0"/>
                </a:lnTo>
                <a:lnTo>
                  <a:pt x="0" y="0"/>
                </a:lnTo>
                <a:lnTo>
                  <a:pt x="0" y="1088389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1088389"/>
            <a:ext cx="9144000" cy="217170"/>
          </a:xfrm>
          <a:custGeom>
            <a:avLst/>
            <a:gdLst/>
            <a:ahLst/>
            <a:cxnLst/>
            <a:rect l="l" t="t" r="r" b="b"/>
            <a:pathLst>
              <a:path w="9144000" h="217169">
                <a:moveTo>
                  <a:pt x="9144000" y="0"/>
                </a:moveTo>
                <a:lnTo>
                  <a:pt x="0" y="0"/>
                </a:lnTo>
                <a:lnTo>
                  <a:pt x="0" y="217170"/>
                </a:lnTo>
                <a:lnTo>
                  <a:pt x="9144000" y="21717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6605270"/>
            <a:ext cx="9138920" cy="252729"/>
          </a:xfrm>
          <a:custGeom>
            <a:avLst/>
            <a:gdLst/>
            <a:ahLst/>
            <a:cxnLst/>
            <a:rect l="l" t="t" r="r" b="b"/>
            <a:pathLst>
              <a:path w="9138920" h="252729">
                <a:moveTo>
                  <a:pt x="9138920" y="252729"/>
                </a:moveTo>
                <a:lnTo>
                  <a:pt x="0" y="252729"/>
                </a:lnTo>
                <a:lnTo>
                  <a:pt x="0" y="0"/>
                </a:lnTo>
                <a:lnTo>
                  <a:pt x="9138920" y="0"/>
                </a:lnTo>
                <a:lnTo>
                  <a:pt x="9138920" y="252729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2389" y="6192520"/>
            <a:ext cx="1799589" cy="50419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420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9904" y="1517650"/>
            <a:ext cx="8124190" cy="3737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3/31/2023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2420620"/>
          </a:xfrm>
          <a:custGeom>
            <a:avLst/>
            <a:gdLst/>
            <a:ahLst/>
            <a:cxnLst/>
            <a:rect l="l" t="t" r="r" b="b"/>
            <a:pathLst>
              <a:path w="9144000" h="2420620">
                <a:moveTo>
                  <a:pt x="9144000" y="0"/>
                </a:moveTo>
                <a:lnTo>
                  <a:pt x="0" y="0"/>
                </a:lnTo>
                <a:lnTo>
                  <a:pt x="0" y="2420620"/>
                </a:lnTo>
                <a:lnTo>
                  <a:pt x="9144000" y="242062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6605269"/>
            <a:ext cx="9138920" cy="252729"/>
          </a:xfrm>
          <a:custGeom>
            <a:avLst/>
            <a:gdLst/>
            <a:ahLst/>
            <a:cxnLst/>
            <a:rect l="l" t="t" r="r" b="b"/>
            <a:pathLst>
              <a:path w="9138920" h="252729">
                <a:moveTo>
                  <a:pt x="9138920" y="252729"/>
                </a:moveTo>
                <a:lnTo>
                  <a:pt x="0" y="252729"/>
                </a:lnTo>
                <a:lnTo>
                  <a:pt x="0" y="0"/>
                </a:lnTo>
                <a:lnTo>
                  <a:pt x="9138920" y="0"/>
                </a:lnTo>
                <a:lnTo>
                  <a:pt x="9138920" y="252729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2420620"/>
            <a:ext cx="9144000" cy="215900"/>
          </a:xfrm>
          <a:custGeom>
            <a:avLst/>
            <a:gdLst/>
            <a:ahLst/>
            <a:cxnLst/>
            <a:rect l="l" t="t" r="r" b="b"/>
            <a:pathLst>
              <a:path w="9144000" h="215900">
                <a:moveTo>
                  <a:pt x="9144000" y="0"/>
                </a:moveTo>
                <a:lnTo>
                  <a:pt x="0" y="0"/>
                </a:lnTo>
                <a:lnTo>
                  <a:pt x="0" y="215900"/>
                </a:lnTo>
                <a:lnTo>
                  <a:pt x="9144000" y="2159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18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5800">
              <a:latin typeface="Times New Roman"/>
              <a:cs typeface="Times New Roman"/>
            </a:endParaRPr>
          </a:p>
          <a:p>
            <a:pPr marL="560070">
              <a:lnSpc>
                <a:spcPct val="100000"/>
              </a:lnSpc>
            </a:pPr>
            <a:r>
              <a:rPr spc="-5" dirty="0">
                <a:latin typeface="Liberation Serif"/>
                <a:cs typeface="Liberation Serif"/>
              </a:rPr>
              <a:t>Charts </a:t>
            </a:r>
            <a:r>
              <a:rPr spc="-10" dirty="0">
                <a:latin typeface="Liberation Serif"/>
                <a:cs typeface="Liberation Serif"/>
              </a:rPr>
              <a:t>and </a:t>
            </a:r>
            <a:r>
              <a:rPr spc="-5" dirty="0">
                <a:latin typeface="Liberation Serif"/>
                <a:cs typeface="Liberation Serif"/>
              </a:rPr>
              <a:t>Graphs </a:t>
            </a:r>
            <a:r>
              <a:rPr spc="-10" dirty="0">
                <a:latin typeface="Liberation Serif"/>
                <a:cs typeface="Liberation Serif"/>
              </a:rPr>
              <a:t>in</a:t>
            </a:r>
            <a:r>
              <a:rPr spc="5" dirty="0">
                <a:latin typeface="Liberation Serif"/>
                <a:cs typeface="Liberation Serif"/>
              </a:rPr>
              <a:t> </a:t>
            </a:r>
            <a:r>
              <a:rPr dirty="0">
                <a:latin typeface="Liberation Serif"/>
                <a:cs typeface="Liberation Serif"/>
              </a:rPr>
              <a:t>R</a:t>
            </a:r>
          </a:p>
        </p:txBody>
      </p:sp>
      <p:sp>
        <p:nvSpPr>
          <p:cNvPr id="8" name="object 8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5" dirty="0"/>
              <a:t>Charts </a:t>
            </a:r>
            <a:r>
              <a:rPr spc="15" dirty="0"/>
              <a:t>and </a:t>
            </a:r>
            <a:r>
              <a:rPr spc="-60" dirty="0"/>
              <a:t>Graphs</a:t>
            </a:r>
            <a:r>
              <a:rPr spc="-525" dirty="0"/>
              <a:t> </a:t>
            </a:r>
            <a:r>
              <a:rPr spc="105" dirty="0"/>
              <a:t>supported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17319"/>
            <a:ext cx="2423160" cy="3188970"/>
          </a:xfrm>
          <a:prstGeom prst="rect">
            <a:avLst/>
          </a:prstGeom>
        </p:spPr>
        <p:txBody>
          <a:bodyPr vert="horz" wrap="square" lIns="0" tIns="1130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Arial"/>
                <a:cs typeface="Arial"/>
              </a:rPr>
              <a:t>Pie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chart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Arial"/>
                <a:cs typeface="Arial"/>
              </a:rPr>
              <a:t>Bar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chart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dirty="0">
                <a:latin typeface="Arial"/>
                <a:cs typeface="Arial"/>
              </a:rPr>
              <a:t>Box</a:t>
            </a:r>
            <a:r>
              <a:rPr sz="2800" spc="-155" dirty="0">
                <a:latin typeface="Arial"/>
                <a:cs typeface="Arial"/>
              </a:rPr>
              <a:t> </a:t>
            </a:r>
            <a:r>
              <a:rPr sz="2800" spc="100" dirty="0">
                <a:latin typeface="Arial"/>
                <a:cs typeface="Arial"/>
              </a:rPr>
              <a:t>plots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25" dirty="0">
                <a:latin typeface="Arial"/>
                <a:cs typeface="Arial"/>
              </a:rPr>
              <a:t>Historams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5" dirty="0">
                <a:latin typeface="Arial"/>
                <a:cs typeface="Arial"/>
              </a:rPr>
              <a:t>Line</a:t>
            </a:r>
            <a:r>
              <a:rPr sz="2800" spc="-165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graphs</a:t>
            </a:r>
            <a:endParaRPr sz="2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30" dirty="0">
                <a:latin typeface="Arial"/>
                <a:cs typeface="Arial"/>
              </a:rPr>
              <a:t>Scatter</a:t>
            </a:r>
            <a:r>
              <a:rPr sz="2800" spc="-210" dirty="0">
                <a:latin typeface="Arial"/>
                <a:cs typeface="Arial"/>
              </a:rPr>
              <a:t> </a:t>
            </a:r>
            <a:r>
              <a:rPr sz="2800" spc="100" dirty="0">
                <a:latin typeface="Arial"/>
                <a:cs typeface="Arial"/>
              </a:rPr>
              <a:t>plots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</a:t>
            </a:r>
            <a:r>
              <a:rPr spc="-180" dirty="0"/>
              <a:t> </a:t>
            </a:r>
            <a:r>
              <a:rPr spc="40" dirty="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49"/>
            <a:ext cx="8016240" cy="4173220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317500" marR="389890" indent="-304800">
              <a:lnSpc>
                <a:spcPts val="2980"/>
              </a:lnSpc>
              <a:spcBef>
                <a:spcPts val="204"/>
              </a:spcBef>
              <a:buClr>
                <a:srgbClr val="6697CC"/>
              </a:buClr>
              <a:buFont typeface="Liberation Sans"/>
              <a:buChar char="•"/>
              <a:tabLst>
                <a:tab pos="316865" algn="l"/>
                <a:tab pos="317500" algn="l"/>
              </a:tabLst>
            </a:pPr>
            <a:r>
              <a:rPr sz="2500" spc="-240" dirty="0">
                <a:latin typeface="Arial"/>
                <a:cs typeface="Arial"/>
              </a:rPr>
              <a:t>R </a:t>
            </a:r>
            <a:r>
              <a:rPr sz="2500" spc="30" dirty="0">
                <a:latin typeface="Arial"/>
                <a:cs typeface="Arial"/>
              </a:rPr>
              <a:t>Programming </a:t>
            </a:r>
            <a:r>
              <a:rPr sz="2500" spc="10" dirty="0">
                <a:latin typeface="Arial"/>
                <a:cs typeface="Arial"/>
              </a:rPr>
              <a:t>language </a:t>
            </a:r>
            <a:r>
              <a:rPr sz="2500" spc="-75" dirty="0">
                <a:latin typeface="Arial"/>
                <a:cs typeface="Arial"/>
              </a:rPr>
              <a:t>has </a:t>
            </a:r>
            <a:r>
              <a:rPr sz="2500" spc="25" dirty="0">
                <a:latin typeface="Arial"/>
                <a:cs typeface="Arial"/>
              </a:rPr>
              <a:t>numerous </a:t>
            </a:r>
            <a:r>
              <a:rPr sz="2500" spc="35" dirty="0">
                <a:latin typeface="Arial"/>
                <a:cs typeface="Arial"/>
              </a:rPr>
              <a:t>libraries</a:t>
            </a:r>
            <a:r>
              <a:rPr sz="2500" spc="-440" dirty="0">
                <a:latin typeface="Arial"/>
                <a:cs typeface="Arial"/>
              </a:rPr>
              <a:t> </a:t>
            </a:r>
            <a:r>
              <a:rPr sz="2500" spc="170" dirty="0">
                <a:latin typeface="Arial"/>
                <a:cs typeface="Arial"/>
              </a:rPr>
              <a:t>to  </a:t>
            </a:r>
            <a:r>
              <a:rPr sz="2500" spc="35" dirty="0">
                <a:latin typeface="Arial"/>
                <a:cs typeface="Arial"/>
              </a:rPr>
              <a:t>create </a:t>
            </a:r>
            <a:r>
              <a:rPr sz="2500" spc="15" dirty="0">
                <a:latin typeface="Arial"/>
                <a:cs typeface="Arial"/>
              </a:rPr>
              <a:t>charts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425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graphs.</a:t>
            </a:r>
            <a:endParaRPr sz="2500">
              <a:latin typeface="Arial"/>
              <a:cs typeface="Arial"/>
            </a:endParaRPr>
          </a:p>
          <a:p>
            <a:pPr marL="317500" marR="184150" indent="-304800">
              <a:lnSpc>
                <a:spcPts val="2980"/>
              </a:lnSpc>
              <a:spcBef>
                <a:spcPts val="710"/>
              </a:spcBef>
              <a:buClr>
                <a:srgbClr val="6697CC"/>
              </a:buClr>
              <a:buFont typeface="Liberation Sans"/>
              <a:buChar char="•"/>
              <a:tabLst>
                <a:tab pos="316865" algn="l"/>
                <a:tab pos="317500" algn="l"/>
              </a:tabLst>
            </a:pPr>
            <a:r>
              <a:rPr sz="2500" spc="-20" dirty="0">
                <a:latin typeface="Arial"/>
                <a:cs typeface="Arial"/>
              </a:rPr>
              <a:t>A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30" dirty="0">
                <a:latin typeface="Arial"/>
                <a:cs typeface="Arial"/>
              </a:rPr>
              <a:t>pie-chart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is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95" dirty="0">
                <a:latin typeface="Arial"/>
                <a:cs typeface="Arial"/>
              </a:rPr>
              <a:t>a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60" dirty="0">
                <a:latin typeface="Arial"/>
                <a:cs typeface="Arial"/>
              </a:rPr>
              <a:t>representation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165" dirty="0">
                <a:latin typeface="Arial"/>
                <a:cs typeface="Arial"/>
              </a:rPr>
              <a:t>of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values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120" dirty="0">
                <a:latin typeface="Arial"/>
                <a:cs typeface="Arial"/>
              </a:rPr>
              <a:t>as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slices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165" dirty="0">
                <a:latin typeface="Arial"/>
                <a:cs typeface="Arial"/>
              </a:rPr>
              <a:t>of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-95" dirty="0">
                <a:latin typeface="Arial"/>
                <a:cs typeface="Arial"/>
              </a:rPr>
              <a:t>a  </a:t>
            </a:r>
            <a:r>
              <a:rPr sz="2500" spc="20" dirty="0">
                <a:latin typeface="Arial"/>
                <a:cs typeface="Arial"/>
              </a:rPr>
              <a:t>circle </a:t>
            </a:r>
            <a:r>
              <a:rPr sz="2500" spc="130" dirty="0">
                <a:latin typeface="Arial"/>
                <a:cs typeface="Arial"/>
              </a:rPr>
              <a:t>with </a:t>
            </a:r>
            <a:r>
              <a:rPr sz="2500" spc="125" dirty="0">
                <a:latin typeface="Arial"/>
                <a:cs typeface="Arial"/>
              </a:rPr>
              <a:t>different</a:t>
            </a:r>
            <a:r>
              <a:rPr sz="2500" spc="-525" dirty="0">
                <a:latin typeface="Arial"/>
                <a:cs typeface="Arial"/>
              </a:rPr>
              <a:t> </a:t>
            </a:r>
            <a:r>
              <a:rPr sz="2500" spc="5" dirty="0">
                <a:latin typeface="Arial"/>
                <a:cs typeface="Arial"/>
              </a:rPr>
              <a:t>colors.</a:t>
            </a:r>
            <a:endParaRPr sz="2500">
              <a:latin typeface="Arial"/>
              <a:cs typeface="Arial"/>
            </a:endParaRPr>
          </a:p>
          <a:p>
            <a:pPr marL="317500" marR="5080" indent="-304800">
              <a:lnSpc>
                <a:spcPct val="100000"/>
              </a:lnSpc>
              <a:spcBef>
                <a:spcPts val="595"/>
              </a:spcBef>
              <a:buClr>
                <a:srgbClr val="6697CC"/>
              </a:buClr>
              <a:buFont typeface="Liberation Sans"/>
              <a:buChar char="•"/>
              <a:tabLst>
                <a:tab pos="316865" algn="l"/>
                <a:tab pos="317500" algn="l"/>
              </a:tabLst>
            </a:pPr>
            <a:r>
              <a:rPr sz="2500" spc="-35" dirty="0">
                <a:latin typeface="Arial"/>
                <a:cs typeface="Arial"/>
              </a:rPr>
              <a:t>The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slices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are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40" dirty="0">
                <a:latin typeface="Arial"/>
                <a:cs typeface="Arial"/>
              </a:rPr>
              <a:t>labeled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and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105" dirty="0">
                <a:latin typeface="Arial"/>
                <a:cs typeface="Arial"/>
              </a:rPr>
              <a:t>the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25" dirty="0">
                <a:latin typeface="Arial"/>
                <a:cs typeface="Arial"/>
              </a:rPr>
              <a:t>numbers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35" dirty="0">
                <a:latin typeface="Arial"/>
                <a:cs typeface="Arial"/>
              </a:rPr>
              <a:t>corresponding  </a:t>
            </a:r>
            <a:r>
              <a:rPr sz="2500" spc="170" dirty="0">
                <a:latin typeface="Arial"/>
                <a:cs typeface="Arial"/>
              </a:rPr>
              <a:t>to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-45" dirty="0">
                <a:latin typeface="Arial"/>
                <a:cs typeface="Arial"/>
              </a:rPr>
              <a:t>each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slice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35" dirty="0">
                <a:latin typeface="Arial"/>
                <a:cs typeface="Arial"/>
              </a:rPr>
              <a:t>is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15" dirty="0">
                <a:latin typeface="Arial"/>
                <a:cs typeface="Arial"/>
              </a:rPr>
              <a:t>also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50" dirty="0">
                <a:latin typeface="Arial"/>
                <a:cs typeface="Arial"/>
              </a:rPr>
              <a:t>represented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50" dirty="0">
                <a:latin typeface="Arial"/>
                <a:cs typeface="Arial"/>
              </a:rPr>
              <a:t>in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105" dirty="0">
                <a:latin typeface="Arial"/>
                <a:cs typeface="Arial"/>
              </a:rPr>
              <a:t>the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30" dirty="0">
                <a:latin typeface="Arial"/>
                <a:cs typeface="Arial"/>
              </a:rPr>
              <a:t>chart.</a:t>
            </a:r>
            <a:endParaRPr sz="2500">
              <a:latin typeface="Arial"/>
              <a:cs typeface="Arial"/>
            </a:endParaRPr>
          </a:p>
          <a:p>
            <a:pPr marL="317500" marR="393700" indent="-304800">
              <a:lnSpc>
                <a:spcPts val="2980"/>
              </a:lnSpc>
              <a:spcBef>
                <a:spcPts val="795"/>
              </a:spcBef>
              <a:buClr>
                <a:srgbClr val="6697CC"/>
              </a:buClr>
              <a:buFont typeface="Liberation Sans"/>
              <a:buChar char="•"/>
              <a:tabLst>
                <a:tab pos="316865" algn="l"/>
                <a:tab pos="317500" algn="l"/>
              </a:tabLst>
            </a:pPr>
            <a:r>
              <a:rPr sz="2500" spc="5" dirty="0">
                <a:latin typeface="Arial"/>
                <a:cs typeface="Arial"/>
              </a:rPr>
              <a:t>In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240" dirty="0">
                <a:latin typeface="Arial"/>
                <a:cs typeface="Arial"/>
              </a:rPr>
              <a:t>R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105" dirty="0">
                <a:latin typeface="Arial"/>
                <a:cs typeface="Arial"/>
              </a:rPr>
              <a:t>the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45" dirty="0">
                <a:latin typeface="Arial"/>
                <a:cs typeface="Arial"/>
              </a:rPr>
              <a:t>pie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50" dirty="0">
                <a:latin typeface="Arial"/>
                <a:cs typeface="Arial"/>
              </a:rPr>
              <a:t>chart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-40" dirty="0">
                <a:latin typeface="Arial"/>
                <a:cs typeface="Arial"/>
              </a:rPr>
              <a:t>is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40" dirty="0">
                <a:latin typeface="Arial"/>
                <a:cs typeface="Arial"/>
              </a:rPr>
              <a:t>created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using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110" dirty="0">
                <a:latin typeface="Arial"/>
                <a:cs typeface="Arial"/>
              </a:rPr>
              <a:t>the</a:t>
            </a:r>
            <a:r>
              <a:rPr sz="2500" spc="-135" dirty="0">
                <a:latin typeface="Arial"/>
                <a:cs typeface="Arial"/>
              </a:rPr>
              <a:t> </a:t>
            </a:r>
            <a:r>
              <a:rPr sz="2500" spc="55" dirty="0">
                <a:latin typeface="Arial"/>
                <a:cs typeface="Arial"/>
              </a:rPr>
              <a:t>pie()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90" dirty="0">
                <a:latin typeface="Arial"/>
                <a:cs typeface="Arial"/>
              </a:rPr>
              <a:t>function  </a:t>
            </a:r>
            <a:r>
              <a:rPr sz="2500" spc="30" dirty="0">
                <a:latin typeface="Arial"/>
                <a:cs typeface="Arial"/>
              </a:rPr>
              <a:t>which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takes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45" dirty="0">
                <a:latin typeface="Arial"/>
                <a:cs typeface="Arial"/>
              </a:rPr>
              <a:t>positive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25" dirty="0">
                <a:latin typeface="Arial"/>
                <a:cs typeface="Arial"/>
              </a:rPr>
              <a:t>numbers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114" dirty="0">
                <a:latin typeface="Arial"/>
                <a:cs typeface="Arial"/>
              </a:rPr>
              <a:t>as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-95" dirty="0">
                <a:latin typeface="Arial"/>
                <a:cs typeface="Arial"/>
              </a:rPr>
              <a:t>a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50" dirty="0">
                <a:latin typeface="Arial"/>
                <a:cs typeface="Arial"/>
              </a:rPr>
              <a:t>vector</a:t>
            </a:r>
            <a:r>
              <a:rPr sz="2500" spc="-114" dirty="0">
                <a:latin typeface="Arial"/>
                <a:cs typeface="Arial"/>
              </a:rPr>
              <a:t> </a:t>
            </a:r>
            <a:r>
              <a:rPr sz="2500" spc="70" dirty="0">
                <a:latin typeface="Arial"/>
                <a:cs typeface="Arial"/>
              </a:rPr>
              <a:t>input.</a:t>
            </a:r>
            <a:endParaRPr sz="2500">
              <a:latin typeface="Arial"/>
              <a:cs typeface="Arial"/>
            </a:endParaRPr>
          </a:p>
          <a:p>
            <a:pPr marL="317500" marR="152400" indent="-304800">
              <a:lnSpc>
                <a:spcPts val="2980"/>
              </a:lnSpc>
              <a:spcBef>
                <a:spcPts val="710"/>
              </a:spcBef>
              <a:buClr>
                <a:srgbClr val="6697CC"/>
              </a:buClr>
              <a:buFont typeface="Liberation Sans"/>
              <a:buChar char="•"/>
              <a:tabLst>
                <a:tab pos="316865" algn="l"/>
                <a:tab pos="317500" algn="l"/>
              </a:tabLst>
            </a:pPr>
            <a:r>
              <a:rPr sz="2500" spc="-35" dirty="0">
                <a:latin typeface="Arial"/>
                <a:cs typeface="Arial"/>
              </a:rPr>
              <a:t>The</a:t>
            </a:r>
            <a:r>
              <a:rPr sz="2500" spc="-125" dirty="0">
                <a:latin typeface="Arial"/>
                <a:cs typeface="Arial"/>
              </a:rPr>
              <a:t> </a:t>
            </a:r>
            <a:r>
              <a:rPr sz="2500" spc="60" dirty="0">
                <a:latin typeface="Arial"/>
                <a:cs typeface="Arial"/>
              </a:rPr>
              <a:t>additional</a:t>
            </a:r>
            <a:r>
              <a:rPr sz="2500" spc="-110" dirty="0">
                <a:latin typeface="Arial"/>
                <a:cs typeface="Arial"/>
              </a:rPr>
              <a:t> </a:t>
            </a:r>
            <a:r>
              <a:rPr sz="2500" spc="30" dirty="0">
                <a:latin typeface="Arial"/>
                <a:cs typeface="Arial"/>
              </a:rPr>
              <a:t>parameters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10" dirty="0">
                <a:latin typeface="Arial"/>
                <a:cs typeface="Arial"/>
              </a:rPr>
              <a:t>are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spc="-10" dirty="0">
                <a:latin typeface="Arial"/>
                <a:cs typeface="Arial"/>
              </a:rPr>
              <a:t>used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170" dirty="0">
                <a:latin typeface="Arial"/>
                <a:cs typeface="Arial"/>
              </a:rPr>
              <a:t>to</a:t>
            </a:r>
            <a:r>
              <a:rPr sz="2500" spc="-130" dirty="0">
                <a:latin typeface="Arial"/>
                <a:cs typeface="Arial"/>
              </a:rPr>
              <a:t> </a:t>
            </a:r>
            <a:r>
              <a:rPr sz="2500" spc="85" dirty="0">
                <a:latin typeface="Arial"/>
                <a:cs typeface="Arial"/>
              </a:rPr>
              <a:t>control</a:t>
            </a:r>
            <a:r>
              <a:rPr sz="2500" spc="-120" dirty="0">
                <a:latin typeface="Arial"/>
                <a:cs typeface="Arial"/>
              </a:rPr>
              <a:t> </a:t>
            </a:r>
            <a:r>
              <a:rPr sz="2500" dirty="0">
                <a:latin typeface="Arial"/>
                <a:cs typeface="Arial"/>
              </a:rPr>
              <a:t>labels,  </a:t>
            </a:r>
            <a:r>
              <a:rPr sz="2500" spc="5" dirty="0">
                <a:latin typeface="Arial"/>
                <a:cs typeface="Arial"/>
              </a:rPr>
              <a:t>color, </a:t>
            </a:r>
            <a:r>
              <a:rPr sz="2500" spc="155" dirty="0">
                <a:latin typeface="Arial"/>
                <a:cs typeface="Arial"/>
              </a:rPr>
              <a:t>title</a:t>
            </a:r>
            <a:r>
              <a:rPr sz="2500" spc="-250" dirty="0">
                <a:latin typeface="Arial"/>
                <a:cs typeface="Arial"/>
              </a:rPr>
              <a:t> </a:t>
            </a:r>
            <a:r>
              <a:rPr sz="2500" spc="25" dirty="0">
                <a:latin typeface="Arial"/>
                <a:cs typeface="Arial"/>
              </a:rPr>
              <a:t>etc.</a:t>
            </a:r>
            <a:endParaRPr sz="25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 </a:t>
            </a:r>
            <a:r>
              <a:rPr spc="40" dirty="0"/>
              <a:t>charts </a:t>
            </a:r>
            <a:r>
              <a:rPr spc="-220" dirty="0"/>
              <a:t>–</a:t>
            </a:r>
            <a:r>
              <a:rPr spc="-535" dirty="0"/>
              <a:t> </a:t>
            </a:r>
            <a:r>
              <a:rPr spc="-1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8910"/>
            <a:ext cx="8110855" cy="4599940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76860" indent="-264160">
              <a:lnSpc>
                <a:spcPct val="100000"/>
              </a:lnSpc>
              <a:spcBef>
                <a:spcPts val="720"/>
              </a:spcBef>
              <a:buClr>
                <a:srgbClr val="6697CC"/>
              </a:buClr>
              <a:buFont typeface="Liberation Sans"/>
              <a:buChar char="•"/>
              <a:tabLst>
                <a:tab pos="276225" algn="l"/>
                <a:tab pos="276860" algn="l"/>
              </a:tabLst>
            </a:pPr>
            <a:r>
              <a:rPr sz="2150" spc="-30" dirty="0">
                <a:latin typeface="Arial"/>
                <a:cs typeface="Arial"/>
              </a:rPr>
              <a:t>The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35" dirty="0">
                <a:latin typeface="Arial"/>
                <a:cs typeface="Arial"/>
              </a:rPr>
              <a:t>basic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20" dirty="0">
                <a:latin typeface="Arial"/>
                <a:cs typeface="Arial"/>
              </a:rPr>
              <a:t>syntax</a:t>
            </a:r>
            <a:r>
              <a:rPr sz="2150" spc="-120" dirty="0">
                <a:latin typeface="Arial"/>
                <a:cs typeface="Arial"/>
              </a:rPr>
              <a:t> </a:t>
            </a:r>
            <a:r>
              <a:rPr sz="2150" spc="135" dirty="0">
                <a:latin typeface="Arial"/>
                <a:cs typeface="Arial"/>
              </a:rPr>
              <a:t>for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40" dirty="0">
                <a:latin typeface="Arial"/>
                <a:cs typeface="Arial"/>
              </a:rPr>
              <a:t>creating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-75" dirty="0">
                <a:latin typeface="Arial"/>
                <a:cs typeface="Arial"/>
              </a:rPr>
              <a:t>a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25" dirty="0">
                <a:latin typeface="Arial"/>
                <a:cs typeface="Arial"/>
              </a:rPr>
              <a:t>pie-chart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10" dirty="0">
                <a:latin typeface="Arial"/>
                <a:cs typeface="Arial"/>
              </a:rPr>
              <a:t>using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100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204" dirty="0">
                <a:latin typeface="Arial"/>
                <a:cs typeface="Arial"/>
              </a:rPr>
              <a:t>R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is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−</a:t>
            </a:r>
            <a:endParaRPr sz="2150">
              <a:latin typeface="Arial"/>
              <a:cs typeface="Arial"/>
            </a:endParaRPr>
          </a:p>
          <a:p>
            <a:pPr marL="276225">
              <a:lnSpc>
                <a:spcPct val="100000"/>
              </a:lnSpc>
              <a:spcBef>
                <a:spcPts val="620"/>
              </a:spcBef>
            </a:pPr>
            <a:r>
              <a:rPr sz="2150" b="1" spc="-10" dirty="0">
                <a:latin typeface="Courier New"/>
                <a:cs typeface="Courier New"/>
              </a:rPr>
              <a:t>pie(x, labels, radius, main, col,</a:t>
            </a:r>
            <a:r>
              <a:rPr sz="2150" b="1" spc="-95" dirty="0">
                <a:latin typeface="Courier New"/>
                <a:cs typeface="Courier New"/>
              </a:rPr>
              <a:t> </a:t>
            </a:r>
            <a:r>
              <a:rPr sz="2150" b="1" spc="-10" dirty="0">
                <a:latin typeface="Courier New"/>
                <a:cs typeface="Courier New"/>
              </a:rPr>
              <a:t>clockwise)</a:t>
            </a:r>
            <a:endParaRPr sz="2150">
              <a:latin typeface="Courier New"/>
              <a:cs typeface="Courier New"/>
            </a:endParaRPr>
          </a:p>
          <a:p>
            <a:pPr marL="276860" indent="-264160">
              <a:lnSpc>
                <a:spcPct val="100000"/>
              </a:lnSpc>
              <a:spcBef>
                <a:spcPts val="610"/>
              </a:spcBef>
              <a:buClr>
                <a:srgbClr val="6697CC"/>
              </a:buClr>
              <a:buFont typeface="Liberation Sans"/>
              <a:buChar char="•"/>
              <a:tabLst>
                <a:tab pos="276225" algn="l"/>
                <a:tab pos="276860" algn="l"/>
              </a:tabLst>
            </a:pPr>
            <a:r>
              <a:rPr sz="2150" spc="45" dirty="0">
                <a:latin typeface="Arial"/>
                <a:cs typeface="Arial"/>
              </a:rPr>
              <a:t>Following</a:t>
            </a:r>
            <a:r>
              <a:rPr sz="2150" spc="-125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is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45" dirty="0">
                <a:latin typeface="Arial"/>
                <a:cs typeface="Arial"/>
              </a:rPr>
              <a:t>description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150" dirty="0">
                <a:latin typeface="Arial"/>
                <a:cs typeface="Arial"/>
              </a:rPr>
              <a:t>of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30" dirty="0">
                <a:latin typeface="Arial"/>
                <a:cs typeface="Arial"/>
              </a:rPr>
              <a:t>parameters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5" dirty="0">
                <a:latin typeface="Arial"/>
                <a:cs typeface="Arial"/>
              </a:rPr>
              <a:t>used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-45" dirty="0">
                <a:latin typeface="Arial"/>
                <a:cs typeface="Arial"/>
              </a:rPr>
              <a:t>−</a:t>
            </a:r>
            <a:endParaRPr sz="2150">
              <a:latin typeface="Arial"/>
              <a:cs typeface="Arial"/>
            </a:endParaRPr>
          </a:p>
          <a:p>
            <a:pPr marL="584200" marR="460375" lvl="1" indent="-219710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Liberation Sans"/>
              <a:buChar char="–"/>
              <a:tabLst>
                <a:tab pos="584200" algn="l"/>
              </a:tabLst>
            </a:pPr>
            <a:r>
              <a:rPr sz="2150" spc="20" dirty="0">
                <a:latin typeface="Arial"/>
                <a:cs typeface="Arial"/>
              </a:rPr>
              <a:t>x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35" dirty="0">
                <a:latin typeface="Arial"/>
                <a:cs typeface="Arial"/>
              </a:rPr>
              <a:t>is</a:t>
            </a:r>
            <a:r>
              <a:rPr sz="2150" spc="-95" dirty="0">
                <a:latin typeface="Arial"/>
                <a:cs typeface="Arial"/>
              </a:rPr>
              <a:t> </a:t>
            </a:r>
            <a:r>
              <a:rPr sz="2150" spc="-75" dirty="0">
                <a:latin typeface="Arial"/>
                <a:cs typeface="Arial"/>
              </a:rPr>
              <a:t>a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45" dirty="0">
                <a:latin typeface="Arial"/>
                <a:cs typeface="Arial"/>
              </a:rPr>
              <a:t>vector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40" dirty="0">
                <a:latin typeface="Arial"/>
                <a:cs typeface="Arial"/>
              </a:rPr>
              <a:t>containing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30" dirty="0">
                <a:latin typeface="Arial"/>
                <a:cs typeface="Arial"/>
              </a:rPr>
              <a:t>numeric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10" dirty="0">
                <a:latin typeface="Arial"/>
                <a:cs typeface="Arial"/>
              </a:rPr>
              <a:t>values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5" dirty="0">
                <a:latin typeface="Arial"/>
                <a:cs typeface="Arial"/>
              </a:rPr>
              <a:t>used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45" dirty="0">
                <a:latin typeface="Arial"/>
                <a:cs typeface="Arial"/>
              </a:rPr>
              <a:t>in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100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40" dirty="0">
                <a:latin typeface="Arial"/>
                <a:cs typeface="Arial"/>
              </a:rPr>
              <a:t>pie  </a:t>
            </a:r>
            <a:r>
              <a:rPr sz="2150" spc="30" dirty="0">
                <a:latin typeface="Arial"/>
                <a:cs typeface="Arial"/>
              </a:rPr>
              <a:t>chart.</a:t>
            </a:r>
            <a:endParaRPr sz="2150">
              <a:latin typeface="Arial"/>
              <a:cs typeface="Arial"/>
            </a:endParaRPr>
          </a:p>
          <a:p>
            <a:pPr marL="584200" lvl="1" indent="-219710">
              <a:lnSpc>
                <a:spcPct val="100000"/>
              </a:lnSpc>
              <a:spcBef>
                <a:spcPts val="530"/>
              </a:spcBef>
              <a:buClr>
                <a:srgbClr val="6697CC"/>
              </a:buClr>
              <a:buFont typeface="Liberation Sans"/>
              <a:buChar char="–"/>
              <a:tabLst>
                <a:tab pos="584200" algn="l"/>
              </a:tabLst>
            </a:pPr>
            <a:r>
              <a:rPr sz="2150" spc="10" dirty="0">
                <a:latin typeface="Arial"/>
                <a:cs typeface="Arial"/>
              </a:rPr>
              <a:t>labels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is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5" dirty="0">
                <a:latin typeface="Arial"/>
                <a:cs typeface="Arial"/>
              </a:rPr>
              <a:t>used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150" dirty="0">
                <a:latin typeface="Arial"/>
                <a:cs typeface="Arial"/>
              </a:rPr>
              <a:t>to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15" dirty="0">
                <a:latin typeface="Arial"/>
                <a:cs typeface="Arial"/>
              </a:rPr>
              <a:t>give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45" dirty="0">
                <a:latin typeface="Arial"/>
                <a:cs typeface="Arial"/>
              </a:rPr>
              <a:t>description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140" dirty="0">
                <a:latin typeface="Arial"/>
                <a:cs typeface="Arial"/>
              </a:rPr>
              <a:t>to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100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35" dirty="0">
                <a:latin typeface="Arial"/>
                <a:cs typeface="Arial"/>
              </a:rPr>
              <a:t>slices.</a:t>
            </a:r>
            <a:endParaRPr sz="2150">
              <a:latin typeface="Arial"/>
              <a:cs typeface="Arial"/>
            </a:endParaRPr>
          </a:p>
          <a:p>
            <a:pPr marL="584200" marR="5080" lvl="1" indent="-219710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Liberation Sans"/>
              <a:buChar char="–"/>
              <a:tabLst>
                <a:tab pos="584200" algn="l"/>
              </a:tabLst>
            </a:pPr>
            <a:r>
              <a:rPr sz="2150" spc="10" dirty="0">
                <a:latin typeface="Arial"/>
                <a:cs typeface="Arial"/>
              </a:rPr>
              <a:t>radius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20" dirty="0">
                <a:latin typeface="Arial"/>
                <a:cs typeface="Arial"/>
              </a:rPr>
              <a:t>indicates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10" dirty="0">
                <a:latin typeface="Arial"/>
                <a:cs typeface="Arial"/>
              </a:rPr>
              <a:t>radius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150" dirty="0">
                <a:latin typeface="Arial"/>
                <a:cs typeface="Arial"/>
              </a:rPr>
              <a:t>of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100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20" dirty="0">
                <a:latin typeface="Arial"/>
                <a:cs typeface="Arial"/>
              </a:rPr>
              <a:t>circle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150" dirty="0">
                <a:latin typeface="Arial"/>
                <a:cs typeface="Arial"/>
              </a:rPr>
              <a:t>of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100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40" dirty="0">
                <a:latin typeface="Arial"/>
                <a:cs typeface="Arial"/>
              </a:rPr>
              <a:t>pie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15" dirty="0">
                <a:latin typeface="Arial"/>
                <a:cs typeface="Arial"/>
              </a:rPr>
              <a:t>chart.(value  </a:t>
            </a:r>
            <a:r>
              <a:rPr sz="2150" spc="65" dirty="0">
                <a:latin typeface="Arial"/>
                <a:cs typeface="Arial"/>
              </a:rPr>
              <a:t>between </a:t>
            </a:r>
            <a:r>
              <a:rPr sz="2150" spc="-20" dirty="0">
                <a:latin typeface="Arial"/>
                <a:cs typeface="Arial"/>
              </a:rPr>
              <a:t>−1 </a:t>
            </a:r>
            <a:r>
              <a:rPr sz="2150" spc="5" dirty="0">
                <a:latin typeface="Arial"/>
                <a:cs typeface="Arial"/>
              </a:rPr>
              <a:t>and</a:t>
            </a:r>
            <a:r>
              <a:rPr sz="2150" spc="-375" dirty="0">
                <a:latin typeface="Arial"/>
                <a:cs typeface="Arial"/>
              </a:rPr>
              <a:t> </a:t>
            </a:r>
            <a:r>
              <a:rPr sz="2150" spc="-35" dirty="0">
                <a:latin typeface="Arial"/>
                <a:cs typeface="Arial"/>
              </a:rPr>
              <a:t>+1).</a:t>
            </a:r>
            <a:endParaRPr sz="2150">
              <a:latin typeface="Arial"/>
              <a:cs typeface="Arial"/>
            </a:endParaRPr>
          </a:p>
          <a:p>
            <a:pPr marL="584200" lvl="1" indent="-219710">
              <a:lnSpc>
                <a:spcPct val="100000"/>
              </a:lnSpc>
              <a:spcBef>
                <a:spcPts val="530"/>
              </a:spcBef>
              <a:buClr>
                <a:srgbClr val="6697CC"/>
              </a:buClr>
              <a:buFont typeface="Liberation Sans"/>
              <a:buChar char="–"/>
              <a:tabLst>
                <a:tab pos="584200" algn="l"/>
              </a:tabLst>
            </a:pPr>
            <a:r>
              <a:rPr sz="2150" spc="15" dirty="0">
                <a:latin typeface="Arial"/>
                <a:cs typeface="Arial"/>
              </a:rPr>
              <a:t>main</a:t>
            </a:r>
            <a:r>
              <a:rPr sz="2150" spc="-120" dirty="0">
                <a:latin typeface="Arial"/>
                <a:cs typeface="Arial"/>
              </a:rPr>
              <a:t> </a:t>
            </a:r>
            <a:r>
              <a:rPr sz="2150" spc="20" dirty="0">
                <a:latin typeface="Arial"/>
                <a:cs typeface="Arial"/>
              </a:rPr>
              <a:t>indicates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140" dirty="0">
                <a:latin typeface="Arial"/>
                <a:cs typeface="Arial"/>
              </a:rPr>
              <a:t>title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150" dirty="0">
                <a:latin typeface="Arial"/>
                <a:cs typeface="Arial"/>
              </a:rPr>
              <a:t>of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30" dirty="0">
                <a:latin typeface="Arial"/>
                <a:cs typeface="Arial"/>
              </a:rPr>
              <a:t>chart.</a:t>
            </a:r>
            <a:endParaRPr sz="2150">
              <a:latin typeface="Arial"/>
              <a:cs typeface="Arial"/>
            </a:endParaRPr>
          </a:p>
          <a:p>
            <a:pPr marL="584200" lvl="1" indent="-219710">
              <a:lnSpc>
                <a:spcPct val="100000"/>
              </a:lnSpc>
              <a:spcBef>
                <a:spcPts val="540"/>
              </a:spcBef>
              <a:buClr>
                <a:srgbClr val="6697CC"/>
              </a:buClr>
              <a:buFont typeface="Liberation Sans"/>
              <a:buChar char="–"/>
              <a:tabLst>
                <a:tab pos="584200" algn="l"/>
              </a:tabLst>
            </a:pPr>
            <a:r>
              <a:rPr sz="2150" spc="25" dirty="0">
                <a:latin typeface="Arial"/>
                <a:cs typeface="Arial"/>
              </a:rPr>
              <a:t>col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20" dirty="0">
                <a:latin typeface="Arial"/>
                <a:cs typeface="Arial"/>
              </a:rPr>
              <a:t>indicates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50" dirty="0">
                <a:latin typeface="Arial"/>
                <a:cs typeface="Arial"/>
              </a:rPr>
              <a:t>color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65" dirty="0">
                <a:latin typeface="Arial"/>
                <a:cs typeface="Arial"/>
              </a:rPr>
              <a:t>palette.</a:t>
            </a:r>
            <a:endParaRPr sz="2150">
              <a:latin typeface="Arial"/>
              <a:cs typeface="Arial"/>
            </a:endParaRPr>
          </a:p>
          <a:p>
            <a:pPr marL="584200" marR="267970" lvl="1" indent="-219710">
              <a:lnSpc>
                <a:spcPct val="100000"/>
              </a:lnSpc>
              <a:spcBef>
                <a:spcPts val="530"/>
              </a:spcBef>
              <a:buClr>
                <a:srgbClr val="6697CC"/>
              </a:buClr>
              <a:buFont typeface="Liberation Sans"/>
              <a:buChar char="–"/>
              <a:tabLst>
                <a:tab pos="584200" algn="l"/>
              </a:tabLst>
            </a:pPr>
            <a:r>
              <a:rPr sz="2150" spc="10" dirty="0">
                <a:latin typeface="Arial"/>
                <a:cs typeface="Arial"/>
              </a:rPr>
              <a:t>clockwise</a:t>
            </a:r>
            <a:r>
              <a:rPr sz="2150" spc="-110" dirty="0">
                <a:latin typeface="Arial"/>
                <a:cs typeface="Arial"/>
              </a:rPr>
              <a:t> </a:t>
            </a:r>
            <a:r>
              <a:rPr sz="2150" spc="-30" dirty="0">
                <a:latin typeface="Arial"/>
                <a:cs typeface="Arial"/>
              </a:rPr>
              <a:t>is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-75" dirty="0">
                <a:latin typeface="Arial"/>
                <a:cs typeface="Arial"/>
              </a:rPr>
              <a:t>a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30" dirty="0">
                <a:latin typeface="Arial"/>
                <a:cs typeface="Arial"/>
              </a:rPr>
              <a:t>logical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10" dirty="0">
                <a:latin typeface="Arial"/>
                <a:cs typeface="Arial"/>
              </a:rPr>
              <a:t>value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45" dirty="0">
                <a:latin typeface="Arial"/>
                <a:cs typeface="Arial"/>
              </a:rPr>
              <a:t>indicating</a:t>
            </a:r>
            <a:r>
              <a:rPr sz="2150" spc="-114" dirty="0">
                <a:latin typeface="Arial"/>
                <a:cs typeface="Arial"/>
              </a:rPr>
              <a:t> </a:t>
            </a:r>
            <a:r>
              <a:rPr sz="2150" spc="145" dirty="0">
                <a:latin typeface="Arial"/>
                <a:cs typeface="Arial"/>
              </a:rPr>
              <a:t>if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95" dirty="0">
                <a:latin typeface="Arial"/>
                <a:cs typeface="Arial"/>
              </a:rPr>
              <a:t>the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-25" dirty="0">
                <a:latin typeface="Arial"/>
                <a:cs typeface="Arial"/>
              </a:rPr>
              <a:t>slices</a:t>
            </a:r>
            <a:r>
              <a:rPr sz="2150" spc="-105" dirty="0">
                <a:latin typeface="Arial"/>
                <a:cs typeface="Arial"/>
              </a:rPr>
              <a:t> </a:t>
            </a:r>
            <a:r>
              <a:rPr sz="2150" spc="5" dirty="0">
                <a:latin typeface="Arial"/>
                <a:cs typeface="Arial"/>
              </a:rPr>
              <a:t>are</a:t>
            </a:r>
            <a:r>
              <a:rPr sz="2150" spc="-100" dirty="0">
                <a:latin typeface="Arial"/>
                <a:cs typeface="Arial"/>
              </a:rPr>
              <a:t> </a:t>
            </a:r>
            <a:r>
              <a:rPr sz="2150" spc="40" dirty="0">
                <a:latin typeface="Arial"/>
                <a:cs typeface="Arial"/>
              </a:rPr>
              <a:t>drawn  </a:t>
            </a:r>
            <a:r>
              <a:rPr sz="2150" spc="10" dirty="0">
                <a:latin typeface="Arial"/>
                <a:cs typeface="Arial"/>
              </a:rPr>
              <a:t>clockwise </a:t>
            </a:r>
            <a:r>
              <a:rPr sz="2150" spc="90" dirty="0">
                <a:latin typeface="Arial"/>
                <a:cs typeface="Arial"/>
              </a:rPr>
              <a:t>or </a:t>
            </a:r>
            <a:r>
              <a:rPr sz="2150" spc="70" dirty="0">
                <a:latin typeface="Arial"/>
                <a:cs typeface="Arial"/>
              </a:rPr>
              <a:t>anti</a:t>
            </a:r>
            <a:r>
              <a:rPr sz="2150" spc="-440" dirty="0">
                <a:latin typeface="Arial"/>
                <a:cs typeface="Arial"/>
              </a:rPr>
              <a:t> </a:t>
            </a:r>
            <a:r>
              <a:rPr sz="2150" dirty="0">
                <a:latin typeface="Arial"/>
                <a:cs typeface="Arial"/>
              </a:rPr>
              <a:t>clockwise.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 </a:t>
            </a:r>
            <a:r>
              <a:rPr spc="40" dirty="0"/>
              <a:t>charts </a:t>
            </a:r>
            <a:r>
              <a:rPr spc="-220" dirty="0"/>
              <a:t>–</a:t>
            </a:r>
            <a:r>
              <a:rPr spc="-53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809" y="1449578"/>
            <a:ext cx="6604000" cy="3904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579370">
              <a:lnSpc>
                <a:spcPct val="125200"/>
              </a:lnSpc>
              <a:spcBef>
                <a:spcPts val="95"/>
              </a:spcBef>
            </a:pPr>
            <a:r>
              <a:rPr sz="1850" b="1" spc="10" dirty="0">
                <a:latin typeface="Courier New"/>
                <a:cs typeface="Courier New"/>
              </a:rPr>
              <a:t># Create data for </a:t>
            </a:r>
            <a:r>
              <a:rPr sz="1850" b="1" spc="15" dirty="0">
                <a:latin typeface="Courier New"/>
                <a:cs typeface="Courier New"/>
              </a:rPr>
              <a:t>the </a:t>
            </a:r>
            <a:r>
              <a:rPr sz="1850" b="1" spc="10" dirty="0">
                <a:latin typeface="Courier New"/>
                <a:cs typeface="Courier New"/>
              </a:rPr>
              <a:t>graph.  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x &lt;- c(21, </a:t>
            </a:r>
            <a:r>
              <a:rPr sz="1850" b="1" spc="15" dirty="0">
                <a:latin typeface="Courier New"/>
                <a:cs typeface="Courier New"/>
              </a:rPr>
              <a:t>62, </a:t>
            </a:r>
            <a:r>
              <a:rPr sz="1850" b="1" spc="10" dirty="0">
                <a:latin typeface="Courier New"/>
                <a:cs typeface="Courier New"/>
              </a:rPr>
              <a:t>10,</a:t>
            </a:r>
            <a:r>
              <a:rPr sz="1850" b="1" spc="1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53)</a:t>
            </a:r>
            <a:endParaRPr sz="1850" dirty="0">
              <a:latin typeface="Courier New"/>
              <a:cs typeface="Courier New"/>
            </a:endParaRPr>
          </a:p>
          <a:p>
            <a:pPr marL="12700" marR="5080">
              <a:lnSpc>
                <a:spcPct val="100899"/>
              </a:lnSpc>
              <a:spcBef>
                <a:spcPts val="540"/>
              </a:spcBef>
            </a:pPr>
            <a:r>
              <a:rPr sz="1850" b="1" spc="10" dirty="0">
                <a:latin typeface="Courier New"/>
                <a:cs typeface="Courier New"/>
              </a:rPr>
              <a:t>labels &lt;- </a:t>
            </a:r>
            <a:r>
              <a:rPr sz="1850" b="1" spc="15" dirty="0">
                <a:latin typeface="Courier New"/>
                <a:cs typeface="Courier New"/>
              </a:rPr>
              <a:t>c("London", </a:t>
            </a:r>
            <a:r>
              <a:rPr sz="1850" b="1" spc="10" dirty="0">
                <a:latin typeface="Courier New"/>
                <a:cs typeface="Courier New"/>
              </a:rPr>
              <a:t>"New York", "Singapore",  "Mumbai")</a:t>
            </a:r>
            <a:endParaRPr sz="18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400" dirty="0">
              <a:latin typeface="Courier New"/>
              <a:cs typeface="Courier New"/>
            </a:endParaRPr>
          </a:p>
          <a:p>
            <a:pPr marL="12700" marR="4152900">
              <a:lnSpc>
                <a:spcPct val="125200"/>
              </a:lnSpc>
            </a:pPr>
            <a:r>
              <a:rPr sz="1850" b="1" spc="10" dirty="0">
                <a:latin typeface="Courier New"/>
                <a:cs typeface="Courier New"/>
              </a:rPr>
              <a:t># </a:t>
            </a:r>
            <a:r>
              <a:rPr sz="1850" b="1" spc="15" dirty="0">
                <a:latin typeface="Courier New"/>
                <a:cs typeface="Courier New"/>
              </a:rPr>
              <a:t>Plot the</a:t>
            </a:r>
            <a:r>
              <a:rPr sz="1850" b="1" spc="-5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chart.  pie(x,labels)</a:t>
            </a:r>
            <a:endParaRPr sz="185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 dirty="0">
              <a:latin typeface="Courier New"/>
              <a:cs typeface="Courier New"/>
            </a:endParaRPr>
          </a:p>
          <a:p>
            <a:pPr marL="12700" marR="4295140">
              <a:lnSpc>
                <a:spcPct val="125200"/>
              </a:lnSpc>
            </a:pPr>
            <a:r>
              <a:rPr sz="1850" b="1" spc="10" dirty="0">
                <a:latin typeface="Courier New"/>
                <a:cs typeface="Courier New"/>
              </a:rPr>
              <a:t># </a:t>
            </a:r>
            <a:r>
              <a:rPr sz="1850" b="1" spc="15" dirty="0">
                <a:latin typeface="Courier New"/>
                <a:cs typeface="Courier New"/>
              </a:rPr>
              <a:t>Save the</a:t>
            </a:r>
            <a:r>
              <a:rPr sz="1850" b="1" spc="-70" dirty="0">
                <a:latin typeface="Courier New"/>
                <a:cs typeface="Courier New"/>
              </a:rPr>
              <a:t> </a:t>
            </a:r>
            <a:r>
              <a:rPr sz="1850" b="1" spc="15" dirty="0">
                <a:latin typeface="Courier New"/>
                <a:cs typeface="Courier New"/>
              </a:rPr>
              <a:t>file.  </a:t>
            </a:r>
            <a:r>
              <a:rPr sz="1850" b="1" spc="10" dirty="0">
                <a:latin typeface="Courier New"/>
                <a:cs typeface="Courier New"/>
              </a:rPr>
              <a:t>dev.off()</a:t>
            </a:r>
            <a:endParaRPr sz="185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 </a:t>
            </a:r>
            <a:r>
              <a:rPr spc="40" dirty="0"/>
              <a:t>charts </a:t>
            </a:r>
            <a:r>
              <a:rPr spc="-220" dirty="0"/>
              <a:t>–</a:t>
            </a:r>
            <a:r>
              <a:rPr spc="-535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88639" y="2524125"/>
            <a:ext cx="3228975" cy="25050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</a:t>
            </a:r>
            <a:r>
              <a:rPr spc="-180" dirty="0"/>
              <a:t> </a:t>
            </a:r>
            <a:r>
              <a:rPr spc="85" dirty="0"/>
              <a:t>chart</a:t>
            </a:r>
            <a:r>
              <a:rPr spc="-170" dirty="0"/>
              <a:t> </a:t>
            </a:r>
            <a:r>
              <a:rPr spc="45" dirty="0"/>
              <a:t>example</a:t>
            </a:r>
            <a:r>
              <a:rPr spc="-180" dirty="0"/>
              <a:t> </a:t>
            </a:r>
            <a:r>
              <a:rPr spc="200" dirty="0"/>
              <a:t>with</a:t>
            </a:r>
            <a:r>
              <a:rPr spc="-180" dirty="0"/>
              <a:t> </a:t>
            </a:r>
            <a:r>
              <a:rPr spc="40" dirty="0"/>
              <a:t>colors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5809" y="1449578"/>
            <a:ext cx="7604759" cy="4545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580129">
              <a:lnSpc>
                <a:spcPct val="125200"/>
              </a:lnSpc>
              <a:spcBef>
                <a:spcPts val="95"/>
              </a:spcBef>
            </a:pPr>
            <a:r>
              <a:rPr sz="1850" b="1" spc="10" dirty="0">
                <a:latin typeface="Courier New"/>
                <a:cs typeface="Courier New"/>
              </a:rPr>
              <a:t># Create data for </a:t>
            </a:r>
            <a:r>
              <a:rPr sz="1850" b="1" spc="15" dirty="0">
                <a:latin typeface="Courier New"/>
                <a:cs typeface="Courier New"/>
              </a:rPr>
              <a:t>the </a:t>
            </a:r>
            <a:r>
              <a:rPr sz="1850" b="1" spc="10" dirty="0">
                <a:latin typeface="Courier New"/>
                <a:cs typeface="Courier New"/>
              </a:rPr>
              <a:t>graph.  </a:t>
            </a:r>
            <a:r>
              <a:rPr sz="1850" b="1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x &lt;- c(21, </a:t>
            </a:r>
            <a:r>
              <a:rPr sz="1850" b="1" spc="15" dirty="0">
                <a:latin typeface="Courier New"/>
                <a:cs typeface="Courier New"/>
              </a:rPr>
              <a:t>62, </a:t>
            </a:r>
            <a:r>
              <a:rPr sz="1850" b="1" spc="10" dirty="0">
                <a:latin typeface="Courier New"/>
                <a:cs typeface="Courier New"/>
              </a:rPr>
              <a:t>10,</a:t>
            </a:r>
            <a:r>
              <a:rPr sz="1850" b="1" spc="15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53)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850" b="1" spc="10" dirty="0">
                <a:latin typeface="Courier New"/>
                <a:cs typeface="Courier New"/>
              </a:rPr>
              <a:t>labels &lt;- </a:t>
            </a:r>
            <a:r>
              <a:rPr sz="1850" b="1" spc="15" dirty="0">
                <a:latin typeface="Courier New"/>
                <a:cs typeface="Courier New"/>
              </a:rPr>
              <a:t>c("Pune", </a:t>
            </a:r>
            <a:r>
              <a:rPr sz="1850" b="1" spc="10" dirty="0">
                <a:latin typeface="Courier New"/>
                <a:cs typeface="Courier New"/>
              </a:rPr>
              <a:t>"Nashik", "Aurangabad",</a:t>
            </a:r>
            <a:r>
              <a:rPr sz="1850" b="1" spc="11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"Mumbai")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450">
              <a:latin typeface="Courier New"/>
              <a:cs typeface="Courier New"/>
            </a:endParaRPr>
          </a:p>
          <a:p>
            <a:pPr marL="12700" marR="2435225">
              <a:lnSpc>
                <a:spcPct val="124800"/>
              </a:lnSpc>
            </a:pPr>
            <a:r>
              <a:rPr sz="1850" b="1" spc="10" dirty="0">
                <a:latin typeface="Courier New"/>
                <a:cs typeface="Courier New"/>
              </a:rPr>
              <a:t># </a:t>
            </a:r>
            <a:r>
              <a:rPr sz="1850" b="1" spc="15" dirty="0">
                <a:latin typeface="Courier New"/>
                <a:cs typeface="Courier New"/>
              </a:rPr>
              <a:t>Give the chart file </a:t>
            </a:r>
            <a:r>
              <a:rPr sz="1850" b="1" spc="10" dirty="0">
                <a:latin typeface="Courier New"/>
                <a:cs typeface="Courier New"/>
              </a:rPr>
              <a:t>a name.  png(file =</a:t>
            </a:r>
            <a:r>
              <a:rPr sz="1850" b="1" spc="-40" dirty="0">
                <a:latin typeface="Courier New"/>
                <a:cs typeface="Courier New"/>
              </a:rPr>
              <a:t> </a:t>
            </a:r>
            <a:r>
              <a:rPr sz="1850" b="1" spc="15" dirty="0">
                <a:latin typeface="Courier New"/>
                <a:cs typeface="Courier New"/>
              </a:rPr>
              <a:t>"city_title_colours.png")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50" b="1" spc="10" dirty="0">
                <a:latin typeface="Courier New"/>
                <a:cs typeface="Courier New"/>
              </a:rPr>
              <a:t># </a:t>
            </a:r>
            <a:r>
              <a:rPr sz="1850" b="1" spc="15" dirty="0">
                <a:latin typeface="Courier New"/>
                <a:cs typeface="Courier New"/>
              </a:rPr>
              <a:t>Plot the chart with </a:t>
            </a:r>
            <a:r>
              <a:rPr sz="1850" b="1" spc="10" dirty="0">
                <a:latin typeface="Courier New"/>
                <a:cs typeface="Courier New"/>
              </a:rPr>
              <a:t>title </a:t>
            </a:r>
            <a:r>
              <a:rPr sz="1850" b="1" spc="15" dirty="0">
                <a:latin typeface="Courier New"/>
                <a:cs typeface="Courier New"/>
              </a:rPr>
              <a:t>and </a:t>
            </a:r>
            <a:r>
              <a:rPr sz="1850" b="1" spc="10" dirty="0">
                <a:latin typeface="Courier New"/>
                <a:cs typeface="Courier New"/>
              </a:rPr>
              <a:t>rainbow </a:t>
            </a:r>
            <a:r>
              <a:rPr sz="1850" b="1" spc="15" dirty="0">
                <a:latin typeface="Courier New"/>
                <a:cs typeface="Courier New"/>
              </a:rPr>
              <a:t>color</a:t>
            </a:r>
            <a:r>
              <a:rPr sz="1850" b="1" spc="40" dirty="0">
                <a:latin typeface="Courier New"/>
                <a:cs typeface="Courier New"/>
              </a:rPr>
              <a:t> </a:t>
            </a:r>
            <a:r>
              <a:rPr sz="1850" b="1" spc="10" dirty="0">
                <a:latin typeface="Courier New"/>
                <a:cs typeface="Courier New"/>
              </a:rPr>
              <a:t>pallet.</a:t>
            </a:r>
            <a:endParaRPr sz="1850">
              <a:latin typeface="Courier New"/>
              <a:cs typeface="Courier New"/>
            </a:endParaRPr>
          </a:p>
          <a:p>
            <a:pPr marL="12700" marR="1148715">
              <a:lnSpc>
                <a:spcPct val="100899"/>
              </a:lnSpc>
              <a:spcBef>
                <a:spcPts val="540"/>
              </a:spcBef>
            </a:pPr>
            <a:r>
              <a:rPr sz="1850" b="1" spc="10" dirty="0">
                <a:latin typeface="Courier New"/>
                <a:cs typeface="Courier New"/>
              </a:rPr>
              <a:t>pie(x, labels, main = "City </a:t>
            </a:r>
            <a:r>
              <a:rPr sz="1850" b="1" spc="15" dirty="0">
                <a:latin typeface="Courier New"/>
                <a:cs typeface="Courier New"/>
              </a:rPr>
              <a:t>pie </a:t>
            </a:r>
            <a:r>
              <a:rPr sz="1850" b="1" spc="10" dirty="0">
                <a:latin typeface="Courier New"/>
                <a:cs typeface="Courier New"/>
              </a:rPr>
              <a:t>chart", </a:t>
            </a:r>
            <a:r>
              <a:rPr sz="1850" b="1" spc="15" dirty="0">
                <a:latin typeface="Courier New"/>
                <a:cs typeface="Courier New"/>
              </a:rPr>
              <a:t>col </a:t>
            </a:r>
            <a:r>
              <a:rPr sz="1850" b="1" spc="10" dirty="0">
                <a:latin typeface="Courier New"/>
                <a:cs typeface="Courier New"/>
              </a:rPr>
              <a:t>=  rainbow(length(x)))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>
              <a:latin typeface="Courier New"/>
              <a:cs typeface="Courier New"/>
            </a:endParaRPr>
          </a:p>
          <a:p>
            <a:pPr marL="12700" marR="5295900">
              <a:lnSpc>
                <a:spcPct val="125200"/>
              </a:lnSpc>
            </a:pPr>
            <a:r>
              <a:rPr sz="1850" b="1" spc="10" dirty="0">
                <a:latin typeface="Courier New"/>
                <a:cs typeface="Courier New"/>
              </a:rPr>
              <a:t># </a:t>
            </a:r>
            <a:r>
              <a:rPr sz="1850" b="1" spc="15" dirty="0">
                <a:latin typeface="Courier New"/>
                <a:cs typeface="Courier New"/>
              </a:rPr>
              <a:t>Save the</a:t>
            </a:r>
            <a:r>
              <a:rPr sz="1850" b="1" spc="-70" dirty="0">
                <a:latin typeface="Courier New"/>
                <a:cs typeface="Courier New"/>
              </a:rPr>
              <a:t> </a:t>
            </a:r>
            <a:r>
              <a:rPr sz="1850" b="1" spc="15" dirty="0">
                <a:latin typeface="Courier New"/>
                <a:cs typeface="Courier New"/>
              </a:rPr>
              <a:t>file.  </a:t>
            </a:r>
            <a:r>
              <a:rPr sz="1850" b="1" spc="10" dirty="0">
                <a:latin typeface="Courier New"/>
                <a:cs typeface="Courier New"/>
              </a:rPr>
              <a:t>dev.off()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</a:t>
            </a:r>
            <a:r>
              <a:rPr spc="-180" dirty="0"/>
              <a:t> </a:t>
            </a:r>
            <a:r>
              <a:rPr spc="85" dirty="0"/>
              <a:t>chart</a:t>
            </a:r>
            <a:r>
              <a:rPr spc="-170" dirty="0"/>
              <a:t> </a:t>
            </a:r>
            <a:r>
              <a:rPr spc="45" dirty="0"/>
              <a:t>example</a:t>
            </a:r>
            <a:r>
              <a:rPr spc="-180" dirty="0"/>
              <a:t> </a:t>
            </a:r>
            <a:r>
              <a:rPr spc="200" dirty="0"/>
              <a:t>with</a:t>
            </a:r>
            <a:r>
              <a:rPr spc="-180" dirty="0"/>
              <a:t> </a:t>
            </a:r>
            <a:r>
              <a:rPr spc="40" dirty="0"/>
              <a:t>colors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983864" y="1591310"/>
            <a:ext cx="3219450" cy="3257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</a:t>
            </a:r>
            <a:r>
              <a:rPr spc="-180" dirty="0"/>
              <a:t> </a:t>
            </a:r>
            <a:r>
              <a:rPr spc="85" dirty="0"/>
              <a:t>chart</a:t>
            </a:r>
            <a:r>
              <a:rPr spc="-170" dirty="0"/>
              <a:t> </a:t>
            </a:r>
            <a:r>
              <a:rPr spc="200" dirty="0"/>
              <a:t>with</a:t>
            </a:r>
            <a:r>
              <a:rPr spc="-180" dirty="0"/>
              <a:t> </a:t>
            </a:r>
            <a:r>
              <a:rPr spc="40" dirty="0"/>
              <a:t>colors</a:t>
            </a:r>
            <a:r>
              <a:rPr spc="-175" dirty="0"/>
              <a:t> </a:t>
            </a:r>
            <a:r>
              <a:rPr spc="15" dirty="0"/>
              <a:t>and</a:t>
            </a:r>
            <a:r>
              <a:rPr spc="-170" dirty="0"/>
              <a:t> </a:t>
            </a:r>
            <a:r>
              <a:rPr spc="25" dirty="0"/>
              <a:t>labels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869" y="1457960"/>
            <a:ext cx="7525384" cy="456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004310">
              <a:lnSpc>
                <a:spcPct val="123700"/>
              </a:lnSpc>
              <a:spcBef>
                <a:spcPts val="100"/>
              </a:spcBef>
              <a:tabLst>
                <a:tab pos="761365" algn="l"/>
              </a:tabLst>
            </a:pPr>
            <a:r>
              <a:rPr sz="1650" b="1" dirty="0">
                <a:latin typeface="Courier New"/>
                <a:cs typeface="Courier New"/>
              </a:rPr>
              <a:t># </a:t>
            </a:r>
            <a:r>
              <a:rPr sz="1650" b="1" spc="-10" dirty="0">
                <a:latin typeface="Courier New"/>
                <a:cs typeface="Courier New"/>
              </a:rPr>
              <a:t>Create data for the graph.  </a:t>
            </a:r>
            <a:r>
              <a:rPr sz="1650" b="1" dirty="0">
                <a:latin typeface="Courier New"/>
                <a:cs typeface="Courier New"/>
              </a:rPr>
              <a:t>x</a:t>
            </a:r>
            <a:r>
              <a:rPr sz="1650" b="1" spc="-15" dirty="0">
                <a:latin typeface="Courier New"/>
                <a:cs typeface="Courier New"/>
              </a:rPr>
              <a:t> </a:t>
            </a:r>
            <a:r>
              <a:rPr sz="1650" b="1" spc="-10" dirty="0">
                <a:latin typeface="Courier New"/>
                <a:cs typeface="Courier New"/>
              </a:rPr>
              <a:t>&lt;-	c(21, 62,</a:t>
            </a:r>
            <a:r>
              <a:rPr sz="1650" b="1" spc="-50" dirty="0">
                <a:latin typeface="Courier New"/>
                <a:cs typeface="Courier New"/>
              </a:rPr>
              <a:t> </a:t>
            </a:r>
            <a:r>
              <a:rPr sz="1650" b="1" spc="-10" dirty="0">
                <a:latin typeface="Courier New"/>
                <a:cs typeface="Courier New"/>
              </a:rPr>
              <a:t>10,53)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  <a:tabLst>
                <a:tab pos="1386840" algn="l"/>
              </a:tabLst>
            </a:pPr>
            <a:r>
              <a:rPr sz="1650" b="1" spc="-10" dirty="0">
                <a:latin typeface="Courier New"/>
                <a:cs typeface="Courier New"/>
              </a:rPr>
              <a:t>labels &lt;-	c("London","New</a:t>
            </a:r>
            <a:r>
              <a:rPr sz="1650" b="1" spc="-15" dirty="0">
                <a:latin typeface="Courier New"/>
                <a:cs typeface="Courier New"/>
              </a:rPr>
              <a:t> York","Singapore","Mumbai")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150">
              <a:latin typeface="Courier New"/>
              <a:cs typeface="Courier New"/>
            </a:endParaRPr>
          </a:p>
          <a:p>
            <a:pPr marL="12700" marR="2379980">
              <a:lnSpc>
                <a:spcPct val="123200"/>
              </a:lnSpc>
            </a:pPr>
            <a:r>
              <a:rPr sz="1650" b="1" spc="-15" dirty="0">
                <a:latin typeface="Courier New"/>
                <a:cs typeface="Courier New"/>
              </a:rPr>
              <a:t>piepercent&lt;- round(100*x/sum(x), </a:t>
            </a:r>
            <a:r>
              <a:rPr sz="1650" b="1" spc="-5" dirty="0">
                <a:latin typeface="Courier New"/>
                <a:cs typeface="Courier New"/>
              </a:rPr>
              <a:t>1)  </a:t>
            </a:r>
            <a:r>
              <a:rPr sz="1650" b="1" spc="-10" dirty="0">
                <a:latin typeface="Courier New"/>
                <a:cs typeface="Courier New"/>
              </a:rPr>
              <a:t>png(file </a:t>
            </a:r>
            <a:r>
              <a:rPr sz="1650" b="1" dirty="0">
                <a:latin typeface="Courier New"/>
                <a:cs typeface="Courier New"/>
              </a:rPr>
              <a:t>=</a:t>
            </a:r>
            <a:r>
              <a:rPr sz="1650" b="1" spc="5" dirty="0">
                <a:latin typeface="Courier New"/>
                <a:cs typeface="Courier New"/>
              </a:rPr>
              <a:t> </a:t>
            </a:r>
            <a:r>
              <a:rPr sz="1650" b="1" spc="-15" dirty="0">
                <a:latin typeface="Courier New"/>
                <a:cs typeface="Courier New"/>
              </a:rPr>
              <a:t>"city_percentage_legends.png")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50" b="1" dirty="0">
                <a:latin typeface="Courier New"/>
                <a:cs typeface="Courier New"/>
              </a:rPr>
              <a:t># </a:t>
            </a:r>
            <a:r>
              <a:rPr sz="1650" b="1" spc="-10" dirty="0">
                <a:latin typeface="Courier New"/>
                <a:cs typeface="Courier New"/>
              </a:rPr>
              <a:t>Plot the</a:t>
            </a:r>
            <a:r>
              <a:rPr sz="1650" b="1" spc="-55" dirty="0">
                <a:latin typeface="Courier New"/>
                <a:cs typeface="Courier New"/>
              </a:rPr>
              <a:t> </a:t>
            </a:r>
            <a:r>
              <a:rPr sz="1650" b="1" spc="-10" dirty="0">
                <a:latin typeface="Courier New"/>
                <a:cs typeface="Courier New"/>
              </a:rPr>
              <a:t>chart.</a:t>
            </a:r>
            <a:endParaRPr sz="1650">
              <a:latin typeface="Courier New"/>
              <a:cs typeface="Courier New"/>
            </a:endParaRPr>
          </a:p>
          <a:p>
            <a:pPr marL="12700" marR="381000">
              <a:lnSpc>
                <a:spcPct val="100000"/>
              </a:lnSpc>
              <a:spcBef>
                <a:spcPts val="470"/>
              </a:spcBef>
            </a:pPr>
            <a:r>
              <a:rPr sz="1650" b="1" spc="-10" dirty="0">
                <a:latin typeface="Courier New"/>
                <a:cs typeface="Courier New"/>
              </a:rPr>
              <a:t>pie(x, labels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piepercent, main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"City pie chart",col </a:t>
            </a:r>
            <a:r>
              <a:rPr sz="1650" b="1" dirty="0">
                <a:latin typeface="Courier New"/>
                <a:cs typeface="Courier New"/>
              </a:rPr>
              <a:t>=  </a:t>
            </a:r>
            <a:r>
              <a:rPr sz="1650" b="1" spc="-15" dirty="0">
                <a:latin typeface="Courier New"/>
                <a:cs typeface="Courier New"/>
              </a:rPr>
              <a:t>rainbow(length(x)))</a:t>
            </a:r>
            <a:endParaRPr sz="16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459"/>
              </a:spcBef>
            </a:pPr>
            <a:r>
              <a:rPr sz="1650" b="1" spc="-15" dirty="0">
                <a:latin typeface="Courier New"/>
                <a:cs typeface="Courier New"/>
              </a:rPr>
              <a:t>legend("topright", c("Pune","Nashik","Aurangabad","Mumbai"),  </a:t>
            </a:r>
            <a:r>
              <a:rPr sz="1650" b="1" spc="-10" dirty="0">
                <a:latin typeface="Courier New"/>
                <a:cs typeface="Courier New"/>
              </a:rPr>
              <a:t>cex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0.8, fill </a:t>
            </a:r>
            <a:r>
              <a:rPr sz="1650" b="1" dirty="0">
                <a:latin typeface="Courier New"/>
                <a:cs typeface="Courier New"/>
              </a:rPr>
              <a:t>=</a:t>
            </a:r>
            <a:r>
              <a:rPr sz="1650" b="1" spc="-75" dirty="0">
                <a:latin typeface="Courier New"/>
                <a:cs typeface="Courier New"/>
              </a:rPr>
              <a:t> </a:t>
            </a:r>
            <a:r>
              <a:rPr sz="1650" b="1" spc="-15" dirty="0">
                <a:latin typeface="Courier New"/>
                <a:cs typeface="Courier New"/>
              </a:rPr>
              <a:t>rainbow(length(x)))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Courier New"/>
              <a:cs typeface="Courier New"/>
            </a:endParaRPr>
          </a:p>
          <a:p>
            <a:pPr marL="12700" marR="5504180">
              <a:lnSpc>
                <a:spcPct val="123700"/>
              </a:lnSpc>
            </a:pPr>
            <a:r>
              <a:rPr sz="1650" b="1" dirty="0">
                <a:latin typeface="Courier New"/>
                <a:cs typeface="Courier New"/>
              </a:rPr>
              <a:t># </a:t>
            </a:r>
            <a:r>
              <a:rPr sz="1650" b="1" spc="-10" dirty="0">
                <a:latin typeface="Courier New"/>
                <a:cs typeface="Courier New"/>
              </a:rPr>
              <a:t>Save the</a:t>
            </a:r>
            <a:r>
              <a:rPr sz="1650" b="1" spc="-120" dirty="0">
                <a:latin typeface="Courier New"/>
                <a:cs typeface="Courier New"/>
              </a:rPr>
              <a:t> </a:t>
            </a:r>
            <a:r>
              <a:rPr sz="1650" b="1" spc="-10" dirty="0">
                <a:latin typeface="Courier New"/>
                <a:cs typeface="Courier New"/>
              </a:rPr>
              <a:t>file.  dev.off()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35" dirty="0"/>
              <a:t>Pie</a:t>
            </a:r>
            <a:r>
              <a:rPr spc="-180" dirty="0"/>
              <a:t> </a:t>
            </a:r>
            <a:r>
              <a:rPr spc="85" dirty="0"/>
              <a:t>chart</a:t>
            </a:r>
            <a:r>
              <a:rPr spc="-170" dirty="0"/>
              <a:t> </a:t>
            </a:r>
            <a:r>
              <a:rPr spc="200" dirty="0"/>
              <a:t>with</a:t>
            </a:r>
            <a:r>
              <a:rPr spc="-180" dirty="0"/>
              <a:t> </a:t>
            </a:r>
            <a:r>
              <a:rPr spc="40" dirty="0"/>
              <a:t>colors</a:t>
            </a:r>
            <a:r>
              <a:rPr spc="-175" dirty="0"/>
              <a:t> </a:t>
            </a:r>
            <a:r>
              <a:rPr spc="15" dirty="0"/>
              <a:t>and</a:t>
            </a:r>
            <a:r>
              <a:rPr spc="-170" dirty="0"/>
              <a:t> </a:t>
            </a:r>
            <a:r>
              <a:rPr spc="25" dirty="0"/>
              <a:t>labels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469640" y="1879600"/>
            <a:ext cx="3114675" cy="3257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5" dirty="0"/>
              <a:t>3D </a:t>
            </a:r>
            <a:r>
              <a:rPr spc="-35" dirty="0"/>
              <a:t>Pie</a:t>
            </a:r>
            <a:r>
              <a:rPr spc="-360" dirty="0"/>
              <a:t> </a:t>
            </a:r>
            <a:r>
              <a:rPr spc="35" dirty="0"/>
              <a:t>Chart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030" y="1453641"/>
            <a:ext cx="7359650" cy="4535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4980305">
              <a:lnSpc>
                <a:spcPct val="126499"/>
              </a:lnSpc>
              <a:spcBef>
                <a:spcPts val="90"/>
              </a:spcBef>
            </a:pPr>
            <a:r>
              <a:rPr sz="1700" b="1" spc="15" dirty="0">
                <a:latin typeface="Courier New"/>
                <a:cs typeface="Courier New"/>
              </a:rPr>
              <a:t># </a:t>
            </a:r>
            <a:r>
              <a:rPr sz="1700" b="1" spc="10" dirty="0">
                <a:latin typeface="Courier New"/>
                <a:cs typeface="Courier New"/>
              </a:rPr>
              <a:t>Get the</a:t>
            </a:r>
            <a:r>
              <a:rPr sz="1700" b="1" spc="-65" dirty="0">
                <a:latin typeface="Courier New"/>
                <a:cs typeface="Courier New"/>
              </a:rPr>
              <a:t> </a:t>
            </a:r>
            <a:r>
              <a:rPr sz="1700" b="1" spc="5" dirty="0">
                <a:latin typeface="Courier New"/>
                <a:cs typeface="Courier New"/>
              </a:rPr>
              <a:t>library.  library(plotrix)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Courier New"/>
              <a:cs typeface="Courier New"/>
            </a:endParaRPr>
          </a:p>
          <a:p>
            <a:pPr marL="12700" marR="3670935">
              <a:lnSpc>
                <a:spcPct val="126000"/>
              </a:lnSpc>
              <a:spcBef>
                <a:spcPts val="5"/>
              </a:spcBef>
              <a:tabLst>
                <a:tab pos="797560" algn="l"/>
              </a:tabLst>
            </a:pPr>
            <a:r>
              <a:rPr sz="1700" b="1" spc="15" dirty="0">
                <a:latin typeface="Courier New"/>
                <a:cs typeface="Courier New"/>
              </a:rPr>
              <a:t># </a:t>
            </a:r>
            <a:r>
              <a:rPr sz="1700" b="1" spc="10" dirty="0">
                <a:latin typeface="Courier New"/>
                <a:cs typeface="Courier New"/>
              </a:rPr>
              <a:t>Create data for the</a:t>
            </a:r>
            <a:r>
              <a:rPr sz="1700" b="1" spc="-105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graph.  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15" dirty="0">
                <a:latin typeface="Courier New"/>
                <a:cs typeface="Courier New"/>
              </a:rPr>
              <a:t>x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&lt;-	c(21, 62,</a:t>
            </a:r>
            <a:r>
              <a:rPr sz="1700" b="1" spc="-25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10,53)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1060450" algn="l"/>
              </a:tabLst>
            </a:pPr>
            <a:r>
              <a:rPr sz="1700" b="1" spc="10" dirty="0">
                <a:latin typeface="Courier New"/>
                <a:cs typeface="Courier New"/>
              </a:rPr>
              <a:t>lbl</a:t>
            </a:r>
            <a:r>
              <a:rPr sz="1700" b="1" spc="5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&lt;-	</a:t>
            </a:r>
            <a:r>
              <a:rPr sz="1700" b="1" spc="5" dirty="0">
                <a:latin typeface="Courier New"/>
                <a:cs typeface="Courier New"/>
              </a:rPr>
              <a:t>c("Nashik","Aurangabad","Navi</a:t>
            </a:r>
            <a:r>
              <a:rPr sz="1700" b="1" spc="50" dirty="0">
                <a:latin typeface="Courier New"/>
                <a:cs typeface="Courier New"/>
              </a:rPr>
              <a:t> </a:t>
            </a:r>
            <a:r>
              <a:rPr sz="1700" b="1" spc="5" dirty="0">
                <a:latin typeface="Courier New"/>
                <a:cs typeface="Courier New"/>
              </a:rPr>
              <a:t>Mumbai","Nagpur")</a:t>
            </a:r>
            <a:endParaRPr sz="1700">
              <a:latin typeface="Courier New"/>
              <a:cs typeface="Courier New"/>
            </a:endParaRPr>
          </a:p>
          <a:p>
            <a:pPr marL="12700" marR="3409315">
              <a:lnSpc>
                <a:spcPct val="252000"/>
              </a:lnSpc>
            </a:pPr>
            <a:r>
              <a:rPr sz="1700" b="1" spc="10" dirty="0">
                <a:latin typeface="Courier New"/>
                <a:cs typeface="Courier New"/>
              </a:rPr>
              <a:t>png(file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5" dirty="0">
                <a:latin typeface="Courier New"/>
                <a:cs typeface="Courier New"/>
              </a:rPr>
              <a:t>"3d_pie_chart.png")  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15" dirty="0">
                <a:latin typeface="Courier New"/>
                <a:cs typeface="Courier New"/>
              </a:rPr>
              <a:t># </a:t>
            </a:r>
            <a:r>
              <a:rPr sz="1700" b="1" spc="10" dirty="0">
                <a:latin typeface="Courier New"/>
                <a:cs typeface="Courier New"/>
              </a:rPr>
              <a:t>Plot the</a:t>
            </a:r>
            <a:r>
              <a:rPr sz="1700" b="1" spc="-25" dirty="0">
                <a:latin typeface="Courier New"/>
                <a:cs typeface="Courier New"/>
              </a:rPr>
              <a:t> </a:t>
            </a:r>
            <a:r>
              <a:rPr sz="1700" b="1" spc="5" dirty="0">
                <a:latin typeface="Courier New"/>
                <a:cs typeface="Courier New"/>
              </a:rPr>
              <a:t>chart.</a:t>
            </a:r>
            <a:endParaRPr sz="1700">
              <a:latin typeface="Courier New"/>
              <a:cs typeface="Courier New"/>
            </a:endParaRPr>
          </a:p>
          <a:p>
            <a:pPr marL="12700" marR="5080">
              <a:lnSpc>
                <a:spcPct val="101499"/>
              </a:lnSpc>
              <a:spcBef>
                <a:spcPts val="505"/>
              </a:spcBef>
            </a:pPr>
            <a:r>
              <a:rPr sz="1700" b="1" spc="5" dirty="0">
                <a:latin typeface="Courier New"/>
                <a:cs typeface="Courier New"/>
              </a:rPr>
              <a:t>pie3D(x,labels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5" dirty="0">
                <a:latin typeface="Courier New"/>
                <a:cs typeface="Courier New"/>
              </a:rPr>
              <a:t>lbl,explode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10" dirty="0">
                <a:latin typeface="Courier New"/>
                <a:cs typeface="Courier New"/>
              </a:rPr>
              <a:t>0.1, main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10" dirty="0">
                <a:latin typeface="Courier New"/>
                <a:cs typeface="Courier New"/>
              </a:rPr>
              <a:t>"Pie Chart of  Countries</a:t>
            </a:r>
            <a:r>
              <a:rPr sz="1700" b="1" spc="-5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")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700" b="1" spc="10" dirty="0">
                <a:latin typeface="Courier New"/>
                <a:cs typeface="Courier New"/>
              </a:rPr>
              <a:t>dev.off()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5" dirty="0"/>
              <a:t>3D </a:t>
            </a:r>
            <a:r>
              <a:rPr spc="-35" dirty="0"/>
              <a:t>Pie</a:t>
            </a:r>
            <a:r>
              <a:rPr spc="-360" dirty="0"/>
              <a:t> </a:t>
            </a:r>
            <a:r>
              <a:rPr spc="35" dirty="0"/>
              <a:t>Chart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479039" y="1762125"/>
            <a:ext cx="4171950" cy="29908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</a:t>
            </a:r>
            <a:r>
              <a:rPr spc="-175" dirty="0"/>
              <a:t> </a:t>
            </a:r>
            <a:r>
              <a:rPr spc="40" dirty="0"/>
              <a:t>charts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7999730" cy="41630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5080" indent="-342900">
              <a:lnSpc>
                <a:spcPts val="3350"/>
              </a:lnSpc>
              <a:spcBef>
                <a:spcPts val="219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15" dirty="0">
                <a:latin typeface="Arial"/>
                <a:cs typeface="Arial"/>
              </a:rPr>
              <a:t>A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bar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chart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represents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data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in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rectangular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bars  </a:t>
            </a:r>
            <a:r>
              <a:rPr sz="2800" spc="150" dirty="0">
                <a:latin typeface="Arial"/>
                <a:cs typeface="Arial"/>
              </a:rPr>
              <a:t>with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05" dirty="0">
                <a:latin typeface="Arial"/>
                <a:cs typeface="Arial"/>
              </a:rPr>
              <a:t>length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90" dirty="0">
                <a:latin typeface="Arial"/>
                <a:cs typeface="Arial"/>
              </a:rPr>
              <a:t>of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bar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100" dirty="0">
                <a:latin typeface="Arial"/>
                <a:cs typeface="Arial"/>
              </a:rPr>
              <a:t>proportional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95" dirty="0">
                <a:latin typeface="Arial"/>
                <a:cs typeface="Arial"/>
              </a:rPr>
              <a:t>to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value  </a:t>
            </a:r>
            <a:r>
              <a:rPr sz="2800" spc="190" dirty="0">
                <a:latin typeface="Arial"/>
                <a:cs typeface="Arial"/>
              </a:rPr>
              <a:t>of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480" dirty="0">
                <a:latin typeface="Arial"/>
                <a:cs typeface="Arial"/>
              </a:rPr>
              <a:t> </a:t>
            </a:r>
            <a:r>
              <a:rPr sz="2800" spc="20" dirty="0">
                <a:latin typeface="Arial"/>
                <a:cs typeface="Arial"/>
              </a:rPr>
              <a:t>variable.</a:t>
            </a:r>
            <a:endParaRPr sz="2800">
              <a:latin typeface="Arial"/>
              <a:cs typeface="Arial"/>
            </a:endParaRPr>
          </a:p>
          <a:p>
            <a:pPr marL="355600" marR="873760" indent="-342900">
              <a:lnSpc>
                <a:spcPts val="3350"/>
              </a:lnSpc>
              <a:spcBef>
                <a:spcPts val="81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265" dirty="0">
                <a:latin typeface="Arial"/>
                <a:cs typeface="Arial"/>
              </a:rPr>
              <a:t>R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65" dirty="0">
                <a:latin typeface="Arial"/>
                <a:cs typeface="Arial"/>
              </a:rPr>
              <a:t>uses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05" dirty="0">
                <a:latin typeface="Arial"/>
                <a:cs typeface="Arial"/>
              </a:rPr>
              <a:t>function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05" dirty="0">
                <a:latin typeface="Arial"/>
                <a:cs typeface="Arial"/>
              </a:rPr>
              <a:t>barplot()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95" dirty="0">
                <a:latin typeface="Arial"/>
                <a:cs typeface="Arial"/>
              </a:rPr>
              <a:t>to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create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bar  </a:t>
            </a:r>
            <a:r>
              <a:rPr sz="2800" spc="10" dirty="0">
                <a:latin typeface="Arial"/>
                <a:cs typeface="Arial"/>
              </a:rPr>
              <a:t>charts.</a:t>
            </a:r>
            <a:endParaRPr sz="2800">
              <a:latin typeface="Arial"/>
              <a:cs typeface="Arial"/>
            </a:endParaRPr>
          </a:p>
          <a:p>
            <a:pPr marL="355600" marR="226060" indent="-342900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265" dirty="0">
                <a:latin typeface="Arial"/>
                <a:cs typeface="Arial"/>
              </a:rPr>
              <a:t>R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can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draw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35" dirty="0">
                <a:latin typeface="Arial"/>
                <a:cs typeface="Arial"/>
              </a:rPr>
              <a:t>both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vertical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and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horizontal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bars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in  </a:t>
            </a:r>
            <a:r>
              <a:rPr sz="2800" spc="125" dirty="0">
                <a:latin typeface="Arial"/>
                <a:cs typeface="Arial"/>
              </a:rPr>
              <a:t>the </a:t>
            </a:r>
            <a:r>
              <a:rPr sz="2800" spc="45" dirty="0">
                <a:latin typeface="Arial"/>
                <a:cs typeface="Arial"/>
              </a:rPr>
              <a:t>bar</a:t>
            </a:r>
            <a:r>
              <a:rPr sz="2800" spc="-405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chart.</a:t>
            </a:r>
            <a:endParaRPr sz="2800">
              <a:latin typeface="Arial"/>
              <a:cs typeface="Arial"/>
            </a:endParaRPr>
          </a:p>
          <a:p>
            <a:pPr marL="355600" marR="107061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10" dirty="0">
                <a:latin typeface="Arial"/>
                <a:cs typeface="Arial"/>
              </a:rPr>
              <a:t>In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bar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chart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each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95" dirty="0">
                <a:latin typeface="Arial"/>
                <a:cs typeface="Arial"/>
              </a:rPr>
              <a:t>of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bars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55" dirty="0">
                <a:latin typeface="Arial"/>
                <a:cs typeface="Arial"/>
              </a:rPr>
              <a:t>can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be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30" dirty="0">
                <a:latin typeface="Arial"/>
                <a:cs typeface="Arial"/>
              </a:rPr>
              <a:t>given  </a:t>
            </a:r>
            <a:r>
              <a:rPr sz="2800" spc="145" dirty="0">
                <a:latin typeface="Arial"/>
                <a:cs typeface="Arial"/>
              </a:rPr>
              <a:t>different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5" dirty="0">
                <a:latin typeface="Arial"/>
                <a:cs typeface="Arial"/>
              </a:rPr>
              <a:t>colors.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 </a:t>
            </a:r>
            <a:r>
              <a:rPr spc="40" dirty="0"/>
              <a:t>charts </a:t>
            </a:r>
            <a:r>
              <a:rPr spc="-220" dirty="0"/>
              <a:t>–</a:t>
            </a:r>
            <a:r>
              <a:rPr spc="-555" dirty="0"/>
              <a:t> </a:t>
            </a:r>
            <a:r>
              <a:rPr spc="-1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5099"/>
            <a:ext cx="8016875" cy="454660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93370" indent="-280670">
              <a:lnSpc>
                <a:spcPct val="100000"/>
              </a:lnSpc>
              <a:spcBef>
                <a:spcPts val="740"/>
              </a:spcBef>
              <a:buClr>
                <a:srgbClr val="6697CC"/>
              </a:buClr>
              <a:buFont typeface="Liberation Sans"/>
              <a:buChar char="•"/>
              <a:tabLst>
                <a:tab pos="292735" algn="l"/>
                <a:tab pos="293370" algn="l"/>
              </a:tabLst>
            </a:pPr>
            <a:r>
              <a:rPr sz="2300" spc="-25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basic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20" dirty="0">
                <a:latin typeface="Arial"/>
                <a:cs typeface="Arial"/>
              </a:rPr>
              <a:t>syntax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160" dirty="0">
                <a:latin typeface="Arial"/>
                <a:cs typeface="Arial"/>
              </a:rPr>
              <a:t>to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35" dirty="0">
                <a:latin typeface="Arial"/>
                <a:cs typeface="Arial"/>
              </a:rPr>
              <a:t>create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80" dirty="0">
                <a:latin typeface="Arial"/>
                <a:cs typeface="Arial"/>
              </a:rPr>
              <a:t>a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20" dirty="0">
                <a:latin typeface="Arial"/>
                <a:cs typeface="Arial"/>
              </a:rPr>
              <a:t>bar-chart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50" dirty="0">
                <a:latin typeface="Arial"/>
                <a:cs typeface="Arial"/>
              </a:rPr>
              <a:t>in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15" dirty="0">
                <a:latin typeface="Arial"/>
                <a:cs typeface="Arial"/>
              </a:rPr>
              <a:t>R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is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−</a:t>
            </a:r>
            <a:endParaRPr sz="2300">
              <a:latin typeface="Arial"/>
              <a:cs typeface="Arial"/>
            </a:endParaRPr>
          </a:p>
          <a:p>
            <a:pPr marL="292735">
              <a:lnSpc>
                <a:spcPct val="100000"/>
              </a:lnSpc>
              <a:spcBef>
                <a:spcPts val="640"/>
              </a:spcBef>
            </a:pPr>
            <a:r>
              <a:rPr sz="2300" b="1" spc="-5" dirty="0">
                <a:latin typeface="Courier New"/>
                <a:cs typeface="Courier New"/>
              </a:rPr>
              <a:t>barplot(H, xlab, ylab, main, names.arg,</a:t>
            </a:r>
            <a:r>
              <a:rPr sz="2300" b="1" spc="-80" dirty="0">
                <a:latin typeface="Courier New"/>
                <a:cs typeface="Courier New"/>
              </a:rPr>
              <a:t> </a:t>
            </a:r>
            <a:r>
              <a:rPr sz="2300" b="1" spc="-5" dirty="0">
                <a:latin typeface="Courier New"/>
                <a:cs typeface="Courier New"/>
              </a:rPr>
              <a:t>col)</a:t>
            </a:r>
            <a:endParaRPr sz="2300">
              <a:latin typeface="Courier New"/>
              <a:cs typeface="Courier New"/>
            </a:endParaRPr>
          </a:p>
          <a:p>
            <a:pPr marL="293370" indent="-280670">
              <a:lnSpc>
                <a:spcPct val="100000"/>
              </a:lnSpc>
              <a:spcBef>
                <a:spcPts val="650"/>
              </a:spcBef>
              <a:buClr>
                <a:srgbClr val="6697CC"/>
              </a:buClr>
              <a:buFont typeface="Liberation Sans"/>
              <a:buChar char="•"/>
              <a:tabLst>
                <a:tab pos="292735" algn="l"/>
                <a:tab pos="293370" algn="l"/>
              </a:tabLst>
            </a:pPr>
            <a:r>
              <a:rPr sz="2300" spc="40" dirty="0">
                <a:latin typeface="Arial"/>
                <a:cs typeface="Arial"/>
              </a:rPr>
              <a:t>Following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is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50" dirty="0">
                <a:latin typeface="Arial"/>
                <a:cs typeface="Arial"/>
              </a:rPr>
              <a:t>description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60" dirty="0">
                <a:latin typeface="Arial"/>
                <a:cs typeface="Arial"/>
              </a:rPr>
              <a:t>of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parameters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5" dirty="0">
                <a:latin typeface="Arial"/>
                <a:cs typeface="Arial"/>
              </a:rPr>
              <a:t>used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50" dirty="0">
                <a:latin typeface="Arial"/>
                <a:cs typeface="Arial"/>
              </a:rPr>
              <a:t>−</a:t>
            </a:r>
            <a:endParaRPr sz="2300">
              <a:latin typeface="Arial"/>
              <a:cs typeface="Arial"/>
            </a:endParaRPr>
          </a:p>
          <a:p>
            <a:pPr marL="620395" marR="11430" lvl="1" indent="-233679">
              <a:lnSpc>
                <a:spcPts val="2750"/>
              </a:lnSpc>
              <a:spcBef>
                <a:spcPts val="650"/>
              </a:spcBef>
              <a:buClr>
                <a:srgbClr val="6697CC"/>
              </a:buClr>
              <a:buFont typeface="Liberation Sans"/>
              <a:buChar char="–"/>
              <a:tabLst>
                <a:tab pos="621030" algn="l"/>
              </a:tabLst>
            </a:pPr>
            <a:r>
              <a:rPr sz="2300" spc="-40" dirty="0">
                <a:latin typeface="Arial"/>
                <a:cs typeface="Arial"/>
              </a:rPr>
              <a:t>H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is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80" dirty="0">
                <a:latin typeface="Arial"/>
                <a:cs typeface="Arial"/>
              </a:rPr>
              <a:t>a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55" dirty="0">
                <a:latin typeface="Arial"/>
                <a:cs typeface="Arial"/>
              </a:rPr>
              <a:t>vector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95" dirty="0">
                <a:latin typeface="Arial"/>
                <a:cs typeface="Arial"/>
              </a:rPr>
              <a:t>or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matrix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45" dirty="0">
                <a:latin typeface="Arial"/>
                <a:cs typeface="Arial"/>
              </a:rPr>
              <a:t>containing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numeric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values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5" dirty="0">
                <a:latin typeface="Arial"/>
                <a:cs typeface="Arial"/>
              </a:rPr>
              <a:t>used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50" dirty="0">
                <a:latin typeface="Arial"/>
                <a:cs typeface="Arial"/>
              </a:rPr>
              <a:t>in  </a:t>
            </a:r>
            <a:r>
              <a:rPr sz="2300" spc="35" dirty="0">
                <a:latin typeface="Arial"/>
                <a:cs typeface="Arial"/>
              </a:rPr>
              <a:t>bar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35" dirty="0">
                <a:latin typeface="Arial"/>
                <a:cs typeface="Arial"/>
              </a:rPr>
              <a:t>chart.</a:t>
            </a:r>
            <a:endParaRPr sz="2300">
              <a:latin typeface="Arial"/>
              <a:cs typeface="Arial"/>
            </a:endParaRPr>
          </a:p>
          <a:p>
            <a:pPr marL="621030" lvl="1" indent="-233679">
              <a:lnSpc>
                <a:spcPct val="100000"/>
              </a:lnSpc>
              <a:spcBef>
                <a:spcPts val="470"/>
              </a:spcBef>
              <a:buClr>
                <a:srgbClr val="6697CC"/>
              </a:buClr>
              <a:buFont typeface="Liberation Sans"/>
              <a:buChar char="–"/>
              <a:tabLst>
                <a:tab pos="621030" algn="l"/>
              </a:tabLst>
            </a:pPr>
            <a:r>
              <a:rPr sz="2300" spc="30" dirty="0">
                <a:latin typeface="Arial"/>
                <a:cs typeface="Arial"/>
              </a:rPr>
              <a:t>xlab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is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40" dirty="0">
                <a:latin typeface="Arial"/>
                <a:cs typeface="Arial"/>
              </a:rPr>
              <a:t>label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45" dirty="0">
                <a:latin typeface="Arial"/>
                <a:cs typeface="Arial"/>
              </a:rPr>
              <a:t>for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25" dirty="0">
                <a:latin typeface="Arial"/>
                <a:cs typeface="Arial"/>
              </a:rPr>
              <a:t>x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axis.</a:t>
            </a:r>
            <a:endParaRPr sz="2300">
              <a:latin typeface="Arial"/>
              <a:cs typeface="Arial"/>
            </a:endParaRPr>
          </a:p>
          <a:p>
            <a:pPr marL="621030" lvl="1" indent="-233679">
              <a:lnSpc>
                <a:spcPct val="100000"/>
              </a:lnSpc>
              <a:spcBef>
                <a:spcPts val="550"/>
              </a:spcBef>
              <a:buClr>
                <a:srgbClr val="6697CC"/>
              </a:buClr>
              <a:buFont typeface="Liberation Sans"/>
              <a:buChar char="–"/>
              <a:tabLst>
                <a:tab pos="621030" algn="l"/>
              </a:tabLst>
            </a:pPr>
            <a:r>
              <a:rPr sz="2300" spc="25" dirty="0">
                <a:latin typeface="Arial"/>
                <a:cs typeface="Arial"/>
              </a:rPr>
              <a:t>ylab</a:t>
            </a:r>
            <a:r>
              <a:rPr sz="2300" spc="-13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is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40" dirty="0">
                <a:latin typeface="Arial"/>
                <a:cs typeface="Arial"/>
              </a:rPr>
              <a:t>label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145" dirty="0">
                <a:latin typeface="Arial"/>
                <a:cs typeface="Arial"/>
              </a:rPr>
              <a:t>for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y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-45" dirty="0">
                <a:latin typeface="Arial"/>
                <a:cs typeface="Arial"/>
              </a:rPr>
              <a:t>axis.</a:t>
            </a:r>
            <a:endParaRPr sz="2300">
              <a:latin typeface="Arial"/>
              <a:cs typeface="Arial"/>
            </a:endParaRPr>
          </a:p>
          <a:p>
            <a:pPr marL="621030" lvl="1" indent="-233679">
              <a:lnSpc>
                <a:spcPct val="100000"/>
              </a:lnSpc>
              <a:spcBef>
                <a:spcPts val="560"/>
              </a:spcBef>
              <a:buClr>
                <a:srgbClr val="6697CC"/>
              </a:buClr>
              <a:buFont typeface="Liberation Sans"/>
              <a:buChar char="–"/>
              <a:tabLst>
                <a:tab pos="621030" algn="l"/>
              </a:tabLst>
            </a:pPr>
            <a:r>
              <a:rPr sz="2300" spc="20" dirty="0">
                <a:latin typeface="Arial"/>
                <a:cs typeface="Arial"/>
              </a:rPr>
              <a:t>main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is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145" dirty="0">
                <a:latin typeface="Arial"/>
                <a:cs typeface="Arial"/>
              </a:rPr>
              <a:t>title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60" dirty="0">
                <a:latin typeface="Arial"/>
                <a:cs typeface="Arial"/>
              </a:rPr>
              <a:t>of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bar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chart.</a:t>
            </a:r>
            <a:endParaRPr sz="2300">
              <a:latin typeface="Arial"/>
              <a:cs typeface="Arial"/>
            </a:endParaRPr>
          </a:p>
          <a:p>
            <a:pPr marL="620395" marR="414655" lvl="1" indent="-233679">
              <a:lnSpc>
                <a:spcPts val="2740"/>
              </a:lnSpc>
              <a:spcBef>
                <a:spcPts val="665"/>
              </a:spcBef>
              <a:buClr>
                <a:srgbClr val="6697CC"/>
              </a:buClr>
              <a:buFont typeface="Liberation Sans"/>
              <a:buChar char="–"/>
              <a:tabLst>
                <a:tab pos="621030" algn="l"/>
              </a:tabLst>
            </a:pPr>
            <a:r>
              <a:rPr sz="2300" spc="-15" dirty="0">
                <a:latin typeface="Arial"/>
                <a:cs typeface="Arial"/>
              </a:rPr>
              <a:t>names.arg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is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80" dirty="0">
                <a:latin typeface="Arial"/>
                <a:cs typeface="Arial"/>
              </a:rPr>
              <a:t>a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50" dirty="0">
                <a:latin typeface="Arial"/>
                <a:cs typeface="Arial"/>
              </a:rPr>
              <a:t>vector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55" dirty="0">
                <a:latin typeface="Arial"/>
                <a:cs typeface="Arial"/>
              </a:rPr>
              <a:t>of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names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25" dirty="0">
                <a:latin typeface="Arial"/>
                <a:cs typeface="Arial"/>
              </a:rPr>
              <a:t>appearing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55" dirty="0">
                <a:latin typeface="Arial"/>
                <a:cs typeface="Arial"/>
              </a:rPr>
              <a:t>under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each  </a:t>
            </a:r>
            <a:r>
              <a:rPr sz="2300" spc="-25" dirty="0">
                <a:latin typeface="Arial"/>
                <a:cs typeface="Arial"/>
              </a:rPr>
              <a:t>bar.</a:t>
            </a:r>
            <a:endParaRPr sz="2300">
              <a:latin typeface="Arial"/>
              <a:cs typeface="Arial"/>
            </a:endParaRPr>
          </a:p>
          <a:p>
            <a:pPr marL="621030" lvl="1" indent="-233679">
              <a:lnSpc>
                <a:spcPct val="100000"/>
              </a:lnSpc>
              <a:spcBef>
                <a:spcPts val="475"/>
              </a:spcBef>
              <a:buClr>
                <a:srgbClr val="6697CC"/>
              </a:buClr>
              <a:buFont typeface="Liberation Sans"/>
              <a:buChar char="–"/>
              <a:tabLst>
                <a:tab pos="621030" algn="l"/>
              </a:tabLst>
            </a:pPr>
            <a:r>
              <a:rPr sz="2300" spc="20" dirty="0">
                <a:latin typeface="Arial"/>
                <a:cs typeface="Arial"/>
              </a:rPr>
              <a:t>col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is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-5" dirty="0">
                <a:latin typeface="Arial"/>
                <a:cs typeface="Arial"/>
              </a:rPr>
              <a:t>used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160" dirty="0">
                <a:latin typeface="Arial"/>
                <a:cs typeface="Arial"/>
              </a:rPr>
              <a:t>to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5" dirty="0">
                <a:latin typeface="Arial"/>
                <a:cs typeface="Arial"/>
              </a:rPr>
              <a:t>give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20" dirty="0">
                <a:latin typeface="Arial"/>
                <a:cs typeface="Arial"/>
              </a:rPr>
              <a:t>colors</a:t>
            </a:r>
            <a:r>
              <a:rPr sz="2300" spc="-130" dirty="0">
                <a:latin typeface="Arial"/>
                <a:cs typeface="Arial"/>
              </a:rPr>
              <a:t> </a:t>
            </a:r>
            <a:r>
              <a:rPr sz="2300" spc="160" dirty="0">
                <a:latin typeface="Arial"/>
                <a:cs typeface="Arial"/>
              </a:rPr>
              <a:t>to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bars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50" dirty="0">
                <a:latin typeface="Arial"/>
                <a:cs typeface="Arial"/>
              </a:rPr>
              <a:t>in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05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15" dirty="0">
                <a:latin typeface="Arial"/>
                <a:cs typeface="Arial"/>
              </a:rPr>
              <a:t>graph.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 </a:t>
            </a:r>
            <a:r>
              <a:rPr spc="40" dirty="0"/>
              <a:t>charts </a:t>
            </a:r>
            <a:r>
              <a:rPr spc="-220" dirty="0"/>
              <a:t>–</a:t>
            </a:r>
            <a:r>
              <a:rPr spc="-56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450" y="1439164"/>
            <a:ext cx="5388610" cy="459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95"/>
              </a:spcBef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Create the data for the chart.  </a:t>
            </a:r>
            <a:r>
              <a:rPr sz="2200" b="1" dirty="0">
                <a:latin typeface="Courier New"/>
                <a:cs typeface="Courier New"/>
              </a:rPr>
              <a:t> </a:t>
            </a:r>
            <a:r>
              <a:rPr sz="2200" b="1" spc="5" dirty="0">
                <a:latin typeface="Courier New"/>
                <a:cs typeface="Courier New"/>
              </a:rPr>
              <a:t>H </a:t>
            </a:r>
            <a:r>
              <a:rPr sz="2200" b="1" dirty="0">
                <a:latin typeface="Courier New"/>
                <a:cs typeface="Courier New"/>
              </a:rPr>
              <a:t>&lt;-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c(7,12,28,3,41)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Courier New"/>
              <a:cs typeface="Courier New"/>
            </a:endParaRPr>
          </a:p>
          <a:p>
            <a:pPr marL="12700" marR="507365">
              <a:lnSpc>
                <a:spcPct val="123900"/>
              </a:lnSpc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Give the chart file </a:t>
            </a:r>
            <a:r>
              <a:rPr sz="2200" b="1" spc="5" dirty="0">
                <a:latin typeface="Courier New"/>
                <a:cs typeface="Courier New"/>
              </a:rPr>
              <a:t>a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name.  png(file </a:t>
            </a:r>
            <a:r>
              <a:rPr sz="2200" b="1" spc="5" dirty="0">
                <a:latin typeface="Courier New"/>
                <a:cs typeface="Courier New"/>
              </a:rPr>
              <a:t>=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"barchart.png")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Courier New"/>
              <a:cs typeface="Courier New"/>
            </a:endParaRPr>
          </a:p>
          <a:p>
            <a:pPr marL="12700" marR="1847850">
              <a:lnSpc>
                <a:spcPct val="124200"/>
              </a:lnSpc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Plot the bar</a:t>
            </a:r>
            <a:r>
              <a:rPr sz="2200" b="1" spc="-8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chart.  barplot(H)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50">
              <a:latin typeface="Courier New"/>
              <a:cs typeface="Courier New"/>
            </a:endParaRPr>
          </a:p>
          <a:p>
            <a:pPr marL="12700" marR="2685415">
              <a:lnSpc>
                <a:spcPct val="124200"/>
              </a:lnSpc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Save the</a:t>
            </a:r>
            <a:r>
              <a:rPr sz="2200" b="1" spc="-9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file.  dev.off()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 </a:t>
            </a:r>
            <a:r>
              <a:rPr spc="40" dirty="0"/>
              <a:t>charts </a:t>
            </a:r>
            <a:r>
              <a:rPr spc="-220" dirty="0"/>
              <a:t>–</a:t>
            </a:r>
            <a:r>
              <a:rPr spc="-56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602864" y="2203450"/>
            <a:ext cx="3838575" cy="33242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 </a:t>
            </a:r>
            <a:r>
              <a:rPr spc="85" dirty="0"/>
              <a:t>chart </a:t>
            </a:r>
            <a:r>
              <a:rPr spc="200" dirty="0"/>
              <a:t>with</a:t>
            </a:r>
            <a:r>
              <a:rPr spc="-600" dirty="0"/>
              <a:t> </a:t>
            </a:r>
            <a:r>
              <a:rPr spc="145" dirty="0"/>
              <a:t>attributes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72159" y="1448561"/>
            <a:ext cx="7846059" cy="4612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104515">
              <a:lnSpc>
                <a:spcPct val="125400"/>
              </a:lnSpc>
              <a:spcBef>
                <a:spcPts val="95"/>
              </a:spcBef>
            </a:pPr>
            <a:r>
              <a:rPr sz="1900" b="1" spc="15" dirty="0">
                <a:latin typeface="Courier New"/>
                <a:cs typeface="Courier New"/>
              </a:rPr>
              <a:t># Create </a:t>
            </a:r>
            <a:r>
              <a:rPr sz="1900" b="1" spc="10" dirty="0">
                <a:latin typeface="Courier New"/>
                <a:cs typeface="Courier New"/>
              </a:rPr>
              <a:t>the </a:t>
            </a:r>
            <a:r>
              <a:rPr sz="1900" b="1" spc="15" dirty="0">
                <a:latin typeface="Courier New"/>
                <a:cs typeface="Courier New"/>
              </a:rPr>
              <a:t>data for </a:t>
            </a:r>
            <a:r>
              <a:rPr sz="1900" b="1" spc="10" dirty="0">
                <a:latin typeface="Courier New"/>
                <a:cs typeface="Courier New"/>
              </a:rPr>
              <a:t>the </a:t>
            </a:r>
            <a:r>
              <a:rPr sz="1900" b="1" spc="15" dirty="0">
                <a:latin typeface="Courier New"/>
                <a:cs typeface="Courier New"/>
              </a:rPr>
              <a:t>chart.  H &lt;-</a:t>
            </a:r>
            <a:r>
              <a:rPr sz="1900" b="1" spc="25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c(7,12,28,3,41)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900" b="1" spc="15" dirty="0">
                <a:latin typeface="Courier New"/>
                <a:cs typeface="Courier New"/>
              </a:rPr>
              <a:t>M &lt;-</a:t>
            </a:r>
            <a:r>
              <a:rPr sz="1900" b="1" spc="30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c("Mar","Apr","May","Jun","Jul")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900" b="1" spc="15" dirty="0">
                <a:latin typeface="Courier New"/>
                <a:cs typeface="Courier New"/>
              </a:rPr>
              <a:t># Give the chart file a</a:t>
            </a:r>
            <a:r>
              <a:rPr sz="1900" b="1" spc="45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name.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900" b="1" spc="15" dirty="0">
                <a:latin typeface="Courier New"/>
                <a:cs typeface="Courier New"/>
              </a:rPr>
              <a:t>png(file =</a:t>
            </a:r>
            <a:r>
              <a:rPr sz="1900" b="1" spc="20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"barchart_months_revenue.png")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900" b="1" spc="15" dirty="0">
                <a:latin typeface="Courier New"/>
                <a:cs typeface="Courier New"/>
              </a:rPr>
              <a:t># Plot the bar</a:t>
            </a:r>
            <a:r>
              <a:rPr sz="1900" b="1" spc="35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chart.</a:t>
            </a:r>
            <a:endParaRPr sz="1900">
              <a:latin typeface="Courier New"/>
              <a:cs typeface="Courier New"/>
            </a:endParaRPr>
          </a:p>
          <a:p>
            <a:pPr marL="12700" marR="5080">
              <a:lnSpc>
                <a:spcPct val="101800"/>
              </a:lnSpc>
              <a:spcBef>
                <a:spcPts val="540"/>
              </a:spcBef>
            </a:pPr>
            <a:r>
              <a:rPr sz="1900" b="1" spc="15" dirty="0">
                <a:latin typeface="Courier New"/>
                <a:cs typeface="Courier New"/>
              </a:rPr>
              <a:t>barplot(H,names.arg = M,xlab = "Month",ylab =  "Revenue",col = "blue", main = "Revenue</a:t>
            </a:r>
            <a:r>
              <a:rPr sz="1900" b="1" spc="65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chart",border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900" b="1" spc="15" dirty="0">
                <a:latin typeface="Courier New"/>
                <a:cs typeface="Courier New"/>
              </a:rPr>
              <a:t>=</a:t>
            </a:r>
            <a:r>
              <a:rPr sz="1900" b="1" spc="20" dirty="0">
                <a:latin typeface="Courier New"/>
                <a:cs typeface="Courier New"/>
              </a:rPr>
              <a:t> </a:t>
            </a:r>
            <a:r>
              <a:rPr sz="1900" b="1" spc="15" dirty="0">
                <a:latin typeface="Courier New"/>
                <a:cs typeface="Courier New"/>
              </a:rPr>
              <a:t>"red")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900" b="1" spc="15" dirty="0">
                <a:latin typeface="Courier New"/>
                <a:cs typeface="Courier New"/>
              </a:rPr>
              <a:t>dev.off()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 </a:t>
            </a:r>
            <a:r>
              <a:rPr spc="85" dirty="0"/>
              <a:t>chart </a:t>
            </a:r>
            <a:r>
              <a:rPr spc="200" dirty="0"/>
              <a:t>with</a:t>
            </a:r>
            <a:r>
              <a:rPr spc="-600" dirty="0"/>
              <a:t> </a:t>
            </a:r>
            <a:r>
              <a:rPr spc="145" dirty="0"/>
              <a:t>attributes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842770"/>
            <a:ext cx="4114800" cy="4162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 </a:t>
            </a:r>
            <a:r>
              <a:rPr spc="85" dirty="0"/>
              <a:t>chart </a:t>
            </a:r>
            <a:r>
              <a:rPr spc="-220" dirty="0"/>
              <a:t>–</a:t>
            </a:r>
            <a:r>
              <a:rPr spc="-600" dirty="0"/>
              <a:t> </a:t>
            </a:r>
            <a:r>
              <a:rPr spc="-25" dirty="0"/>
              <a:t>Stacked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7869" y="1457960"/>
            <a:ext cx="7900034" cy="45669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2630170">
              <a:lnSpc>
                <a:spcPct val="123500"/>
              </a:lnSpc>
              <a:spcBef>
                <a:spcPts val="105"/>
              </a:spcBef>
            </a:pPr>
            <a:r>
              <a:rPr sz="1650" b="1" spc="-10" dirty="0">
                <a:latin typeface="Courier New"/>
                <a:cs typeface="Courier New"/>
              </a:rPr>
              <a:t>colors &lt;- </a:t>
            </a:r>
            <a:r>
              <a:rPr sz="1650" b="1" spc="-15" dirty="0">
                <a:latin typeface="Courier New"/>
                <a:cs typeface="Courier New"/>
              </a:rPr>
              <a:t>c("green","orange","brown")  </a:t>
            </a:r>
            <a:r>
              <a:rPr sz="1650" b="1" spc="-10" dirty="0">
                <a:latin typeface="Courier New"/>
                <a:cs typeface="Courier New"/>
              </a:rPr>
              <a:t>months &lt;- </a:t>
            </a:r>
            <a:r>
              <a:rPr sz="1650" b="1" spc="-15" dirty="0">
                <a:latin typeface="Courier New"/>
                <a:cs typeface="Courier New"/>
              </a:rPr>
              <a:t>c("Mar","Apr","May","Jun","Jul")  </a:t>
            </a:r>
            <a:r>
              <a:rPr sz="1650" b="1" spc="-10" dirty="0">
                <a:latin typeface="Courier New"/>
                <a:cs typeface="Courier New"/>
              </a:rPr>
              <a:t>regions </a:t>
            </a:r>
            <a:r>
              <a:rPr sz="1650" b="1" spc="-5" dirty="0">
                <a:latin typeface="Courier New"/>
                <a:cs typeface="Courier New"/>
              </a:rPr>
              <a:t>&lt;-</a:t>
            </a:r>
            <a:r>
              <a:rPr sz="1650" b="1" spc="-30" dirty="0">
                <a:latin typeface="Courier New"/>
                <a:cs typeface="Courier New"/>
              </a:rPr>
              <a:t> </a:t>
            </a:r>
            <a:r>
              <a:rPr sz="1650" b="1" spc="-15" dirty="0">
                <a:latin typeface="Courier New"/>
                <a:cs typeface="Courier New"/>
              </a:rPr>
              <a:t>c("East","West","North")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550">
              <a:latin typeface="Courier New"/>
              <a:cs typeface="Courier New"/>
            </a:endParaRPr>
          </a:p>
          <a:p>
            <a:pPr marL="12700">
              <a:lnSpc>
                <a:spcPts val="1975"/>
              </a:lnSpc>
            </a:pPr>
            <a:r>
              <a:rPr sz="1650" b="1" spc="-10" dirty="0">
                <a:latin typeface="Courier New"/>
                <a:cs typeface="Courier New"/>
              </a:rPr>
              <a:t>Values &lt;- </a:t>
            </a:r>
            <a:r>
              <a:rPr sz="1650" b="1" spc="-15" dirty="0">
                <a:latin typeface="Courier New"/>
                <a:cs typeface="Courier New"/>
              </a:rPr>
              <a:t>matrix(c(2,9,3,11,9,4,8,7,3,12,5,2,8,10,11),nrow</a:t>
            </a:r>
            <a:r>
              <a:rPr sz="1650" b="1" spc="25" dirty="0">
                <a:latin typeface="Courier New"/>
                <a:cs typeface="Courier New"/>
              </a:rPr>
              <a:t> </a:t>
            </a:r>
            <a:r>
              <a:rPr sz="1650" b="1" dirty="0">
                <a:latin typeface="Courier New"/>
                <a:cs typeface="Courier New"/>
              </a:rPr>
              <a:t>=</a:t>
            </a:r>
            <a:endParaRPr sz="1650">
              <a:latin typeface="Courier New"/>
              <a:cs typeface="Courier New"/>
            </a:endParaRPr>
          </a:p>
          <a:p>
            <a:pPr marL="12700">
              <a:lnSpc>
                <a:spcPts val="1975"/>
              </a:lnSpc>
            </a:pPr>
            <a:r>
              <a:rPr sz="1650" b="1" spc="-10" dirty="0">
                <a:latin typeface="Courier New"/>
                <a:cs typeface="Courier New"/>
              </a:rPr>
              <a:t>3,ncol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5,byrow </a:t>
            </a:r>
            <a:r>
              <a:rPr sz="1650" b="1" dirty="0">
                <a:latin typeface="Courier New"/>
                <a:cs typeface="Courier New"/>
              </a:rPr>
              <a:t>=</a:t>
            </a:r>
            <a:r>
              <a:rPr sz="1650" b="1" spc="-50" dirty="0">
                <a:latin typeface="Courier New"/>
                <a:cs typeface="Courier New"/>
              </a:rPr>
              <a:t> </a:t>
            </a:r>
            <a:r>
              <a:rPr sz="1650" b="1" spc="-10" dirty="0">
                <a:latin typeface="Courier New"/>
                <a:cs typeface="Courier New"/>
              </a:rPr>
              <a:t>TRUE)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50" b="1" spc="-10" dirty="0">
                <a:latin typeface="Courier New"/>
                <a:cs typeface="Courier New"/>
              </a:rPr>
              <a:t>png(file </a:t>
            </a:r>
            <a:r>
              <a:rPr sz="1650" b="1" dirty="0">
                <a:latin typeface="Courier New"/>
                <a:cs typeface="Courier New"/>
              </a:rPr>
              <a:t>=</a:t>
            </a:r>
            <a:r>
              <a:rPr sz="1650" b="1" spc="-30" dirty="0">
                <a:latin typeface="Courier New"/>
                <a:cs typeface="Courier New"/>
              </a:rPr>
              <a:t> </a:t>
            </a:r>
            <a:r>
              <a:rPr sz="1650" b="1" spc="-15" dirty="0">
                <a:latin typeface="Courier New"/>
                <a:cs typeface="Courier New"/>
              </a:rPr>
              <a:t>"barchart_stacked.png")</a:t>
            </a:r>
            <a:endParaRPr sz="16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00">
              <a:latin typeface="Courier New"/>
              <a:cs typeface="Courier New"/>
            </a:endParaRPr>
          </a:p>
          <a:p>
            <a:pPr marL="12700" marR="5080">
              <a:lnSpc>
                <a:spcPts val="1970"/>
              </a:lnSpc>
            </a:pPr>
            <a:r>
              <a:rPr sz="1650" b="1" spc="-15" dirty="0">
                <a:latin typeface="Courier New"/>
                <a:cs typeface="Courier New"/>
              </a:rPr>
              <a:t>barplot(Values,main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"total </a:t>
            </a:r>
            <a:r>
              <a:rPr sz="1650" b="1" spc="-15" dirty="0">
                <a:latin typeface="Courier New"/>
                <a:cs typeface="Courier New"/>
              </a:rPr>
              <a:t>revenue",names.arg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months,xlab </a:t>
            </a:r>
            <a:r>
              <a:rPr sz="1650" b="1" dirty="0">
                <a:latin typeface="Courier New"/>
                <a:cs typeface="Courier New"/>
              </a:rPr>
              <a:t>=  </a:t>
            </a:r>
            <a:r>
              <a:rPr sz="1650" b="1" spc="-15" dirty="0">
                <a:latin typeface="Courier New"/>
                <a:cs typeface="Courier New"/>
              </a:rPr>
              <a:t>"month",ylab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"revenue", col </a:t>
            </a:r>
            <a:r>
              <a:rPr sz="1650" b="1" dirty="0">
                <a:latin typeface="Courier New"/>
                <a:cs typeface="Courier New"/>
              </a:rPr>
              <a:t>=</a:t>
            </a:r>
            <a:r>
              <a:rPr sz="1650" b="1" spc="-60" dirty="0">
                <a:latin typeface="Courier New"/>
                <a:cs typeface="Courier New"/>
              </a:rPr>
              <a:t> </a:t>
            </a:r>
            <a:r>
              <a:rPr sz="1650" b="1" spc="-10" dirty="0">
                <a:latin typeface="Courier New"/>
                <a:cs typeface="Courier New"/>
              </a:rPr>
              <a:t>colors)</a:t>
            </a:r>
            <a:endParaRPr sz="1650">
              <a:latin typeface="Courier New"/>
              <a:cs typeface="Courier New"/>
            </a:endParaRPr>
          </a:p>
          <a:p>
            <a:pPr marL="12700" marR="1380490">
              <a:lnSpc>
                <a:spcPts val="4900"/>
              </a:lnSpc>
              <a:spcBef>
                <a:spcPts val="575"/>
              </a:spcBef>
            </a:pPr>
            <a:r>
              <a:rPr sz="1650" b="1" spc="-15" dirty="0">
                <a:latin typeface="Courier New"/>
                <a:cs typeface="Courier New"/>
              </a:rPr>
              <a:t>legend("topleft", </a:t>
            </a:r>
            <a:r>
              <a:rPr sz="1650" b="1" spc="-10" dirty="0">
                <a:latin typeface="Courier New"/>
                <a:cs typeface="Courier New"/>
              </a:rPr>
              <a:t>regions, cex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1.3, fill </a:t>
            </a:r>
            <a:r>
              <a:rPr sz="1650" b="1" dirty="0">
                <a:latin typeface="Courier New"/>
                <a:cs typeface="Courier New"/>
              </a:rPr>
              <a:t>= </a:t>
            </a:r>
            <a:r>
              <a:rPr sz="1650" b="1" spc="-10" dirty="0">
                <a:latin typeface="Courier New"/>
                <a:cs typeface="Courier New"/>
              </a:rPr>
              <a:t>colors)  dev.off()</a:t>
            </a:r>
            <a:endParaRPr sz="16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-10" dirty="0"/>
              <a:t>Bar </a:t>
            </a:r>
            <a:r>
              <a:rPr spc="85" dirty="0"/>
              <a:t>chart </a:t>
            </a:r>
            <a:r>
              <a:rPr spc="-220" dirty="0"/>
              <a:t>–</a:t>
            </a:r>
            <a:r>
              <a:rPr spc="-600" dirty="0"/>
              <a:t> </a:t>
            </a:r>
            <a:r>
              <a:rPr spc="-25" dirty="0"/>
              <a:t>Stacked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45689" y="1879600"/>
            <a:ext cx="4095750" cy="4162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Boxplot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8094345" cy="43580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7185" marR="247015" indent="-325120">
              <a:lnSpc>
                <a:spcPct val="100000"/>
              </a:lnSpc>
              <a:spcBef>
                <a:spcPts val="110"/>
              </a:spcBef>
              <a:buClr>
                <a:srgbClr val="6697CC"/>
              </a:buClr>
              <a:buFont typeface="Liberation Sans"/>
              <a:buChar char="•"/>
              <a:tabLst>
                <a:tab pos="337185" algn="l"/>
                <a:tab pos="337820" algn="l"/>
              </a:tabLst>
            </a:pPr>
            <a:r>
              <a:rPr sz="2650" spc="60" dirty="0">
                <a:latin typeface="Arial"/>
                <a:cs typeface="Arial"/>
              </a:rPr>
              <a:t>Boxplots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10" dirty="0">
                <a:latin typeface="Arial"/>
                <a:cs typeface="Arial"/>
              </a:rPr>
              <a:t>are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-90" dirty="0">
                <a:latin typeface="Arial"/>
                <a:cs typeface="Arial"/>
              </a:rPr>
              <a:t>a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5" dirty="0">
                <a:latin typeface="Arial"/>
                <a:cs typeface="Arial"/>
              </a:rPr>
              <a:t>measure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185" dirty="0">
                <a:latin typeface="Arial"/>
                <a:cs typeface="Arial"/>
              </a:rPr>
              <a:t>of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80" dirty="0">
                <a:latin typeface="Arial"/>
                <a:cs typeface="Arial"/>
              </a:rPr>
              <a:t>how</a:t>
            </a:r>
            <a:r>
              <a:rPr sz="2650" spc="-145" dirty="0">
                <a:latin typeface="Arial"/>
                <a:cs typeface="Arial"/>
              </a:rPr>
              <a:t> </a:t>
            </a:r>
            <a:r>
              <a:rPr sz="2650" spc="105" dirty="0">
                <a:latin typeface="Arial"/>
                <a:cs typeface="Arial"/>
              </a:rPr>
              <a:t>well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100" dirty="0">
                <a:latin typeface="Arial"/>
                <a:cs typeface="Arial"/>
              </a:rPr>
              <a:t>distributed</a:t>
            </a:r>
            <a:r>
              <a:rPr sz="2650" spc="-145" dirty="0">
                <a:latin typeface="Arial"/>
                <a:cs typeface="Arial"/>
              </a:rPr>
              <a:t> </a:t>
            </a:r>
            <a:r>
              <a:rPr sz="2650" spc="-25" dirty="0">
                <a:latin typeface="Arial"/>
                <a:cs typeface="Arial"/>
              </a:rPr>
              <a:t>is  </a:t>
            </a:r>
            <a:r>
              <a:rPr sz="2650" spc="125" dirty="0">
                <a:latin typeface="Arial"/>
                <a:cs typeface="Arial"/>
              </a:rPr>
              <a:t>the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55" dirty="0">
                <a:latin typeface="Arial"/>
                <a:cs typeface="Arial"/>
              </a:rPr>
              <a:t>data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70" dirty="0">
                <a:latin typeface="Arial"/>
                <a:cs typeface="Arial"/>
              </a:rPr>
              <a:t>in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-90" dirty="0">
                <a:latin typeface="Arial"/>
                <a:cs typeface="Arial"/>
              </a:rPr>
              <a:t>a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55" dirty="0">
                <a:latin typeface="Arial"/>
                <a:cs typeface="Arial"/>
              </a:rPr>
              <a:t>data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35" dirty="0">
                <a:latin typeface="Arial"/>
                <a:cs typeface="Arial"/>
              </a:rPr>
              <a:t>set.</a:t>
            </a:r>
            <a:endParaRPr sz="2650">
              <a:latin typeface="Arial"/>
              <a:cs typeface="Arial"/>
            </a:endParaRPr>
          </a:p>
          <a:p>
            <a:pPr marL="337185" marR="5080" indent="-325120">
              <a:lnSpc>
                <a:spcPct val="100000"/>
              </a:lnSpc>
              <a:spcBef>
                <a:spcPts val="760"/>
              </a:spcBef>
              <a:buClr>
                <a:srgbClr val="6697CC"/>
              </a:buClr>
              <a:buFont typeface="Liberation Sans"/>
              <a:buChar char="•"/>
              <a:tabLst>
                <a:tab pos="337185" algn="l"/>
                <a:tab pos="337820" algn="l"/>
              </a:tabLst>
            </a:pPr>
            <a:r>
              <a:rPr sz="2650" spc="150" dirty="0">
                <a:latin typeface="Arial"/>
                <a:cs typeface="Arial"/>
              </a:rPr>
              <a:t>It </a:t>
            </a:r>
            <a:r>
              <a:rPr sz="2650" spc="25" dirty="0">
                <a:latin typeface="Arial"/>
                <a:cs typeface="Arial"/>
              </a:rPr>
              <a:t>divides </a:t>
            </a:r>
            <a:r>
              <a:rPr sz="2650" spc="125" dirty="0">
                <a:latin typeface="Arial"/>
                <a:cs typeface="Arial"/>
              </a:rPr>
              <a:t>the </a:t>
            </a:r>
            <a:r>
              <a:rPr sz="2650" spc="55" dirty="0">
                <a:latin typeface="Arial"/>
                <a:cs typeface="Arial"/>
              </a:rPr>
              <a:t>data </a:t>
            </a:r>
            <a:r>
              <a:rPr sz="2650" spc="65" dirty="0">
                <a:latin typeface="Arial"/>
                <a:cs typeface="Arial"/>
              </a:rPr>
              <a:t>set </a:t>
            </a:r>
            <a:r>
              <a:rPr sz="2650" spc="130" dirty="0">
                <a:latin typeface="Arial"/>
                <a:cs typeface="Arial"/>
              </a:rPr>
              <a:t>into </a:t>
            </a:r>
            <a:r>
              <a:rPr sz="2650" spc="105" dirty="0">
                <a:latin typeface="Arial"/>
                <a:cs typeface="Arial"/>
              </a:rPr>
              <a:t>three </a:t>
            </a:r>
            <a:r>
              <a:rPr sz="2650" spc="45" dirty="0">
                <a:latin typeface="Arial"/>
                <a:cs typeface="Arial"/>
              </a:rPr>
              <a:t>quartiles. </a:t>
            </a:r>
            <a:r>
              <a:rPr sz="2650" spc="-40" dirty="0">
                <a:latin typeface="Arial"/>
                <a:cs typeface="Arial"/>
              </a:rPr>
              <a:t>This  </a:t>
            </a:r>
            <a:r>
              <a:rPr sz="2650" spc="45" dirty="0">
                <a:latin typeface="Arial"/>
                <a:cs typeface="Arial"/>
              </a:rPr>
              <a:t>graph</a:t>
            </a:r>
            <a:r>
              <a:rPr sz="2650" spc="-145" dirty="0">
                <a:latin typeface="Arial"/>
                <a:cs typeface="Arial"/>
              </a:rPr>
              <a:t> </a:t>
            </a:r>
            <a:r>
              <a:rPr sz="2650" spc="45" dirty="0">
                <a:latin typeface="Arial"/>
                <a:cs typeface="Arial"/>
              </a:rPr>
              <a:t>represents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125" dirty="0">
                <a:latin typeface="Arial"/>
                <a:cs typeface="Arial"/>
              </a:rPr>
              <a:t>the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45" dirty="0">
                <a:latin typeface="Arial"/>
                <a:cs typeface="Arial"/>
              </a:rPr>
              <a:t>minimum,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20" dirty="0">
                <a:latin typeface="Arial"/>
                <a:cs typeface="Arial"/>
              </a:rPr>
              <a:t>maximum,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15" dirty="0">
                <a:latin typeface="Arial"/>
                <a:cs typeface="Arial"/>
              </a:rPr>
              <a:t>median,  </a:t>
            </a:r>
            <a:r>
              <a:rPr sz="2650" spc="140" dirty="0">
                <a:latin typeface="Arial"/>
                <a:cs typeface="Arial"/>
              </a:rPr>
              <a:t>first</a:t>
            </a:r>
            <a:r>
              <a:rPr sz="2650" spc="-120" dirty="0">
                <a:latin typeface="Arial"/>
                <a:cs typeface="Arial"/>
              </a:rPr>
              <a:t> </a:t>
            </a:r>
            <a:r>
              <a:rPr sz="2650" spc="85" dirty="0">
                <a:latin typeface="Arial"/>
                <a:cs typeface="Arial"/>
              </a:rPr>
              <a:t>quartile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10" dirty="0">
                <a:latin typeface="Arial"/>
                <a:cs typeface="Arial"/>
              </a:rPr>
              <a:t>and</a:t>
            </a:r>
            <a:r>
              <a:rPr sz="2650" spc="-125" dirty="0">
                <a:latin typeface="Arial"/>
                <a:cs typeface="Arial"/>
              </a:rPr>
              <a:t> </a:t>
            </a:r>
            <a:r>
              <a:rPr sz="2650" spc="130" dirty="0">
                <a:latin typeface="Arial"/>
                <a:cs typeface="Arial"/>
              </a:rPr>
              <a:t>third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85" dirty="0">
                <a:latin typeface="Arial"/>
                <a:cs typeface="Arial"/>
              </a:rPr>
              <a:t>quartile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65" dirty="0">
                <a:latin typeface="Arial"/>
                <a:cs typeface="Arial"/>
              </a:rPr>
              <a:t>in</a:t>
            </a:r>
            <a:r>
              <a:rPr sz="2650" spc="-125" dirty="0">
                <a:latin typeface="Arial"/>
                <a:cs typeface="Arial"/>
              </a:rPr>
              <a:t> </a:t>
            </a:r>
            <a:r>
              <a:rPr sz="2650" spc="125" dirty="0">
                <a:latin typeface="Arial"/>
                <a:cs typeface="Arial"/>
              </a:rPr>
              <a:t>the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55" dirty="0">
                <a:latin typeface="Arial"/>
                <a:cs typeface="Arial"/>
              </a:rPr>
              <a:t>data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35" dirty="0">
                <a:latin typeface="Arial"/>
                <a:cs typeface="Arial"/>
              </a:rPr>
              <a:t>set.</a:t>
            </a:r>
            <a:endParaRPr sz="2650">
              <a:latin typeface="Arial"/>
              <a:cs typeface="Arial"/>
            </a:endParaRPr>
          </a:p>
          <a:p>
            <a:pPr marL="337185" marR="70485" indent="-325120">
              <a:lnSpc>
                <a:spcPct val="100000"/>
              </a:lnSpc>
              <a:spcBef>
                <a:spcPts val="770"/>
              </a:spcBef>
              <a:buClr>
                <a:srgbClr val="6697CC"/>
              </a:buClr>
              <a:buFont typeface="Liberation Sans"/>
              <a:buChar char="•"/>
              <a:tabLst>
                <a:tab pos="337185" algn="l"/>
                <a:tab pos="337820" algn="l"/>
              </a:tabLst>
            </a:pPr>
            <a:r>
              <a:rPr sz="2650" spc="150" dirty="0">
                <a:latin typeface="Arial"/>
                <a:cs typeface="Arial"/>
              </a:rPr>
              <a:t>It </a:t>
            </a:r>
            <a:r>
              <a:rPr sz="2650" spc="-30" dirty="0">
                <a:latin typeface="Arial"/>
                <a:cs typeface="Arial"/>
              </a:rPr>
              <a:t>is </a:t>
            </a:r>
            <a:r>
              <a:rPr sz="2650" spc="-5" dirty="0">
                <a:latin typeface="Arial"/>
                <a:cs typeface="Arial"/>
              </a:rPr>
              <a:t>also </a:t>
            </a:r>
            <a:r>
              <a:rPr sz="2650" spc="60" dirty="0">
                <a:latin typeface="Arial"/>
                <a:cs typeface="Arial"/>
              </a:rPr>
              <a:t>useful </a:t>
            </a:r>
            <a:r>
              <a:rPr sz="2650" spc="65" dirty="0">
                <a:latin typeface="Arial"/>
                <a:cs typeface="Arial"/>
              </a:rPr>
              <a:t>in </a:t>
            </a:r>
            <a:r>
              <a:rPr sz="2650" spc="35" dirty="0">
                <a:latin typeface="Arial"/>
                <a:cs typeface="Arial"/>
              </a:rPr>
              <a:t>comparing </a:t>
            </a:r>
            <a:r>
              <a:rPr sz="2650" spc="125" dirty="0">
                <a:latin typeface="Arial"/>
                <a:cs typeface="Arial"/>
              </a:rPr>
              <a:t>the </a:t>
            </a:r>
            <a:r>
              <a:rPr sz="2650" spc="100" dirty="0">
                <a:latin typeface="Arial"/>
                <a:cs typeface="Arial"/>
              </a:rPr>
              <a:t>distribution </a:t>
            </a:r>
            <a:r>
              <a:rPr sz="2650" spc="185" dirty="0">
                <a:latin typeface="Arial"/>
                <a:cs typeface="Arial"/>
              </a:rPr>
              <a:t>of  </a:t>
            </a:r>
            <a:r>
              <a:rPr sz="2650" spc="55" dirty="0">
                <a:latin typeface="Arial"/>
                <a:cs typeface="Arial"/>
              </a:rPr>
              <a:t>data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-45" dirty="0">
                <a:latin typeface="Arial"/>
                <a:cs typeface="Arial"/>
              </a:rPr>
              <a:t>across</a:t>
            </a:r>
            <a:r>
              <a:rPr sz="2650" spc="-125" dirty="0">
                <a:latin typeface="Arial"/>
                <a:cs typeface="Arial"/>
              </a:rPr>
              <a:t> </a:t>
            </a:r>
            <a:r>
              <a:rPr sz="2650" spc="55" dirty="0">
                <a:latin typeface="Arial"/>
                <a:cs typeface="Arial"/>
              </a:rPr>
              <a:t>data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10" dirty="0">
                <a:latin typeface="Arial"/>
                <a:cs typeface="Arial"/>
              </a:rPr>
              <a:t>sets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20" dirty="0">
                <a:latin typeface="Arial"/>
                <a:cs typeface="Arial"/>
              </a:rPr>
              <a:t>by</a:t>
            </a:r>
            <a:r>
              <a:rPr sz="2650" spc="-120" dirty="0">
                <a:latin typeface="Arial"/>
                <a:cs typeface="Arial"/>
              </a:rPr>
              <a:t> </a:t>
            </a:r>
            <a:r>
              <a:rPr sz="2650" spc="60" dirty="0">
                <a:latin typeface="Arial"/>
                <a:cs typeface="Arial"/>
              </a:rPr>
              <a:t>drawing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80" dirty="0">
                <a:latin typeface="Arial"/>
                <a:cs typeface="Arial"/>
              </a:rPr>
              <a:t>boxplots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165" dirty="0">
                <a:latin typeface="Arial"/>
                <a:cs typeface="Arial"/>
              </a:rPr>
              <a:t>for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-35" dirty="0">
                <a:latin typeface="Arial"/>
                <a:cs typeface="Arial"/>
              </a:rPr>
              <a:t>each  </a:t>
            </a:r>
            <a:r>
              <a:rPr sz="2650" spc="185" dirty="0">
                <a:latin typeface="Arial"/>
                <a:cs typeface="Arial"/>
              </a:rPr>
              <a:t>of</a:t>
            </a:r>
            <a:r>
              <a:rPr sz="2650" spc="-145" dirty="0">
                <a:latin typeface="Arial"/>
                <a:cs typeface="Arial"/>
              </a:rPr>
              <a:t> </a:t>
            </a:r>
            <a:r>
              <a:rPr sz="2650" spc="70" dirty="0">
                <a:latin typeface="Arial"/>
                <a:cs typeface="Arial"/>
              </a:rPr>
              <a:t>them.</a:t>
            </a:r>
            <a:endParaRPr sz="2650">
              <a:latin typeface="Arial"/>
              <a:cs typeface="Arial"/>
            </a:endParaRPr>
          </a:p>
          <a:p>
            <a:pPr marL="337185" marR="492759" indent="-325120">
              <a:lnSpc>
                <a:spcPct val="100299"/>
              </a:lnSpc>
              <a:spcBef>
                <a:spcPts val="750"/>
              </a:spcBef>
              <a:buClr>
                <a:srgbClr val="6697CC"/>
              </a:buClr>
              <a:buFont typeface="Liberation Sans"/>
              <a:buChar char="•"/>
              <a:tabLst>
                <a:tab pos="337185" algn="l"/>
                <a:tab pos="337820" algn="l"/>
              </a:tabLst>
            </a:pPr>
            <a:r>
              <a:rPr sz="2650" spc="60" dirty="0">
                <a:latin typeface="Arial"/>
                <a:cs typeface="Arial"/>
              </a:rPr>
              <a:t>Boxplots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10" dirty="0">
                <a:latin typeface="Arial"/>
                <a:cs typeface="Arial"/>
              </a:rPr>
              <a:t>are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50" dirty="0">
                <a:latin typeface="Arial"/>
                <a:cs typeface="Arial"/>
              </a:rPr>
              <a:t>created</a:t>
            </a:r>
            <a:r>
              <a:rPr sz="2650" spc="-145" dirty="0">
                <a:latin typeface="Arial"/>
                <a:cs typeface="Arial"/>
              </a:rPr>
              <a:t> </a:t>
            </a:r>
            <a:r>
              <a:rPr sz="2650" spc="65" dirty="0">
                <a:latin typeface="Arial"/>
                <a:cs typeface="Arial"/>
              </a:rPr>
              <a:t>in</a:t>
            </a:r>
            <a:r>
              <a:rPr sz="2650" spc="-130" dirty="0">
                <a:latin typeface="Arial"/>
                <a:cs typeface="Arial"/>
              </a:rPr>
              <a:t> </a:t>
            </a:r>
            <a:r>
              <a:rPr sz="2650" spc="-245" dirty="0">
                <a:latin typeface="Arial"/>
                <a:cs typeface="Arial"/>
              </a:rPr>
              <a:t>R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25" dirty="0">
                <a:latin typeface="Arial"/>
                <a:cs typeface="Arial"/>
              </a:rPr>
              <a:t>by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20" dirty="0">
                <a:latin typeface="Arial"/>
                <a:cs typeface="Arial"/>
              </a:rPr>
              <a:t>using</a:t>
            </a:r>
            <a:r>
              <a:rPr sz="2650" spc="-140" dirty="0">
                <a:latin typeface="Arial"/>
                <a:cs typeface="Arial"/>
              </a:rPr>
              <a:t> </a:t>
            </a:r>
            <a:r>
              <a:rPr sz="2650" spc="125" dirty="0">
                <a:latin typeface="Arial"/>
                <a:cs typeface="Arial"/>
              </a:rPr>
              <a:t>the</a:t>
            </a:r>
            <a:r>
              <a:rPr sz="2650" spc="-135" dirty="0">
                <a:latin typeface="Arial"/>
                <a:cs typeface="Arial"/>
              </a:rPr>
              <a:t> </a:t>
            </a:r>
            <a:r>
              <a:rPr sz="2650" spc="105" dirty="0">
                <a:latin typeface="Arial"/>
                <a:cs typeface="Arial"/>
              </a:rPr>
              <a:t>boxplot()  </a:t>
            </a:r>
            <a:r>
              <a:rPr sz="2650" spc="80" dirty="0">
                <a:latin typeface="Arial"/>
                <a:cs typeface="Arial"/>
              </a:rPr>
              <a:t>function.</a:t>
            </a:r>
            <a:endParaRPr sz="26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Boxplot </a:t>
            </a:r>
            <a:r>
              <a:rPr spc="-220" dirty="0"/>
              <a:t>–</a:t>
            </a:r>
            <a:r>
              <a:rPr spc="-480" dirty="0"/>
              <a:t> </a:t>
            </a:r>
            <a:r>
              <a:rPr spc="-1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9164"/>
            <a:ext cx="8009255" cy="43776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725"/>
              </a:spcBef>
              <a:buClr>
                <a:srgbClr val="6697CC"/>
              </a:buClr>
              <a:buFont typeface="Liberation Sans"/>
              <a:buChar char="•"/>
              <a:tabLst>
                <a:tab pos="282575" algn="l"/>
                <a:tab pos="283210" algn="l"/>
              </a:tabLst>
            </a:pPr>
            <a:r>
              <a:rPr sz="2200" spc="-20" dirty="0">
                <a:latin typeface="Arial"/>
                <a:cs typeface="Arial"/>
              </a:rPr>
              <a:t>The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basic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syntax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40" dirty="0">
                <a:latin typeface="Arial"/>
                <a:cs typeface="Arial"/>
              </a:rPr>
              <a:t>create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95" dirty="0">
                <a:latin typeface="Arial"/>
                <a:cs typeface="Arial"/>
              </a:rPr>
              <a:t>boxplot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60" dirty="0">
                <a:latin typeface="Arial"/>
                <a:cs typeface="Arial"/>
              </a:rPr>
              <a:t>in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00" dirty="0">
                <a:latin typeface="Arial"/>
                <a:cs typeface="Arial"/>
              </a:rPr>
              <a:t>R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is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−</a:t>
            </a:r>
            <a:endParaRPr sz="2200" dirty="0">
              <a:latin typeface="Arial"/>
              <a:cs typeface="Arial"/>
            </a:endParaRPr>
          </a:p>
          <a:p>
            <a:pPr marL="282575">
              <a:lnSpc>
                <a:spcPct val="100000"/>
              </a:lnSpc>
              <a:spcBef>
                <a:spcPts val="630"/>
              </a:spcBef>
            </a:pPr>
            <a:r>
              <a:rPr sz="2200" b="1" spc="-5" dirty="0">
                <a:latin typeface="Courier New"/>
                <a:cs typeface="Courier New"/>
              </a:rPr>
              <a:t>boxplot(x, data, notch, varwidth, names,</a:t>
            </a:r>
            <a:r>
              <a:rPr sz="2200" b="1" spc="-3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main)</a:t>
            </a:r>
            <a:endParaRPr sz="2200" dirty="0">
              <a:latin typeface="Courier New"/>
              <a:cs typeface="Courier New"/>
            </a:endParaRPr>
          </a:p>
          <a:p>
            <a:pPr marL="283210" indent="-270510">
              <a:lnSpc>
                <a:spcPct val="100000"/>
              </a:lnSpc>
              <a:spcBef>
                <a:spcPts val="640"/>
              </a:spcBef>
              <a:buClr>
                <a:srgbClr val="6697CC"/>
              </a:buClr>
              <a:buFont typeface="Liberation Sans"/>
              <a:buChar char="•"/>
              <a:tabLst>
                <a:tab pos="282575" algn="l"/>
                <a:tab pos="283210" algn="l"/>
              </a:tabLst>
            </a:pPr>
            <a:r>
              <a:rPr sz="2200" spc="50" dirty="0">
                <a:latin typeface="Arial"/>
                <a:cs typeface="Arial"/>
              </a:rPr>
              <a:t>Following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is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description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parameters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−</a:t>
            </a:r>
            <a:endParaRPr sz="2200" dirty="0">
              <a:latin typeface="Arial"/>
              <a:cs typeface="Arial"/>
            </a:endParaRPr>
          </a:p>
          <a:p>
            <a:pPr marL="599440" lvl="1" indent="-226695">
              <a:lnSpc>
                <a:spcPct val="100000"/>
              </a:lnSpc>
              <a:spcBef>
                <a:spcPts val="550"/>
              </a:spcBef>
              <a:buClr>
                <a:srgbClr val="6697CC"/>
              </a:buClr>
              <a:buFont typeface="Liberation Sans"/>
              <a:buChar char="–"/>
              <a:tabLst>
                <a:tab pos="599440" algn="l"/>
              </a:tabLst>
            </a:pPr>
            <a:r>
              <a:rPr sz="2200" spc="25" dirty="0">
                <a:latin typeface="Arial"/>
                <a:cs typeface="Arial"/>
              </a:rPr>
              <a:t>x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is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vector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00" dirty="0">
                <a:latin typeface="Arial"/>
                <a:cs typeface="Arial"/>
              </a:rPr>
              <a:t>or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80" dirty="0">
                <a:latin typeface="Arial"/>
                <a:cs typeface="Arial"/>
              </a:rPr>
              <a:t>formula</a:t>
            </a:r>
            <a:endParaRPr sz="2200" dirty="0">
              <a:latin typeface="Arial"/>
              <a:cs typeface="Arial"/>
            </a:endParaRPr>
          </a:p>
          <a:p>
            <a:pPr marL="599440" lvl="1" indent="-226695">
              <a:lnSpc>
                <a:spcPct val="100000"/>
              </a:lnSpc>
              <a:spcBef>
                <a:spcPts val="560"/>
              </a:spcBef>
              <a:buClr>
                <a:srgbClr val="6697CC"/>
              </a:buClr>
              <a:buFont typeface="Liberation Sans"/>
              <a:buChar char="–"/>
              <a:tabLst>
                <a:tab pos="599440" algn="l"/>
              </a:tabLst>
            </a:pPr>
            <a:r>
              <a:rPr sz="2200" spc="45" dirty="0">
                <a:latin typeface="Arial"/>
                <a:cs typeface="Arial"/>
              </a:rPr>
              <a:t>data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data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45" dirty="0">
                <a:latin typeface="Arial"/>
                <a:cs typeface="Arial"/>
              </a:rPr>
              <a:t>frame.</a:t>
            </a:r>
            <a:endParaRPr sz="2200" dirty="0">
              <a:latin typeface="Arial"/>
              <a:cs typeface="Arial"/>
            </a:endParaRPr>
          </a:p>
          <a:p>
            <a:pPr marL="599440" lvl="1" indent="-226695">
              <a:lnSpc>
                <a:spcPct val="100000"/>
              </a:lnSpc>
              <a:spcBef>
                <a:spcPts val="550"/>
              </a:spcBef>
              <a:buClr>
                <a:srgbClr val="6697CC"/>
              </a:buClr>
              <a:buFont typeface="Liberation Sans"/>
              <a:buChar char="–"/>
              <a:tabLst>
                <a:tab pos="599440" algn="l"/>
              </a:tabLst>
            </a:pPr>
            <a:r>
              <a:rPr sz="2200" spc="65" dirty="0">
                <a:latin typeface="Arial"/>
                <a:cs typeface="Arial"/>
              </a:rPr>
              <a:t>notch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logical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value.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Set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as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145" dirty="0">
                <a:latin typeface="Arial"/>
                <a:cs typeface="Arial"/>
              </a:rPr>
              <a:t>TRUE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to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draw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40" dirty="0">
                <a:latin typeface="Arial"/>
                <a:cs typeface="Arial"/>
              </a:rPr>
              <a:t>notch.</a:t>
            </a:r>
            <a:endParaRPr sz="2200" dirty="0">
              <a:latin typeface="Arial"/>
              <a:cs typeface="Arial"/>
            </a:endParaRPr>
          </a:p>
          <a:p>
            <a:pPr marL="599440" marR="5080" lvl="1" indent="-226060">
              <a:lnSpc>
                <a:spcPct val="100000"/>
              </a:lnSpc>
              <a:spcBef>
                <a:spcPts val="550"/>
              </a:spcBef>
              <a:buClr>
                <a:srgbClr val="6697CC"/>
              </a:buClr>
              <a:buFont typeface="Liberation Sans"/>
              <a:buChar char="–"/>
              <a:tabLst>
                <a:tab pos="599440" algn="l"/>
              </a:tabLst>
            </a:pPr>
            <a:r>
              <a:rPr sz="2200" spc="80" dirty="0">
                <a:latin typeface="Arial"/>
                <a:cs typeface="Arial"/>
              </a:rPr>
              <a:t>varwidth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is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40" dirty="0">
                <a:latin typeface="Arial"/>
                <a:cs typeface="Arial"/>
              </a:rPr>
              <a:t>logical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value.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Set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95" dirty="0">
                <a:latin typeface="Arial"/>
                <a:cs typeface="Arial"/>
              </a:rPr>
              <a:t>as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10" dirty="0">
                <a:latin typeface="Arial"/>
                <a:cs typeface="Arial"/>
              </a:rPr>
              <a:t>true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draw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110" dirty="0">
                <a:latin typeface="Arial"/>
                <a:cs typeface="Arial"/>
              </a:rPr>
              <a:t>width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of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  </a:t>
            </a:r>
            <a:r>
              <a:rPr sz="2200" spc="40" dirty="0">
                <a:latin typeface="Arial"/>
                <a:cs typeface="Arial"/>
              </a:rPr>
              <a:t>box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90" dirty="0">
                <a:latin typeface="Arial"/>
                <a:cs typeface="Arial"/>
              </a:rPr>
              <a:t>proportionate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100" dirty="0">
                <a:latin typeface="Arial"/>
                <a:cs typeface="Arial"/>
              </a:rPr>
              <a:t>the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5" dirty="0">
                <a:latin typeface="Arial"/>
                <a:cs typeface="Arial"/>
              </a:rPr>
              <a:t>sample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45" dirty="0">
                <a:latin typeface="Arial"/>
                <a:cs typeface="Arial"/>
              </a:rPr>
              <a:t>size.</a:t>
            </a:r>
            <a:endParaRPr sz="2200" dirty="0">
              <a:latin typeface="Arial"/>
              <a:cs typeface="Arial"/>
            </a:endParaRPr>
          </a:p>
          <a:p>
            <a:pPr marL="599440" marR="444500" lvl="1" indent="-226060">
              <a:lnSpc>
                <a:spcPct val="100000"/>
              </a:lnSpc>
              <a:spcBef>
                <a:spcPts val="560"/>
              </a:spcBef>
              <a:buClr>
                <a:srgbClr val="6697CC"/>
              </a:buClr>
              <a:buFont typeface="Liberation Sans"/>
              <a:buChar char="–"/>
              <a:tabLst>
                <a:tab pos="599440" algn="l"/>
              </a:tabLst>
            </a:pPr>
            <a:r>
              <a:rPr sz="2200" spc="-15" dirty="0">
                <a:latin typeface="Arial"/>
                <a:cs typeface="Arial"/>
              </a:rPr>
              <a:t>names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" dirty="0">
                <a:latin typeface="Arial"/>
                <a:cs typeface="Arial"/>
              </a:rPr>
              <a:t>are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70" dirty="0">
                <a:latin typeface="Arial"/>
                <a:cs typeface="Arial"/>
              </a:rPr>
              <a:t>group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5" dirty="0">
                <a:latin typeface="Arial"/>
                <a:cs typeface="Arial"/>
              </a:rPr>
              <a:t>labels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which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00" dirty="0">
                <a:latin typeface="Arial"/>
                <a:cs typeface="Arial"/>
              </a:rPr>
              <a:t>will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40" dirty="0">
                <a:latin typeface="Arial"/>
                <a:cs typeface="Arial"/>
              </a:rPr>
              <a:t>be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90" dirty="0">
                <a:latin typeface="Arial"/>
                <a:cs typeface="Arial"/>
              </a:rPr>
              <a:t>printed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under  </a:t>
            </a:r>
            <a:r>
              <a:rPr sz="2200" spc="-25" dirty="0">
                <a:latin typeface="Arial"/>
                <a:cs typeface="Arial"/>
              </a:rPr>
              <a:t>each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75" dirty="0">
                <a:latin typeface="Arial"/>
                <a:cs typeface="Arial"/>
              </a:rPr>
              <a:t>boxplot.</a:t>
            </a:r>
            <a:endParaRPr sz="2200" dirty="0">
              <a:latin typeface="Arial"/>
              <a:cs typeface="Arial"/>
            </a:endParaRPr>
          </a:p>
          <a:p>
            <a:pPr marL="599440" lvl="1" indent="-226695">
              <a:lnSpc>
                <a:spcPct val="100000"/>
              </a:lnSpc>
              <a:spcBef>
                <a:spcPts val="560"/>
              </a:spcBef>
              <a:buClr>
                <a:srgbClr val="6697CC"/>
              </a:buClr>
              <a:buFont typeface="Liberation Sans"/>
              <a:buChar char="–"/>
              <a:tabLst>
                <a:tab pos="599440" algn="l"/>
              </a:tabLst>
            </a:pPr>
            <a:r>
              <a:rPr sz="2200" spc="25" dirty="0">
                <a:latin typeface="Arial"/>
                <a:cs typeface="Arial"/>
              </a:rPr>
              <a:t>main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to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give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45" dirty="0">
                <a:latin typeface="Arial"/>
                <a:cs typeface="Arial"/>
              </a:rPr>
              <a:t>title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100" dirty="0">
                <a:latin typeface="Arial"/>
                <a:cs typeface="Arial"/>
              </a:rPr>
              <a:t>the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graph.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31509" y="4613909"/>
            <a:ext cx="3161678" cy="18859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Boxplot </a:t>
            </a:r>
            <a:r>
              <a:rPr spc="-220" dirty="0"/>
              <a:t>–</a:t>
            </a:r>
            <a:r>
              <a:rPr spc="-480" dirty="0"/>
              <a:t> </a:t>
            </a:r>
            <a:r>
              <a:rPr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17650"/>
            <a:ext cx="7820659" cy="28854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5080" indent="-342900">
              <a:lnSpc>
                <a:spcPts val="3350"/>
              </a:lnSpc>
              <a:spcBef>
                <a:spcPts val="219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55" dirty="0">
                <a:latin typeface="Arial"/>
                <a:cs typeface="Arial"/>
              </a:rPr>
              <a:t>We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use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55" dirty="0">
                <a:latin typeface="Arial"/>
                <a:cs typeface="Arial"/>
              </a:rPr>
              <a:t>data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set</a:t>
            </a:r>
            <a:r>
              <a:rPr sz="2800" spc="-12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"mtcars"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available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in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265" dirty="0">
                <a:latin typeface="Arial"/>
                <a:cs typeface="Arial"/>
              </a:rPr>
              <a:t>R  </a:t>
            </a:r>
            <a:r>
              <a:rPr sz="2800" spc="75" dirty="0">
                <a:latin typeface="Arial"/>
                <a:cs typeface="Arial"/>
              </a:rPr>
              <a:t>environment </a:t>
            </a:r>
            <a:r>
              <a:rPr sz="2800" spc="195" dirty="0">
                <a:latin typeface="Arial"/>
                <a:cs typeface="Arial"/>
              </a:rPr>
              <a:t>to </a:t>
            </a:r>
            <a:r>
              <a:rPr sz="2800" spc="40" dirty="0">
                <a:latin typeface="Arial"/>
                <a:cs typeface="Arial"/>
              </a:rPr>
              <a:t>create </a:t>
            </a:r>
            <a:r>
              <a:rPr sz="2800" spc="-100" dirty="0">
                <a:latin typeface="Arial"/>
                <a:cs typeface="Arial"/>
              </a:rPr>
              <a:t>a </a:t>
            </a:r>
            <a:r>
              <a:rPr sz="2800" spc="-35" dirty="0">
                <a:latin typeface="Arial"/>
                <a:cs typeface="Arial"/>
              </a:rPr>
              <a:t>basic </a:t>
            </a:r>
            <a:r>
              <a:rPr sz="2800" spc="90" dirty="0">
                <a:latin typeface="Arial"/>
                <a:cs typeface="Arial"/>
              </a:rPr>
              <a:t>boxplot. </a:t>
            </a:r>
            <a:r>
              <a:rPr sz="2800" spc="35" dirty="0">
                <a:latin typeface="Arial"/>
                <a:cs typeface="Arial"/>
              </a:rPr>
              <a:t>Let's  </a:t>
            </a:r>
            <a:r>
              <a:rPr sz="2800" spc="90" dirty="0">
                <a:latin typeface="Arial"/>
                <a:cs typeface="Arial"/>
              </a:rPr>
              <a:t>look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20" dirty="0">
                <a:latin typeface="Arial"/>
                <a:cs typeface="Arial"/>
              </a:rPr>
              <a:t>at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the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columns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10" dirty="0">
                <a:latin typeface="Arial"/>
                <a:cs typeface="Arial"/>
              </a:rPr>
              <a:t>"mpg"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and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80" dirty="0">
                <a:latin typeface="Arial"/>
                <a:cs typeface="Arial"/>
              </a:rPr>
              <a:t>"cyl"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in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mtcars.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500">
              <a:latin typeface="Arial"/>
              <a:cs typeface="Arial"/>
            </a:endParaRPr>
          </a:p>
          <a:p>
            <a:pPr marL="355600" marR="629920">
              <a:lnSpc>
                <a:spcPct val="123500"/>
              </a:lnSpc>
            </a:pPr>
            <a:r>
              <a:rPr sz="2800" b="1" spc="-5" dirty="0">
                <a:latin typeface="Courier New"/>
                <a:cs typeface="Courier New"/>
              </a:rPr>
              <a:t>input &lt;- mtcars[,c('mpg','cyl')]  print(head(input))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Boxplot </a:t>
            </a:r>
            <a:r>
              <a:rPr spc="-220" dirty="0"/>
              <a:t>–</a:t>
            </a:r>
            <a:r>
              <a:rPr spc="-48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57250" y="1423416"/>
            <a:ext cx="7453630" cy="456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46605">
              <a:lnSpc>
                <a:spcPct val="125200"/>
              </a:lnSpc>
              <a:spcBef>
                <a:spcPts val="100"/>
              </a:spcBef>
            </a:pPr>
            <a:r>
              <a:rPr sz="2450" b="1" spc="-10" dirty="0">
                <a:latin typeface="Courier New"/>
                <a:cs typeface="Courier New"/>
              </a:rPr>
              <a:t># </a:t>
            </a:r>
            <a:r>
              <a:rPr sz="2450" b="1" spc="-15" dirty="0">
                <a:latin typeface="Courier New"/>
                <a:cs typeface="Courier New"/>
              </a:rPr>
              <a:t>Give </a:t>
            </a:r>
            <a:r>
              <a:rPr sz="2450" b="1" spc="-10" dirty="0">
                <a:latin typeface="Courier New"/>
                <a:cs typeface="Courier New"/>
              </a:rPr>
              <a:t>the </a:t>
            </a:r>
            <a:r>
              <a:rPr sz="2450" b="1" spc="-15" dirty="0">
                <a:latin typeface="Courier New"/>
                <a:cs typeface="Courier New"/>
              </a:rPr>
              <a:t>chart file </a:t>
            </a:r>
            <a:r>
              <a:rPr sz="2450" b="1" spc="-10" dirty="0">
                <a:latin typeface="Courier New"/>
                <a:cs typeface="Courier New"/>
              </a:rPr>
              <a:t>a name.  </a:t>
            </a:r>
            <a:r>
              <a:rPr sz="2450" b="1" spc="-15" dirty="0">
                <a:latin typeface="Courier New"/>
                <a:cs typeface="Courier New"/>
              </a:rPr>
              <a:t>png(file </a:t>
            </a:r>
            <a:r>
              <a:rPr sz="2450" b="1" spc="-10" dirty="0">
                <a:latin typeface="Courier New"/>
                <a:cs typeface="Courier New"/>
              </a:rPr>
              <a:t>=</a:t>
            </a:r>
            <a:r>
              <a:rPr sz="2450" b="1" spc="-15" dirty="0">
                <a:latin typeface="Courier New"/>
                <a:cs typeface="Courier New"/>
              </a:rPr>
              <a:t> "boxplot.png")</a:t>
            </a:r>
            <a:endParaRPr sz="2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90"/>
              </a:spcBef>
            </a:pPr>
            <a:r>
              <a:rPr sz="2450" b="1" spc="-10" dirty="0">
                <a:latin typeface="Courier New"/>
                <a:cs typeface="Courier New"/>
              </a:rPr>
              <a:t># </a:t>
            </a:r>
            <a:r>
              <a:rPr sz="2450" b="1" spc="-15" dirty="0">
                <a:latin typeface="Courier New"/>
                <a:cs typeface="Courier New"/>
              </a:rPr>
              <a:t>Plot </a:t>
            </a:r>
            <a:r>
              <a:rPr sz="2450" b="1" spc="-10" dirty="0">
                <a:latin typeface="Courier New"/>
                <a:cs typeface="Courier New"/>
              </a:rPr>
              <a:t>the</a:t>
            </a:r>
            <a:r>
              <a:rPr sz="2450" b="1" spc="-15" dirty="0">
                <a:latin typeface="Courier New"/>
                <a:cs typeface="Courier New"/>
              </a:rPr>
              <a:t> chart.</a:t>
            </a:r>
            <a:endParaRPr sz="24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740"/>
              </a:spcBef>
              <a:tabLst>
                <a:tab pos="4655185" algn="l"/>
              </a:tabLst>
            </a:pPr>
            <a:r>
              <a:rPr sz="2450" b="1" spc="-15" dirty="0">
                <a:latin typeface="Courier New"/>
                <a:cs typeface="Courier New"/>
              </a:rPr>
              <a:t>boxplot(mpg </a:t>
            </a:r>
            <a:r>
              <a:rPr sz="2450" b="1" spc="-10" dirty="0">
                <a:latin typeface="Courier New"/>
                <a:cs typeface="Courier New"/>
              </a:rPr>
              <a:t>~ </a:t>
            </a:r>
            <a:r>
              <a:rPr sz="2450" b="1" spc="-15" dirty="0">
                <a:latin typeface="Courier New"/>
                <a:cs typeface="Courier New"/>
              </a:rPr>
              <a:t>cyl, data </a:t>
            </a:r>
            <a:r>
              <a:rPr sz="2450" b="1" spc="-10" dirty="0">
                <a:latin typeface="Courier New"/>
                <a:cs typeface="Courier New"/>
              </a:rPr>
              <a:t>= </a:t>
            </a:r>
            <a:r>
              <a:rPr sz="2450" b="1" spc="-15" dirty="0">
                <a:latin typeface="Courier New"/>
                <a:cs typeface="Courier New"/>
              </a:rPr>
              <a:t>mtcars, xlab </a:t>
            </a:r>
            <a:r>
              <a:rPr sz="2450" b="1" spc="-10" dirty="0">
                <a:latin typeface="Courier New"/>
                <a:cs typeface="Courier New"/>
              </a:rPr>
              <a:t>=  </a:t>
            </a:r>
            <a:r>
              <a:rPr sz="2450" b="1" spc="-15" dirty="0">
                <a:latin typeface="Courier New"/>
                <a:cs typeface="Courier New"/>
              </a:rPr>
              <a:t>"Number</a:t>
            </a:r>
            <a:r>
              <a:rPr sz="2450" b="1" spc="15" dirty="0">
                <a:latin typeface="Courier New"/>
                <a:cs typeface="Courier New"/>
              </a:rPr>
              <a:t> </a:t>
            </a:r>
            <a:r>
              <a:rPr sz="2450" b="1" spc="-15" dirty="0">
                <a:latin typeface="Courier New"/>
                <a:cs typeface="Courier New"/>
              </a:rPr>
              <a:t>of</a:t>
            </a:r>
            <a:r>
              <a:rPr sz="2450" b="1" spc="15" dirty="0">
                <a:latin typeface="Courier New"/>
                <a:cs typeface="Courier New"/>
              </a:rPr>
              <a:t> </a:t>
            </a:r>
            <a:r>
              <a:rPr sz="2450" b="1" spc="-15" dirty="0">
                <a:latin typeface="Courier New"/>
                <a:cs typeface="Courier New"/>
              </a:rPr>
              <a:t>Cylinders",	ylab </a:t>
            </a:r>
            <a:r>
              <a:rPr sz="2450" b="1" spc="-10" dirty="0">
                <a:latin typeface="Courier New"/>
                <a:cs typeface="Courier New"/>
              </a:rPr>
              <a:t>= </a:t>
            </a:r>
            <a:r>
              <a:rPr sz="2450" b="1" spc="-15" dirty="0">
                <a:latin typeface="Courier New"/>
                <a:cs typeface="Courier New"/>
              </a:rPr>
              <a:t>"Miles  </a:t>
            </a:r>
            <a:r>
              <a:rPr sz="2450" b="1" spc="-10" dirty="0">
                <a:latin typeface="Courier New"/>
                <a:cs typeface="Courier New"/>
              </a:rPr>
              <a:t>Per </a:t>
            </a:r>
            <a:r>
              <a:rPr sz="2450" b="1" spc="-15" dirty="0">
                <a:latin typeface="Courier New"/>
                <a:cs typeface="Courier New"/>
              </a:rPr>
              <a:t>Gallon", main </a:t>
            </a:r>
            <a:r>
              <a:rPr sz="2450" b="1" spc="-10" dirty="0">
                <a:latin typeface="Courier New"/>
                <a:cs typeface="Courier New"/>
              </a:rPr>
              <a:t>= </a:t>
            </a:r>
            <a:r>
              <a:rPr sz="2450" b="1" spc="-15" dirty="0">
                <a:latin typeface="Courier New"/>
                <a:cs typeface="Courier New"/>
              </a:rPr>
              <a:t>"Mileage</a:t>
            </a:r>
            <a:r>
              <a:rPr sz="2450" b="1" spc="-5" dirty="0">
                <a:latin typeface="Courier New"/>
                <a:cs typeface="Courier New"/>
              </a:rPr>
              <a:t> </a:t>
            </a:r>
            <a:r>
              <a:rPr sz="2450" b="1" spc="-15" dirty="0">
                <a:latin typeface="Courier New"/>
                <a:cs typeface="Courier New"/>
              </a:rPr>
              <a:t>Data")</a:t>
            </a:r>
            <a:endParaRPr sz="2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400">
              <a:latin typeface="Courier New"/>
              <a:cs typeface="Courier New"/>
            </a:endParaRPr>
          </a:p>
          <a:p>
            <a:pPr marL="12700" marR="4461510">
              <a:lnSpc>
                <a:spcPct val="125200"/>
              </a:lnSpc>
            </a:pPr>
            <a:r>
              <a:rPr sz="2450" b="1" spc="-10" dirty="0">
                <a:latin typeface="Courier New"/>
                <a:cs typeface="Courier New"/>
              </a:rPr>
              <a:t># </a:t>
            </a:r>
            <a:r>
              <a:rPr sz="2450" b="1" spc="-15" dirty="0">
                <a:latin typeface="Courier New"/>
                <a:cs typeface="Courier New"/>
              </a:rPr>
              <a:t>Save </a:t>
            </a:r>
            <a:r>
              <a:rPr sz="2450" b="1" spc="-10" dirty="0">
                <a:latin typeface="Courier New"/>
                <a:cs typeface="Courier New"/>
              </a:rPr>
              <a:t>the</a:t>
            </a:r>
            <a:r>
              <a:rPr sz="2450" b="1" spc="-70" dirty="0">
                <a:latin typeface="Courier New"/>
                <a:cs typeface="Courier New"/>
              </a:rPr>
              <a:t> </a:t>
            </a:r>
            <a:r>
              <a:rPr sz="2450" b="1" spc="-15" dirty="0">
                <a:latin typeface="Courier New"/>
                <a:cs typeface="Courier New"/>
              </a:rPr>
              <a:t>file.  dev.off()</a:t>
            </a:r>
            <a:endParaRPr sz="24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Boxplot </a:t>
            </a:r>
            <a:r>
              <a:rPr spc="-220" dirty="0"/>
              <a:t>–</a:t>
            </a:r>
            <a:r>
              <a:rPr spc="-48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807210"/>
            <a:ext cx="4257675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Boxplot </a:t>
            </a:r>
            <a:r>
              <a:rPr spc="200" dirty="0"/>
              <a:t>with</a:t>
            </a:r>
            <a:r>
              <a:rPr spc="-480" dirty="0"/>
              <a:t> </a:t>
            </a:r>
            <a:r>
              <a:rPr spc="100" dirty="0"/>
              <a:t>notch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517650"/>
            <a:ext cx="5343525" cy="4479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50" b="1" spc="-10" dirty="0">
                <a:latin typeface="Courier New"/>
                <a:cs typeface="Courier New"/>
              </a:rPr>
              <a:t>png(file </a:t>
            </a:r>
            <a:r>
              <a:rPr sz="1850" b="1" dirty="0">
                <a:latin typeface="Courier New"/>
                <a:cs typeface="Courier New"/>
              </a:rPr>
              <a:t>=</a:t>
            </a:r>
            <a:r>
              <a:rPr sz="1850" b="1" spc="-30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"boxplot_with_notch.png")</a:t>
            </a:r>
            <a:endParaRPr sz="18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50" b="1" dirty="0">
                <a:latin typeface="Courier New"/>
                <a:cs typeface="Courier New"/>
              </a:rPr>
              <a:t># </a:t>
            </a:r>
            <a:r>
              <a:rPr sz="1850" b="1" spc="-10" dirty="0">
                <a:latin typeface="Courier New"/>
                <a:cs typeface="Courier New"/>
              </a:rPr>
              <a:t>Plot </a:t>
            </a:r>
            <a:r>
              <a:rPr sz="1850" b="1" spc="-5" dirty="0">
                <a:latin typeface="Courier New"/>
                <a:cs typeface="Courier New"/>
              </a:rPr>
              <a:t>the</a:t>
            </a:r>
            <a:r>
              <a:rPr sz="1850" b="1" spc="-40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chart.</a:t>
            </a:r>
            <a:endParaRPr sz="1850">
              <a:latin typeface="Courier New"/>
              <a:cs typeface="Courier New"/>
            </a:endParaRPr>
          </a:p>
          <a:p>
            <a:pPr marL="432434" marR="693420" indent="-420370">
              <a:lnSpc>
                <a:spcPct val="123400"/>
              </a:lnSpc>
            </a:pPr>
            <a:r>
              <a:rPr sz="1850" b="1" spc="-10" dirty="0">
                <a:latin typeface="Courier New"/>
                <a:cs typeface="Courier New"/>
              </a:rPr>
              <a:t>boxplot(mpg </a:t>
            </a:r>
            <a:r>
              <a:rPr sz="1850" b="1" dirty="0">
                <a:latin typeface="Courier New"/>
                <a:cs typeface="Courier New"/>
              </a:rPr>
              <a:t>~ </a:t>
            </a:r>
            <a:r>
              <a:rPr sz="1850" b="1" spc="-10" dirty="0">
                <a:latin typeface="Courier New"/>
                <a:cs typeface="Courier New"/>
              </a:rPr>
              <a:t>cyl, data </a:t>
            </a:r>
            <a:r>
              <a:rPr sz="1850" b="1" dirty="0">
                <a:latin typeface="Courier New"/>
                <a:cs typeface="Courier New"/>
              </a:rPr>
              <a:t>= </a:t>
            </a:r>
            <a:r>
              <a:rPr sz="1850" b="1" spc="-10" dirty="0">
                <a:latin typeface="Courier New"/>
                <a:cs typeface="Courier New"/>
              </a:rPr>
              <a:t>mtcars,  xlab </a:t>
            </a:r>
            <a:r>
              <a:rPr sz="1850" b="1" dirty="0">
                <a:latin typeface="Courier New"/>
                <a:cs typeface="Courier New"/>
              </a:rPr>
              <a:t>= </a:t>
            </a:r>
            <a:r>
              <a:rPr sz="1850" b="1" spc="-10" dirty="0">
                <a:latin typeface="Courier New"/>
                <a:cs typeface="Courier New"/>
              </a:rPr>
              <a:t>"Number </a:t>
            </a:r>
            <a:r>
              <a:rPr sz="1850" b="1" spc="-5" dirty="0">
                <a:latin typeface="Courier New"/>
                <a:cs typeface="Courier New"/>
              </a:rPr>
              <a:t>of </a:t>
            </a:r>
            <a:r>
              <a:rPr sz="1850" b="1" spc="-10" dirty="0">
                <a:latin typeface="Courier New"/>
                <a:cs typeface="Courier New"/>
              </a:rPr>
              <a:t>Cylinders",  ylab </a:t>
            </a:r>
            <a:r>
              <a:rPr sz="1850" b="1" dirty="0">
                <a:latin typeface="Courier New"/>
                <a:cs typeface="Courier New"/>
              </a:rPr>
              <a:t>= </a:t>
            </a:r>
            <a:r>
              <a:rPr sz="1850" b="1" spc="-10" dirty="0">
                <a:latin typeface="Courier New"/>
                <a:cs typeface="Courier New"/>
              </a:rPr>
              <a:t>"Miles Per Gallon",  main </a:t>
            </a:r>
            <a:r>
              <a:rPr sz="1850" b="1" dirty="0">
                <a:latin typeface="Courier New"/>
                <a:cs typeface="Courier New"/>
              </a:rPr>
              <a:t>= </a:t>
            </a:r>
            <a:r>
              <a:rPr sz="1850" b="1" spc="-10" dirty="0">
                <a:latin typeface="Courier New"/>
                <a:cs typeface="Courier New"/>
              </a:rPr>
              <a:t>"Mileage</a:t>
            </a:r>
            <a:r>
              <a:rPr sz="1850" b="1" spc="-45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Data",</a:t>
            </a:r>
            <a:endParaRPr sz="1850">
              <a:latin typeface="Courier New"/>
              <a:cs typeface="Courier New"/>
            </a:endParaRPr>
          </a:p>
          <a:p>
            <a:pPr marL="432434" marR="2657475">
              <a:lnSpc>
                <a:spcPts val="2740"/>
              </a:lnSpc>
              <a:spcBef>
                <a:spcPts val="170"/>
              </a:spcBef>
            </a:pPr>
            <a:r>
              <a:rPr sz="1850" b="1" spc="-10" dirty="0">
                <a:latin typeface="Courier New"/>
                <a:cs typeface="Courier New"/>
              </a:rPr>
              <a:t>notch </a:t>
            </a:r>
            <a:r>
              <a:rPr sz="1850" b="1" dirty="0">
                <a:latin typeface="Courier New"/>
                <a:cs typeface="Courier New"/>
              </a:rPr>
              <a:t>= </a:t>
            </a:r>
            <a:r>
              <a:rPr sz="1850" b="1" spc="-10" dirty="0">
                <a:latin typeface="Courier New"/>
                <a:cs typeface="Courier New"/>
              </a:rPr>
              <a:t>TRUE,  varwidth </a:t>
            </a:r>
            <a:r>
              <a:rPr sz="1850" b="1" dirty="0">
                <a:latin typeface="Courier New"/>
                <a:cs typeface="Courier New"/>
              </a:rPr>
              <a:t>=</a:t>
            </a:r>
            <a:r>
              <a:rPr sz="1850" b="1" spc="-75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TRUE,</a:t>
            </a:r>
            <a:endParaRPr sz="1850">
              <a:latin typeface="Courier New"/>
              <a:cs typeface="Courier New"/>
            </a:endParaRPr>
          </a:p>
          <a:p>
            <a:pPr marL="432434">
              <a:lnSpc>
                <a:spcPct val="100000"/>
              </a:lnSpc>
              <a:spcBef>
                <a:spcPts val="340"/>
              </a:spcBef>
            </a:pPr>
            <a:r>
              <a:rPr sz="1850" b="1" spc="-5" dirty="0">
                <a:latin typeface="Courier New"/>
                <a:cs typeface="Courier New"/>
              </a:rPr>
              <a:t>col </a:t>
            </a:r>
            <a:r>
              <a:rPr sz="1850" b="1" dirty="0">
                <a:latin typeface="Courier New"/>
                <a:cs typeface="Courier New"/>
              </a:rPr>
              <a:t>=</a:t>
            </a:r>
            <a:r>
              <a:rPr sz="1850" b="1" spc="-55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c("green","yellow","purple"),</a:t>
            </a:r>
            <a:endParaRPr sz="1850">
              <a:latin typeface="Courier New"/>
              <a:cs typeface="Courier New"/>
            </a:endParaRPr>
          </a:p>
          <a:p>
            <a:pPr marL="432434">
              <a:lnSpc>
                <a:spcPct val="100000"/>
              </a:lnSpc>
              <a:spcBef>
                <a:spcPts val="520"/>
              </a:spcBef>
            </a:pPr>
            <a:r>
              <a:rPr sz="1850" b="1" spc="-10" dirty="0">
                <a:latin typeface="Courier New"/>
                <a:cs typeface="Courier New"/>
              </a:rPr>
              <a:t>names </a:t>
            </a:r>
            <a:r>
              <a:rPr sz="1850" b="1" dirty="0">
                <a:latin typeface="Courier New"/>
                <a:cs typeface="Courier New"/>
              </a:rPr>
              <a:t>=</a:t>
            </a:r>
            <a:r>
              <a:rPr sz="1850" b="1" spc="-30" dirty="0">
                <a:latin typeface="Courier New"/>
                <a:cs typeface="Courier New"/>
              </a:rPr>
              <a:t> </a:t>
            </a:r>
            <a:r>
              <a:rPr sz="1850" b="1" spc="-10" dirty="0">
                <a:latin typeface="Courier New"/>
                <a:cs typeface="Courier New"/>
              </a:rPr>
              <a:t>c("High","Medium","Low")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850" b="1" dirty="0">
                <a:latin typeface="Courier New"/>
                <a:cs typeface="Courier New"/>
              </a:rPr>
              <a:t>)</a:t>
            </a:r>
            <a:endParaRPr sz="18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850" b="1" spc="-10" dirty="0">
                <a:latin typeface="Courier New"/>
                <a:cs typeface="Courier New"/>
              </a:rPr>
              <a:t>dev.off()</a:t>
            </a:r>
            <a:endParaRPr sz="18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25" dirty="0"/>
              <a:t>Boxplot </a:t>
            </a:r>
            <a:r>
              <a:rPr spc="200" dirty="0"/>
              <a:t>with</a:t>
            </a:r>
            <a:r>
              <a:rPr spc="-480" dirty="0"/>
              <a:t> </a:t>
            </a:r>
            <a:r>
              <a:rPr spc="100" dirty="0"/>
              <a:t>notch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734820"/>
            <a:ext cx="4257675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65" dirty="0"/>
              <a:t>Histogram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7753350" cy="454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1790" marR="652780" indent="-339090">
              <a:lnSpc>
                <a:spcPct val="100600"/>
              </a:lnSpc>
              <a:spcBef>
                <a:spcPts val="100"/>
              </a:spcBef>
              <a:buClr>
                <a:srgbClr val="6697CC"/>
              </a:buClr>
              <a:buFont typeface="Liberation Sans"/>
              <a:buChar char="•"/>
              <a:tabLst>
                <a:tab pos="351155" algn="l"/>
                <a:tab pos="351790" algn="l"/>
              </a:tabLst>
            </a:pPr>
            <a:r>
              <a:rPr sz="2750" dirty="0">
                <a:latin typeface="Arial"/>
                <a:cs typeface="Arial"/>
              </a:rPr>
              <a:t>A</a:t>
            </a:r>
            <a:r>
              <a:rPr sz="2750" spc="-145" dirty="0">
                <a:latin typeface="Arial"/>
                <a:cs typeface="Arial"/>
              </a:rPr>
              <a:t> </a:t>
            </a:r>
            <a:r>
              <a:rPr sz="2750" spc="70" dirty="0">
                <a:latin typeface="Arial"/>
                <a:cs typeface="Arial"/>
              </a:rPr>
              <a:t>histogram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55" dirty="0">
                <a:latin typeface="Arial"/>
                <a:cs typeface="Arial"/>
              </a:rPr>
              <a:t>represents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135" dirty="0">
                <a:latin typeface="Arial"/>
                <a:cs typeface="Arial"/>
              </a:rPr>
              <a:t>the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50" dirty="0">
                <a:latin typeface="Arial"/>
                <a:cs typeface="Arial"/>
              </a:rPr>
              <a:t>frequencies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204" dirty="0">
                <a:latin typeface="Arial"/>
                <a:cs typeface="Arial"/>
              </a:rPr>
              <a:t>of  </a:t>
            </a:r>
            <a:r>
              <a:rPr sz="2750" dirty="0">
                <a:latin typeface="Arial"/>
                <a:cs typeface="Arial"/>
              </a:rPr>
              <a:t>values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200" dirty="0">
                <a:latin typeface="Arial"/>
                <a:cs typeface="Arial"/>
              </a:rPr>
              <a:t>of</a:t>
            </a:r>
            <a:r>
              <a:rPr sz="2750" spc="-145" dirty="0">
                <a:latin typeface="Arial"/>
                <a:cs typeface="Arial"/>
              </a:rPr>
              <a:t> </a:t>
            </a:r>
            <a:r>
              <a:rPr sz="2750" spc="-85" dirty="0">
                <a:latin typeface="Arial"/>
                <a:cs typeface="Arial"/>
              </a:rPr>
              <a:t>a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40" dirty="0">
                <a:latin typeface="Arial"/>
                <a:cs typeface="Arial"/>
              </a:rPr>
              <a:t>variable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65" dirty="0">
                <a:latin typeface="Arial"/>
                <a:cs typeface="Arial"/>
              </a:rPr>
              <a:t>bucketed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140" dirty="0">
                <a:latin typeface="Arial"/>
                <a:cs typeface="Arial"/>
              </a:rPr>
              <a:t>into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ranges.</a:t>
            </a:r>
            <a:endParaRPr sz="2750">
              <a:latin typeface="Arial"/>
              <a:cs typeface="Arial"/>
            </a:endParaRPr>
          </a:p>
          <a:p>
            <a:pPr marL="351790" marR="1082040" indent="-339090">
              <a:lnSpc>
                <a:spcPct val="1006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1155" algn="l"/>
                <a:tab pos="351790" algn="l"/>
              </a:tabLst>
            </a:pPr>
            <a:r>
              <a:rPr sz="2750" spc="60" dirty="0">
                <a:latin typeface="Arial"/>
                <a:cs typeface="Arial"/>
              </a:rPr>
              <a:t>Histogram</a:t>
            </a:r>
            <a:r>
              <a:rPr sz="2750" spc="-145" dirty="0">
                <a:latin typeface="Arial"/>
                <a:cs typeface="Arial"/>
              </a:rPr>
              <a:t> </a:t>
            </a:r>
            <a:r>
              <a:rPr sz="2750" spc="-25" dirty="0">
                <a:latin typeface="Arial"/>
                <a:cs typeface="Arial"/>
              </a:rPr>
              <a:t>is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45" dirty="0">
                <a:latin typeface="Arial"/>
                <a:cs typeface="Arial"/>
              </a:rPr>
              <a:t>similar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204" dirty="0">
                <a:latin typeface="Arial"/>
                <a:cs typeface="Arial"/>
              </a:rPr>
              <a:t>to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55" dirty="0">
                <a:latin typeface="Arial"/>
                <a:cs typeface="Arial"/>
              </a:rPr>
              <a:t>bar</a:t>
            </a:r>
            <a:r>
              <a:rPr sz="2750" spc="-145" dirty="0">
                <a:latin typeface="Arial"/>
                <a:cs typeface="Arial"/>
              </a:rPr>
              <a:t> </a:t>
            </a:r>
            <a:r>
              <a:rPr sz="2750" spc="75" dirty="0">
                <a:latin typeface="Arial"/>
                <a:cs typeface="Arial"/>
              </a:rPr>
              <a:t>chart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170" dirty="0">
                <a:latin typeface="Arial"/>
                <a:cs typeface="Arial"/>
              </a:rPr>
              <a:t>but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135" dirty="0">
                <a:latin typeface="Arial"/>
                <a:cs typeface="Arial"/>
              </a:rPr>
              <a:t>the  </a:t>
            </a:r>
            <a:r>
              <a:rPr sz="2750" spc="95" dirty="0">
                <a:latin typeface="Arial"/>
                <a:cs typeface="Arial"/>
              </a:rPr>
              <a:t>difference </a:t>
            </a:r>
            <a:r>
              <a:rPr sz="2750" spc="-25" dirty="0">
                <a:latin typeface="Arial"/>
                <a:cs typeface="Arial"/>
              </a:rPr>
              <a:t>is </a:t>
            </a:r>
            <a:r>
              <a:rPr sz="2750" spc="215" dirty="0">
                <a:latin typeface="Arial"/>
                <a:cs typeface="Arial"/>
              </a:rPr>
              <a:t>it </a:t>
            </a:r>
            <a:r>
              <a:rPr sz="2750" spc="55" dirty="0">
                <a:latin typeface="Arial"/>
                <a:cs typeface="Arial"/>
              </a:rPr>
              <a:t>groups </a:t>
            </a:r>
            <a:r>
              <a:rPr sz="2750" spc="135" dirty="0">
                <a:latin typeface="Arial"/>
                <a:cs typeface="Arial"/>
              </a:rPr>
              <a:t>the </a:t>
            </a:r>
            <a:r>
              <a:rPr sz="2750" dirty="0">
                <a:latin typeface="Arial"/>
                <a:cs typeface="Arial"/>
              </a:rPr>
              <a:t>values </a:t>
            </a:r>
            <a:r>
              <a:rPr sz="2750" spc="140" dirty="0">
                <a:latin typeface="Arial"/>
                <a:cs typeface="Arial"/>
              </a:rPr>
              <a:t>into  </a:t>
            </a:r>
            <a:r>
              <a:rPr sz="2750" spc="60" dirty="0">
                <a:latin typeface="Arial"/>
                <a:cs typeface="Arial"/>
              </a:rPr>
              <a:t>continuous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ranges.</a:t>
            </a:r>
            <a:endParaRPr sz="2750">
              <a:latin typeface="Arial"/>
              <a:cs typeface="Arial"/>
            </a:endParaRPr>
          </a:p>
          <a:p>
            <a:pPr marL="351790" marR="5080" indent="-339090">
              <a:lnSpc>
                <a:spcPct val="1006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1155" algn="l"/>
                <a:tab pos="351790" algn="l"/>
              </a:tabLst>
            </a:pPr>
            <a:r>
              <a:rPr sz="2750" spc="-95" dirty="0">
                <a:latin typeface="Arial"/>
                <a:cs typeface="Arial"/>
              </a:rPr>
              <a:t>Each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55" dirty="0">
                <a:latin typeface="Arial"/>
                <a:cs typeface="Arial"/>
              </a:rPr>
              <a:t>bar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65" dirty="0">
                <a:latin typeface="Arial"/>
                <a:cs typeface="Arial"/>
              </a:rPr>
              <a:t>in</a:t>
            </a:r>
            <a:r>
              <a:rPr sz="2750" spc="-120" dirty="0">
                <a:latin typeface="Arial"/>
                <a:cs typeface="Arial"/>
              </a:rPr>
              <a:t> </a:t>
            </a:r>
            <a:r>
              <a:rPr sz="2750" spc="70" dirty="0">
                <a:latin typeface="Arial"/>
                <a:cs typeface="Arial"/>
              </a:rPr>
              <a:t>histogram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55" dirty="0">
                <a:latin typeface="Arial"/>
                <a:cs typeface="Arial"/>
              </a:rPr>
              <a:t>represents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140" dirty="0">
                <a:latin typeface="Arial"/>
                <a:cs typeface="Arial"/>
              </a:rPr>
              <a:t>the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100" dirty="0">
                <a:latin typeface="Arial"/>
                <a:cs typeface="Arial"/>
              </a:rPr>
              <a:t>height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200" dirty="0">
                <a:latin typeface="Arial"/>
                <a:cs typeface="Arial"/>
              </a:rPr>
              <a:t>of  </a:t>
            </a:r>
            <a:r>
              <a:rPr sz="2750" spc="135" dirty="0">
                <a:latin typeface="Arial"/>
                <a:cs typeface="Arial"/>
              </a:rPr>
              <a:t>the</a:t>
            </a:r>
            <a:r>
              <a:rPr sz="2750" spc="-145" dirty="0">
                <a:latin typeface="Arial"/>
                <a:cs typeface="Arial"/>
              </a:rPr>
              <a:t> </a:t>
            </a:r>
            <a:r>
              <a:rPr sz="2750" spc="80" dirty="0">
                <a:latin typeface="Arial"/>
                <a:cs typeface="Arial"/>
              </a:rPr>
              <a:t>number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spc="200" dirty="0">
                <a:latin typeface="Arial"/>
                <a:cs typeface="Arial"/>
              </a:rPr>
              <a:t>of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dirty="0">
                <a:latin typeface="Arial"/>
                <a:cs typeface="Arial"/>
              </a:rPr>
              <a:t>values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75" dirty="0">
                <a:latin typeface="Arial"/>
                <a:cs typeface="Arial"/>
              </a:rPr>
              <a:t>present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75" dirty="0">
                <a:latin typeface="Arial"/>
                <a:cs typeface="Arial"/>
              </a:rPr>
              <a:t>in</a:t>
            </a:r>
            <a:r>
              <a:rPr sz="2750" spc="-130" dirty="0">
                <a:latin typeface="Arial"/>
                <a:cs typeface="Arial"/>
              </a:rPr>
              <a:t> </a:t>
            </a:r>
            <a:r>
              <a:rPr sz="2750" spc="165" dirty="0">
                <a:latin typeface="Arial"/>
                <a:cs typeface="Arial"/>
              </a:rPr>
              <a:t>that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20" dirty="0">
                <a:latin typeface="Arial"/>
                <a:cs typeface="Arial"/>
              </a:rPr>
              <a:t>range.</a:t>
            </a:r>
            <a:endParaRPr sz="2750">
              <a:latin typeface="Arial"/>
              <a:cs typeface="Arial"/>
            </a:endParaRPr>
          </a:p>
          <a:p>
            <a:pPr marL="351790" marR="126364" indent="-339090">
              <a:lnSpc>
                <a:spcPct val="1006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1155" algn="l"/>
                <a:tab pos="351790" algn="l"/>
              </a:tabLst>
            </a:pPr>
            <a:r>
              <a:rPr sz="2750" spc="-245" dirty="0">
                <a:latin typeface="Arial"/>
                <a:cs typeface="Arial"/>
              </a:rPr>
              <a:t>R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25" dirty="0">
                <a:latin typeface="Arial"/>
                <a:cs typeface="Arial"/>
              </a:rPr>
              <a:t>creates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70" dirty="0">
                <a:latin typeface="Arial"/>
                <a:cs typeface="Arial"/>
              </a:rPr>
              <a:t>histogram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25" dirty="0">
                <a:latin typeface="Arial"/>
                <a:cs typeface="Arial"/>
              </a:rPr>
              <a:t>using</a:t>
            </a:r>
            <a:r>
              <a:rPr sz="2750" spc="-125" dirty="0">
                <a:latin typeface="Arial"/>
                <a:cs typeface="Arial"/>
              </a:rPr>
              <a:t> </a:t>
            </a:r>
            <a:r>
              <a:rPr sz="2750" spc="85" dirty="0">
                <a:latin typeface="Arial"/>
                <a:cs typeface="Arial"/>
              </a:rPr>
              <a:t>hist()</a:t>
            </a:r>
            <a:r>
              <a:rPr sz="2750" spc="-150" dirty="0">
                <a:latin typeface="Arial"/>
                <a:cs typeface="Arial"/>
              </a:rPr>
              <a:t> </a:t>
            </a:r>
            <a:r>
              <a:rPr sz="2750" spc="95" dirty="0">
                <a:latin typeface="Arial"/>
                <a:cs typeface="Arial"/>
              </a:rPr>
              <a:t>function.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-30" dirty="0">
                <a:latin typeface="Arial"/>
                <a:cs typeface="Arial"/>
              </a:rPr>
              <a:t>This  </a:t>
            </a:r>
            <a:r>
              <a:rPr sz="2750" spc="114" dirty="0">
                <a:latin typeface="Arial"/>
                <a:cs typeface="Arial"/>
              </a:rPr>
              <a:t>function </a:t>
            </a:r>
            <a:r>
              <a:rPr sz="2750" spc="25" dirty="0">
                <a:latin typeface="Arial"/>
                <a:cs typeface="Arial"/>
              </a:rPr>
              <a:t>takes </a:t>
            </a:r>
            <a:r>
              <a:rPr sz="2750" spc="-85" dirty="0">
                <a:latin typeface="Arial"/>
                <a:cs typeface="Arial"/>
              </a:rPr>
              <a:t>a </a:t>
            </a:r>
            <a:r>
              <a:rPr sz="2750" spc="75" dirty="0">
                <a:latin typeface="Arial"/>
                <a:cs typeface="Arial"/>
              </a:rPr>
              <a:t>vector </a:t>
            </a:r>
            <a:r>
              <a:rPr sz="2750" spc="-114" dirty="0">
                <a:latin typeface="Arial"/>
                <a:cs typeface="Arial"/>
              </a:rPr>
              <a:t>as </a:t>
            </a:r>
            <a:r>
              <a:rPr sz="2750" spc="-10" dirty="0">
                <a:latin typeface="Arial"/>
                <a:cs typeface="Arial"/>
              </a:rPr>
              <a:t>an </a:t>
            </a:r>
            <a:r>
              <a:rPr sz="2750" spc="130" dirty="0">
                <a:latin typeface="Arial"/>
                <a:cs typeface="Arial"/>
              </a:rPr>
              <a:t>input </a:t>
            </a:r>
            <a:r>
              <a:rPr sz="2750" spc="25" dirty="0">
                <a:latin typeface="Arial"/>
                <a:cs typeface="Arial"/>
              </a:rPr>
              <a:t>and </a:t>
            </a:r>
            <a:r>
              <a:rPr sz="2750" spc="-50" dirty="0">
                <a:latin typeface="Arial"/>
                <a:cs typeface="Arial"/>
              </a:rPr>
              <a:t>uses  </a:t>
            </a:r>
            <a:r>
              <a:rPr sz="2750" spc="15" dirty="0">
                <a:latin typeface="Arial"/>
                <a:cs typeface="Arial"/>
              </a:rPr>
              <a:t>some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90" dirty="0">
                <a:latin typeface="Arial"/>
                <a:cs typeface="Arial"/>
              </a:rPr>
              <a:t>more</a:t>
            </a:r>
            <a:r>
              <a:rPr sz="2750" spc="-145" dirty="0">
                <a:latin typeface="Arial"/>
                <a:cs typeface="Arial"/>
              </a:rPr>
              <a:t> </a:t>
            </a:r>
            <a:r>
              <a:rPr sz="2750" spc="55" dirty="0">
                <a:latin typeface="Arial"/>
                <a:cs typeface="Arial"/>
              </a:rPr>
              <a:t>parameters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204" dirty="0">
                <a:latin typeface="Arial"/>
                <a:cs typeface="Arial"/>
              </a:rPr>
              <a:t>to</a:t>
            </a:r>
            <a:r>
              <a:rPr sz="2750" spc="-135" dirty="0">
                <a:latin typeface="Arial"/>
                <a:cs typeface="Arial"/>
              </a:rPr>
              <a:t> </a:t>
            </a:r>
            <a:r>
              <a:rPr sz="2750" spc="170" dirty="0">
                <a:latin typeface="Arial"/>
                <a:cs typeface="Arial"/>
              </a:rPr>
              <a:t>plot</a:t>
            </a:r>
            <a:r>
              <a:rPr sz="2750" spc="-140" dirty="0">
                <a:latin typeface="Arial"/>
                <a:cs typeface="Arial"/>
              </a:rPr>
              <a:t> </a:t>
            </a:r>
            <a:r>
              <a:rPr sz="2750" spc="35" dirty="0">
                <a:latin typeface="Arial"/>
                <a:cs typeface="Arial"/>
              </a:rPr>
              <a:t>histograms.</a:t>
            </a:r>
            <a:endParaRPr sz="27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65" dirty="0"/>
              <a:t>Histogram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spc="-1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9164"/>
            <a:ext cx="7861934" cy="451739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83210" indent="-270510">
              <a:lnSpc>
                <a:spcPct val="100000"/>
              </a:lnSpc>
              <a:spcBef>
                <a:spcPts val="725"/>
              </a:spcBef>
              <a:buClr>
                <a:srgbClr val="6697CC"/>
              </a:buClr>
              <a:buFont typeface="Liberation Sans"/>
              <a:buChar char="•"/>
              <a:tabLst>
                <a:tab pos="282575" algn="l"/>
                <a:tab pos="283210" algn="l"/>
              </a:tabLst>
            </a:pPr>
            <a:r>
              <a:rPr sz="2200" spc="-20" dirty="0">
                <a:latin typeface="Arial"/>
                <a:cs typeface="Arial"/>
              </a:rPr>
              <a:t>The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basic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syntax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45" dirty="0">
                <a:latin typeface="Arial"/>
                <a:cs typeface="Arial"/>
              </a:rPr>
              <a:t>for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creating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histogram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using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200" dirty="0">
                <a:latin typeface="Arial"/>
                <a:cs typeface="Arial"/>
              </a:rPr>
              <a:t>R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is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−</a:t>
            </a:r>
            <a:endParaRPr sz="2200">
              <a:latin typeface="Arial"/>
              <a:cs typeface="Arial"/>
            </a:endParaRPr>
          </a:p>
          <a:p>
            <a:pPr marL="282575">
              <a:lnSpc>
                <a:spcPct val="100000"/>
              </a:lnSpc>
              <a:spcBef>
                <a:spcPts val="630"/>
              </a:spcBef>
            </a:pPr>
            <a:r>
              <a:rPr sz="2200" b="1" spc="-5" dirty="0">
                <a:latin typeface="Courier New"/>
                <a:cs typeface="Courier New"/>
              </a:rPr>
              <a:t>hist(v,main,xlab,xlim,ylim,breaks,col,border)</a:t>
            </a:r>
            <a:endParaRPr sz="2200">
              <a:latin typeface="Courier New"/>
              <a:cs typeface="Courier New"/>
            </a:endParaRPr>
          </a:p>
          <a:p>
            <a:pPr marL="283210" indent="-270510">
              <a:lnSpc>
                <a:spcPct val="100000"/>
              </a:lnSpc>
              <a:spcBef>
                <a:spcPts val="640"/>
              </a:spcBef>
              <a:buClr>
                <a:srgbClr val="6697CC"/>
              </a:buClr>
              <a:buFont typeface="Liberation Sans"/>
              <a:buChar char="•"/>
              <a:tabLst>
                <a:tab pos="282575" algn="l"/>
                <a:tab pos="283210" algn="l"/>
              </a:tabLst>
            </a:pPr>
            <a:r>
              <a:rPr sz="2200" spc="50" dirty="0">
                <a:latin typeface="Arial"/>
                <a:cs typeface="Arial"/>
              </a:rPr>
              <a:t>Following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is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description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parameters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40" dirty="0">
                <a:latin typeface="Arial"/>
                <a:cs typeface="Arial"/>
              </a:rPr>
              <a:t>−</a:t>
            </a:r>
            <a:endParaRPr sz="2200">
              <a:latin typeface="Arial"/>
              <a:cs typeface="Arial"/>
            </a:endParaRPr>
          </a:p>
          <a:p>
            <a:pPr marL="599440" marR="5080">
              <a:lnSpc>
                <a:spcPts val="3200"/>
              </a:lnSpc>
              <a:spcBef>
                <a:spcPts val="190"/>
              </a:spcBef>
            </a:pPr>
            <a:r>
              <a:rPr sz="2200" spc="5" dirty="0">
                <a:latin typeface="Arial"/>
                <a:cs typeface="Arial"/>
              </a:rPr>
              <a:t>v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70" dirty="0">
                <a:latin typeface="Arial"/>
                <a:cs typeface="Arial"/>
              </a:rPr>
              <a:t>a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vector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containing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numeric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values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in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histogram.  </a:t>
            </a:r>
            <a:r>
              <a:rPr sz="2200" spc="25" dirty="0">
                <a:latin typeface="Arial"/>
                <a:cs typeface="Arial"/>
              </a:rPr>
              <a:t>main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indicates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45" dirty="0">
                <a:latin typeface="Arial"/>
                <a:cs typeface="Arial"/>
              </a:rPr>
              <a:t>title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00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chart.</a:t>
            </a:r>
            <a:endParaRPr sz="2200">
              <a:latin typeface="Arial"/>
              <a:cs typeface="Arial"/>
            </a:endParaRPr>
          </a:p>
          <a:p>
            <a:pPr marL="599440">
              <a:lnSpc>
                <a:spcPct val="100000"/>
              </a:lnSpc>
              <a:spcBef>
                <a:spcPts val="350"/>
              </a:spcBef>
            </a:pPr>
            <a:r>
              <a:rPr sz="2200" spc="25" dirty="0">
                <a:latin typeface="Arial"/>
                <a:cs typeface="Arial"/>
              </a:rPr>
              <a:t>col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set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color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of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15" dirty="0">
                <a:latin typeface="Arial"/>
                <a:cs typeface="Arial"/>
              </a:rPr>
              <a:t>bars.</a:t>
            </a:r>
            <a:endParaRPr sz="2200">
              <a:latin typeface="Arial"/>
              <a:cs typeface="Arial"/>
            </a:endParaRPr>
          </a:p>
          <a:p>
            <a:pPr marL="599440" marR="1475105">
              <a:lnSpc>
                <a:spcPts val="3200"/>
              </a:lnSpc>
              <a:spcBef>
                <a:spcPts val="190"/>
              </a:spcBef>
            </a:pPr>
            <a:r>
              <a:rPr sz="2200" spc="75" dirty="0">
                <a:latin typeface="Arial"/>
                <a:cs typeface="Arial"/>
              </a:rPr>
              <a:t>border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is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set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75" dirty="0">
                <a:latin typeface="Arial"/>
                <a:cs typeface="Arial"/>
              </a:rPr>
              <a:t>border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color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each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bar.  </a:t>
            </a:r>
            <a:r>
              <a:rPr sz="2200" spc="35" dirty="0">
                <a:latin typeface="Arial"/>
                <a:cs typeface="Arial"/>
              </a:rPr>
              <a:t>xlab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give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55" dirty="0">
                <a:latin typeface="Arial"/>
                <a:cs typeface="Arial"/>
              </a:rPr>
              <a:t>description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x-axis.</a:t>
            </a:r>
            <a:endParaRPr sz="2200">
              <a:latin typeface="Arial"/>
              <a:cs typeface="Arial"/>
            </a:endParaRPr>
          </a:p>
          <a:p>
            <a:pPr marL="599440">
              <a:lnSpc>
                <a:spcPct val="100000"/>
              </a:lnSpc>
              <a:spcBef>
                <a:spcPts val="350"/>
              </a:spcBef>
            </a:pPr>
            <a:r>
              <a:rPr sz="2200" spc="65" dirty="0">
                <a:latin typeface="Arial"/>
                <a:cs typeface="Arial"/>
              </a:rPr>
              <a:t>xlim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155" dirty="0">
                <a:latin typeface="Arial"/>
                <a:cs typeface="Arial"/>
              </a:rPr>
              <a:t>to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30" dirty="0">
                <a:latin typeface="Arial"/>
                <a:cs typeface="Arial"/>
              </a:rPr>
              <a:t>specify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00" dirty="0">
                <a:latin typeface="Arial"/>
                <a:cs typeface="Arial"/>
              </a:rPr>
              <a:t>the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range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values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60" dirty="0">
                <a:latin typeface="Arial"/>
                <a:cs typeface="Arial"/>
              </a:rPr>
              <a:t>on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30" dirty="0">
                <a:latin typeface="Arial"/>
                <a:cs typeface="Arial"/>
              </a:rPr>
              <a:t>x-axis.</a:t>
            </a:r>
            <a:endParaRPr sz="2200">
              <a:latin typeface="Arial"/>
              <a:cs typeface="Arial"/>
            </a:endParaRPr>
          </a:p>
          <a:p>
            <a:pPr marL="599440" marR="252095">
              <a:lnSpc>
                <a:spcPct val="120800"/>
              </a:lnSpc>
              <a:spcBef>
                <a:spcPts val="10"/>
              </a:spcBef>
            </a:pPr>
            <a:r>
              <a:rPr sz="2200" spc="55" dirty="0">
                <a:latin typeface="Arial"/>
                <a:cs typeface="Arial"/>
              </a:rPr>
              <a:t>ylim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to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30" dirty="0">
                <a:latin typeface="Arial"/>
                <a:cs typeface="Arial"/>
              </a:rPr>
              <a:t>specify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25" dirty="0">
                <a:latin typeface="Arial"/>
                <a:cs typeface="Arial"/>
              </a:rPr>
              <a:t>range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5" dirty="0">
                <a:latin typeface="Arial"/>
                <a:cs typeface="Arial"/>
              </a:rPr>
              <a:t>values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60" dirty="0">
                <a:latin typeface="Arial"/>
                <a:cs typeface="Arial"/>
              </a:rPr>
              <a:t>on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35" dirty="0">
                <a:latin typeface="Arial"/>
                <a:cs typeface="Arial"/>
              </a:rPr>
              <a:t>y-axis.  </a:t>
            </a:r>
            <a:r>
              <a:rPr sz="2200" spc="5" dirty="0">
                <a:latin typeface="Arial"/>
                <a:cs typeface="Arial"/>
              </a:rPr>
              <a:t>breaks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is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used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to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80" dirty="0">
                <a:latin typeface="Arial"/>
                <a:cs typeface="Arial"/>
              </a:rPr>
              <a:t>mention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05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114" dirty="0">
                <a:latin typeface="Arial"/>
                <a:cs typeface="Arial"/>
              </a:rPr>
              <a:t>width</a:t>
            </a:r>
            <a:r>
              <a:rPr sz="2200" spc="-110" dirty="0">
                <a:latin typeface="Arial"/>
                <a:cs typeface="Arial"/>
              </a:rPr>
              <a:t> </a:t>
            </a:r>
            <a:r>
              <a:rPr sz="2200" spc="160" dirty="0">
                <a:latin typeface="Arial"/>
                <a:cs typeface="Arial"/>
              </a:rPr>
              <a:t>of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25" dirty="0">
                <a:latin typeface="Arial"/>
                <a:cs typeface="Arial"/>
              </a:rPr>
              <a:t>each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bar.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65" dirty="0"/>
              <a:t>Histogram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580" y="1431035"/>
            <a:ext cx="7764145" cy="438150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1900" b="1" spc="-10" dirty="0">
                <a:latin typeface="Courier New"/>
                <a:cs typeface="Courier New"/>
              </a:rPr>
              <a:t># </a:t>
            </a:r>
            <a:r>
              <a:rPr sz="1900" b="1" spc="-15" dirty="0">
                <a:latin typeface="Courier New"/>
                <a:cs typeface="Courier New"/>
              </a:rPr>
              <a:t>Create data </a:t>
            </a:r>
            <a:r>
              <a:rPr sz="1900" b="1" spc="-10" dirty="0">
                <a:latin typeface="Courier New"/>
                <a:cs typeface="Courier New"/>
              </a:rPr>
              <a:t>for the</a:t>
            </a:r>
            <a:r>
              <a:rPr sz="1900" b="1" spc="-55" dirty="0">
                <a:latin typeface="Courier New"/>
                <a:cs typeface="Courier New"/>
              </a:rPr>
              <a:t> </a:t>
            </a:r>
            <a:r>
              <a:rPr sz="1900" b="1" spc="-15" dirty="0">
                <a:latin typeface="Courier New"/>
                <a:cs typeface="Courier New"/>
              </a:rPr>
              <a:t>graph.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872490" algn="l"/>
              </a:tabLst>
            </a:pPr>
            <a:r>
              <a:rPr sz="1900" b="1" spc="-10" dirty="0">
                <a:latin typeface="Courier New"/>
                <a:cs typeface="Courier New"/>
              </a:rPr>
              <a:t>v</a:t>
            </a:r>
            <a:r>
              <a:rPr sz="1900" b="1" spc="-15" dirty="0">
                <a:latin typeface="Courier New"/>
                <a:cs typeface="Courier New"/>
              </a:rPr>
              <a:t> &lt;-	c(9,13,21,8,36,22,12,41,31,33,19)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100">
              <a:latin typeface="Courier New"/>
              <a:cs typeface="Courier New"/>
            </a:endParaRPr>
          </a:p>
          <a:p>
            <a:pPr marL="12700" marR="3587115">
              <a:lnSpc>
                <a:spcPct val="129400"/>
              </a:lnSpc>
              <a:spcBef>
                <a:spcPts val="1190"/>
              </a:spcBef>
            </a:pPr>
            <a:r>
              <a:rPr sz="1900" b="1" spc="-10" dirty="0">
                <a:latin typeface="Courier New"/>
                <a:cs typeface="Courier New"/>
              </a:rPr>
              <a:t># </a:t>
            </a:r>
            <a:r>
              <a:rPr sz="1900" b="1" spc="-15" dirty="0">
                <a:latin typeface="Courier New"/>
                <a:cs typeface="Courier New"/>
              </a:rPr>
              <a:t>Give the chart file </a:t>
            </a:r>
            <a:r>
              <a:rPr sz="1900" b="1" spc="-10" dirty="0">
                <a:latin typeface="Courier New"/>
                <a:cs typeface="Courier New"/>
              </a:rPr>
              <a:t>a</a:t>
            </a:r>
            <a:r>
              <a:rPr sz="1900" b="1" spc="-65" dirty="0">
                <a:latin typeface="Courier New"/>
                <a:cs typeface="Courier New"/>
              </a:rPr>
              <a:t> </a:t>
            </a:r>
            <a:r>
              <a:rPr sz="1900" b="1" spc="-15" dirty="0">
                <a:latin typeface="Courier New"/>
                <a:cs typeface="Courier New"/>
              </a:rPr>
              <a:t>name.  png(file </a:t>
            </a:r>
            <a:r>
              <a:rPr sz="1900" b="1" spc="-10" dirty="0">
                <a:latin typeface="Courier New"/>
                <a:cs typeface="Courier New"/>
              </a:rPr>
              <a:t>=</a:t>
            </a:r>
            <a:r>
              <a:rPr sz="1900" b="1" spc="-40" dirty="0">
                <a:latin typeface="Courier New"/>
                <a:cs typeface="Courier New"/>
              </a:rPr>
              <a:t> </a:t>
            </a:r>
            <a:r>
              <a:rPr sz="1900" b="1" spc="-15" dirty="0">
                <a:latin typeface="Courier New"/>
                <a:cs typeface="Courier New"/>
              </a:rPr>
              <a:t>"histogram.png")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60"/>
              </a:spcBef>
            </a:pPr>
            <a:r>
              <a:rPr sz="1900" b="1" spc="-10" dirty="0">
                <a:latin typeface="Courier New"/>
                <a:cs typeface="Courier New"/>
              </a:rPr>
              <a:t># </a:t>
            </a:r>
            <a:r>
              <a:rPr sz="1900" b="1" spc="-15" dirty="0">
                <a:latin typeface="Courier New"/>
                <a:cs typeface="Courier New"/>
              </a:rPr>
              <a:t>Create </a:t>
            </a:r>
            <a:r>
              <a:rPr sz="1900" b="1" spc="-10" dirty="0">
                <a:latin typeface="Courier New"/>
                <a:cs typeface="Courier New"/>
              </a:rPr>
              <a:t>the</a:t>
            </a:r>
            <a:r>
              <a:rPr sz="1900" b="1" spc="-45" dirty="0">
                <a:latin typeface="Courier New"/>
                <a:cs typeface="Courier New"/>
              </a:rPr>
              <a:t> </a:t>
            </a:r>
            <a:r>
              <a:rPr sz="1900" b="1" spc="-15" dirty="0">
                <a:latin typeface="Courier New"/>
                <a:cs typeface="Courier New"/>
              </a:rPr>
              <a:t>histogram.</a:t>
            </a:r>
            <a:endParaRPr sz="19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900" b="1" spc="-15" dirty="0">
                <a:latin typeface="Courier New"/>
                <a:cs typeface="Courier New"/>
              </a:rPr>
              <a:t>hist(v,xlab </a:t>
            </a:r>
            <a:r>
              <a:rPr sz="1900" b="1" spc="-10" dirty="0">
                <a:latin typeface="Courier New"/>
                <a:cs typeface="Courier New"/>
              </a:rPr>
              <a:t>= </a:t>
            </a:r>
            <a:r>
              <a:rPr sz="1900" b="1" spc="-15" dirty="0">
                <a:latin typeface="Courier New"/>
                <a:cs typeface="Courier New"/>
              </a:rPr>
              <a:t>"Weight",col </a:t>
            </a:r>
            <a:r>
              <a:rPr sz="1900" b="1" spc="-10" dirty="0">
                <a:latin typeface="Courier New"/>
                <a:cs typeface="Courier New"/>
              </a:rPr>
              <a:t>= </a:t>
            </a:r>
            <a:r>
              <a:rPr sz="1900" b="1" spc="-15" dirty="0">
                <a:latin typeface="Courier New"/>
                <a:cs typeface="Courier New"/>
              </a:rPr>
              <a:t>"yellow",border </a:t>
            </a:r>
            <a:r>
              <a:rPr sz="1900" b="1" spc="-10" dirty="0">
                <a:latin typeface="Courier New"/>
                <a:cs typeface="Courier New"/>
              </a:rPr>
              <a:t>=</a:t>
            </a:r>
            <a:r>
              <a:rPr sz="1900" b="1" spc="-25" dirty="0">
                <a:latin typeface="Courier New"/>
                <a:cs typeface="Courier New"/>
              </a:rPr>
              <a:t> </a:t>
            </a:r>
            <a:r>
              <a:rPr sz="1900" b="1" spc="-15" dirty="0">
                <a:latin typeface="Courier New"/>
                <a:cs typeface="Courier New"/>
              </a:rPr>
              <a:t>"blue")</a:t>
            </a:r>
            <a:endParaRPr sz="1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00">
              <a:latin typeface="Courier New"/>
              <a:cs typeface="Courier New"/>
            </a:endParaRPr>
          </a:p>
          <a:p>
            <a:pPr marL="12700" marR="5449570">
              <a:lnSpc>
                <a:spcPct val="129400"/>
              </a:lnSpc>
            </a:pPr>
            <a:r>
              <a:rPr sz="1900" b="1" spc="-10" dirty="0">
                <a:latin typeface="Courier New"/>
                <a:cs typeface="Courier New"/>
              </a:rPr>
              <a:t># </a:t>
            </a:r>
            <a:r>
              <a:rPr sz="1900" b="1" spc="-15" dirty="0">
                <a:latin typeface="Courier New"/>
                <a:cs typeface="Courier New"/>
              </a:rPr>
              <a:t>Save the</a:t>
            </a:r>
            <a:r>
              <a:rPr sz="1900" b="1" spc="-85" dirty="0">
                <a:latin typeface="Courier New"/>
                <a:cs typeface="Courier New"/>
              </a:rPr>
              <a:t> </a:t>
            </a:r>
            <a:r>
              <a:rPr sz="1900" b="1" spc="-15" dirty="0">
                <a:latin typeface="Courier New"/>
                <a:cs typeface="Courier New"/>
              </a:rPr>
              <a:t>file.  dev.off()</a:t>
            </a:r>
            <a:endParaRPr sz="19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65" dirty="0"/>
              <a:t>Histogram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771650"/>
            <a:ext cx="4114800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65" dirty="0"/>
              <a:t>Histogram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2480" y="1442719"/>
            <a:ext cx="7860030" cy="429387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2100" b="1" dirty="0">
                <a:latin typeface="Courier New"/>
                <a:cs typeface="Courier New"/>
              </a:rPr>
              <a:t># </a:t>
            </a:r>
            <a:r>
              <a:rPr sz="2100" b="1" spc="-5" dirty="0">
                <a:latin typeface="Courier New"/>
                <a:cs typeface="Courier New"/>
              </a:rPr>
              <a:t>Create </a:t>
            </a:r>
            <a:r>
              <a:rPr sz="2100" b="1" spc="-10" dirty="0">
                <a:latin typeface="Courier New"/>
                <a:cs typeface="Courier New"/>
              </a:rPr>
              <a:t>data </a:t>
            </a:r>
            <a:r>
              <a:rPr sz="2100" b="1" spc="-5" dirty="0">
                <a:latin typeface="Courier New"/>
                <a:cs typeface="Courier New"/>
              </a:rPr>
              <a:t>for the</a:t>
            </a:r>
            <a:r>
              <a:rPr sz="2100" b="1" spc="-15" dirty="0">
                <a:latin typeface="Courier New"/>
                <a:cs typeface="Courier New"/>
              </a:rPr>
              <a:t> </a:t>
            </a:r>
            <a:r>
              <a:rPr sz="2100" b="1" spc="-5" dirty="0">
                <a:latin typeface="Courier New"/>
                <a:cs typeface="Courier New"/>
              </a:rPr>
              <a:t>graph.</a:t>
            </a:r>
            <a:endParaRPr sz="2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100" b="1" dirty="0">
                <a:latin typeface="Courier New"/>
                <a:cs typeface="Courier New"/>
              </a:rPr>
              <a:t>v &lt;-</a:t>
            </a:r>
            <a:r>
              <a:rPr sz="2100" b="1" spc="-100" dirty="0">
                <a:latin typeface="Courier New"/>
                <a:cs typeface="Courier New"/>
              </a:rPr>
              <a:t> </a:t>
            </a:r>
            <a:r>
              <a:rPr sz="2100" b="1" spc="-5" dirty="0">
                <a:latin typeface="Courier New"/>
                <a:cs typeface="Courier New"/>
              </a:rPr>
              <a:t>c(9,13,21,8,36,22,12,41,31,33,19)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700">
              <a:latin typeface="Courier New"/>
              <a:cs typeface="Courier New"/>
            </a:endParaRPr>
          </a:p>
          <a:p>
            <a:pPr marL="12700" marR="1762125">
              <a:lnSpc>
                <a:spcPct val="123400"/>
              </a:lnSpc>
            </a:pPr>
            <a:r>
              <a:rPr sz="2100" b="1" dirty="0">
                <a:latin typeface="Courier New"/>
                <a:cs typeface="Courier New"/>
              </a:rPr>
              <a:t># </a:t>
            </a:r>
            <a:r>
              <a:rPr sz="2100" b="1" spc="-5" dirty="0">
                <a:latin typeface="Courier New"/>
                <a:cs typeface="Courier New"/>
              </a:rPr>
              <a:t>Give the chart </a:t>
            </a:r>
            <a:r>
              <a:rPr sz="2100" b="1" spc="-10" dirty="0">
                <a:latin typeface="Courier New"/>
                <a:cs typeface="Courier New"/>
              </a:rPr>
              <a:t>file </a:t>
            </a:r>
            <a:r>
              <a:rPr sz="2100" b="1" dirty="0">
                <a:latin typeface="Courier New"/>
                <a:cs typeface="Courier New"/>
              </a:rPr>
              <a:t>a </a:t>
            </a:r>
            <a:r>
              <a:rPr sz="2100" b="1" spc="-5" dirty="0">
                <a:latin typeface="Courier New"/>
                <a:cs typeface="Courier New"/>
              </a:rPr>
              <a:t>name.  png(file </a:t>
            </a:r>
            <a:r>
              <a:rPr sz="2100" b="1" dirty="0">
                <a:latin typeface="Courier New"/>
                <a:cs typeface="Courier New"/>
              </a:rPr>
              <a:t>=</a:t>
            </a:r>
            <a:r>
              <a:rPr sz="2100" b="1" spc="-85" dirty="0">
                <a:latin typeface="Courier New"/>
                <a:cs typeface="Courier New"/>
              </a:rPr>
              <a:t> </a:t>
            </a:r>
            <a:r>
              <a:rPr sz="2100" b="1" spc="-5" dirty="0">
                <a:latin typeface="Courier New"/>
                <a:cs typeface="Courier New"/>
              </a:rPr>
              <a:t>"histogram_lim_breaks.png")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100" b="1" dirty="0">
                <a:latin typeface="Courier New"/>
                <a:cs typeface="Courier New"/>
              </a:rPr>
              <a:t># </a:t>
            </a:r>
            <a:r>
              <a:rPr sz="2100" b="1" spc="-5" dirty="0">
                <a:latin typeface="Courier New"/>
                <a:cs typeface="Courier New"/>
              </a:rPr>
              <a:t>Create the</a:t>
            </a:r>
            <a:r>
              <a:rPr sz="2100" b="1" spc="-15" dirty="0">
                <a:latin typeface="Courier New"/>
                <a:cs typeface="Courier New"/>
              </a:rPr>
              <a:t> </a:t>
            </a:r>
            <a:r>
              <a:rPr sz="2100" b="1" spc="-10" dirty="0">
                <a:latin typeface="Courier New"/>
                <a:cs typeface="Courier New"/>
              </a:rPr>
              <a:t>histogram.</a:t>
            </a:r>
            <a:endParaRPr sz="210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80"/>
              </a:spcBef>
            </a:pPr>
            <a:r>
              <a:rPr sz="2100" b="1" spc="-5" dirty="0">
                <a:latin typeface="Courier New"/>
                <a:cs typeface="Courier New"/>
              </a:rPr>
              <a:t>hist(v,xlab </a:t>
            </a:r>
            <a:r>
              <a:rPr sz="2100" b="1" dirty="0">
                <a:latin typeface="Courier New"/>
                <a:cs typeface="Courier New"/>
              </a:rPr>
              <a:t>= </a:t>
            </a:r>
            <a:r>
              <a:rPr sz="2100" b="1" spc="-5" dirty="0">
                <a:latin typeface="Courier New"/>
                <a:cs typeface="Courier New"/>
              </a:rPr>
              <a:t>"Weight",col </a:t>
            </a:r>
            <a:r>
              <a:rPr sz="2100" b="1" dirty="0">
                <a:latin typeface="Courier New"/>
                <a:cs typeface="Courier New"/>
              </a:rPr>
              <a:t>= </a:t>
            </a:r>
            <a:r>
              <a:rPr sz="2100" b="1" spc="-10" dirty="0">
                <a:latin typeface="Courier New"/>
                <a:cs typeface="Courier New"/>
              </a:rPr>
              <a:t>"green",border </a:t>
            </a:r>
            <a:r>
              <a:rPr sz="2100" b="1" dirty="0">
                <a:latin typeface="Courier New"/>
                <a:cs typeface="Courier New"/>
              </a:rPr>
              <a:t>=  </a:t>
            </a:r>
            <a:r>
              <a:rPr sz="2100" b="1" spc="-5" dirty="0">
                <a:latin typeface="Courier New"/>
                <a:cs typeface="Courier New"/>
              </a:rPr>
              <a:t>"red", </a:t>
            </a:r>
            <a:r>
              <a:rPr sz="2100" b="1" spc="-10" dirty="0">
                <a:latin typeface="Courier New"/>
                <a:cs typeface="Courier New"/>
              </a:rPr>
              <a:t>xlim </a:t>
            </a:r>
            <a:r>
              <a:rPr sz="2100" b="1" dirty="0">
                <a:latin typeface="Courier New"/>
                <a:cs typeface="Courier New"/>
              </a:rPr>
              <a:t>= </a:t>
            </a:r>
            <a:r>
              <a:rPr sz="2100" b="1" spc="-5" dirty="0">
                <a:latin typeface="Courier New"/>
                <a:cs typeface="Courier New"/>
              </a:rPr>
              <a:t>c(0,40), </a:t>
            </a:r>
            <a:r>
              <a:rPr sz="2100" b="1" spc="-10" dirty="0">
                <a:latin typeface="Courier New"/>
                <a:cs typeface="Courier New"/>
              </a:rPr>
              <a:t>ylim </a:t>
            </a:r>
            <a:r>
              <a:rPr sz="2100" b="1" dirty="0">
                <a:latin typeface="Courier New"/>
                <a:cs typeface="Courier New"/>
              </a:rPr>
              <a:t>= </a:t>
            </a:r>
            <a:r>
              <a:rPr sz="2100" b="1" spc="-5" dirty="0">
                <a:latin typeface="Courier New"/>
                <a:cs typeface="Courier New"/>
              </a:rPr>
              <a:t>c(0,5), breaks </a:t>
            </a:r>
            <a:r>
              <a:rPr sz="2100" b="1" dirty="0">
                <a:latin typeface="Courier New"/>
                <a:cs typeface="Courier New"/>
              </a:rPr>
              <a:t>=</a:t>
            </a:r>
            <a:r>
              <a:rPr sz="2100" b="1" spc="-20" dirty="0">
                <a:latin typeface="Courier New"/>
                <a:cs typeface="Courier New"/>
              </a:rPr>
              <a:t> </a:t>
            </a:r>
            <a:r>
              <a:rPr sz="2100" b="1" spc="-10" dirty="0">
                <a:latin typeface="Courier New"/>
                <a:cs typeface="Courier New"/>
              </a:rPr>
              <a:t>5)</a:t>
            </a:r>
            <a:endParaRPr sz="2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100" b="1" spc="-5" dirty="0">
                <a:latin typeface="Courier New"/>
                <a:cs typeface="Courier New"/>
              </a:rPr>
              <a:t>dev.off()</a:t>
            </a:r>
            <a:endParaRPr sz="21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65" dirty="0"/>
              <a:t>Histogram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842770"/>
            <a:ext cx="4257675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" dirty="0"/>
              <a:t>Line</a:t>
            </a:r>
            <a:r>
              <a:rPr spc="-180" dirty="0"/>
              <a:t> </a:t>
            </a:r>
            <a:r>
              <a:rPr spc="60" dirty="0"/>
              <a:t>graph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81635" marR="23495" indent="-342900">
              <a:lnSpc>
                <a:spcPts val="3350"/>
              </a:lnSpc>
              <a:spcBef>
                <a:spcPts val="219"/>
              </a:spcBef>
              <a:buClr>
                <a:srgbClr val="6697CC"/>
              </a:buClr>
              <a:buFont typeface="Liberation Sans"/>
              <a:buChar char="•"/>
              <a:tabLst>
                <a:tab pos="381000" algn="l"/>
                <a:tab pos="381635" algn="l"/>
              </a:tabLst>
            </a:pPr>
            <a:r>
              <a:rPr sz="2800" spc="-15" dirty="0"/>
              <a:t>A </a:t>
            </a:r>
            <a:r>
              <a:rPr sz="2800" spc="65" dirty="0"/>
              <a:t>line </a:t>
            </a:r>
            <a:r>
              <a:rPr sz="2800" spc="60" dirty="0"/>
              <a:t>chart </a:t>
            </a:r>
            <a:r>
              <a:rPr sz="2800" spc="-35" dirty="0"/>
              <a:t>is </a:t>
            </a:r>
            <a:r>
              <a:rPr sz="2800" spc="-100" dirty="0"/>
              <a:t>a </a:t>
            </a:r>
            <a:r>
              <a:rPr sz="2800" spc="45" dirty="0"/>
              <a:t>graph </a:t>
            </a:r>
            <a:r>
              <a:rPr sz="2800" spc="155" dirty="0"/>
              <a:t>that </a:t>
            </a:r>
            <a:r>
              <a:rPr sz="2800" spc="10" dirty="0"/>
              <a:t>connects </a:t>
            </a:r>
            <a:r>
              <a:rPr sz="2800" spc="-100" dirty="0"/>
              <a:t>a </a:t>
            </a:r>
            <a:r>
              <a:rPr sz="2800" spc="-15" dirty="0"/>
              <a:t>series </a:t>
            </a:r>
            <a:r>
              <a:rPr sz="2800" spc="195" dirty="0"/>
              <a:t>of  </a:t>
            </a:r>
            <a:r>
              <a:rPr sz="2800" spc="80" dirty="0"/>
              <a:t>points</a:t>
            </a:r>
            <a:r>
              <a:rPr sz="2800" spc="-135" dirty="0"/>
              <a:t> </a:t>
            </a:r>
            <a:r>
              <a:rPr sz="2800" spc="10" dirty="0"/>
              <a:t>by</a:t>
            </a:r>
            <a:r>
              <a:rPr sz="2800" spc="-130" dirty="0"/>
              <a:t> </a:t>
            </a:r>
            <a:r>
              <a:rPr sz="2800" spc="60" dirty="0"/>
              <a:t>drawing</a:t>
            </a:r>
            <a:r>
              <a:rPr sz="2800" spc="-140" dirty="0"/>
              <a:t> </a:t>
            </a:r>
            <a:r>
              <a:rPr sz="2800" spc="70" dirty="0"/>
              <a:t>line</a:t>
            </a:r>
            <a:r>
              <a:rPr sz="2800" spc="-135" dirty="0"/>
              <a:t> </a:t>
            </a:r>
            <a:r>
              <a:rPr sz="2800" spc="25" dirty="0"/>
              <a:t>segments</a:t>
            </a:r>
            <a:r>
              <a:rPr sz="2800" spc="-135" dirty="0"/>
              <a:t> </a:t>
            </a:r>
            <a:r>
              <a:rPr sz="2800" spc="85" dirty="0"/>
              <a:t>between</a:t>
            </a:r>
            <a:r>
              <a:rPr sz="2800" spc="-135" dirty="0"/>
              <a:t> </a:t>
            </a:r>
            <a:r>
              <a:rPr sz="2800" spc="70" dirty="0"/>
              <a:t>them.</a:t>
            </a:r>
            <a:endParaRPr sz="2800"/>
          </a:p>
          <a:p>
            <a:pPr marL="381635" marR="794385" indent="-342900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Liberation Sans"/>
              <a:buChar char="•"/>
              <a:tabLst>
                <a:tab pos="381000" algn="l"/>
                <a:tab pos="381635" algn="l"/>
              </a:tabLst>
            </a:pPr>
            <a:r>
              <a:rPr sz="2800" spc="-50" dirty="0"/>
              <a:t>These </a:t>
            </a:r>
            <a:r>
              <a:rPr sz="2800" spc="80" dirty="0"/>
              <a:t>points </a:t>
            </a:r>
            <a:r>
              <a:rPr sz="2800" spc="20" dirty="0"/>
              <a:t>are </a:t>
            </a:r>
            <a:r>
              <a:rPr sz="2800" spc="75" dirty="0"/>
              <a:t>ordered </a:t>
            </a:r>
            <a:r>
              <a:rPr sz="2800" spc="60" dirty="0"/>
              <a:t>in </a:t>
            </a:r>
            <a:r>
              <a:rPr sz="2800" spc="45" dirty="0"/>
              <a:t>one </a:t>
            </a:r>
            <a:r>
              <a:rPr sz="2800" spc="190" dirty="0"/>
              <a:t>of </a:t>
            </a:r>
            <a:r>
              <a:rPr sz="2800" spc="120" dirty="0"/>
              <a:t>their  </a:t>
            </a:r>
            <a:r>
              <a:rPr sz="2800" spc="60" dirty="0"/>
              <a:t>coordinate</a:t>
            </a:r>
            <a:r>
              <a:rPr sz="2800" spc="-145" dirty="0"/>
              <a:t> </a:t>
            </a:r>
            <a:r>
              <a:rPr sz="2800" spc="10" dirty="0"/>
              <a:t>(usually</a:t>
            </a:r>
            <a:r>
              <a:rPr sz="2800" spc="-140" dirty="0"/>
              <a:t> </a:t>
            </a:r>
            <a:r>
              <a:rPr sz="2800" spc="130" dirty="0"/>
              <a:t>the</a:t>
            </a:r>
            <a:r>
              <a:rPr sz="2800" spc="-140" dirty="0"/>
              <a:t> </a:t>
            </a:r>
            <a:r>
              <a:rPr sz="2800" spc="35" dirty="0"/>
              <a:t>x-coordinate)</a:t>
            </a:r>
            <a:r>
              <a:rPr sz="2800" spc="-140" dirty="0"/>
              <a:t> </a:t>
            </a:r>
            <a:r>
              <a:rPr sz="2800" spc="-5" dirty="0"/>
              <a:t>value.</a:t>
            </a:r>
            <a:endParaRPr sz="2800"/>
          </a:p>
          <a:p>
            <a:pPr marL="381635" marR="48895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81000" algn="l"/>
                <a:tab pos="381635" algn="l"/>
              </a:tabLst>
            </a:pPr>
            <a:r>
              <a:rPr sz="2800" spc="5" dirty="0"/>
              <a:t>Line</a:t>
            </a:r>
            <a:r>
              <a:rPr sz="2800" spc="-150" dirty="0"/>
              <a:t> </a:t>
            </a:r>
            <a:r>
              <a:rPr sz="2800" spc="30" dirty="0"/>
              <a:t>charts</a:t>
            </a:r>
            <a:r>
              <a:rPr sz="2800" spc="-135" dirty="0"/>
              <a:t> </a:t>
            </a:r>
            <a:r>
              <a:rPr sz="2800" spc="15" dirty="0"/>
              <a:t>are</a:t>
            </a:r>
            <a:r>
              <a:rPr sz="2800" spc="-145" dirty="0"/>
              <a:t> </a:t>
            </a:r>
            <a:r>
              <a:rPr sz="2800" spc="15" dirty="0"/>
              <a:t>usually</a:t>
            </a:r>
            <a:r>
              <a:rPr sz="2800" spc="-135" dirty="0"/>
              <a:t> </a:t>
            </a:r>
            <a:r>
              <a:rPr sz="2800" spc="-5" dirty="0"/>
              <a:t>used</a:t>
            </a:r>
            <a:r>
              <a:rPr sz="2800" spc="-145" dirty="0"/>
              <a:t> </a:t>
            </a:r>
            <a:r>
              <a:rPr sz="2800" spc="65" dirty="0"/>
              <a:t>in</a:t>
            </a:r>
            <a:r>
              <a:rPr sz="2800" spc="-140" dirty="0"/>
              <a:t> </a:t>
            </a:r>
            <a:r>
              <a:rPr sz="2800" spc="105" dirty="0"/>
              <a:t>identifying</a:t>
            </a:r>
            <a:r>
              <a:rPr sz="2800" spc="-135" dirty="0"/>
              <a:t> </a:t>
            </a:r>
            <a:r>
              <a:rPr sz="2800" spc="130" dirty="0"/>
              <a:t>the  </a:t>
            </a:r>
            <a:r>
              <a:rPr sz="2800" spc="75" dirty="0"/>
              <a:t>trends </a:t>
            </a:r>
            <a:r>
              <a:rPr sz="2800" spc="65" dirty="0"/>
              <a:t>in</a:t>
            </a:r>
            <a:r>
              <a:rPr sz="2800" spc="-355" dirty="0"/>
              <a:t> </a:t>
            </a:r>
            <a:r>
              <a:rPr sz="2800" spc="25" dirty="0"/>
              <a:t>data.</a:t>
            </a:r>
            <a:endParaRPr sz="2800"/>
          </a:p>
          <a:p>
            <a:pPr marL="381635" marR="508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81000" algn="l"/>
                <a:tab pos="381635" algn="l"/>
              </a:tabLst>
            </a:pPr>
            <a:r>
              <a:rPr sz="2800" spc="-30" dirty="0"/>
              <a:t>The</a:t>
            </a:r>
            <a:r>
              <a:rPr sz="2800" spc="-140" dirty="0"/>
              <a:t> </a:t>
            </a:r>
            <a:r>
              <a:rPr sz="2800" spc="135" dirty="0"/>
              <a:t>plot()</a:t>
            </a:r>
            <a:r>
              <a:rPr sz="2800" spc="-140" dirty="0"/>
              <a:t> </a:t>
            </a:r>
            <a:r>
              <a:rPr sz="2800" spc="105" dirty="0"/>
              <a:t>function</a:t>
            </a:r>
            <a:r>
              <a:rPr sz="2800" spc="-140" dirty="0"/>
              <a:t> </a:t>
            </a:r>
            <a:r>
              <a:rPr sz="2800" spc="65" dirty="0"/>
              <a:t>in</a:t>
            </a:r>
            <a:r>
              <a:rPr sz="2800" spc="-130" dirty="0"/>
              <a:t> </a:t>
            </a:r>
            <a:r>
              <a:rPr sz="2800" spc="-265" dirty="0"/>
              <a:t>R</a:t>
            </a:r>
            <a:r>
              <a:rPr sz="2800" spc="-135" dirty="0"/>
              <a:t> </a:t>
            </a:r>
            <a:r>
              <a:rPr sz="2800" spc="-35" dirty="0"/>
              <a:t>is</a:t>
            </a:r>
            <a:r>
              <a:rPr sz="2800" spc="-140" dirty="0"/>
              <a:t> </a:t>
            </a:r>
            <a:r>
              <a:rPr sz="2800" spc="-5" dirty="0"/>
              <a:t>used</a:t>
            </a:r>
            <a:r>
              <a:rPr sz="2800" spc="-135" dirty="0"/>
              <a:t> </a:t>
            </a:r>
            <a:r>
              <a:rPr sz="2800" spc="195" dirty="0"/>
              <a:t>to</a:t>
            </a:r>
            <a:r>
              <a:rPr sz="2800" spc="-140" dirty="0"/>
              <a:t> </a:t>
            </a:r>
            <a:r>
              <a:rPr sz="2800" spc="40" dirty="0"/>
              <a:t>create</a:t>
            </a:r>
            <a:r>
              <a:rPr sz="2800" spc="-145" dirty="0"/>
              <a:t> </a:t>
            </a:r>
            <a:r>
              <a:rPr sz="2800" spc="130" dirty="0"/>
              <a:t>the</a:t>
            </a:r>
            <a:r>
              <a:rPr sz="2800" spc="-140" dirty="0"/>
              <a:t> </a:t>
            </a:r>
            <a:r>
              <a:rPr sz="2800" spc="65" dirty="0"/>
              <a:t>line  </a:t>
            </a:r>
            <a:r>
              <a:rPr sz="2800" spc="20" dirty="0"/>
              <a:t>graph.</a:t>
            </a:r>
            <a:endParaRPr sz="2800"/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" dirty="0"/>
              <a:t>Line </a:t>
            </a:r>
            <a:r>
              <a:rPr spc="60" dirty="0"/>
              <a:t>graph </a:t>
            </a:r>
            <a:r>
              <a:rPr spc="-220" dirty="0"/>
              <a:t>–</a:t>
            </a:r>
            <a:r>
              <a:rPr spc="-610" dirty="0"/>
              <a:t> </a:t>
            </a:r>
            <a:r>
              <a:rPr spc="-15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33068"/>
            <a:ext cx="7782559" cy="4605020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297180" indent="-284480">
              <a:lnSpc>
                <a:spcPct val="100000"/>
              </a:lnSpc>
              <a:spcBef>
                <a:spcPts val="785"/>
              </a:spcBef>
              <a:buClr>
                <a:srgbClr val="6697CC"/>
              </a:buClr>
              <a:buFont typeface="Liberation Sans"/>
              <a:buChar char="•"/>
              <a:tabLst>
                <a:tab pos="296545" algn="l"/>
                <a:tab pos="297180" algn="l"/>
              </a:tabLst>
            </a:pPr>
            <a:r>
              <a:rPr sz="2300" spc="-15" dirty="0">
                <a:latin typeface="Arial"/>
                <a:cs typeface="Arial"/>
              </a:rPr>
              <a:t>The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basic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syntax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165" dirty="0">
                <a:latin typeface="Arial"/>
                <a:cs typeface="Arial"/>
              </a:rPr>
              <a:t>to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45" dirty="0">
                <a:latin typeface="Arial"/>
                <a:cs typeface="Arial"/>
              </a:rPr>
              <a:t>create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70" dirty="0">
                <a:latin typeface="Arial"/>
                <a:cs typeface="Arial"/>
              </a:rPr>
              <a:t>a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65" dirty="0">
                <a:latin typeface="Arial"/>
                <a:cs typeface="Arial"/>
              </a:rPr>
              <a:t>line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chart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in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204" dirty="0">
                <a:latin typeface="Arial"/>
                <a:cs typeface="Arial"/>
              </a:rPr>
              <a:t>R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is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−</a:t>
            </a:r>
            <a:endParaRPr sz="2300">
              <a:latin typeface="Arial"/>
              <a:cs typeface="Arial"/>
            </a:endParaRPr>
          </a:p>
          <a:p>
            <a:pPr marL="296545">
              <a:lnSpc>
                <a:spcPct val="100000"/>
              </a:lnSpc>
              <a:spcBef>
                <a:spcPts val="690"/>
              </a:spcBef>
            </a:pPr>
            <a:r>
              <a:rPr sz="2300" b="1" spc="5" dirty="0">
                <a:latin typeface="Courier New"/>
                <a:cs typeface="Courier New"/>
              </a:rPr>
              <a:t>plot(v,type,col,xlab,ylab)</a:t>
            </a:r>
            <a:endParaRPr sz="2300">
              <a:latin typeface="Courier New"/>
              <a:cs typeface="Courier New"/>
            </a:endParaRPr>
          </a:p>
          <a:p>
            <a:pPr marL="297180" indent="-284480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Liberation Sans"/>
              <a:buChar char="•"/>
              <a:tabLst>
                <a:tab pos="296545" algn="l"/>
                <a:tab pos="297180" algn="l"/>
              </a:tabLst>
            </a:pPr>
            <a:r>
              <a:rPr sz="2300" spc="55" dirty="0">
                <a:latin typeface="Arial"/>
                <a:cs typeface="Arial"/>
              </a:rPr>
              <a:t>Following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-25" dirty="0">
                <a:latin typeface="Arial"/>
                <a:cs typeface="Arial"/>
              </a:rPr>
              <a:t>is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description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of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10" dirty="0">
                <a:latin typeface="Arial"/>
                <a:cs typeface="Arial"/>
              </a:rPr>
              <a:t>the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40" dirty="0">
                <a:latin typeface="Arial"/>
                <a:cs typeface="Arial"/>
              </a:rPr>
              <a:t>parameters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5" dirty="0">
                <a:latin typeface="Arial"/>
                <a:cs typeface="Arial"/>
              </a:rPr>
              <a:t>used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−</a:t>
            </a:r>
            <a:endParaRPr sz="2300">
              <a:latin typeface="Arial"/>
              <a:cs typeface="Arial"/>
            </a:endParaRPr>
          </a:p>
          <a:p>
            <a:pPr marL="628650" lvl="1" indent="-236854">
              <a:lnSpc>
                <a:spcPct val="100000"/>
              </a:lnSpc>
              <a:spcBef>
                <a:spcPts val="60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10" dirty="0">
                <a:latin typeface="Arial"/>
                <a:cs typeface="Arial"/>
              </a:rPr>
              <a:t>v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70" dirty="0">
                <a:latin typeface="Arial"/>
                <a:cs typeface="Arial"/>
              </a:rPr>
              <a:t>a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65" dirty="0">
                <a:latin typeface="Arial"/>
                <a:cs typeface="Arial"/>
              </a:rPr>
              <a:t>vector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55" dirty="0">
                <a:latin typeface="Arial"/>
                <a:cs typeface="Arial"/>
              </a:rPr>
              <a:t>containing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40" dirty="0">
                <a:latin typeface="Arial"/>
                <a:cs typeface="Arial"/>
              </a:rPr>
              <a:t>numeric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10" dirty="0">
                <a:latin typeface="Arial"/>
                <a:cs typeface="Arial"/>
              </a:rPr>
              <a:t>values.</a:t>
            </a:r>
            <a:endParaRPr sz="2300">
              <a:latin typeface="Arial"/>
              <a:cs typeface="Arial"/>
            </a:endParaRPr>
          </a:p>
          <a:p>
            <a:pPr marL="628650" marR="5080" lvl="1" indent="-236220">
              <a:lnSpc>
                <a:spcPct val="100699"/>
              </a:lnSpc>
              <a:spcBef>
                <a:spcPts val="58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95" dirty="0">
                <a:latin typeface="Arial"/>
                <a:cs typeface="Arial"/>
              </a:rPr>
              <a:t>type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20" dirty="0">
                <a:latin typeface="Arial"/>
                <a:cs typeface="Arial"/>
              </a:rPr>
              <a:t>takes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25" dirty="0">
                <a:latin typeface="Arial"/>
                <a:cs typeface="Arial"/>
              </a:rPr>
              <a:t>value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100" dirty="0">
                <a:latin typeface="Arial"/>
                <a:cs typeface="Arial"/>
              </a:rPr>
              <a:t>"p"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75" dirty="0">
                <a:latin typeface="Arial"/>
                <a:cs typeface="Arial"/>
              </a:rPr>
              <a:t>to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draw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only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55" dirty="0">
                <a:latin typeface="Arial"/>
                <a:cs typeface="Arial"/>
              </a:rPr>
              <a:t>points,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25" dirty="0">
                <a:latin typeface="Arial"/>
                <a:cs typeface="Arial"/>
              </a:rPr>
              <a:t>"i"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75" dirty="0">
                <a:latin typeface="Arial"/>
                <a:cs typeface="Arial"/>
              </a:rPr>
              <a:t>to  </a:t>
            </a:r>
            <a:r>
              <a:rPr sz="2300" spc="60" dirty="0">
                <a:latin typeface="Arial"/>
                <a:cs typeface="Arial"/>
              </a:rPr>
              <a:t>draw </a:t>
            </a:r>
            <a:r>
              <a:rPr sz="2300" spc="65" dirty="0">
                <a:latin typeface="Arial"/>
                <a:cs typeface="Arial"/>
              </a:rPr>
              <a:t>only </a:t>
            </a:r>
            <a:r>
              <a:rPr sz="2300" spc="114" dirty="0">
                <a:latin typeface="Arial"/>
                <a:cs typeface="Arial"/>
              </a:rPr>
              <a:t>the </a:t>
            </a:r>
            <a:r>
              <a:rPr sz="2300" spc="25" dirty="0">
                <a:latin typeface="Arial"/>
                <a:cs typeface="Arial"/>
              </a:rPr>
              <a:t>lines </a:t>
            </a:r>
            <a:r>
              <a:rPr sz="2300" spc="20" dirty="0">
                <a:latin typeface="Arial"/>
                <a:cs typeface="Arial"/>
              </a:rPr>
              <a:t>and </a:t>
            </a:r>
            <a:r>
              <a:rPr sz="2300" spc="105" dirty="0">
                <a:latin typeface="Arial"/>
                <a:cs typeface="Arial"/>
              </a:rPr>
              <a:t>"o" </a:t>
            </a:r>
            <a:r>
              <a:rPr sz="2300" spc="170" dirty="0">
                <a:latin typeface="Arial"/>
                <a:cs typeface="Arial"/>
              </a:rPr>
              <a:t>to </a:t>
            </a:r>
            <a:r>
              <a:rPr sz="2300" spc="60" dirty="0">
                <a:latin typeface="Arial"/>
                <a:cs typeface="Arial"/>
              </a:rPr>
              <a:t>draw </a:t>
            </a:r>
            <a:r>
              <a:rPr sz="2300" spc="125" dirty="0">
                <a:latin typeface="Arial"/>
                <a:cs typeface="Arial"/>
              </a:rPr>
              <a:t>both </a:t>
            </a:r>
            <a:r>
              <a:rPr sz="2300" spc="75" dirty="0">
                <a:latin typeface="Arial"/>
                <a:cs typeface="Arial"/>
              </a:rPr>
              <a:t>points </a:t>
            </a:r>
            <a:r>
              <a:rPr sz="2300" spc="20" dirty="0">
                <a:latin typeface="Arial"/>
                <a:cs typeface="Arial"/>
              </a:rPr>
              <a:t>and  </a:t>
            </a:r>
            <a:r>
              <a:rPr sz="2300" spc="10" dirty="0">
                <a:latin typeface="Arial"/>
                <a:cs typeface="Arial"/>
              </a:rPr>
              <a:t>lines.</a:t>
            </a:r>
            <a:endParaRPr sz="2300">
              <a:latin typeface="Arial"/>
              <a:cs typeface="Arial"/>
            </a:endParaRPr>
          </a:p>
          <a:p>
            <a:pPr marL="628650" lvl="1" indent="-236854">
              <a:lnSpc>
                <a:spcPct val="100000"/>
              </a:lnSpc>
              <a:spcBef>
                <a:spcPts val="60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40" dirty="0">
                <a:latin typeface="Arial"/>
                <a:cs typeface="Arial"/>
              </a:rPr>
              <a:t>xlab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is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50" dirty="0">
                <a:latin typeface="Arial"/>
                <a:cs typeface="Arial"/>
              </a:rPr>
              <a:t>label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50" dirty="0">
                <a:latin typeface="Arial"/>
                <a:cs typeface="Arial"/>
              </a:rPr>
              <a:t>for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35" dirty="0">
                <a:latin typeface="Arial"/>
                <a:cs typeface="Arial"/>
              </a:rPr>
              <a:t>x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axis.</a:t>
            </a:r>
            <a:endParaRPr sz="2300">
              <a:latin typeface="Arial"/>
              <a:cs typeface="Arial"/>
            </a:endParaRPr>
          </a:p>
          <a:p>
            <a:pPr marL="628650" lvl="1" indent="-236854">
              <a:lnSpc>
                <a:spcPct val="100000"/>
              </a:lnSpc>
              <a:spcBef>
                <a:spcPts val="60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30" dirty="0">
                <a:latin typeface="Arial"/>
                <a:cs typeface="Arial"/>
              </a:rPr>
              <a:t>ylab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is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55" dirty="0">
                <a:latin typeface="Arial"/>
                <a:cs typeface="Arial"/>
              </a:rPr>
              <a:t>label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155" dirty="0">
                <a:latin typeface="Arial"/>
                <a:cs typeface="Arial"/>
              </a:rPr>
              <a:t>for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y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30" dirty="0">
                <a:latin typeface="Arial"/>
                <a:cs typeface="Arial"/>
              </a:rPr>
              <a:t>axis.</a:t>
            </a:r>
            <a:endParaRPr sz="2300">
              <a:latin typeface="Arial"/>
              <a:cs typeface="Arial"/>
            </a:endParaRPr>
          </a:p>
          <a:p>
            <a:pPr marL="628650" lvl="1" indent="-236854">
              <a:lnSpc>
                <a:spcPct val="100000"/>
              </a:lnSpc>
              <a:spcBef>
                <a:spcPts val="60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35" dirty="0">
                <a:latin typeface="Arial"/>
                <a:cs typeface="Arial"/>
              </a:rPr>
              <a:t>main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80" dirty="0">
                <a:latin typeface="Arial"/>
                <a:cs typeface="Arial"/>
              </a:rPr>
              <a:t>Title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of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45" dirty="0">
                <a:latin typeface="Arial"/>
                <a:cs typeface="Arial"/>
              </a:rPr>
              <a:t>chart.</a:t>
            </a:r>
            <a:endParaRPr sz="2300">
              <a:latin typeface="Arial"/>
              <a:cs typeface="Arial"/>
            </a:endParaRPr>
          </a:p>
          <a:p>
            <a:pPr marL="628650" lvl="1" indent="-236854">
              <a:lnSpc>
                <a:spcPct val="100000"/>
              </a:lnSpc>
              <a:spcBef>
                <a:spcPts val="60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35" dirty="0">
                <a:latin typeface="Arial"/>
                <a:cs typeface="Arial"/>
              </a:rPr>
              <a:t>col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5" dirty="0">
                <a:latin typeface="Arial"/>
                <a:cs typeface="Arial"/>
              </a:rPr>
              <a:t>used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to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give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colors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to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25" dirty="0">
                <a:latin typeface="Arial"/>
                <a:cs typeface="Arial"/>
              </a:rPr>
              <a:t>both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points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20" dirty="0">
                <a:latin typeface="Arial"/>
                <a:cs typeface="Arial"/>
              </a:rPr>
              <a:t>and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10" dirty="0">
                <a:latin typeface="Arial"/>
                <a:cs typeface="Arial"/>
              </a:rPr>
              <a:t>lines.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" dirty="0"/>
              <a:t>Line </a:t>
            </a:r>
            <a:r>
              <a:rPr spc="60" dirty="0"/>
              <a:t>graph </a:t>
            </a:r>
            <a:r>
              <a:rPr spc="-220" dirty="0"/>
              <a:t>–</a:t>
            </a:r>
            <a:r>
              <a:rPr spc="-61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6450" y="1439164"/>
            <a:ext cx="5388610" cy="4598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95"/>
              </a:spcBef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Create the data for the chart.  </a:t>
            </a:r>
            <a:r>
              <a:rPr sz="2200" b="1" dirty="0">
                <a:latin typeface="Courier New"/>
                <a:cs typeface="Courier New"/>
              </a:rPr>
              <a:t> </a:t>
            </a:r>
            <a:r>
              <a:rPr sz="2200" b="1" spc="5" dirty="0">
                <a:latin typeface="Courier New"/>
                <a:cs typeface="Courier New"/>
              </a:rPr>
              <a:t>v </a:t>
            </a:r>
            <a:r>
              <a:rPr sz="2200" b="1" dirty="0">
                <a:latin typeface="Courier New"/>
                <a:cs typeface="Courier New"/>
              </a:rPr>
              <a:t>&lt;-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c(7,12,28,3,41)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50">
              <a:latin typeface="Courier New"/>
              <a:cs typeface="Courier New"/>
            </a:endParaRPr>
          </a:p>
          <a:p>
            <a:pPr marL="12700" marR="507365">
              <a:lnSpc>
                <a:spcPct val="123900"/>
              </a:lnSpc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Give the chart file </a:t>
            </a:r>
            <a:r>
              <a:rPr sz="2200" b="1" spc="5" dirty="0">
                <a:latin typeface="Courier New"/>
                <a:cs typeface="Courier New"/>
              </a:rPr>
              <a:t>a</a:t>
            </a:r>
            <a:r>
              <a:rPr sz="2200" b="1" spc="-75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name.  png(file </a:t>
            </a:r>
            <a:r>
              <a:rPr sz="2200" b="1" spc="5" dirty="0">
                <a:latin typeface="Courier New"/>
                <a:cs typeface="Courier New"/>
              </a:rPr>
              <a:t>=</a:t>
            </a:r>
            <a:r>
              <a:rPr sz="2200" b="1" spc="-5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"line_chart.png")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850">
              <a:latin typeface="Courier New"/>
              <a:cs typeface="Courier New"/>
            </a:endParaRPr>
          </a:p>
          <a:p>
            <a:pPr marL="12700" marR="1680210">
              <a:lnSpc>
                <a:spcPct val="124200"/>
              </a:lnSpc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Plot the line</a:t>
            </a:r>
            <a:r>
              <a:rPr sz="2200" b="1" spc="-8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graph.  plot(v,type </a:t>
            </a:r>
            <a:r>
              <a:rPr sz="2200" b="1" spc="5" dirty="0">
                <a:latin typeface="Courier New"/>
                <a:cs typeface="Courier New"/>
              </a:rPr>
              <a:t>=</a:t>
            </a:r>
            <a:r>
              <a:rPr sz="2200" b="1" spc="-4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"o")</a:t>
            </a:r>
            <a:endParaRPr sz="2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50">
              <a:latin typeface="Courier New"/>
              <a:cs typeface="Courier New"/>
            </a:endParaRPr>
          </a:p>
          <a:p>
            <a:pPr marL="12700" marR="2685415">
              <a:lnSpc>
                <a:spcPct val="124200"/>
              </a:lnSpc>
            </a:pPr>
            <a:r>
              <a:rPr sz="2200" b="1" spc="5" dirty="0">
                <a:latin typeface="Courier New"/>
                <a:cs typeface="Courier New"/>
              </a:rPr>
              <a:t># </a:t>
            </a:r>
            <a:r>
              <a:rPr sz="2200" b="1" spc="-5" dirty="0">
                <a:latin typeface="Courier New"/>
                <a:cs typeface="Courier New"/>
              </a:rPr>
              <a:t>Save the</a:t>
            </a:r>
            <a:r>
              <a:rPr sz="2200" b="1" spc="-90" dirty="0">
                <a:latin typeface="Courier New"/>
                <a:cs typeface="Courier New"/>
              </a:rPr>
              <a:t> </a:t>
            </a:r>
            <a:r>
              <a:rPr sz="2200" b="1" spc="-5" dirty="0">
                <a:latin typeface="Courier New"/>
                <a:cs typeface="Courier New"/>
              </a:rPr>
              <a:t>file.  dev.off()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" dirty="0"/>
              <a:t>Line </a:t>
            </a:r>
            <a:r>
              <a:rPr spc="60" dirty="0"/>
              <a:t>graph </a:t>
            </a:r>
            <a:r>
              <a:rPr spc="-220" dirty="0"/>
              <a:t>–</a:t>
            </a:r>
            <a:r>
              <a:rPr spc="-610" dirty="0"/>
              <a:t> </a:t>
            </a:r>
            <a:r>
              <a:rPr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45689" y="2239010"/>
            <a:ext cx="4238625" cy="38385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" dirty="0"/>
              <a:t>Line </a:t>
            </a:r>
            <a:r>
              <a:rPr spc="60" dirty="0"/>
              <a:t>graph </a:t>
            </a:r>
            <a:r>
              <a:rPr spc="-220" dirty="0"/>
              <a:t>–</a:t>
            </a:r>
            <a:r>
              <a:rPr spc="-610" dirty="0"/>
              <a:t> </a:t>
            </a:r>
            <a:r>
              <a:rPr spc="25" dirty="0"/>
              <a:t>example.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6130" y="1443735"/>
            <a:ext cx="7326630" cy="4561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34895">
              <a:lnSpc>
                <a:spcPct val="123200"/>
              </a:lnSpc>
              <a:spcBef>
                <a:spcPts val="100"/>
              </a:spcBef>
            </a:pPr>
            <a:r>
              <a:rPr sz="2050" b="1" spc="-10" dirty="0">
                <a:latin typeface="Courier New"/>
                <a:cs typeface="Courier New"/>
              </a:rPr>
              <a:t># Create the data for the</a:t>
            </a:r>
            <a:r>
              <a:rPr sz="2050" b="1" spc="-75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chart.  </a:t>
            </a:r>
            <a:r>
              <a:rPr sz="2050" b="1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v &lt;-</a:t>
            </a:r>
            <a:r>
              <a:rPr sz="2050" b="1" spc="-25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c(7,12,28,3,41)</a:t>
            </a:r>
            <a:endParaRPr sz="2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50" b="1" spc="-10" dirty="0">
                <a:latin typeface="Courier New"/>
                <a:cs typeface="Courier New"/>
              </a:rPr>
              <a:t># Give the chart file a</a:t>
            </a:r>
            <a:r>
              <a:rPr sz="2050" b="1" spc="-30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name.</a:t>
            </a:r>
            <a:endParaRPr sz="2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050" b="1" spc="-10" dirty="0">
                <a:latin typeface="Courier New"/>
                <a:cs typeface="Courier New"/>
              </a:rPr>
              <a:t>png(file =</a:t>
            </a:r>
            <a:r>
              <a:rPr sz="2050" b="1" spc="-30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"line_chart_label_colored.png")</a:t>
            </a:r>
            <a:endParaRPr sz="2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3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50" b="1" spc="-10" dirty="0">
                <a:latin typeface="Courier New"/>
                <a:cs typeface="Courier New"/>
              </a:rPr>
              <a:t># Plot the bar</a:t>
            </a:r>
            <a:r>
              <a:rPr sz="2050" b="1" spc="-20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chart.</a:t>
            </a:r>
            <a:endParaRPr sz="2050">
              <a:latin typeface="Courier New"/>
              <a:cs typeface="Courier New"/>
            </a:endParaRPr>
          </a:p>
          <a:p>
            <a:pPr marL="12700" marR="5080">
              <a:lnSpc>
                <a:spcPct val="100000"/>
              </a:lnSpc>
              <a:spcBef>
                <a:spcPts val="560"/>
              </a:spcBef>
            </a:pPr>
            <a:r>
              <a:rPr sz="2050" b="1" spc="-10" dirty="0">
                <a:latin typeface="Courier New"/>
                <a:cs typeface="Courier New"/>
              </a:rPr>
              <a:t>plot(v,type = "o", col = "red", xlab = "Month",  ylab = "Rain fall", main = "Rain fall</a:t>
            </a:r>
            <a:r>
              <a:rPr sz="2050" b="1" spc="-50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chart")</a:t>
            </a:r>
            <a:endParaRPr sz="2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650">
              <a:latin typeface="Courier New"/>
              <a:cs typeface="Courier New"/>
            </a:endParaRPr>
          </a:p>
          <a:p>
            <a:pPr marL="12700" marR="4820285">
              <a:lnSpc>
                <a:spcPct val="122800"/>
              </a:lnSpc>
            </a:pPr>
            <a:r>
              <a:rPr sz="2050" b="1" spc="-10" dirty="0">
                <a:latin typeface="Courier New"/>
                <a:cs typeface="Courier New"/>
              </a:rPr>
              <a:t># Save the</a:t>
            </a:r>
            <a:r>
              <a:rPr sz="2050" b="1" spc="-90" dirty="0">
                <a:latin typeface="Courier New"/>
                <a:cs typeface="Courier New"/>
              </a:rPr>
              <a:t> </a:t>
            </a:r>
            <a:r>
              <a:rPr sz="2050" b="1" spc="-10" dirty="0">
                <a:latin typeface="Courier New"/>
                <a:cs typeface="Courier New"/>
              </a:rPr>
              <a:t>file.  dev.off()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0" dirty="0"/>
              <a:t>Line </a:t>
            </a:r>
            <a:r>
              <a:rPr spc="60" dirty="0"/>
              <a:t>graph </a:t>
            </a:r>
            <a:r>
              <a:rPr spc="-220" dirty="0"/>
              <a:t>–</a:t>
            </a:r>
            <a:r>
              <a:rPr spc="-610" dirty="0"/>
              <a:t> </a:t>
            </a:r>
            <a:r>
              <a:rPr spc="25" dirty="0"/>
              <a:t>example.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771650"/>
            <a:ext cx="4257675" cy="4162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50" dirty="0"/>
              <a:t>Multiple </a:t>
            </a:r>
            <a:r>
              <a:rPr spc="30" dirty="0"/>
              <a:t>lines </a:t>
            </a:r>
            <a:r>
              <a:rPr spc="85" dirty="0"/>
              <a:t>in</a:t>
            </a:r>
            <a:r>
              <a:rPr spc="-700" dirty="0"/>
              <a:t> </a:t>
            </a:r>
            <a:r>
              <a:rPr spc="85" dirty="0"/>
              <a:t>chart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8030" y="1453641"/>
            <a:ext cx="7752715" cy="4535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3540760">
              <a:lnSpc>
                <a:spcPct val="126499"/>
              </a:lnSpc>
              <a:spcBef>
                <a:spcPts val="90"/>
              </a:spcBef>
            </a:pPr>
            <a:r>
              <a:rPr sz="1700" b="1" spc="15" dirty="0">
                <a:latin typeface="Courier New"/>
                <a:cs typeface="Courier New"/>
              </a:rPr>
              <a:t># </a:t>
            </a:r>
            <a:r>
              <a:rPr sz="1700" b="1" spc="10" dirty="0">
                <a:latin typeface="Courier New"/>
                <a:cs typeface="Courier New"/>
              </a:rPr>
              <a:t>Create the data for the</a:t>
            </a:r>
            <a:r>
              <a:rPr sz="1700" b="1" spc="-85" dirty="0">
                <a:latin typeface="Courier New"/>
                <a:cs typeface="Courier New"/>
              </a:rPr>
              <a:t> </a:t>
            </a:r>
            <a:r>
              <a:rPr sz="1700" b="1" spc="5" dirty="0">
                <a:latin typeface="Courier New"/>
                <a:cs typeface="Courier New"/>
              </a:rPr>
              <a:t>chart.  </a:t>
            </a:r>
            <a:r>
              <a:rPr sz="1700" b="1" dirty="0">
                <a:latin typeface="Courier New"/>
                <a:cs typeface="Courier New"/>
              </a:rPr>
              <a:t> </a:t>
            </a:r>
            <a:r>
              <a:rPr sz="1700" b="1" spc="15" dirty="0">
                <a:latin typeface="Courier New"/>
                <a:cs typeface="Courier New"/>
              </a:rPr>
              <a:t>v </a:t>
            </a:r>
            <a:r>
              <a:rPr sz="1700" b="1" spc="10" dirty="0">
                <a:latin typeface="Courier New"/>
                <a:cs typeface="Courier New"/>
              </a:rPr>
              <a:t>&lt;-</a:t>
            </a:r>
            <a:r>
              <a:rPr sz="1700" b="1" spc="-15" dirty="0">
                <a:latin typeface="Courier New"/>
                <a:cs typeface="Courier New"/>
              </a:rPr>
              <a:t> </a:t>
            </a:r>
            <a:r>
              <a:rPr sz="1700" b="1" spc="5" dirty="0">
                <a:latin typeface="Courier New"/>
                <a:cs typeface="Courier New"/>
              </a:rPr>
              <a:t>c(7,12,28,3,41)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1700" b="1" spc="15" dirty="0">
                <a:latin typeface="Courier New"/>
                <a:cs typeface="Courier New"/>
              </a:rPr>
              <a:t>t </a:t>
            </a:r>
            <a:r>
              <a:rPr sz="1700" b="1" spc="10" dirty="0">
                <a:latin typeface="Courier New"/>
                <a:cs typeface="Courier New"/>
              </a:rPr>
              <a:t>&lt;-</a:t>
            </a:r>
            <a:r>
              <a:rPr sz="1700" b="1" spc="-15" dirty="0">
                <a:latin typeface="Courier New"/>
                <a:cs typeface="Courier New"/>
              </a:rPr>
              <a:t> </a:t>
            </a:r>
            <a:r>
              <a:rPr sz="1700" b="1" spc="5" dirty="0">
                <a:latin typeface="Courier New"/>
                <a:cs typeface="Courier New"/>
              </a:rPr>
              <a:t>c(14,7,6,19,3)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250">
              <a:latin typeface="Courier New"/>
              <a:cs typeface="Courier New"/>
            </a:endParaRPr>
          </a:p>
          <a:p>
            <a:pPr marL="12700" marR="3016885">
              <a:lnSpc>
                <a:spcPct val="126000"/>
              </a:lnSpc>
              <a:spcBef>
                <a:spcPts val="5"/>
              </a:spcBef>
            </a:pPr>
            <a:r>
              <a:rPr sz="1700" b="1" spc="15" dirty="0">
                <a:latin typeface="Courier New"/>
                <a:cs typeface="Courier New"/>
              </a:rPr>
              <a:t># </a:t>
            </a:r>
            <a:r>
              <a:rPr sz="1700" b="1" spc="10" dirty="0">
                <a:latin typeface="Courier New"/>
                <a:cs typeface="Courier New"/>
              </a:rPr>
              <a:t>Give the chart file </a:t>
            </a:r>
            <a:r>
              <a:rPr sz="1700" b="1" spc="15" dirty="0">
                <a:latin typeface="Courier New"/>
                <a:cs typeface="Courier New"/>
              </a:rPr>
              <a:t>a </a:t>
            </a:r>
            <a:r>
              <a:rPr sz="1700" b="1" spc="10" dirty="0">
                <a:latin typeface="Courier New"/>
                <a:cs typeface="Courier New"/>
              </a:rPr>
              <a:t>name.  png(file </a:t>
            </a:r>
            <a:r>
              <a:rPr sz="1700" b="1" spc="15" dirty="0">
                <a:latin typeface="Courier New"/>
                <a:cs typeface="Courier New"/>
              </a:rPr>
              <a:t>=</a:t>
            </a:r>
            <a:r>
              <a:rPr sz="1700" b="1" spc="5" dirty="0">
                <a:latin typeface="Courier New"/>
                <a:cs typeface="Courier New"/>
              </a:rPr>
              <a:t> "line_chart_2_lines.png")</a:t>
            </a:r>
            <a:endParaRPr sz="1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700" b="1" spc="15" dirty="0">
                <a:latin typeface="Courier New"/>
                <a:cs typeface="Courier New"/>
              </a:rPr>
              <a:t># </a:t>
            </a:r>
            <a:r>
              <a:rPr sz="1700" b="1" spc="10" dirty="0">
                <a:latin typeface="Courier New"/>
                <a:cs typeface="Courier New"/>
              </a:rPr>
              <a:t>Plot the bar</a:t>
            </a:r>
            <a:r>
              <a:rPr sz="1700" b="1" spc="-30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chart.</a:t>
            </a:r>
            <a:endParaRPr sz="1700">
              <a:latin typeface="Courier New"/>
              <a:cs typeface="Courier New"/>
            </a:endParaRPr>
          </a:p>
          <a:p>
            <a:pPr marL="12700" marR="5080">
              <a:lnSpc>
                <a:spcPct val="102000"/>
              </a:lnSpc>
              <a:spcBef>
                <a:spcPts val="489"/>
              </a:spcBef>
            </a:pPr>
            <a:r>
              <a:rPr sz="1700" b="1" spc="5" dirty="0">
                <a:latin typeface="Courier New"/>
                <a:cs typeface="Courier New"/>
              </a:rPr>
              <a:t>plot(v,type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10" dirty="0">
                <a:latin typeface="Courier New"/>
                <a:cs typeface="Courier New"/>
              </a:rPr>
              <a:t>"o",col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10" dirty="0">
                <a:latin typeface="Courier New"/>
                <a:cs typeface="Courier New"/>
              </a:rPr>
              <a:t>"red", xlab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5" dirty="0">
                <a:latin typeface="Courier New"/>
                <a:cs typeface="Courier New"/>
              </a:rPr>
              <a:t>"Month", </a:t>
            </a:r>
            <a:r>
              <a:rPr sz="1700" b="1" spc="10" dirty="0">
                <a:latin typeface="Courier New"/>
                <a:cs typeface="Courier New"/>
              </a:rPr>
              <a:t>ylab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10" dirty="0">
                <a:latin typeface="Courier New"/>
                <a:cs typeface="Courier New"/>
              </a:rPr>
              <a:t>"Rain  fall", main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10" dirty="0">
                <a:latin typeface="Courier New"/>
                <a:cs typeface="Courier New"/>
              </a:rPr>
              <a:t>"Rain fall</a:t>
            </a:r>
            <a:r>
              <a:rPr sz="1700" b="1" spc="-50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chart")</a:t>
            </a:r>
            <a:endParaRPr sz="1700">
              <a:latin typeface="Courier New"/>
              <a:cs typeface="Courier New"/>
            </a:endParaRPr>
          </a:p>
          <a:p>
            <a:pPr marL="12700" marR="3278504">
              <a:lnSpc>
                <a:spcPct val="252000"/>
              </a:lnSpc>
            </a:pPr>
            <a:r>
              <a:rPr sz="1700" b="1" spc="10" dirty="0">
                <a:latin typeface="Courier New"/>
                <a:cs typeface="Courier New"/>
              </a:rPr>
              <a:t>lines(t, type </a:t>
            </a:r>
            <a:r>
              <a:rPr sz="1700" b="1" spc="15" dirty="0">
                <a:latin typeface="Courier New"/>
                <a:cs typeface="Courier New"/>
              </a:rPr>
              <a:t>= </a:t>
            </a:r>
            <a:r>
              <a:rPr sz="1700" b="1" spc="10" dirty="0">
                <a:latin typeface="Courier New"/>
                <a:cs typeface="Courier New"/>
              </a:rPr>
              <a:t>"o", col </a:t>
            </a:r>
            <a:r>
              <a:rPr sz="1700" b="1" spc="15" dirty="0">
                <a:latin typeface="Courier New"/>
                <a:cs typeface="Courier New"/>
              </a:rPr>
              <a:t>=</a:t>
            </a:r>
            <a:r>
              <a:rPr sz="1700" b="1" spc="-120" dirty="0">
                <a:latin typeface="Courier New"/>
                <a:cs typeface="Courier New"/>
              </a:rPr>
              <a:t> </a:t>
            </a:r>
            <a:r>
              <a:rPr sz="1700" b="1" spc="10" dirty="0">
                <a:latin typeface="Courier New"/>
                <a:cs typeface="Courier New"/>
              </a:rPr>
              <a:t>"blue")  dev.off()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150" dirty="0"/>
              <a:t>Multiple </a:t>
            </a:r>
            <a:r>
              <a:rPr spc="30" dirty="0"/>
              <a:t>lines </a:t>
            </a:r>
            <a:r>
              <a:rPr spc="85" dirty="0"/>
              <a:t>in</a:t>
            </a:r>
            <a:r>
              <a:rPr spc="-700" dirty="0"/>
              <a:t> </a:t>
            </a:r>
            <a:r>
              <a:rPr spc="85" dirty="0"/>
              <a:t>chart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734820"/>
            <a:ext cx="4257675" cy="416242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5" dirty="0"/>
              <a:t>ScatterPlot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8056245" cy="373761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55600" marR="465455" indent="-342900">
              <a:lnSpc>
                <a:spcPts val="3350"/>
              </a:lnSpc>
              <a:spcBef>
                <a:spcPts val="219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60" dirty="0">
                <a:latin typeface="Arial"/>
                <a:cs typeface="Arial"/>
              </a:rPr>
              <a:t>Scatterplots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20" dirty="0">
                <a:latin typeface="Arial"/>
                <a:cs typeface="Arial"/>
              </a:rPr>
              <a:t>show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many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80" dirty="0">
                <a:latin typeface="Arial"/>
                <a:cs typeface="Arial"/>
              </a:rPr>
              <a:t>points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150" dirty="0">
                <a:latin typeface="Arial"/>
                <a:cs typeface="Arial"/>
              </a:rPr>
              <a:t>plotted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in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  </a:t>
            </a:r>
            <a:r>
              <a:rPr sz="2800" spc="-10" dirty="0">
                <a:latin typeface="Arial"/>
                <a:cs typeface="Arial"/>
              </a:rPr>
              <a:t>Cartesian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plane.</a:t>
            </a:r>
            <a:endParaRPr sz="2800">
              <a:latin typeface="Arial"/>
              <a:cs typeface="Arial"/>
            </a:endParaRPr>
          </a:p>
          <a:p>
            <a:pPr marL="355600" marR="1313180" indent="-342900">
              <a:lnSpc>
                <a:spcPct val="100000"/>
              </a:lnSpc>
              <a:spcBef>
                <a:spcPts val="68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110" dirty="0">
                <a:latin typeface="Arial"/>
                <a:cs typeface="Arial"/>
              </a:rPr>
              <a:t>Each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point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represents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values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195" dirty="0">
                <a:latin typeface="Arial"/>
                <a:cs typeface="Arial"/>
              </a:rPr>
              <a:t>of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80" dirty="0">
                <a:latin typeface="Arial"/>
                <a:cs typeface="Arial"/>
              </a:rPr>
              <a:t>two  </a:t>
            </a:r>
            <a:r>
              <a:rPr sz="2800" dirty="0">
                <a:latin typeface="Arial"/>
                <a:cs typeface="Arial"/>
              </a:rPr>
              <a:t>variables.</a:t>
            </a:r>
            <a:endParaRPr sz="2800">
              <a:latin typeface="Arial"/>
              <a:cs typeface="Arial"/>
            </a:endParaRPr>
          </a:p>
          <a:p>
            <a:pPr marL="355600" marR="5080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15" dirty="0">
                <a:latin typeface="Arial"/>
                <a:cs typeface="Arial"/>
              </a:rPr>
              <a:t>One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30" dirty="0">
                <a:latin typeface="Arial"/>
                <a:cs typeface="Arial"/>
              </a:rPr>
              <a:t>variable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40" dirty="0">
                <a:latin typeface="Arial"/>
                <a:cs typeface="Arial"/>
              </a:rPr>
              <a:t>is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15" dirty="0">
                <a:latin typeface="Arial"/>
                <a:cs typeface="Arial"/>
              </a:rPr>
              <a:t>chosen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65" dirty="0">
                <a:latin typeface="Arial"/>
                <a:cs typeface="Arial"/>
              </a:rPr>
              <a:t>in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70" dirty="0">
                <a:latin typeface="Arial"/>
                <a:cs typeface="Arial"/>
              </a:rPr>
              <a:t>horizontal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axis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0" dirty="0">
                <a:latin typeface="Arial"/>
                <a:cs typeface="Arial"/>
              </a:rPr>
              <a:t>and  </a:t>
            </a:r>
            <a:r>
              <a:rPr sz="2800" spc="80" dirty="0">
                <a:latin typeface="Arial"/>
                <a:cs typeface="Arial"/>
              </a:rPr>
              <a:t>another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in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the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60" dirty="0">
                <a:latin typeface="Arial"/>
                <a:cs typeface="Arial"/>
              </a:rPr>
              <a:t>vertical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axis.</a:t>
            </a:r>
            <a:endParaRPr sz="2800">
              <a:latin typeface="Arial"/>
              <a:cs typeface="Arial"/>
            </a:endParaRPr>
          </a:p>
          <a:p>
            <a:pPr marL="355600" marR="871219" indent="-342900">
              <a:lnSpc>
                <a:spcPct val="100000"/>
              </a:lnSpc>
              <a:spcBef>
                <a:spcPts val="79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800" spc="-30" dirty="0">
                <a:latin typeface="Arial"/>
                <a:cs typeface="Arial"/>
              </a:rPr>
              <a:t>The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40" dirty="0">
                <a:latin typeface="Arial"/>
                <a:cs typeface="Arial"/>
              </a:rPr>
              <a:t>simple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95" dirty="0">
                <a:latin typeface="Arial"/>
                <a:cs typeface="Arial"/>
              </a:rPr>
              <a:t>scatterplot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-35" dirty="0">
                <a:latin typeface="Arial"/>
                <a:cs typeface="Arial"/>
              </a:rPr>
              <a:t>is</a:t>
            </a:r>
            <a:r>
              <a:rPr sz="2800" spc="-130" dirty="0">
                <a:latin typeface="Arial"/>
                <a:cs typeface="Arial"/>
              </a:rPr>
              <a:t> </a:t>
            </a:r>
            <a:r>
              <a:rPr sz="2800" spc="45" dirty="0">
                <a:latin typeface="Arial"/>
                <a:cs typeface="Arial"/>
              </a:rPr>
              <a:t>created</a:t>
            </a:r>
            <a:r>
              <a:rPr sz="2800" spc="-135" dirty="0">
                <a:latin typeface="Arial"/>
                <a:cs typeface="Arial"/>
              </a:rPr>
              <a:t> </a:t>
            </a:r>
            <a:r>
              <a:rPr sz="2800" spc="15" dirty="0">
                <a:latin typeface="Arial"/>
                <a:cs typeface="Arial"/>
              </a:rPr>
              <a:t>using</a:t>
            </a:r>
            <a:r>
              <a:rPr sz="2800" spc="-140" dirty="0">
                <a:latin typeface="Arial"/>
                <a:cs typeface="Arial"/>
              </a:rPr>
              <a:t> </a:t>
            </a:r>
            <a:r>
              <a:rPr sz="2800" spc="130" dirty="0">
                <a:latin typeface="Arial"/>
                <a:cs typeface="Arial"/>
              </a:rPr>
              <a:t>the  </a:t>
            </a:r>
            <a:r>
              <a:rPr sz="2800" spc="135" dirty="0">
                <a:latin typeface="Arial"/>
                <a:cs typeface="Arial"/>
              </a:rPr>
              <a:t>plot()</a:t>
            </a:r>
            <a:r>
              <a:rPr sz="2800" spc="-145" dirty="0">
                <a:latin typeface="Arial"/>
                <a:cs typeface="Arial"/>
              </a:rPr>
              <a:t> </a:t>
            </a:r>
            <a:r>
              <a:rPr sz="2800" spc="80" dirty="0">
                <a:latin typeface="Arial"/>
                <a:cs typeface="Arial"/>
              </a:rPr>
              <a:t>function.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47690" y="4204970"/>
            <a:ext cx="3181350" cy="2199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5" dirty="0"/>
              <a:t>ScatterPlot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spc="-5" dirty="0"/>
              <a:t>Example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517650"/>
            <a:ext cx="6939915" cy="2686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87325" indent="-342900">
              <a:lnSpc>
                <a:spcPct val="100000"/>
              </a:lnSpc>
              <a:spcBef>
                <a:spcPts val="10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400" spc="-45" dirty="0">
                <a:latin typeface="Arial"/>
                <a:cs typeface="Arial"/>
              </a:rPr>
              <a:t>We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use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110" dirty="0">
                <a:latin typeface="Arial"/>
                <a:cs typeface="Arial"/>
              </a:rPr>
              <a:t>the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data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55" dirty="0">
                <a:latin typeface="Arial"/>
                <a:cs typeface="Arial"/>
              </a:rPr>
              <a:t>set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55" dirty="0">
                <a:latin typeface="Arial"/>
                <a:cs typeface="Arial"/>
              </a:rPr>
              <a:t>"mtcars"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available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55" dirty="0">
                <a:latin typeface="Arial"/>
                <a:cs typeface="Arial"/>
              </a:rPr>
              <a:t>in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110" dirty="0">
                <a:latin typeface="Arial"/>
                <a:cs typeface="Arial"/>
              </a:rPr>
              <a:t>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-225" dirty="0">
                <a:latin typeface="Arial"/>
                <a:cs typeface="Arial"/>
              </a:rPr>
              <a:t>R  </a:t>
            </a:r>
            <a:r>
              <a:rPr sz="2400" spc="65" dirty="0">
                <a:latin typeface="Arial"/>
                <a:cs typeface="Arial"/>
              </a:rPr>
              <a:t>environment</a:t>
            </a:r>
            <a:r>
              <a:rPr sz="2400" spc="-130" dirty="0">
                <a:latin typeface="Arial"/>
                <a:cs typeface="Arial"/>
              </a:rPr>
              <a:t> </a:t>
            </a:r>
            <a:r>
              <a:rPr sz="2400" spc="175" dirty="0">
                <a:latin typeface="Arial"/>
                <a:cs typeface="Arial"/>
              </a:rPr>
              <a:t>to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35" dirty="0">
                <a:latin typeface="Arial"/>
                <a:cs typeface="Arial"/>
              </a:rPr>
              <a:t>create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85" dirty="0">
                <a:latin typeface="Arial"/>
                <a:cs typeface="Arial"/>
              </a:rPr>
              <a:t>a</a:t>
            </a:r>
            <a:r>
              <a:rPr sz="2400" spc="-125" dirty="0">
                <a:latin typeface="Arial"/>
                <a:cs typeface="Arial"/>
              </a:rPr>
              <a:t> </a:t>
            </a:r>
            <a:r>
              <a:rPr sz="2400" spc="-35" dirty="0">
                <a:latin typeface="Arial"/>
                <a:cs typeface="Arial"/>
              </a:rPr>
              <a:t>basic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75" dirty="0">
                <a:latin typeface="Arial"/>
                <a:cs typeface="Arial"/>
              </a:rPr>
              <a:t>scatterplot.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6697CC"/>
              </a:buClr>
              <a:buFont typeface="Liberation Sans"/>
              <a:buChar char="•"/>
              <a:tabLst>
                <a:tab pos="354965" algn="l"/>
                <a:tab pos="355600" algn="l"/>
              </a:tabLst>
            </a:pPr>
            <a:r>
              <a:rPr sz="2400" spc="30" dirty="0">
                <a:latin typeface="Arial"/>
                <a:cs typeface="Arial"/>
              </a:rPr>
              <a:t>Let's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-30" dirty="0">
                <a:latin typeface="Arial"/>
                <a:cs typeface="Arial"/>
              </a:rPr>
              <a:t>use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105" dirty="0">
                <a:latin typeface="Arial"/>
                <a:cs typeface="Arial"/>
              </a:rPr>
              <a:t>the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10" dirty="0">
                <a:latin typeface="Arial"/>
                <a:cs typeface="Arial"/>
              </a:rPr>
              <a:t>columns</a:t>
            </a:r>
            <a:r>
              <a:rPr sz="2400" spc="-120" dirty="0">
                <a:latin typeface="Arial"/>
                <a:cs typeface="Arial"/>
              </a:rPr>
              <a:t> </a:t>
            </a:r>
            <a:r>
              <a:rPr sz="2400" spc="180" dirty="0">
                <a:latin typeface="Arial"/>
                <a:cs typeface="Arial"/>
              </a:rPr>
              <a:t>"wt"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and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95" dirty="0">
                <a:latin typeface="Arial"/>
                <a:cs typeface="Arial"/>
              </a:rPr>
              <a:t>"mpg"</a:t>
            </a:r>
            <a:r>
              <a:rPr sz="2400" spc="-114" dirty="0">
                <a:latin typeface="Arial"/>
                <a:cs typeface="Arial"/>
              </a:rPr>
              <a:t> </a:t>
            </a:r>
            <a:r>
              <a:rPr sz="2400" spc="55" dirty="0">
                <a:latin typeface="Arial"/>
                <a:cs typeface="Arial"/>
              </a:rPr>
              <a:t>in</a:t>
            </a:r>
            <a:r>
              <a:rPr sz="2400" spc="-1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mtcars.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00">
              <a:latin typeface="Arial"/>
              <a:cs typeface="Arial"/>
            </a:endParaRPr>
          </a:p>
          <a:p>
            <a:pPr marL="355600" marR="906780">
              <a:lnSpc>
                <a:spcPct val="127400"/>
              </a:lnSpc>
            </a:pPr>
            <a:r>
              <a:rPr sz="2400" b="1" spc="-5" dirty="0">
                <a:latin typeface="Courier New"/>
                <a:cs typeface="Courier New"/>
              </a:rPr>
              <a:t>input &lt;- mtcars[,c('wt','mpg')]  print(head(input))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5" dirty="0"/>
              <a:t>ScatterPlot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2000" y="1452371"/>
            <a:ext cx="6997065" cy="24231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1550" b="1" spc="15" dirty="0">
                <a:latin typeface="Courier New"/>
                <a:cs typeface="Courier New"/>
              </a:rPr>
              <a:t># </a:t>
            </a:r>
            <a:r>
              <a:rPr sz="1550" b="1" spc="10" dirty="0">
                <a:latin typeface="Courier New"/>
                <a:cs typeface="Courier New"/>
              </a:rPr>
              <a:t>Get the input</a:t>
            </a:r>
            <a:r>
              <a:rPr sz="1550" b="1" spc="20" dirty="0">
                <a:latin typeface="Courier New"/>
                <a:cs typeface="Courier New"/>
              </a:rPr>
              <a:t> </a:t>
            </a:r>
            <a:r>
              <a:rPr sz="1550" b="1" spc="10" dirty="0">
                <a:latin typeface="Courier New"/>
                <a:cs typeface="Courier New"/>
              </a:rPr>
              <a:t>values.</a:t>
            </a: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550" b="1" spc="10" dirty="0">
                <a:latin typeface="Courier New"/>
                <a:cs typeface="Courier New"/>
              </a:rPr>
              <a:t>input </a:t>
            </a:r>
            <a:r>
              <a:rPr sz="1550" b="1" spc="15" dirty="0">
                <a:latin typeface="Courier New"/>
                <a:cs typeface="Courier New"/>
              </a:rPr>
              <a:t>&lt;-</a:t>
            </a:r>
            <a:r>
              <a:rPr sz="1550" b="1" spc="5" dirty="0">
                <a:latin typeface="Courier New"/>
                <a:cs typeface="Courier New"/>
              </a:rPr>
              <a:t> </a:t>
            </a:r>
            <a:r>
              <a:rPr sz="1550" b="1" spc="10" dirty="0">
                <a:latin typeface="Courier New"/>
                <a:cs typeface="Courier New"/>
              </a:rPr>
              <a:t>mtcars[,c('wt','mpg')]</a:t>
            </a:r>
            <a:endParaRPr sz="1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50" b="1" spc="10" dirty="0">
                <a:latin typeface="Courier New"/>
                <a:cs typeface="Courier New"/>
              </a:rPr>
              <a:t>png(file </a:t>
            </a:r>
            <a:r>
              <a:rPr sz="1550" b="1" spc="15" dirty="0">
                <a:latin typeface="Courier New"/>
                <a:cs typeface="Courier New"/>
              </a:rPr>
              <a:t>=</a:t>
            </a:r>
            <a:r>
              <a:rPr sz="1550" b="1" spc="5" dirty="0">
                <a:latin typeface="Courier New"/>
                <a:cs typeface="Courier New"/>
              </a:rPr>
              <a:t> </a:t>
            </a:r>
            <a:r>
              <a:rPr sz="1550" b="1" spc="10" dirty="0">
                <a:latin typeface="Courier New"/>
                <a:cs typeface="Courier New"/>
              </a:rPr>
              <a:t>"scatterplot.png")</a:t>
            </a:r>
            <a:endParaRPr sz="1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00">
              <a:latin typeface="Courier New"/>
              <a:cs typeface="Courier New"/>
            </a:endParaRPr>
          </a:p>
          <a:p>
            <a:pPr marL="12700" marR="5080">
              <a:lnSpc>
                <a:spcPct val="102200"/>
              </a:lnSpc>
            </a:pPr>
            <a:r>
              <a:rPr sz="1550" b="1" spc="15" dirty="0">
                <a:latin typeface="Courier New"/>
                <a:cs typeface="Courier New"/>
              </a:rPr>
              <a:t># </a:t>
            </a:r>
            <a:r>
              <a:rPr sz="1550" b="1" spc="10" dirty="0">
                <a:latin typeface="Courier New"/>
                <a:cs typeface="Courier New"/>
              </a:rPr>
              <a:t>Plot the chart for cars with weight between 2.5 </a:t>
            </a:r>
            <a:r>
              <a:rPr sz="1550" b="1" spc="15" dirty="0">
                <a:latin typeface="Courier New"/>
                <a:cs typeface="Courier New"/>
              </a:rPr>
              <a:t>to 5 </a:t>
            </a:r>
            <a:r>
              <a:rPr sz="1550" b="1" spc="10" dirty="0">
                <a:latin typeface="Courier New"/>
                <a:cs typeface="Courier New"/>
              </a:rPr>
              <a:t>and  mileage between </a:t>
            </a:r>
            <a:r>
              <a:rPr sz="1550" b="1" spc="15" dirty="0">
                <a:latin typeface="Courier New"/>
                <a:cs typeface="Courier New"/>
              </a:rPr>
              <a:t>15 </a:t>
            </a:r>
            <a:r>
              <a:rPr sz="1550" b="1" spc="10" dirty="0">
                <a:latin typeface="Courier New"/>
                <a:cs typeface="Courier New"/>
              </a:rPr>
              <a:t>and</a:t>
            </a:r>
            <a:r>
              <a:rPr sz="1550" b="1" spc="-10" dirty="0">
                <a:latin typeface="Courier New"/>
                <a:cs typeface="Courier New"/>
              </a:rPr>
              <a:t> </a:t>
            </a:r>
            <a:r>
              <a:rPr sz="1550" b="1" spc="10" dirty="0">
                <a:latin typeface="Courier New"/>
                <a:cs typeface="Courier New"/>
              </a:rPr>
              <a:t>30.</a:t>
            </a:r>
            <a:endParaRPr sz="15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1550" b="1" spc="10" dirty="0">
                <a:latin typeface="Courier New"/>
                <a:cs typeface="Courier New"/>
              </a:rPr>
              <a:t>plot(x </a:t>
            </a:r>
            <a:r>
              <a:rPr sz="1550" b="1" spc="15" dirty="0">
                <a:latin typeface="Courier New"/>
                <a:cs typeface="Courier New"/>
              </a:rPr>
              <a:t>= </a:t>
            </a:r>
            <a:r>
              <a:rPr sz="1550" b="1" spc="10" dirty="0">
                <a:latin typeface="Courier New"/>
                <a:cs typeface="Courier New"/>
              </a:rPr>
              <a:t>input$wt,y </a:t>
            </a:r>
            <a:r>
              <a:rPr sz="1550" b="1" spc="15" dirty="0">
                <a:latin typeface="Courier New"/>
                <a:cs typeface="Courier New"/>
              </a:rPr>
              <a:t>=</a:t>
            </a:r>
            <a:r>
              <a:rPr sz="1550" b="1" spc="10" dirty="0">
                <a:latin typeface="Courier New"/>
                <a:cs typeface="Courier New"/>
              </a:rPr>
              <a:t> input$mpg,</a:t>
            </a:r>
            <a:endParaRPr sz="155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103630" y="3962986"/>
          <a:ext cx="3067684" cy="146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770"/>
                <a:gridCol w="240029"/>
                <a:gridCol w="2254885"/>
              </a:tblGrid>
              <a:tr h="575935">
                <a:tc>
                  <a:txBody>
                    <a:bodyPr/>
                    <a:lstStyle/>
                    <a:p>
                      <a:pPr marL="31750">
                        <a:lnSpc>
                          <a:spcPts val="1625"/>
                        </a:lnSpc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xlab</a:t>
                      </a:r>
                      <a:endParaRPr sz="1550">
                        <a:latin typeface="Courier New"/>
                        <a:cs typeface="Courier New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ylab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1625"/>
                        </a:lnSpc>
                      </a:pPr>
                      <a:r>
                        <a:rPr sz="1550" b="1" dirty="0"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50" b="1" dirty="0"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1625"/>
                        </a:lnSpc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"Weight",</a:t>
                      </a:r>
                      <a:endParaRPr sz="1550">
                        <a:latin typeface="Courier New"/>
                        <a:cs typeface="Courier New"/>
                      </a:endParaRPr>
                    </a:p>
                    <a:p>
                      <a:pPr marL="59690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"Milage",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079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xlim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50" b="1" dirty="0"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16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c(2.5,5),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160" marB="0"/>
                </a:tc>
              </a:tr>
              <a:tr h="30861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ylim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b="1" dirty="0"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c(15,30),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</a:tr>
              <a:tr h="26796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main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b="1" dirty="0">
                          <a:latin typeface="Courier New"/>
                          <a:cs typeface="Courier New"/>
                        </a:rPr>
                        <a:t>=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550" b="1" spc="10" dirty="0">
                          <a:latin typeface="Courier New"/>
                          <a:cs typeface="Courier New"/>
                        </a:rPr>
                        <a:t>"Weight </a:t>
                      </a:r>
                      <a:r>
                        <a:rPr sz="1550" b="1" spc="15" dirty="0">
                          <a:latin typeface="Courier New"/>
                          <a:cs typeface="Courier New"/>
                        </a:rPr>
                        <a:t>vs</a:t>
                      </a:r>
                      <a:r>
                        <a:rPr sz="1550" b="1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550" b="1" spc="10" dirty="0">
                          <a:latin typeface="Courier New"/>
                          <a:cs typeface="Courier New"/>
                        </a:rPr>
                        <a:t>Milage"</a:t>
                      </a:r>
                      <a:endParaRPr sz="1550">
                        <a:latin typeface="Courier New"/>
                        <a:cs typeface="Courier New"/>
                      </a:endParaRPr>
                    </a:p>
                  </a:txBody>
                  <a:tcPr marL="0" marR="0" marT="10795" marB="0"/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74700" y="5389371"/>
            <a:ext cx="1082040" cy="6426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r>
              <a:rPr sz="1550" b="1" spc="15" dirty="0">
                <a:latin typeface="Courier New"/>
                <a:cs typeface="Courier New"/>
              </a:rPr>
              <a:t>)</a:t>
            </a:r>
            <a:endParaRPr sz="15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r>
              <a:rPr sz="1550" b="1" spc="10" dirty="0">
                <a:latin typeface="Courier New"/>
                <a:cs typeface="Courier New"/>
              </a:rPr>
              <a:t>de</a:t>
            </a:r>
            <a:r>
              <a:rPr sz="1550" b="1" spc="5" dirty="0">
                <a:latin typeface="Courier New"/>
                <a:cs typeface="Courier New"/>
              </a:rPr>
              <a:t>v</a:t>
            </a:r>
            <a:r>
              <a:rPr sz="1550" b="1" spc="10" dirty="0">
                <a:latin typeface="Courier New"/>
                <a:cs typeface="Courier New"/>
              </a:rPr>
              <a:t>.off</a:t>
            </a:r>
            <a:r>
              <a:rPr sz="1550" b="1" spc="5" dirty="0">
                <a:latin typeface="Courier New"/>
                <a:cs typeface="Courier New"/>
              </a:rPr>
              <a:t>(</a:t>
            </a:r>
            <a:r>
              <a:rPr sz="1550" b="1" spc="15" dirty="0">
                <a:latin typeface="Courier New"/>
                <a:cs typeface="Courier New"/>
              </a:rPr>
              <a:t>)</a:t>
            </a:r>
            <a:endParaRPr sz="155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75" dirty="0"/>
              <a:t>ScatterPlot </a:t>
            </a:r>
            <a:r>
              <a:rPr spc="-220" dirty="0"/>
              <a:t>–</a:t>
            </a:r>
            <a:r>
              <a:rPr spc="-420" dirty="0"/>
              <a:t> </a:t>
            </a:r>
            <a:r>
              <a:rPr spc="-5" dirty="0"/>
              <a:t>Example</a:t>
            </a:r>
          </a:p>
        </p:txBody>
      </p:sp>
      <p:sp>
        <p:nvSpPr>
          <p:cNvPr id="3" name="object 3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26639" y="1842770"/>
            <a:ext cx="4257675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5" dirty="0"/>
              <a:t>Scatter </a:t>
            </a:r>
            <a:r>
              <a:rPr spc="130" dirty="0"/>
              <a:t>Plot</a:t>
            </a:r>
            <a:r>
              <a:rPr spc="-390" dirty="0"/>
              <a:t> </a:t>
            </a:r>
            <a:r>
              <a:rPr spc="50" dirty="0"/>
              <a:t>matrices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17650"/>
            <a:ext cx="7987665" cy="4008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6545" marR="334645" indent="-284480">
              <a:lnSpc>
                <a:spcPct val="100699"/>
              </a:lnSpc>
              <a:spcBef>
                <a:spcPts val="100"/>
              </a:spcBef>
              <a:buClr>
                <a:srgbClr val="6697CC"/>
              </a:buClr>
              <a:buFont typeface="Liberation Sans"/>
              <a:buChar char="•"/>
              <a:tabLst>
                <a:tab pos="296545" algn="l"/>
                <a:tab pos="297180" algn="l"/>
              </a:tabLst>
            </a:pPr>
            <a:r>
              <a:rPr sz="2300" spc="20" dirty="0">
                <a:latin typeface="Arial"/>
                <a:cs typeface="Arial"/>
              </a:rPr>
              <a:t>When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we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have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more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than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165" dirty="0">
                <a:latin typeface="Arial"/>
                <a:cs typeface="Arial"/>
              </a:rPr>
              <a:t>two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20" dirty="0">
                <a:latin typeface="Arial"/>
                <a:cs typeface="Arial"/>
              </a:rPr>
              <a:t>variables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25" dirty="0">
                <a:latin typeface="Arial"/>
                <a:cs typeface="Arial"/>
              </a:rPr>
              <a:t>and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we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00" dirty="0">
                <a:latin typeface="Arial"/>
                <a:cs typeface="Arial"/>
              </a:rPr>
              <a:t>want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to  </a:t>
            </a:r>
            <a:r>
              <a:rPr sz="2300" spc="114" dirty="0">
                <a:latin typeface="Arial"/>
                <a:cs typeface="Arial"/>
              </a:rPr>
              <a:t>find the </a:t>
            </a:r>
            <a:r>
              <a:rPr sz="2300" spc="70" dirty="0">
                <a:latin typeface="Arial"/>
                <a:cs typeface="Arial"/>
              </a:rPr>
              <a:t>correlation </a:t>
            </a:r>
            <a:r>
              <a:rPr sz="2300" spc="85" dirty="0">
                <a:latin typeface="Arial"/>
                <a:cs typeface="Arial"/>
              </a:rPr>
              <a:t>between </a:t>
            </a:r>
            <a:r>
              <a:rPr sz="2300" spc="50" dirty="0">
                <a:latin typeface="Arial"/>
                <a:cs typeface="Arial"/>
              </a:rPr>
              <a:t>one </a:t>
            </a:r>
            <a:r>
              <a:rPr sz="2300" spc="35" dirty="0">
                <a:latin typeface="Arial"/>
                <a:cs typeface="Arial"/>
              </a:rPr>
              <a:t>variable </a:t>
            </a:r>
            <a:r>
              <a:rPr sz="2300" spc="-15" dirty="0">
                <a:latin typeface="Arial"/>
                <a:cs typeface="Arial"/>
              </a:rPr>
              <a:t>versus </a:t>
            </a:r>
            <a:r>
              <a:rPr sz="2300" spc="114" dirty="0">
                <a:latin typeface="Arial"/>
                <a:cs typeface="Arial"/>
              </a:rPr>
              <a:t>the  </a:t>
            </a:r>
            <a:r>
              <a:rPr sz="2300" spc="50" dirty="0">
                <a:latin typeface="Arial"/>
                <a:cs typeface="Arial"/>
              </a:rPr>
              <a:t>remaining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5" dirty="0">
                <a:latin typeface="Arial"/>
                <a:cs typeface="Arial"/>
              </a:rPr>
              <a:t>ones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75" dirty="0">
                <a:latin typeface="Arial"/>
                <a:cs typeface="Arial"/>
              </a:rPr>
              <a:t>we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use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90" dirty="0">
                <a:latin typeface="Arial"/>
                <a:cs typeface="Arial"/>
              </a:rPr>
              <a:t>scatterplot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65" dirty="0">
                <a:latin typeface="Arial"/>
                <a:cs typeface="Arial"/>
              </a:rPr>
              <a:t>matrix.</a:t>
            </a:r>
            <a:endParaRPr sz="2300">
              <a:latin typeface="Arial"/>
              <a:cs typeface="Arial"/>
            </a:endParaRPr>
          </a:p>
          <a:p>
            <a:pPr marL="297180" indent="-284480">
              <a:lnSpc>
                <a:spcPct val="100000"/>
              </a:lnSpc>
              <a:spcBef>
                <a:spcPts val="690"/>
              </a:spcBef>
              <a:buClr>
                <a:srgbClr val="6697CC"/>
              </a:buClr>
              <a:buFont typeface="Liberation Sans"/>
              <a:buChar char="•"/>
              <a:tabLst>
                <a:tab pos="296545" algn="l"/>
                <a:tab pos="297180" algn="l"/>
              </a:tabLst>
            </a:pPr>
            <a:r>
              <a:rPr sz="2300" spc="-30" dirty="0">
                <a:latin typeface="Arial"/>
                <a:cs typeface="Arial"/>
              </a:rPr>
              <a:t>We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use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35" dirty="0">
                <a:latin typeface="Arial"/>
                <a:cs typeface="Arial"/>
              </a:rPr>
              <a:t>pairs()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95" dirty="0">
                <a:latin typeface="Arial"/>
                <a:cs typeface="Arial"/>
              </a:rPr>
              <a:t>function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to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45" dirty="0">
                <a:latin typeface="Arial"/>
                <a:cs typeface="Arial"/>
              </a:rPr>
              <a:t>create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40" dirty="0">
                <a:latin typeface="Arial"/>
                <a:cs typeface="Arial"/>
              </a:rPr>
              <a:t>matrices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of</a:t>
            </a:r>
            <a:r>
              <a:rPr sz="2300" spc="-125" dirty="0">
                <a:latin typeface="Arial"/>
                <a:cs typeface="Arial"/>
              </a:rPr>
              <a:t> </a:t>
            </a:r>
            <a:r>
              <a:rPr sz="2300" spc="65" dirty="0">
                <a:latin typeface="Arial"/>
                <a:cs typeface="Arial"/>
              </a:rPr>
              <a:t>scatterplots.</a:t>
            </a:r>
            <a:endParaRPr sz="2300">
              <a:latin typeface="Arial"/>
              <a:cs typeface="Arial"/>
            </a:endParaRPr>
          </a:p>
          <a:p>
            <a:pPr marL="628650" lvl="1" indent="-236854">
              <a:lnSpc>
                <a:spcPct val="100000"/>
              </a:lnSpc>
              <a:spcBef>
                <a:spcPts val="60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-10" dirty="0">
                <a:latin typeface="Arial"/>
                <a:cs typeface="Arial"/>
              </a:rPr>
              <a:t>Syntax:</a:t>
            </a:r>
            <a:endParaRPr sz="2300">
              <a:latin typeface="Arial"/>
              <a:cs typeface="Arial"/>
            </a:endParaRPr>
          </a:p>
          <a:p>
            <a:pPr marL="628650">
              <a:lnSpc>
                <a:spcPct val="100000"/>
              </a:lnSpc>
              <a:spcBef>
                <a:spcPts val="600"/>
              </a:spcBef>
            </a:pPr>
            <a:r>
              <a:rPr sz="2300" b="1" spc="5" dirty="0">
                <a:latin typeface="Courier New"/>
                <a:cs typeface="Courier New"/>
              </a:rPr>
              <a:t>pairs(formula,</a:t>
            </a:r>
            <a:r>
              <a:rPr sz="2300" b="1" dirty="0">
                <a:latin typeface="Courier New"/>
                <a:cs typeface="Courier New"/>
              </a:rPr>
              <a:t> </a:t>
            </a:r>
            <a:r>
              <a:rPr sz="2300" b="1" spc="5" dirty="0">
                <a:latin typeface="Courier New"/>
                <a:cs typeface="Courier New"/>
              </a:rPr>
              <a:t>data)</a:t>
            </a:r>
            <a:endParaRPr sz="2300">
              <a:latin typeface="Courier New"/>
              <a:cs typeface="Courier New"/>
            </a:endParaRPr>
          </a:p>
          <a:p>
            <a:pPr marL="628650" lvl="1" indent="-236854">
              <a:lnSpc>
                <a:spcPct val="100000"/>
              </a:lnSpc>
              <a:spcBef>
                <a:spcPts val="590"/>
              </a:spcBef>
              <a:buClr>
                <a:srgbClr val="6697CC"/>
              </a:buClr>
              <a:buFont typeface="Liberation Sans"/>
              <a:buChar char="–"/>
              <a:tabLst>
                <a:tab pos="628650" algn="l"/>
              </a:tabLst>
            </a:pPr>
            <a:r>
              <a:rPr sz="2300" spc="55" dirty="0">
                <a:latin typeface="Arial"/>
                <a:cs typeface="Arial"/>
              </a:rPr>
              <a:t>Following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-20" dirty="0">
                <a:latin typeface="Arial"/>
                <a:cs typeface="Arial"/>
              </a:rPr>
              <a:t>is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description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of</a:t>
            </a:r>
            <a:r>
              <a:rPr sz="2300" spc="-12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14" dirty="0">
                <a:latin typeface="Arial"/>
                <a:cs typeface="Arial"/>
              </a:rPr>
              <a:t> </a:t>
            </a:r>
            <a:r>
              <a:rPr sz="2300" spc="45" dirty="0">
                <a:latin typeface="Arial"/>
                <a:cs typeface="Arial"/>
              </a:rPr>
              <a:t>parameters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5" dirty="0">
                <a:latin typeface="Arial"/>
                <a:cs typeface="Arial"/>
              </a:rPr>
              <a:t>used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-35" dirty="0">
                <a:latin typeface="Arial"/>
                <a:cs typeface="Arial"/>
              </a:rPr>
              <a:t>−</a:t>
            </a:r>
            <a:endParaRPr sz="2300">
              <a:latin typeface="Arial"/>
              <a:cs typeface="Arial"/>
            </a:endParaRPr>
          </a:p>
          <a:p>
            <a:pPr marL="628650">
              <a:lnSpc>
                <a:spcPct val="100000"/>
              </a:lnSpc>
              <a:spcBef>
                <a:spcPts val="600"/>
              </a:spcBef>
            </a:pPr>
            <a:r>
              <a:rPr sz="2300" i="1" spc="-30" dirty="0">
                <a:latin typeface="Trebuchet MS"/>
                <a:cs typeface="Trebuchet MS"/>
              </a:rPr>
              <a:t>formula</a:t>
            </a:r>
            <a:r>
              <a:rPr sz="2300" i="1" spc="-160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Arial"/>
                <a:cs typeface="Arial"/>
              </a:rPr>
              <a:t>represents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-5" dirty="0">
                <a:latin typeface="Arial"/>
                <a:cs typeface="Arial"/>
              </a:rPr>
              <a:t>series</a:t>
            </a:r>
            <a:r>
              <a:rPr sz="2300" spc="-110" dirty="0">
                <a:latin typeface="Arial"/>
                <a:cs typeface="Arial"/>
              </a:rPr>
              <a:t> </a:t>
            </a:r>
            <a:r>
              <a:rPr sz="2300" spc="170" dirty="0">
                <a:latin typeface="Arial"/>
                <a:cs typeface="Arial"/>
              </a:rPr>
              <a:t>of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5" dirty="0">
                <a:latin typeface="Arial"/>
                <a:cs typeface="Arial"/>
              </a:rPr>
              <a:t>variables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5" dirty="0">
                <a:latin typeface="Arial"/>
                <a:cs typeface="Arial"/>
              </a:rPr>
              <a:t>used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55" dirty="0">
                <a:latin typeface="Arial"/>
                <a:cs typeface="Arial"/>
              </a:rPr>
              <a:t>in</a:t>
            </a:r>
            <a:r>
              <a:rPr sz="2300" spc="-90" dirty="0">
                <a:latin typeface="Arial"/>
                <a:cs typeface="Arial"/>
              </a:rPr>
              <a:t> </a:t>
            </a:r>
            <a:r>
              <a:rPr sz="2300" dirty="0">
                <a:latin typeface="Arial"/>
                <a:cs typeface="Arial"/>
              </a:rPr>
              <a:t>pairs.</a:t>
            </a:r>
            <a:endParaRPr sz="2300">
              <a:latin typeface="Arial"/>
              <a:cs typeface="Arial"/>
            </a:endParaRPr>
          </a:p>
          <a:p>
            <a:pPr marL="628650" marR="231140">
              <a:lnSpc>
                <a:spcPct val="100699"/>
              </a:lnSpc>
              <a:spcBef>
                <a:spcPts val="580"/>
              </a:spcBef>
            </a:pPr>
            <a:r>
              <a:rPr sz="2300" i="1" dirty="0">
                <a:latin typeface="Trebuchet MS"/>
                <a:cs typeface="Trebuchet MS"/>
              </a:rPr>
              <a:t>data</a:t>
            </a:r>
            <a:r>
              <a:rPr sz="2300" i="1" spc="-160" dirty="0">
                <a:latin typeface="Trebuchet MS"/>
                <a:cs typeface="Trebuchet MS"/>
              </a:rPr>
              <a:t> </a:t>
            </a:r>
            <a:r>
              <a:rPr sz="2300" spc="45" dirty="0">
                <a:latin typeface="Arial"/>
                <a:cs typeface="Arial"/>
              </a:rPr>
              <a:t>represents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0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data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60" dirty="0">
                <a:latin typeface="Arial"/>
                <a:cs typeface="Arial"/>
              </a:rPr>
              <a:t>set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130" dirty="0">
                <a:latin typeface="Arial"/>
                <a:cs typeface="Arial"/>
              </a:rPr>
              <a:t>from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40" dirty="0">
                <a:latin typeface="Arial"/>
                <a:cs typeface="Arial"/>
              </a:rPr>
              <a:t>which</a:t>
            </a:r>
            <a:r>
              <a:rPr sz="2300" spc="-95" dirty="0">
                <a:latin typeface="Arial"/>
                <a:cs typeface="Arial"/>
              </a:rPr>
              <a:t> </a:t>
            </a:r>
            <a:r>
              <a:rPr sz="2300" spc="114" dirty="0">
                <a:latin typeface="Arial"/>
                <a:cs typeface="Arial"/>
              </a:rPr>
              <a:t>the</a:t>
            </a:r>
            <a:r>
              <a:rPr sz="2300" spc="-105" dirty="0">
                <a:latin typeface="Arial"/>
                <a:cs typeface="Arial"/>
              </a:rPr>
              <a:t> </a:t>
            </a:r>
            <a:r>
              <a:rPr sz="2300" spc="15" dirty="0">
                <a:latin typeface="Arial"/>
                <a:cs typeface="Arial"/>
              </a:rPr>
              <a:t>variables  </a:t>
            </a:r>
            <a:r>
              <a:rPr sz="2300" spc="110" dirty="0">
                <a:latin typeface="Arial"/>
                <a:cs typeface="Arial"/>
              </a:rPr>
              <a:t>will </a:t>
            </a:r>
            <a:r>
              <a:rPr sz="2300" spc="50" dirty="0">
                <a:latin typeface="Arial"/>
                <a:cs typeface="Arial"/>
              </a:rPr>
              <a:t>be</a:t>
            </a:r>
            <a:r>
              <a:rPr sz="2300" spc="-325" dirty="0">
                <a:latin typeface="Arial"/>
                <a:cs typeface="Arial"/>
              </a:rPr>
              <a:t> </a:t>
            </a:r>
            <a:r>
              <a:rPr sz="2300" spc="30" dirty="0">
                <a:latin typeface="Arial"/>
                <a:cs typeface="Arial"/>
              </a:rPr>
              <a:t>taken.</a:t>
            </a:r>
            <a:endParaRPr sz="23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5" dirty="0"/>
              <a:t>Scatter </a:t>
            </a:r>
            <a:r>
              <a:rPr spc="130" dirty="0"/>
              <a:t>Plot </a:t>
            </a:r>
            <a:r>
              <a:rPr spc="50" dirty="0"/>
              <a:t>matrices</a:t>
            </a:r>
            <a:r>
              <a:rPr spc="-655" dirty="0"/>
              <a:t> </a:t>
            </a:r>
            <a:r>
              <a:rPr spc="-220" dirty="0"/>
              <a:t>– </a:t>
            </a:r>
            <a:r>
              <a:rPr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5030" y="1416811"/>
            <a:ext cx="7710170" cy="4376420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950" b="1" spc="15" dirty="0">
                <a:latin typeface="Courier New"/>
                <a:cs typeface="Courier New"/>
              </a:rPr>
              <a:t># </a:t>
            </a:r>
            <a:r>
              <a:rPr sz="1950" b="1" spc="10" dirty="0">
                <a:latin typeface="Courier New"/>
                <a:cs typeface="Courier New"/>
              </a:rPr>
              <a:t>Give the chart file </a:t>
            </a:r>
            <a:r>
              <a:rPr sz="1950" b="1" spc="15" dirty="0">
                <a:latin typeface="Courier New"/>
                <a:cs typeface="Courier New"/>
              </a:rPr>
              <a:t>a </a:t>
            </a:r>
            <a:r>
              <a:rPr sz="1950" b="1" spc="10" dirty="0">
                <a:latin typeface="Courier New"/>
                <a:cs typeface="Courier New"/>
              </a:rPr>
              <a:t>name.</a:t>
            </a:r>
            <a:endParaRPr sz="1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950" b="1" spc="10" dirty="0">
                <a:latin typeface="Courier New"/>
                <a:cs typeface="Courier New"/>
              </a:rPr>
              <a:t>png(file </a:t>
            </a:r>
            <a:r>
              <a:rPr sz="1950" b="1" spc="15" dirty="0">
                <a:latin typeface="Courier New"/>
                <a:cs typeface="Courier New"/>
              </a:rPr>
              <a:t>=</a:t>
            </a:r>
            <a:r>
              <a:rPr sz="1950" b="1" spc="5" dirty="0">
                <a:latin typeface="Courier New"/>
                <a:cs typeface="Courier New"/>
              </a:rPr>
              <a:t> </a:t>
            </a:r>
            <a:r>
              <a:rPr sz="1950" b="1" spc="10" dirty="0">
                <a:latin typeface="Courier New"/>
                <a:cs typeface="Courier New"/>
              </a:rPr>
              <a:t>"scatterplot_matrices.png")</a:t>
            </a:r>
            <a:endParaRPr sz="1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050">
              <a:latin typeface="Courier New"/>
              <a:cs typeface="Courier New"/>
            </a:endParaRPr>
          </a:p>
          <a:p>
            <a:pPr marL="12700" marR="306705">
              <a:lnSpc>
                <a:spcPct val="101699"/>
              </a:lnSpc>
              <a:spcBef>
                <a:spcPts val="5"/>
              </a:spcBef>
            </a:pPr>
            <a:r>
              <a:rPr sz="1950" b="1" spc="15" dirty="0">
                <a:latin typeface="Courier New"/>
                <a:cs typeface="Courier New"/>
              </a:rPr>
              <a:t># </a:t>
            </a:r>
            <a:r>
              <a:rPr sz="1950" b="1" spc="10" dirty="0">
                <a:latin typeface="Courier New"/>
                <a:cs typeface="Courier New"/>
              </a:rPr>
              <a:t>Plot the matrices between </a:t>
            </a:r>
            <a:r>
              <a:rPr sz="1950" b="1" spc="15" dirty="0">
                <a:latin typeface="Courier New"/>
                <a:cs typeface="Courier New"/>
              </a:rPr>
              <a:t>4 </a:t>
            </a:r>
            <a:r>
              <a:rPr sz="1950" b="1" spc="10" dirty="0">
                <a:latin typeface="Courier New"/>
                <a:cs typeface="Courier New"/>
              </a:rPr>
              <a:t>variables giving 12  plots.</a:t>
            </a:r>
            <a:endParaRPr sz="1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50" b="1" spc="15" dirty="0">
                <a:latin typeface="Courier New"/>
                <a:cs typeface="Courier New"/>
              </a:rPr>
              <a:t># </a:t>
            </a:r>
            <a:r>
              <a:rPr sz="1950" b="1" spc="10" dirty="0">
                <a:latin typeface="Courier New"/>
                <a:cs typeface="Courier New"/>
              </a:rPr>
              <a:t>One variable with </a:t>
            </a:r>
            <a:r>
              <a:rPr sz="1950" b="1" spc="15" dirty="0">
                <a:latin typeface="Courier New"/>
                <a:cs typeface="Courier New"/>
              </a:rPr>
              <a:t>3 </a:t>
            </a:r>
            <a:r>
              <a:rPr sz="1950" b="1" spc="10" dirty="0">
                <a:latin typeface="Courier New"/>
                <a:cs typeface="Courier New"/>
              </a:rPr>
              <a:t>others and total </a:t>
            </a:r>
            <a:r>
              <a:rPr sz="1950" b="1" spc="15" dirty="0">
                <a:latin typeface="Courier New"/>
                <a:cs typeface="Courier New"/>
              </a:rPr>
              <a:t>4</a:t>
            </a:r>
            <a:r>
              <a:rPr sz="1950" b="1" spc="35" dirty="0">
                <a:latin typeface="Courier New"/>
                <a:cs typeface="Courier New"/>
              </a:rPr>
              <a:t> </a:t>
            </a:r>
            <a:r>
              <a:rPr sz="1950" b="1" spc="10" dirty="0">
                <a:latin typeface="Courier New"/>
                <a:cs typeface="Courier New"/>
              </a:rPr>
              <a:t>variables.</a:t>
            </a:r>
            <a:endParaRPr sz="1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950">
              <a:latin typeface="Courier New"/>
              <a:cs typeface="Courier New"/>
            </a:endParaRPr>
          </a:p>
          <a:p>
            <a:pPr marL="12700" marR="1209675">
              <a:lnSpc>
                <a:spcPct val="101699"/>
              </a:lnSpc>
            </a:pPr>
            <a:r>
              <a:rPr sz="1950" b="1" spc="10" dirty="0">
                <a:latin typeface="Courier New"/>
                <a:cs typeface="Courier New"/>
              </a:rPr>
              <a:t>pairs(~wt+mpg+disp+cyl,data </a:t>
            </a:r>
            <a:r>
              <a:rPr sz="1950" b="1" spc="15" dirty="0">
                <a:latin typeface="Courier New"/>
                <a:cs typeface="Courier New"/>
              </a:rPr>
              <a:t>= </a:t>
            </a:r>
            <a:r>
              <a:rPr sz="1950" b="1" spc="10" dirty="0">
                <a:latin typeface="Courier New"/>
                <a:cs typeface="Courier New"/>
              </a:rPr>
              <a:t>mtcars,main </a:t>
            </a:r>
            <a:r>
              <a:rPr sz="1950" b="1" spc="15" dirty="0">
                <a:latin typeface="Courier New"/>
                <a:cs typeface="Courier New"/>
              </a:rPr>
              <a:t>=  </a:t>
            </a:r>
            <a:r>
              <a:rPr sz="1950" b="1" spc="10" dirty="0">
                <a:latin typeface="Courier New"/>
                <a:cs typeface="Courier New"/>
              </a:rPr>
              <a:t>"Scatterplot</a:t>
            </a:r>
            <a:r>
              <a:rPr sz="1950" b="1" dirty="0">
                <a:latin typeface="Courier New"/>
                <a:cs typeface="Courier New"/>
              </a:rPr>
              <a:t> </a:t>
            </a:r>
            <a:r>
              <a:rPr sz="1950" b="1" spc="10" dirty="0">
                <a:latin typeface="Courier New"/>
                <a:cs typeface="Courier New"/>
              </a:rPr>
              <a:t>Matrix")</a:t>
            </a:r>
            <a:endParaRPr sz="1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9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950" b="1" spc="10" dirty="0">
                <a:latin typeface="Courier New"/>
                <a:cs typeface="Courier New"/>
              </a:rPr>
              <a:t>dev.off()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66320" y="1569211"/>
            <a:ext cx="4572698" cy="467953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45" dirty="0"/>
              <a:t>Scatter </a:t>
            </a:r>
            <a:r>
              <a:rPr spc="130" dirty="0"/>
              <a:t>Plot </a:t>
            </a:r>
            <a:r>
              <a:rPr spc="50" dirty="0"/>
              <a:t>matrices</a:t>
            </a:r>
            <a:r>
              <a:rPr spc="-655" dirty="0"/>
              <a:t> </a:t>
            </a:r>
            <a:r>
              <a:rPr spc="-220" dirty="0"/>
              <a:t>– </a:t>
            </a:r>
            <a:r>
              <a:rPr dirty="0"/>
              <a:t>Example</a:t>
            </a: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049771" y="1327150"/>
            <a:ext cx="5561980" cy="5181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46710" rIns="0" bIns="0" rtlCol="0">
            <a:spAutoFit/>
          </a:bodyPr>
          <a:lstStyle/>
          <a:p>
            <a:pPr marL="548640">
              <a:lnSpc>
                <a:spcPct val="100000"/>
              </a:lnSpc>
              <a:spcBef>
                <a:spcPts val="2730"/>
              </a:spcBef>
            </a:pPr>
            <a:r>
              <a:rPr spc="50" dirty="0"/>
              <a:t>Useful</a:t>
            </a:r>
            <a:r>
              <a:rPr spc="-185" dirty="0"/>
              <a:t> </a:t>
            </a:r>
            <a:r>
              <a:rPr spc="5" dirty="0"/>
              <a:t>resources</a:t>
            </a:r>
          </a:p>
        </p:txBody>
      </p:sp>
      <p:sp>
        <p:nvSpPr>
          <p:cNvPr id="4" name="object 4"/>
          <p:cNvSpPr/>
          <p:nvPr/>
        </p:nvSpPr>
        <p:spPr>
          <a:xfrm>
            <a:off x="7851140" y="71119"/>
            <a:ext cx="1184909" cy="6477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2091</Words>
  <Application>Microsoft Office PowerPoint</Application>
  <PresentationFormat>On-screen Show (4:3)</PresentationFormat>
  <Paragraphs>291</Paragraphs>
  <Slides>49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0" baseType="lpstr">
      <vt:lpstr>Office Theme</vt:lpstr>
      <vt:lpstr> Charts and Graphs in R</vt:lpstr>
      <vt:lpstr>Charts and Graphs supported</vt:lpstr>
      <vt:lpstr>Pie charts</vt:lpstr>
      <vt:lpstr>Pie charts – Syntax</vt:lpstr>
      <vt:lpstr>Pie charts – Example</vt:lpstr>
      <vt:lpstr>Pie charts – Example</vt:lpstr>
      <vt:lpstr>Pie chart example with colors</vt:lpstr>
      <vt:lpstr>Pie chart example with colors</vt:lpstr>
      <vt:lpstr>Pie chart with colors and labels</vt:lpstr>
      <vt:lpstr>Pie chart with colors and labels</vt:lpstr>
      <vt:lpstr>3D Pie Chart</vt:lpstr>
      <vt:lpstr>3D Pie Chart</vt:lpstr>
      <vt:lpstr>Bar charts</vt:lpstr>
      <vt:lpstr>Bar charts – Syntax</vt:lpstr>
      <vt:lpstr>Bar charts – Example</vt:lpstr>
      <vt:lpstr>Bar charts – Example</vt:lpstr>
      <vt:lpstr>Bar chart with attributes</vt:lpstr>
      <vt:lpstr>Bar chart with attributes</vt:lpstr>
      <vt:lpstr>Bar chart – Stacked</vt:lpstr>
      <vt:lpstr>Bar chart – Stacked</vt:lpstr>
      <vt:lpstr>Boxplot</vt:lpstr>
      <vt:lpstr>Boxplot – Syntax</vt:lpstr>
      <vt:lpstr>Boxplot – Example</vt:lpstr>
      <vt:lpstr>Boxplot – Example</vt:lpstr>
      <vt:lpstr>Boxplot – Example</vt:lpstr>
      <vt:lpstr>Boxplot with notch</vt:lpstr>
      <vt:lpstr>Boxplot with notch</vt:lpstr>
      <vt:lpstr>Histogram</vt:lpstr>
      <vt:lpstr>Histogram – Syntax</vt:lpstr>
      <vt:lpstr>Histogram – Example</vt:lpstr>
      <vt:lpstr>Histogram – Example</vt:lpstr>
      <vt:lpstr>Histogram – Example</vt:lpstr>
      <vt:lpstr>Histogram – Example</vt:lpstr>
      <vt:lpstr>Line graph</vt:lpstr>
      <vt:lpstr>Line graph – Syntax</vt:lpstr>
      <vt:lpstr>Line graph – Example</vt:lpstr>
      <vt:lpstr>Line graph – Example</vt:lpstr>
      <vt:lpstr>Line graph – example.</vt:lpstr>
      <vt:lpstr>Line graph – example.</vt:lpstr>
      <vt:lpstr>Multiple lines in chart</vt:lpstr>
      <vt:lpstr>Multiple lines in chart</vt:lpstr>
      <vt:lpstr>ScatterPlot</vt:lpstr>
      <vt:lpstr>ScatterPlot – Example</vt:lpstr>
      <vt:lpstr>ScatterPlot – Example</vt:lpstr>
      <vt:lpstr>ScatterPlot – Example</vt:lpstr>
      <vt:lpstr>Scatter Plot matrices</vt:lpstr>
      <vt:lpstr>Scatter Plot matrices – Example</vt:lpstr>
      <vt:lpstr>Scatter Plot matrices – Example</vt:lpstr>
      <vt:lpstr>Useful resources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Powerpoint presentation</dc:title>
  <dc:creator>Presentation Magazine</dc:creator>
  <cp:lastModifiedBy>Kanagaraj</cp:lastModifiedBy>
  <cp:revision>1</cp:revision>
  <dcterms:created xsi:type="dcterms:W3CDTF">2023-03-31T05:08:02Z</dcterms:created>
  <dcterms:modified xsi:type="dcterms:W3CDTF">2023-03-31T05:15:51Z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2017-09-03T00:00:00Z</vt:filetime>
  </property>
  <property fmtid="{D5CDD505-2E9C-101B-9397-08002B2CF9AE}" pid="3" name="Creator">
    <vt:lpwstr>Impress</vt:lpwstr>
  </property>
  <property fmtid="{D5CDD505-2E9C-101B-9397-08002B2CF9AE}" pid="4" name="LastSaved">
    <vt:filetime>2023-03-31T00:00:00Z</vt:filetime>
  </property>
</Properties>
</file>